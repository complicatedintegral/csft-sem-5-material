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leo Bold" charset="1" panose="020F0802020204030203"/>
      <p:regular r:id="rId19"/>
    </p:embeddedFont>
    <p:embeddedFont>
      <p:font typeface="Arimo" charset="1" panose="020B0604020202020204"/>
      <p:regular r:id="rId20"/>
    </p:embeddedFont>
    <p:embeddedFont>
      <p:font typeface="Arimo Bold" charset="1" panose="020B0704020202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29" Target="notesSlides/notesSlide9.xml" Type="http://schemas.openxmlformats.org/officeDocument/2006/relationships/notesSlide"/><Relationship Id="rId3" Target="viewProps.xml" Type="http://schemas.openxmlformats.org/officeDocument/2006/relationships/viewProps"/><Relationship Id="rId30"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https://gamma.app/?utm_source=made-with-gamma" TargetMode="External" Type="http://schemas.openxmlformats.org/officeDocument/2006/relationships/hyperlink"/><Relationship Id="rId4" Target="../media/image8.png" Type="http://schemas.openxmlformats.org/officeDocument/2006/relationships/image"/><Relationship Id="rId5"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1.png" Type="http://schemas.openxmlformats.org/officeDocument/2006/relationships/image"/><Relationship Id="rId4"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2" Target="../notesSlides/notesSlide8.xml" Type="http://schemas.openxmlformats.org/officeDocument/2006/relationships/notesSlid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grpSp>
        <p:nvGrpSpPr>
          <p:cNvPr name="Group 6" id="6"/>
          <p:cNvGrpSpPr>
            <a:grpSpLocks noChangeAspect="true"/>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805886" y="877640"/>
            <a:ext cx="9534228" cy="2710755"/>
          </a:xfrm>
          <a:prstGeom prst="rect">
            <a:avLst/>
          </a:prstGeom>
        </p:spPr>
        <p:txBody>
          <a:bodyPr anchor="t" rtlCol="false" tIns="0" lIns="0" bIns="0" rIns="0">
            <a:spAutoFit/>
          </a:bodyPr>
          <a:lstStyle/>
          <a:p>
            <a:pPr algn="l">
              <a:lnSpc>
                <a:spcPts val="7000"/>
              </a:lnSpc>
            </a:pPr>
            <a:r>
              <a:rPr lang="en-US" sz="5562" b="true">
                <a:solidFill>
                  <a:srgbClr val="1F1E1E"/>
                </a:solidFill>
                <a:latin typeface="Aleo Bold"/>
                <a:ea typeface="Aleo Bold"/>
                <a:cs typeface="Aleo Bold"/>
                <a:sym typeface="Aleo Bold"/>
              </a:rPr>
              <a:t>Competition vs Coopetition in the Insurance Market</a:t>
            </a:r>
          </a:p>
        </p:txBody>
      </p:sp>
      <p:sp>
        <p:nvSpPr>
          <p:cNvPr name="TextBox 9" id="9"/>
          <p:cNvSpPr txBox="true"/>
          <p:nvPr/>
        </p:nvSpPr>
        <p:spPr>
          <a:xfrm rot="0">
            <a:off x="7805886" y="3908823"/>
            <a:ext cx="9534228" cy="2252663"/>
          </a:xfrm>
          <a:prstGeom prst="rect">
            <a:avLst/>
          </a:prstGeom>
        </p:spPr>
        <p:txBody>
          <a:bodyPr anchor="t" rtlCol="false" tIns="0" lIns="0" bIns="0" rIns="0">
            <a:spAutoFit/>
          </a:bodyPr>
          <a:lstStyle/>
          <a:p>
            <a:pPr algn="l">
              <a:lnSpc>
                <a:spcPts val="3374"/>
              </a:lnSpc>
            </a:pPr>
            <a:r>
              <a:rPr lang="en-US" sz="2125">
                <a:solidFill>
                  <a:srgbClr val="3B3535"/>
                </a:solidFill>
                <a:latin typeface="Arimo"/>
                <a:ea typeface="Arimo"/>
                <a:cs typeface="Arimo"/>
                <a:sym typeface="Arimo"/>
              </a:rPr>
              <a:t>The insurance industry operates in a highly competitive, risk-driven environment where customer centricity defines success. As digital disruption accelerates and regulatory pressures intensify, new challenges emerge—cyber threats, climate risks, and evolving customer expectations.</a:t>
            </a:r>
          </a:p>
        </p:txBody>
      </p:sp>
      <p:sp>
        <p:nvSpPr>
          <p:cNvPr name="TextBox 10" id="10"/>
          <p:cNvSpPr txBox="true"/>
          <p:nvPr/>
        </p:nvSpPr>
        <p:spPr>
          <a:xfrm rot="0">
            <a:off x="7805886" y="6380410"/>
            <a:ext cx="9534228" cy="1819275"/>
          </a:xfrm>
          <a:prstGeom prst="rect">
            <a:avLst/>
          </a:prstGeom>
        </p:spPr>
        <p:txBody>
          <a:bodyPr anchor="t" rtlCol="false" tIns="0" lIns="0" bIns="0" rIns="0">
            <a:spAutoFit/>
          </a:bodyPr>
          <a:lstStyle/>
          <a:p>
            <a:pPr algn="l">
              <a:lnSpc>
                <a:spcPts val="3374"/>
              </a:lnSpc>
            </a:pPr>
            <a:r>
              <a:rPr lang="en-US" sz="2125">
                <a:solidFill>
                  <a:srgbClr val="3B3535"/>
                </a:solidFill>
                <a:latin typeface="Arimo"/>
                <a:ea typeface="Arimo"/>
                <a:cs typeface="Arimo"/>
                <a:sym typeface="Arimo"/>
              </a:rPr>
              <a:t>Market leaders are discovering that traditional competitive strategies alone aren't enough. The future demands a dual approach: </a:t>
            </a:r>
            <a:r>
              <a:rPr lang="en-US" sz="2125" b="true">
                <a:solidFill>
                  <a:srgbClr val="1A2D7A"/>
                </a:solidFill>
                <a:latin typeface="Arimo Bold"/>
                <a:ea typeface="Arimo Bold"/>
                <a:cs typeface="Arimo Bold"/>
                <a:sym typeface="Arimo Bold"/>
              </a:rPr>
              <a:t>compete fiercely</a:t>
            </a:r>
            <a:r>
              <a:rPr lang="en-US" sz="2125">
                <a:solidFill>
                  <a:srgbClr val="3B3535"/>
                </a:solidFill>
                <a:latin typeface="Arimo"/>
                <a:ea typeface="Arimo"/>
                <a:cs typeface="Arimo"/>
                <a:sym typeface="Arimo"/>
              </a:rPr>
              <a:t> for customers while </a:t>
            </a:r>
            <a:r>
              <a:rPr lang="en-US" sz="2125" b="true">
                <a:solidFill>
                  <a:srgbClr val="1A2D7A"/>
                </a:solidFill>
                <a:latin typeface="Arimo Bold"/>
                <a:ea typeface="Arimo Bold"/>
                <a:cs typeface="Arimo Bold"/>
                <a:sym typeface="Arimo Bold"/>
              </a:rPr>
              <a:t>cooperating selectively</a:t>
            </a:r>
            <a:r>
              <a:rPr lang="en-US" sz="2125">
                <a:solidFill>
                  <a:srgbClr val="3B3535"/>
                </a:solidFill>
                <a:latin typeface="Arimo"/>
                <a:ea typeface="Arimo"/>
                <a:cs typeface="Arimo"/>
                <a:sym typeface="Arimo"/>
              </a:rPr>
              <a:t> to build industry-wide resilience.</a:t>
            </a:r>
          </a:p>
        </p:txBody>
      </p:sp>
      <p:sp>
        <p:nvSpPr>
          <p:cNvPr name="TextBox 11" id="11"/>
          <p:cNvSpPr txBox="true"/>
          <p:nvPr/>
        </p:nvSpPr>
        <p:spPr>
          <a:xfrm rot="0">
            <a:off x="7805886" y="8418611"/>
            <a:ext cx="9534228" cy="952500"/>
          </a:xfrm>
          <a:prstGeom prst="rect">
            <a:avLst/>
          </a:prstGeom>
        </p:spPr>
        <p:txBody>
          <a:bodyPr anchor="t" rtlCol="false" tIns="0" lIns="0" bIns="0" rIns="0">
            <a:spAutoFit/>
          </a:bodyPr>
          <a:lstStyle/>
          <a:p>
            <a:pPr algn="l">
              <a:lnSpc>
                <a:spcPts val="3374"/>
              </a:lnSpc>
            </a:pPr>
            <a:r>
              <a:rPr lang="en-US" sz="2125">
                <a:solidFill>
                  <a:srgbClr val="3B3535"/>
                </a:solidFill>
                <a:latin typeface="Arimo"/>
                <a:ea typeface="Arimo"/>
                <a:cs typeface="Arimo"/>
                <a:sym typeface="Arimo"/>
              </a:rPr>
              <a:t>Collaborative innovation serves as the strategic enabler, transforming how insurers navigate tomorrow's challenges.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grpSp>
        <p:nvGrpSpPr>
          <p:cNvPr name="Group 6" id="6"/>
          <p:cNvGrpSpPr>
            <a:grpSpLocks noChangeAspect="true"/>
          </p:cNvGrpSpPr>
          <p:nvPr/>
        </p:nvGrpSpPr>
        <p:grpSpPr>
          <a:xfrm rot="0">
            <a:off x="0" y="0"/>
            <a:ext cx="18288000" cy="2963764"/>
            <a:chOff x="0" y="0"/>
            <a:chExt cx="24384000" cy="3951685"/>
          </a:xfrm>
        </p:grpSpPr>
        <p:sp>
          <p:nvSpPr>
            <p:cNvPr name="Freeform 7" id="7" descr="preencoded.png"/>
            <p:cNvSpPr/>
            <p:nvPr/>
          </p:nvSpPr>
          <p:spPr>
            <a:xfrm flipH="false" flipV="false" rot="0">
              <a:off x="0" y="0"/>
              <a:ext cx="24384000" cy="3951732"/>
            </a:xfrm>
            <a:custGeom>
              <a:avLst/>
              <a:gdLst/>
              <a:ahLst/>
              <a:cxnLst/>
              <a:rect r="r" b="b" t="t" l="l"/>
              <a:pathLst>
                <a:path h="3951732" w="24384000">
                  <a:moveTo>
                    <a:pt x="0" y="0"/>
                  </a:moveTo>
                  <a:lnTo>
                    <a:pt x="24384000" y="0"/>
                  </a:lnTo>
                  <a:lnTo>
                    <a:pt x="24384000" y="3951732"/>
                  </a:lnTo>
                  <a:lnTo>
                    <a:pt x="0" y="3951732"/>
                  </a:lnTo>
                  <a:lnTo>
                    <a:pt x="0" y="0"/>
                  </a:lnTo>
                  <a:close/>
                </a:path>
              </a:pathLst>
            </a:custGeom>
            <a:blipFill>
              <a:blip r:embed="rId3"/>
              <a:stretch>
                <a:fillRect l="-25" t="0" r="-25" b="1"/>
              </a:stretch>
            </a:blipFill>
          </p:spPr>
        </p:sp>
      </p:grpSp>
      <p:sp>
        <p:nvSpPr>
          <p:cNvPr name="TextBox 8" id="8"/>
          <p:cNvSpPr txBox="true"/>
          <p:nvPr/>
        </p:nvSpPr>
        <p:spPr>
          <a:xfrm rot="0">
            <a:off x="829866" y="3761631"/>
            <a:ext cx="14536042" cy="818109"/>
          </a:xfrm>
          <a:prstGeom prst="rect">
            <a:avLst/>
          </a:prstGeom>
        </p:spPr>
        <p:txBody>
          <a:bodyPr anchor="t" rtlCol="false" tIns="0" lIns="0" bIns="0" rIns="0">
            <a:spAutoFit/>
          </a:bodyPr>
          <a:lstStyle/>
          <a:p>
            <a:pPr algn="l">
              <a:lnSpc>
                <a:spcPts val="6125"/>
              </a:lnSpc>
            </a:pPr>
            <a:r>
              <a:rPr lang="en-US" sz="4875" b="true">
                <a:solidFill>
                  <a:srgbClr val="1F1E1E"/>
                </a:solidFill>
                <a:latin typeface="Aleo Bold"/>
                <a:ea typeface="Aleo Bold"/>
                <a:cs typeface="Aleo Bold"/>
                <a:sym typeface="Aleo Bold"/>
              </a:rPr>
              <a:t>Collaborative Innovation Reshaping Insurance</a:t>
            </a:r>
          </a:p>
        </p:txBody>
      </p:sp>
      <p:grpSp>
        <p:nvGrpSpPr>
          <p:cNvPr name="Group 9" id="9"/>
          <p:cNvGrpSpPr/>
          <p:nvPr/>
        </p:nvGrpSpPr>
        <p:grpSpPr>
          <a:xfrm rot="0">
            <a:off x="825104" y="4930527"/>
            <a:ext cx="5394126" cy="3120777"/>
            <a:chOff x="0" y="0"/>
            <a:chExt cx="7192168" cy="4161037"/>
          </a:xfrm>
        </p:grpSpPr>
        <p:sp>
          <p:nvSpPr>
            <p:cNvPr name="Freeform 10" id="10"/>
            <p:cNvSpPr/>
            <p:nvPr/>
          </p:nvSpPr>
          <p:spPr>
            <a:xfrm flipH="false" flipV="false" rot="0">
              <a:off x="6350" y="6350"/>
              <a:ext cx="7179437" cy="4148328"/>
            </a:xfrm>
            <a:custGeom>
              <a:avLst/>
              <a:gdLst/>
              <a:ahLst/>
              <a:cxnLst/>
              <a:rect r="r" b="b" t="t" l="l"/>
              <a:pathLst>
                <a:path h="4148328" w="7179437">
                  <a:moveTo>
                    <a:pt x="0" y="132842"/>
                  </a:moveTo>
                  <a:cubicBezTo>
                    <a:pt x="0" y="59436"/>
                    <a:pt x="59563" y="0"/>
                    <a:pt x="132969" y="0"/>
                  </a:cubicBezTo>
                  <a:lnTo>
                    <a:pt x="7046468" y="0"/>
                  </a:lnTo>
                  <a:cubicBezTo>
                    <a:pt x="7119875" y="0"/>
                    <a:pt x="7179437" y="59436"/>
                    <a:pt x="7179437" y="132842"/>
                  </a:cubicBezTo>
                  <a:lnTo>
                    <a:pt x="7179437" y="4015486"/>
                  </a:lnTo>
                  <a:cubicBezTo>
                    <a:pt x="7179437" y="4088765"/>
                    <a:pt x="7119875" y="4148328"/>
                    <a:pt x="7046468" y="4148328"/>
                  </a:cubicBezTo>
                  <a:lnTo>
                    <a:pt x="132969" y="4148328"/>
                  </a:lnTo>
                  <a:cubicBezTo>
                    <a:pt x="59563" y="4148328"/>
                    <a:pt x="0" y="4088892"/>
                    <a:pt x="0" y="4015486"/>
                  </a:cubicBezTo>
                  <a:close/>
                </a:path>
              </a:pathLst>
            </a:custGeom>
            <a:solidFill>
              <a:srgbClr val="D5DCF6"/>
            </a:solidFill>
          </p:spPr>
        </p:sp>
        <p:sp>
          <p:nvSpPr>
            <p:cNvPr name="Freeform 11" id="11"/>
            <p:cNvSpPr/>
            <p:nvPr/>
          </p:nvSpPr>
          <p:spPr>
            <a:xfrm flipH="false" flipV="false" rot="0">
              <a:off x="0" y="0"/>
              <a:ext cx="7192137" cy="4161028"/>
            </a:xfrm>
            <a:custGeom>
              <a:avLst/>
              <a:gdLst/>
              <a:ahLst/>
              <a:cxnLst/>
              <a:rect r="r" b="b" t="t" l="l"/>
              <a:pathLst>
                <a:path h="4161028" w="7192137">
                  <a:moveTo>
                    <a:pt x="0" y="139192"/>
                  </a:moveTo>
                  <a:cubicBezTo>
                    <a:pt x="0" y="62230"/>
                    <a:pt x="62357" y="0"/>
                    <a:pt x="139319" y="0"/>
                  </a:cubicBezTo>
                  <a:lnTo>
                    <a:pt x="7052818" y="0"/>
                  </a:lnTo>
                  <a:lnTo>
                    <a:pt x="7052818" y="6350"/>
                  </a:lnTo>
                  <a:lnTo>
                    <a:pt x="7052818" y="0"/>
                  </a:lnTo>
                  <a:cubicBezTo>
                    <a:pt x="7129780" y="0"/>
                    <a:pt x="7192137" y="62230"/>
                    <a:pt x="7192137" y="139192"/>
                  </a:cubicBezTo>
                  <a:lnTo>
                    <a:pt x="7185787" y="139192"/>
                  </a:lnTo>
                  <a:lnTo>
                    <a:pt x="7192137" y="139192"/>
                  </a:lnTo>
                  <a:lnTo>
                    <a:pt x="7192137" y="4021836"/>
                  </a:lnTo>
                  <a:lnTo>
                    <a:pt x="7185787" y="4021836"/>
                  </a:lnTo>
                  <a:lnTo>
                    <a:pt x="7192137" y="4021836"/>
                  </a:lnTo>
                  <a:cubicBezTo>
                    <a:pt x="7192137" y="4098671"/>
                    <a:pt x="7129780" y="4161028"/>
                    <a:pt x="7052818" y="4161028"/>
                  </a:cubicBezTo>
                  <a:lnTo>
                    <a:pt x="7052818" y="4154678"/>
                  </a:lnTo>
                  <a:lnTo>
                    <a:pt x="7052818" y="4161028"/>
                  </a:lnTo>
                  <a:lnTo>
                    <a:pt x="139319" y="4161028"/>
                  </a:lnTo>
                  <a:lnTo>
                    <a:pt x="139319" y="4154678"/>
                  </a:lnTo>
                  <a:lnTo>
                    <a:pt x="139319" y="4161028"/>
                  </a:lnTo>
                  <a:cubicBezTo>
                    <a:pt x="62357" y="4161028"/>
                    <a:pt x="0" y="4098798"/>
                    <a:pt x="0" y="4021836"/>
                  </a:cubicBezTo>
                  <a:lnTo>
                    <a:pt x="0" y="139192"/>
                  </a:lnTo>
                  <a:lnTo>
                    <a:pt x="6350" y="139192"/>
                  </a:lnTo>
                  <a:lnTo>
                    <a:pt x="0" y="139192"/>
                  </a:lnTo>
                  <a:moveTo>
                    <a:pt x="12700" y="139192"/>
                  </a:moveTo>
                  <a:lnTo>
                    <a:pt x="12700" y="4021836"/>
                  </a:lnTo>
                  <a:lnTo>
                    <a:pt x="6350" y="4021836"/>
                  </a:lnTo>
                  <a:lnTo>
                    <a:pt x="12700" y="4021836"/>
                  </a:lnTo>
                  <a:cubicBezTo>
                    <a:pt x="12700" y="4091686"/>
                    <a:pt x="69342" y="4148328"/>
                    <a:pt x="139319" y="4148328"/>
                  </a:cubicBezTo>
                  <a:lnTo>
                    <a:pt x="7052818" y="4148328"/>
                  </a:lnTo>
                  <a:cubicBezTo>
                    <a:pt x="7122795" y="4148328"/>
                    <a:pt x="7179437" y="4091686"/>
                    <a:pt x="7179437" y="4021836"/>
                  </a:cubicBezTo>
                  <a:lnTo>
                    <a:pt x="7179437" y="139192"/>
                  </a:lnTo>
                  <a:cubicBezTo>
                    <a:pt x="7179437" y="69342"/>
                    <a:pt x="7122795" y="12700"/>
                    <a:pt x="7052818" y="12700"/>
                  </a:cubicBezTo>
                  <a:lnTo>
                    <a:pt x="139319" y="12700"/>
                  </a:lnTo>
                  <a:lnTo>
                    <a:pt x="139319" y="6350"/>
                  </a:lnTo>
                  <a:lnTo>
                    <a:pt x="139319" y="12700"/>
                  </a:lnTo>
                  <a:cubicBezTo>
                    <a:pt x="69342" y="12700"/>
                    <a:pt x="12700" y="69342"/>
                    <a:pt x="12700" y="139192"/>
                  </a:cubicBezTo>
                  <a:close/>
                </a:path>
              </a:pathLst>
            </a:custGeom>
            <a:solidFill>
              <a:srgbClr val="BBC2DC"/>
            </a:solidFill>
          </p:spPr>
        </p:sp>
      </p:grpSp>
      <p:grpSp>
        <p:nvGrpSpPr>
          <p:cNvPr name="Group 12" id="12"/>
          <p:cNvGrpSpPr/>
          <p:nvPr/>
        </p:nvGrpSpPr>
        <p:grpSpPr>
          <a:xfrm rot="0">
            <a:off x="1076474" y="5181897"/>
            <a:ext cx="711250" cy="711250"/>
            <a:chOff x="0" y="0"/>
            <a:chExt cx="948333" cy="948333"/>
          </a:xfrm>
        </p:grpSpPr>
        <p:sp>
          <p:nvSpPr>
            <p:cNvPr name="Freeform 13" id="13"/>
            <p:cNvSpPr/>
            <p:nvPr/>
          </p:nvSpPr>
          <p:spPr>
            <a:xfrm flipH="false" flipV="false" rot="0">
              <a:off x="0" y="0"/>
              <a:ext cx="948309" cy="948309"/>
            </a:xfrm>
            <a:custGeom>
              <a:avLst/>
              <a:gdLst/>
              <a:ahLst/>
              <a:cxnLst/>
              <a:rect r="r" b="b" t="t" l="l"/>
              <a:pathLst>
                <a:path h="948309" w="948309">
                  <a:moveTo>
                    <a:pt x="0" y="474218"/>
                  </a:moveTo>
                  <a:cubicBezTo>
                    <a:pt x="0" y="212344"/>
                    <a:pt x="212344" y="0"/>
                    <a:pt x="474218" y="0"/>
                  </a:cubicBezTo>
                  <a:cubicBezTo>
                    <a:pt x="736092" y="0"/>
                    <a:pt x="948309" y="212344"/>
                    <a:pt x="948309" y="474218"/>
                  </a:cubicBezTo>
                  <a:cubicBezTo>
                    <a:pt x="948309" y="736092"/>
                    <a:pt x="736092" y="948309"/>
                    <a:pt x="474218" y="948309"/>
                  </a:cubicBezTo>
                  <a:cubicBezTo>
                    <a:pt x="212344" y="948309"/>
                    <a:pt x="0" y="736092"/>
                    <a:pt x="0" y="474218"/>
                  </a:cubicBezTo>
                  <a:close/>
                </a:path>
              </a:pathLst>
            </a:custGeom>
            <a:solidFill>
              <a:srgbClr val="1A2D7A"/>
            </a:solidFill>
          </p:spPr>
        </p:sp>
      </p:grpSp>
      <p:grpSp>
        <p:nvGrpSpPr>
          <p:cNvPr name="Group 14" id="14"/>
          <p:cNvGrpSpPr>
            <a:grpSpLocks noChangeAspect="true"/>
          </p:cNvGrpSpPr>
          <p:nvPr/>
        </p:nvGrpSpPr>
        <p:grpSpPr>
          <a:xfrm rot="0">
            <a:off x="1272034" y="5337422"/>
            <a:ext cx="319980" cy="400050"/>
            <a:chOff x="0" y="0"/>
            <a:chExt cx="426640" cy="533400"/>
          </a:xfrm>
        </p:grpSpPr>
        <p:sp>
          <p:nvSpPr>
            <p:cNvPr name="Freeform 15" id="15" descr="preencoded.png"/>
            <p:cNvSpPr/>
            <p:nvPr/>
          </p:nvSpPr>
          <p:spPr>
            <a:xfrm flipH="false" flipV="false" rot="0">
              <a:off x="0" y="0"/>
              <a:ext cx="426593" cy="533400"/>
            </a:xfrm>
            <a:custGeom>
              <a:avLst/>
              <a:gdLst/>
              <a:ahLst/>
              <a:cxnLst/>
              <a:rect r="r" b="b" t="t" l="l"/>
              <a:pathLst>
                <a:path h="533400" w="426593">
                  <a:moveTo>
                    <a:pt x="0" y="0"/>
                  </a:moveTo>
                  <a:lnTo>
                    <a:pt x="426593" y="0"/>
                  </a:lnTo>
                  <a:lnTo>
                    <a:pt x="426593" y="533400"/>
                  </a:lnTo>
                  <a:lnTo>
                    <a:pt x="0" y="533400"/>
                  </a:lnTo>
                  <a:lnTo>
                    <a:pt x="0" y="0"/>
                  </a:lnTo>
                  <a:close/>
                </a:path>
              </a:pathLst>
            </a:custGeom>
            <a:blipFill>
              <a:blip r:embed="rId4"/>
              <a:stretch>
                <a:fillRect l="-604" t="0" r="-615" b="0"/>
              </a:stretch>
            </a:blipFill>
          </p:spPr>
        </p:sp>
      </p:grpSp>
      <p:sp>
        <p:nvSpPr>
          <p:cNvPr name="TextBox 16" id="16"/>
          <p:cNvSpPr txBox="true"/>
          <p:nvPr/>
        </p:nvSpPr>
        <p:spPr>
          <a:xfrm rot="0">
            <a:off x="1076474" y="6101655"/>
            <a:ext cx="3529756" cy="418505"/>
          </a:xfrm>
          <a:prstGeom prst="rect">
            <a:avLst/>
          </a:prstGeom>
        </p:spPr>
        <p:txBody>
          <a:bodyPr anchor="t" rtlCol="false" tIns="0" lIns="0" bIns="0" rIns="0">
            <a:spAutoFit/>
          </a:bodyPr>
          <a:lstStyle/>
          <a:p>
            <a:pPr algn="l">
              <a:lnSpc>
                <a:spcPts val="3062"/>
              </a:lnSpc>
            </a:pPr>
            <a:r>
              <a:rPr lang="en-US" sz="2437" b="true">
                <a:solidFill>
                  <a:srgbClr val="3B3535"/>
                </a:solidFill>
                <a:latin typeface="Aleo Bold"/>
                <a:ea typeface="Aleo Bold"/>
                <a:cs typeface="Aleo Bold"/>
                <a:sym typeface="Aleo Bold"/>
              </a:rPr>
              <a:t>Strategic Partnerships</a:t>
            </a:r>
          </a:p>
        </p:txBody>
      </p:sp>
      <p:sp>
        <p:nvSpPr>
          <p:cNvPr name="TextBox 17" id="17"/>
          <p:cNvSpPr txBox="true"/>
          <p:nvPr/>
        </p:nvSpPr>
        <p:spPr>
          <a:xfrm rot="0">
            <a:off x="1076474" y="6567041"/>
            <a:ext cx="4891385" cy="1232892"/>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Joint ventures with startups, reinsurers, and technology firms accelerating innovation cycles</a:t>
            </a:r>
          </a:p>
        </p:txBody>
      </p:sp>
      <p:grpSp>
        <p:nvGrpSpPr>
          <p:cNvPr name="Group 18" id="18"/>
          <p:cNvGrpSpPr/>
          <p:nvPr/>
        </p:nvGrpSpPr>
        <p:grpSpPr>
          <a:xfrm rot="0">
            <a:off x="6446787" y="4930527"/>
            <a:ext cx="5394275" cy="3120777"/>
            <a:chOff x="0" y="0"/>
            <a:chExt cx="7192367" cy="4161037"/>
          </a:xfrm>
        </p:grpSpPr>
        <p:sp>
          <p:nvSpPr>
            <p:cNvPr name="Freeform 19" id="19"/>
            <p:cNvSpPr/>
            <p:nvPr/>
          </p:nvSpPr>
          <p:spPr>
            <a:xfrm flipH="false" flipV="false" rot="0">
              <a:off x="6350" y="6350"/>
              <a:ext cx="7179690" cy="4148328"/>
            </a:xfrm>
            <a:custGeom>
              <a:avLst/>
              <a:gdLst/>
              <a:ahLst/>
              <a:cxnLst/>
              <a:rect r="r" b="b" t="t" l="l"/>
              <a:pathLst>
                <a:path h="4148328" w="7179690">
                  <a:moveTo>
                    <a:pt x="0" y="132842"/>
                  </a:moveTo>
                  <a:cubicBezTo>
                    <a:pt x="0" y="59436"/>
                    <a:pt x="59563" y="0"/>
                    <a:pt x="132969" y="0"/>
                  </a:cubicBezTo>
                  <a:lnTo>
                    <a:pt x="7046722" y="0"/>
                  </a:lnTo>
                  <a:cubicBezTo>
                    <a:pt x="7120128" y="0"/>
                    <a:pt x="7179690" y="59436"/>
                    <a:pt x="7179690" y="132842"/>
                  </a:cubicBezTo>
                  <a:lnTo>
                    <a:pt x="7179690" y="4015486"/>
                  </a:lnTo>
                  <a:cubicBezTo>
                    <a:pt x="7179690" y="4088765"/>
                    <a:pt x="7120128" y="4148328"/>
                    <a:pt x="7046722" y="4148328"/>
                  </a:cubicBezTo>
                  <a:lnTo>
                    <a:pt x="132969" y="4148328"/>
                  </a:lnTo>
                  <a:cubicBezTo>
                    <a:pt x="59563" y="4148328"/>
                    <a:pt x="0" y="4088892"/>
                    <a:pt x="0" y="4015486"/>
                  </a:cubicBezTo>
                  <a:close/>
                </a:path>
              </a:pathLst>
            </a:custGeom>
            <a:solidFill>
              <a:srgbClr val="D5DCF6"/>
            </a:solidFill>
          </p:spPr>
        </p:sp>
        <p:sp>
          <p:nvSpPr>
            <p:cNvPr name="Freeform 20" id="20"/>
            <p:cNvSpPr/>
            <p:nvPr/>
          </p:nvSpPr>
          <p:spPr>
            <a:xfrm flipH="false" flipV="false" rot="0">
              <a:off x="0" y="0"/>
              <a:ext cx="7192390" cy="4161028"/>
            </a:xfrm>
            <a:custGeom>
              <a:avLst/>
              <a:gdLst/>
              <a:ahLst/>
              <a:cxnLst/>
              <a:rect r="r" b="b" t="t" l="l"/>
              <a:pathLst>
                <a:path h="4161028" w="7192390">
                  <a:moveTo>
                    <a:pt x="0" y="139192"/>
                  </a:moveTo>
                  <a:cubicBezTo>
                    <a:pt x="0" y="62230"/>
                    <a:pt x="62357" y="0"/>
                    <a:pt x="139319" y="0"/>
                  </a:cubicBezTo>
                  <a:lnTo>
                    <a:pt x="7053072" y="0"/>
                  </a:lnTo>
                  <a:lnTo>
                    <a:pt x="7053072" y="6350"/>
                  </a:lnTo>
                  <a:lnTo>
                    <a:pt x="7053072" y="0"/>
                  </a:lnTo>
                  <a:cubicBezTo>
                    <a:pt x="7130034" y="0"/>
                    <a:pt x="7192390" y="62230"/>
                    <a:pt x="7192390" y="139192"/>
                  </a:cubicBezTo>
                  <a:lnTo>
                    <a:pt x="7186040" y="139192"/>
                  </a:lnTo>
                  <a:lnTo>
                    <a:pt x="7192390" y="139192"/>
                  </a:lnTo>
                  <a:lnTo>
                    <a:pt x="7192390" y="4021836"/>
                  </a:lnTo>
                  <a:lnTo>
                    <a:pt x="7186040" y="4021836"/>
                  </a:lnTo>
                  <a:lnTo>
                    <a:pt x="7192390" y="4021836"/>
                  </a:lnTo>
                  <a:cubicBezTo>
                    <a:pt x="7192390" y="4098671"/>
                    <a:pt x="7130034" y="4161028"/>
                    <a:pt x="7053072" y="4161028"/>
                  </a:cubicBezTo>
                  <a:lnTo>
                    <a:pt x="7053072" y="4154678"/>
                  </a:lnTo>
                  <a:lnTo>
                    <a:pt x="7053072" y="4161028"/>
                  </a:lnTo>
                  <a:lnTo>
                    <a:pt x="139319" y="4161028"/>
                  </a:lnTo>
                  <a:lnTo>
                    <a:pt x="139319" y="4154678"/>
                  </a:lnTo>
                  <a:lnTo>
                    <a:pt x="139319" y="4161028"/>
                  </a:lnTo>
                  <a:cubicBezTo>
                    <a:pt x="62357" y="4161028"/>
                    <a:pt x="0" y="4098798"/>
                    <a:pt x="0" y="4021836"/>
                  </a:cubicBezTo>
                  <a:lnTo>
                    <a:pt x="0" y="139192"/>
                  </a:lnTo>
                  <a:lnTo>
                    <a:pt x="6350" y="139192"/>
                  </a:lnTo>
                  <a:lnTo>
                    <a:pt x="0" y="139192"/>
                  </a:lnTo>
                  <a:moveTo>
                    <a:pt x="12700" y="139192"/>
                  </a:moveTo>
                  <a:lnTo>
                    <a:pt x="12700" y="4021836"/>
                  </a:lnTo>
                  <a:lnTo>
                    <a:pt x="6350" y="4021836"/>
                  </a:lnTo>
                  <a:lnTo>
                    <a:pt x="12700" y="4021836"/>
                  </a:lnTo>
                  <a:cubicBezTo>
                    <a:pt x="12700" y="4091686"/>
                    <a:pt x="69342" y="4148328"/>
                    <a:pt x="139319" y="4148328"/>
                  </a:cubicBezTo>
                  <a:lnTo>
                    <a:pt x="7053072" y="4148328"/>
                  </a:lnTo>
                  <a:cubicBezTo>
                    <a:pt x="7123049" y="4148328"/>
                    <a:pt x="7179690" y="4091686"/>
                    <a:pt x="7179690" y="4021836"/>
                  </a:cubicBezTo>
                  <a:lnTo>
                    <a:pt x="7179690" y="139192"/>
                  </a:lnTo>
                  <a:cubicBezTo>
                    <a:pt x="7179690" y="69342"/>
                    <a:pt x="7123049" y="12700"/>
                    <a:pt x="7053072" y="12700"/>
                  </a:cubicBezTo>
                  <a:lnTo>
                    <a:pt x="139319" y="12700"/>
                  </a:lnTo>
                  <a:lnTo>
                    <a:pt x="139319" y="6350"/>
                  </a:lnTo>
                  <a:lnTo>
                    <a:pt x="139319" y="12700"/>
                  </a:lnTo>
                  <a:cubicBezTo>
                    <a:pt x="69342" y="12700"/>
                    <a:pt x="12700" y="69342"/>
                    <a:pt x="12700" y="139192"/>
                  </a:cubicBezTo>
                  <a:close/>
                </a:path>
              </a:pathLst>
            </a:custGeom>
            <a:solidFill>
              <a:srgbClr val="BBC2DC"/>
            </a:solidFill>
          </p:spPr>
        </p:sp>
      </p:grpSp>
      <p:grpSp>
        <p:nvGrpSpPr>
          <p:cNvPr name="Group 21" id="21"/>
          <p:cNvGrpSpPr/>
          <p:nvPr/>
        </p:nvGrpSpPr>
        <p:grpSpPr>
          <a:xfrm rot="0">
            <a:off x="6698159" y="5181897"/>
            <a:ext cx="711250" cy="711250"/>
            <a:chOff x="0" y="0"/>
            <a:chExt cx="948333" cy="948333"/>
          </a:xfrm>
        </p:grpSpPr>
        <p:sp>
          <p:nvSpPr>
            <p:cNvPr name="Freeform 22" id="22"/>
            <p:cNvSpPr/>
            <p:nvPr/>
          </p:nvSpPr>
          <p:spPr>
            <a:xfrm flipH="false" flipV="false" rot="0">
              <a:off x="0" y="0"/>
              <a:ext cx="948309" cy="948309"/>
            </a:xfrm>
            <a:custGeom>
              <a:avLst/>
              <a:gdLst/>
              <a:ahLst/>
              <a:cxnLst/>
              <a:rect r="r" b="b" t="t" l="l"/>
              <a:pathLst>
                <a:path h="948309" w="948309">
                  <a:moveTo>
                    <a:pt x="0" y="474218"/>
                  </a:moveTo>
                  <a:cubicBezTo>
                    <a:pt x="0" y="212344"/>
                    <a:pt x="212344" y="0"/>
                    <a:pt x="474218" y="0"/>
                  </a:cubicBezTo>
                  <a:cubicBezTo>
                    <a:pt x="736092" y="0"/>
                    <a:pt x="948309" y="212344"/>
                    <a:pt x="948309" y="474218"/>
                  </a:cubicBezTo>
                  <a:cubicBezTo>
                    <a:pt x="948309" y="736092"/>
                    <a:pt x="736092" y="948309"/>
                    <a:pt x="474218" y="948309"/>
                  </a:cubicBezTo>
                  <a:cubicBezTo>
                    <a:pt x="212344" y="948309"/>
                    <a:pt x="0" y="736092"/>
                    <a:pt x="0" y="474218"/>
                  </a:cubicBezTo>
                  <a:close/>
                </a:path>
              </a:pathLst>
            </a:custGeom>
            <a:solidFill>
              <a:srgbClr val="1A2D7A"/>
            </a:solidFill>
          </p:spPr>
        </p:sp>
      </p:grpSp>
      <p:grpSp>
        <p:nvGrpSpPr>
          <p:cNvPr name="Group 23" id="23"/>
          <p:cNvGrpSpPr>
            <a:grpSpLocks noChangeAspect="true"/>
          </p:cNvGrpSpPr>
          <p:nvPr/>
        </p:nvGrpSpPr>
        <p:grpSpPr>
          <a:xfrm rot="0">
            <a:off x="6893719" y="5337422"/>
            <a:ext cx="319980" cy="400050"/>
            <a:chOff x="0" y="0"/>
            <a:chExt cx="426640" cy="533400"/>
          </a:xfrm>
        </p:grpSpPr>
        <p:sp>
          <p:nvSpPr>
            <p:cNvPr name="Freeform 24" id="24" descr="preencoded.png"/>
            <p:cNvSpPr/>
            <p:nvPr/>
          </p:nvSpPr>
          <p:spPr>
            <a:xfrm flipH="false" flipV="false" rot="0">
              <a:off x="0" y="0"/>
              <a:ext cx="426593" cy="533400"/>
            </a:xfrm>
            <a:custGeom>
              <a:avLst/>
              <a:gdLst/>
              <a:ahLst/>
              <a:cxnLst/>
              <a:rect r="r" b="b" t="t" l="l"/>
              <a:pathLst>
                <a:path h="533400" w="426593">
                  <a:moveTo>
                    <a:pt x="0" y="0"/>
                  </a:moveTo>
                  <a:lnTo>
                    <a:pt x="426593" y="0"/>
                  </a:lnTo>
                  <a:lnTo>
                    <a:pt x="426593" y="533400"/>
                  </a:lnTo>
                  <a:lnTo>
                    <a:pt x="0" y="533400"/>
                  </a:lnTo>
                  <a:lnTo>
                    <a:pt x="0" y="0"/>
                  </a:lnTo>
                  <a:close/>
                </a:path>
              </a:pathLst>
            </a:custGeom>
            <a:blipFill>
              <a:blip r:embed="rId5"/>
              <a:stretch>
                <a:fillRect l="-604" t="0" r="-615" b="0"/>
              </a:stretch>
            </a:blipFill>
          </p:spPr>
        </p:sp>
      </p:grpSp>
      <p:sp>
        <p:nvSpPr>
          <p:cNvPr name="TextBox 25" id="25"/>
          <p:cNvSpPr txBox="true"/>
          <p:nvPr/>
        </p:nvSpPr>
        <p:spPr>
          <a:xfrm rot="0">
            <a:off x="6698159" y="6101655"/>
            <a:ext cx="3119735" cy="418505"/>
          </a:xfrm>
          <a:prstGeom prst="rect">
            <a:avLst/>
          </a:prstGeom>
        </p:spPr>
        <p:txBody>
          <a:bodyPr anchor="t" rtlCol="false" tIns="0" lIns="0" bIns="0" rIns="0">
            <a:spAutoFit/>
          </a:bodyPr>
          <a:lstStyle/>
          <a:p>
            <a:pPr algn="l">
              <a:lnSpc>
                <a:spcPts val="3062"/>
              </a:lnSpc>
            </a:pPr>
            <a:r>
              <a:rPr lang="en-US" sz="2437" b="true">
                <a:solidFill>
                  <a:srgbClr val="3B3535"/>
                </a:solidFill>
                <a:latin typeface="Aleo Bold"/>
                <a:ea typeface="Aleo Bold"/>
                <a:cs typeface="Aleo Bold"/>
                <a:sym typeface="Aleo Bold"/>
              </a:rPr>
              <a:t>Innovation Labs</a:t>
            </a:r>
          </a:p>
        </p:txBody>
      </p:sp>
      <p:sp>
        <p:nvSpPr>
          <p:cNvPr name="TextBox 26" id="26"/>
          <p:cNvSpPr txBox="true"/>
          <p:nvPr/>
        </p:nvSpPr>
        <p:spPr>
          <a:xfrm rot="0">
            <a:off x="6698159" y="6567041"/>
            <a:ext cx="4891534" cy="1232892"/>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Dedicated accelerators and incubators fostering breakthrough solutions and new business models</a:t>
            </a:r>
          </a:p>
        </p:txBody>
      </p:sp>
      <p:grpSp>
        <p:nvGrpSpPr>
          <p:cNvPr name="Group 27" id="27"/>
          <p:cNvGrpSpPr/>
          <p:nvPr/>
        </p:nvGrpSpPr>
        <p:grpSpPr>
          <a:xfrm rot="0">
            <a:off x="12068621" y="4930527"/>
            <a:ext cx="5394275" cy="3120777"/>
            <a:chOff x="0" y="0"/>
            <a:chExt cx="7192367" cy="4161037"/>
          </a:xfrm>
        </p:grpSpPr>
        <p:sp>
          <p:nvSpPr>
            <p:cNvPr name="Freeform 28" id="28"/>
            <p:cNvSpPr/>
            <p:nvPr/>
          </p:nvSpPr>
          <p:spPr>
            <a:xfrm flipH="false" flipV="false" rot="0">
              <a:off x="6350" y="6350"/>
              <a:ext cx="7179690" cy="4148328"/>
            </a:xfrm>
            <a:custGeom>
              <a:avLst/>
              <a:gdLst/>
              <a:ahLst/>
              <a:cxnLst/>
              <a:rect r="r" b="b" t="t" l="l"/>
              <a:pathLst>
                <a:path h="4148328" w="7179690">
                  <a:moveTo>
                    <a:pt x="0" y="132842"/>
                  </a:moveTo>
                  <a:cubicBezTo>
                    <a:pt x="0" y="59436"/>
                    <a:pt x="59563" y="0"/>
                    <a:pt x="132969" y="0"/>
                  </a:cubicBezTo>
                  <a:lnTo>
                    <a:pt x="7046722" y="0"/>
                  </a:lnTo>
                  <a:cubicBezTo>
                    <a:pt x="7120128" y="0"/>
                    <a:pt x="7179690" y="59436"/>
                    <a:pt x="7179690" y="132842"/>
                  </a:cubicBezTo>
                  <a:lnTo>
                    <a:pt x="7179690" y="4015486"/>
                  </a:lnTo>
                  <a:cubicBezTo>
                    <a:pt x="7179690" y="4088765"/>
                    <a:pt x="7120128" y="4148328"/>
                    <a:pt x="7046722" y="4148328"/>
                  </a:cubicBezTo>
                  <a:lnTo>
                    <a:pt x="132969" y="4148328"/>
                  </a:lnTo>
                  <a:cubicBezTo>
                    <a:pt x="59563" y="4148328"/>
                    <a:pt x="0" y="4088892"/>
                    <a:pt x="0" y="4015486"/>
                  </a:cubicBezTo>
                  <a:close/>
                </a:path>
              </a:pathLst>
            </a:custGeom>
            <a:solidFill>
              <a:srgbClr val="D5DCF6"/>
            </a:solidFill>
          </p:spPr>
        </p:sp>
        <p:sp>
          <p:nvSpPr>
            <p:cNvPr name="Freeform 29" id="29"/>
            <p:cNvSpPr/>
            <p:nvPr/>
          </p:nvSpPr>
          <p:spPr>
            <a:xfrm flipH="false" flipV="false" rot="0">
              <a:off x="0" y="0"/>
              <a:ext cx="7192390" cy="4161028"/>
            </a:xfrm>
            <a:custGeom>
              <a:avLst/>
              <a:gdLst/>
              <a:ahLst/>
              <a:cxnLst/>
              <a:rect r="r" b="b" t="t" l="l"/>
              <a:pathLst>
                <a:path h="4161028" w="7192390">
                  <a:moveTo>
                    <a:pt x="0" y="139192"/>
                  </a:moveTo>
                  <a:cubicBezTo>
                    <a:pt x="0" y="62230"/>
                    <a:pt x="62357" y="0"/>
                    <a:pt x="139319" y="0"/>
                  </a:cubicBezTo>
                  <a:lnTo>
                    <a:pt x="7053072" y="0"/>
                  </a:lnTo>
                  <a:lnTo>
                    <a:pt x="7053072" y="6350"/>
                  </a:lnTo>
                  <a:lnTo>
                    <a:pt x="7053072" y="0"/>
                  </a:lnTo>
                  <a:cubicBezTo>
                    <a:pt x="7130034" y="0"/>
                    <a:pt x="7192390" y="62230"/>
                    <a:pt x="7192390" y="139192"/>
                  </a:cubicBezTo>
                  <a:lnTo>
                    <a:pt x="7186040" y="139192"/>
                  </a:lnTo>
                  <a:lnTo>
                    <a:pt x="7192390" y="139192"/>
                  </a:lnTo>
                  <a:lnTo>
                    <a:pt x="7192390" y="4021836"/>
                  </a:lnTo>
                  <a:lnTo>
                    <a:pt x="7186040" y="4021836"/>
                  </a:lnTo>
                  <a:lnTo>
                    <a:pt x="7192390" y="4021836"/>
                  </a:lnTo>
                  <a:cubicBezTo>
                    <a:pt x="7192390" y="4098671"/>
                    <a:pt x="7130034" y="4161028"/>
                    <a:pt x="7053072" y="4161028"/>
                  </a:cubicBezTo>
                  <a:lnTo>
                    <a:pt x="7053072" y="4154678"/>
                  </a:lnTo>
                  <a:lnTo>
                    <a:pt x="7053072" y="4161028"/>
                  </a:lnTo>
                  <a:lnTo>
                    <a:pt x="139319" y="4161028"/>
                  </a:lnTo>
                  <a:lnTo>
                    <a:pt x="139319" y="4154678"/>
                  </a:lnTo>
                  <a:lnTo>
                    <a:pt x="139319" y="4161028"/>
                  </a:lnTo>
                  <a:cubicBezTo>
                    <a:pt x="62357" y="4161028"/>
                    <a:pt x="0" y="4098798"/>
                    <a:pt x="0" y="4021836"/>
                  </a:cubicBezTo>
                  <a:lnTo>
                    <a:pt x="0" y="139192"/>
                  </a:lnTo>
                  <a:lnTo>
                    <a:pt x="6350" y="139192"/>
                  </a:lnTo>
                  <a:lnTo>
                    <a:pt x="0" y="139192"/>
                  </a:lnTo>
                  <a:moveTo>
                    <a:pt x="12700" y="139192"/>
                  </a:moveTo>
                  <a:lnTo>
                    <a:pt x="12700" y="4021836"/>
                  </a:lnTo>
                  <a:lnTo>
                    <a:pt x="6350" y="4021836"/>
                  </a:lnTo>
                  <a:lnTo>
                    <a:pt x="12700" y="4021836"/>
                  </a:lnTo>
                  <a:cubicBezTo>
                    <a:pt x="12700" y="4091686"/>
                    <a:pt x="69342" y="4148328"/>
                    <a:pt x="139319" y="4148328"/>
                  </a:cubicBezTo>
                  <a:lnTo>
                    <a:pt x="7053072" y="4148328"/>
                  </a:lnTo>
                  <a:cubicBezTo>
                    <a:pt x="7123049" y="4148328"/>
                    <a:pt x="7179690" y="4091686"/>
                    <a:pt x="7179690" y="4021836"/>
                  </a:cubicBezTo>
                  <a:lnTo>
                    <a:pt x="7179690" y="139192"/>
                  </a:lnTo>
                  <a:cubicBezTo>
                    <a:pt x="7179690" y="69342"/>
                    <a:pt x="7123049" y="12700"/>
                    <a:pt x="7053072" y="12700"/>
                  </a:cubicBezTo>
                  <a:lnTo>
                    <a:pt x="139319" y="12700"/>
                  </a:lnTo>
                  <a:lnTo>
                    <a:pt x="139319" y="6350"/>
                  </a:lnTo>
                  <a:lnTo>
                    <a:pt x="139319" y="12700"/>
                  </a:lnTo>
                  <a:cubicBezTo>
                    <a:pt x="69342" y="12700"/>
                    <a:pt x="12700" y="69342"/>
                    <a:pt x="12700" y="139192"/>
                  </a:cubicBezTo>
                  <a:close/>
                </a:path>
              </a:pathLst>
            </a:custGeom>
            <a:solidFill>
              <a:srgbClr val="BBC2DC"/>
            </a:solidFill>
          </p:spPr>
        </p:sp>
      </p:grpSp>
      <p:grpSp>
        <p:nvGrpSpPr>
          <p:cNvPr name="Group 30" id="30"/>
          <p:cNvGrpSpPr/>
          <p:nvPr/>
        </p:nvGrpSpPr>
        <p:grpSpPr>
          <a:xfrm rot="0">
            <a:off x="12319992" y="5181897"/>
            <a:ext cx="711250" cy="711250"/>
            <a:chOff x="0" y="0"/>
            <a:chExt cx="948333" cy="948333"/>
          </a:xfrm>
        </p:grpSpPr>
        <p:sp>
          <p:nvSpPr>
            <p:cNvPr name="Freeform 31" id="31"/>
            <p:cNvSpPr/>
            <p:nvPr/>
          </p:nvSpPr>
          <p:spPr>
            <a:xfrm flipH="false" flipV="false" rot="0">
              <a:off x="0" y="0"/>
              <a:ext cx="948309" cy="948309"/>
            </a:xfrm>
            <a:custGeom>
              <a:avLst/>
              <a:gdLst/>
              <a:ahLst/>
              <a:cxnLst/>
              <a:rect r="r" b="b" t="t" l="l"/>
              <a:pathLst>
                <a:path h="948309" w="948309">
                  <a:moveTo>
                    <a:pt x="0" y="474218"/>
                  </a:moveTo>
                  <a:cubicBezTo>
                    <a:pt x="0" y="212344"/>
                    <a:pt x="212344" y="0"/>
                    <a:pt x="474218" y="0"/>
                  </a:cubicBezTo>
                  <a:cubicBezTo>
                    <a:pt x="736092" y="0"/>
                    <a:pt x="948309" y="212344"/>
                    <a:pt x="948309" y="474218"/>
                  </a:cubicBezTo>
                  <a:cubicBezTo>
                    <a:pt x="948309" y="736092"/>
                    <a:pt x="736092" y="948309"/>
                    <a:pt x="474218" y="948309"/>
                  </a:cubicBezTo>
                  <a:cubicBezTo>
                    <a:pt x="212344" y="948309"/>
                    <a:pt x="0" y="736092"/>
                    <a:pt x="0" y="474218"/>
                  </a:cubicBezTo>
                  <a:close/>
                </a:path>
              </a:pathLst>
            </a:custGeom>
            <a:solidFill>
              <a:srgbClr val="1A2D7A"/>
            </a:solidFill>
          </p:spPr>
        </p:sp>
      </p:grpSp>
      <p:grpSp>
        <p:nvGrpSpPr>
          <p:cNvPr name="Group 32" id="32"/>
          <p:cNvGrpSpPr>
            <a:grpSpLocks noChangeAspect="true"/>
          </p:cNvGrpSpPr>
          <p:nvPr/>
        </p:nvGrpSpPr>
        <p:grpSpPr>
          <a:xfrm rot="0">
            <a:off x="12515552" y="5337422"/>
            <a:ext cx="319980" cy="400050"/>
            <a:chOff x="0" y="0"/>
            <a:chExt cx="426640" cy="533400"/>
          </a:xfrm>
        </p:grpSpPr>
        <p:sp>
          <p:nvSpPr>
            <p:cNvPr name="Freeform 33" id="33" descr="preencoded.png"/>
            <p:cNvSpPr/>
            <p:nvPr/>
          </p:nvSpPr>
          <p:spPr>
            <a:xfrm flipH="false" flipV="false" rot="0">
              <a:off x="0" y="0"/>
              <a:ext cx="426593" cy="533400"/>
            </a:xfrm>
            <a:custGeom>
              <a:avLst/>
              <a:gdLst/>
              <a:ahLst/>
              <a:cxnLst/>
              <a:rect r="r" b="b" t="t" l="l"/>
              <a:pathLst>
                <a:path h="533400" w="426593">
                  <a:moveTo>
                    <a:pt x="0" y="0"/>
                  </a:moveTo>
                  <a:lnTo>
                    <a:pt x="426593" y="0"/>
                  </a:lnTo>
                  <a:lnTo>
                    <a:pt x="426593" y="533400"/>
                  </a:lnTo>
                  <a:lnTo>
                    <a:pt x="0" y="533400"/>
                  </a:lnTo>
                  <a:lnTo>
                    <a:pt x="0" y="0"/>
                  </a:lnTo>
                  <a:close/>
                </a:path>
              </a:pathLst>
            </a:custGeom>
            <a:blipFill>
              <a:blip r:embed="rId6"/>
              <a:stretch>
                <a:fillRect l="-604" t="0" r="-615" b="0"/>
              </a:stretch>
            </a:blipFill>
          </p:spPr>
        </p:sp>
      </p:grpSp>
      <p:sp>
        <p:nvSpPr>
          <p:cNvPr name="TextBox 34" id="34"/>
          <p:cNvSpPr txBox="true"/>
          <p:nvPr/>
        </p:nvSpPr>
        <p:spPr>
          <a:xfrm rot="0">
            <a:off x="12319992" y="6101655"/>
            <a:ext cx="3433019" cy="418505"/>
          </a:xfrm>
          <a:prstGeom prst="rect">
            <a:avLst/>
          </a:prstGeom>
        </p:spPr>
        <p:txBody>
          <a:bodyPr anchor="t" rtlCol="false" tIns="0" lIns="0" bIns="0" rIns="0">
            <a:spAutoFit/>
          </a:bodyPr>
          <a:lstStyle/>
          <a:p>
            <a:pPr algn="l">
              <a:lnSpc>
                <a:spcPts val="3062"/>
              </a:lnSpc>
            </a:pPr>
            <a:r>
              <a:rPr lang="en-US" sz="2437" b="true">
                <a:solidFill>
                  <a:srgbClr val="3B3535"/>
                </a:solidFill>
                <a:latin typeface="Aleo Bold"/>
                <a:ea typeface="Aleo Bold"/>
                <a:cs typeface="Aleo Bold"/>
                <a:sym typeface="Aleo Bold"/>
              </a:rPr>
              <a:t>Platform Investments</a:t>
            </a:r>
          </a:p>
        </p:txBody>
      </p:sp>
      <p:sp>
        <p:nvSpPr>
          <p:cNvPr name="TextBox 35" id="35"/>
          <p:cNvSpPr txBox="true"/>
          <p:nvPr/>
        </p:nvSpPr>
        <p:spPr>
          <a:xfrm rot="0">
            <a:off x="12319992" y="6567041"/>
            <a:ext cx="4891534" cy="1232892"/>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Shared digital infrastructure enabling AI, blockchain, and IoT adoption across the industry</a:t>
            </a:r>
          </a:p>
        </p:txBody>
      </p:sp>
      <p:sp>
        <p:nvSpPr>
          <p:cNvPr name="TextBox 36" id="36"/>
          <p:cNvSpPr txBox="true"/>
          <p:nvPr/>
        </p:nvSpPr>
        <p:spPr>
          <a:xfrm rot="0">
            <a:off x="829866" y="8217991"/>
            <a:ext cx="16628269" cy="1232892"/>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Collaborative innovation represents the joint creation of new products and services, enabling faster technology adoption, shared risk management, and enhanced customer experiences. This approach transforms traditional boundaries, allowing insurers to leverage collective expertise while maintaining competitive differentiation.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grpSp>
        <p:nvGrpSpPr>
          <p:cNvPr name="Group 6" id="6"/>
          <p:cNvGrpSpPr>
            <a:grpSpLocks noChangeAspect="true"/>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728496" y="1065759"/>
            <a:ext cx="9117211" cy="846684"/>
          </a:xfrm>
          <a:prstGeom prst="rect">
            <a:avLst/>
          </a:prstGeom>
        </p:spPr>
        <p:txBody>
          <a:bodyPr anchor="t" rtlCol="false" tIns="0" lIns="0" bIns="0" rIns="0">
            <a:spAutoFit/>
          </a:bodyPr>
          <a:lstStyle/>
          <a:p>
            <a:pPr algn="l">
              <a:lnSpc>
                <a:spcPts val="6437"/>
              </a:lnSpc>
            </a:pPr>
            <a:r>
              <a:rPr lang="en-US" sz="5125" b="true">
                <a:solidFill>
                  <a:srgbClr val="1F1E1E"/>
                </a:solidFill>
                <a:latin typeface="Aleo Bold"/>
                <a:ea typeface="Aleo Bold"/>
                <a:cs typeface="Aleo Bold"/>
                <a:sym typeface="Aleo Bold"/>
              </a:rPr>
              <a:t>The Competitive Battlefield</a:t>
            </a:r>
          </a:p>
        </p:txBody>
      </p:sp>
      <p:grpSp>
        <p:nvGrpSpPr>
          <p:cNvPr name="Group 9" id="9"/>
          <p:cNvGrpSpPr>
            <a:grpSpLocks noChangeAspect="true"/>
          </p:cNvGrpSpPr>
          <p:nvPr/>
        </p:nvGrpSpPr>
        <p:grpSpPr>
          <a:xfrm rot="0">
            <a:off x="7821811" y="2246411"/>
            <a:ext cx="372964" cy="466279"/>
            <a:chOff x="0" y="0"/>
            <a:chExt cx="497285" cy="621705"/>
          </a:xfrm>
        </p:grpSpPr>
        <p:sp>
          <p:nvSpPr>
            <p:cNvPr name="Freeform 10" id="10" descr="preencoded.png"/>
            <p:cNvSpPr/>
            <p:nvPr/>
          </p:nvSpPr>
          <p:spPr>
            <a:xfrm flipH="false" flipV="false" rot="0">
              <a:off x="0" y="0"/>
              <a:ext cx="497332" cy="621665"/>
            </a:xfrm>
            <a:custGeom>
              <a:avLst/>
              <a:gdLst/>
              <a:ahLst/>
              <a:cxnLst/>
              <a:rect r="r" b="b" t="t" l="l"/>
              <a:pathLst>
                <a:path h="621665" w="497332">
                  <a:moveTo>
                    <a:pt x="0" y="0"/>
                  </a:moveTo>
                  <a:lnTo>
                    <a:pt x="497332" y="0"/>
                  </a:lnTo>
                  <a:lnTo>
                    <a:pt x="497332" y="621665"/>
                  </a:lnTo>
                  <a:lnTo>
                    <a:pt x="0" y="621665"/>
                  </a:lnTo>
                  <a:lnTo>
                    <a:pt x="0" y="0"/>
                  </a:lnTo>
                  <a:close/>
                </a:path>
              </a:pathLst>
            </a:custGeom>
            <a:blipFill>
              <a:blip r:embed="rId4"/>
              <a:stretch>
                <a:fillRect l="0" t="-248" r="9" b="-254"/>
              </a:stretch>
            </a:blipFill>
          </p:spPr>
        </p:sp>
      </p:grpSp>
      <p:sp>
        <p:nvSpPr>
          <p:cNvPr name="TextBox 11" id="11"/>
          <p:cNvSpPr txBox="true"/>
          <p:nvPr/>
        </p:nvSpPr>
        <p:spPr>
          <a:xfrm rot="0">
            <a:off x="8536781" y="2275880"/>
            <a:ext cx="3389114" cy="418505"/>
          </a:xfrm>
          <a:prstGeom prst="rect">
            <a:avLst/>
          </a:prstGeom>
        </p:spPr>
        <p:txBody>
          <a:bodyPr anchor="t" rtlCol="false" tIns="0" lIns="0" bIns="0" rIns="0">
            <a:spAutoFit/>
          </a:bodyPr>
          <a:lstStyle/>
          <a:p>
            <a:pPr algn="l">
              <a:lnSpc>
                <a:spcPts val="3187"/>
              </a:lnSpc>
            </a:pPr>
            <a:r>
              <a:rPr lang="en-US" sz="2562" b="true">
                <a:solidFill>
                  <a:srgbClr val="3B3535"/>
                </a:solidFill>
                <a:latin typeface="Aleo Bold"/>
                <a:ea typeface="Aleo Bold"/>
                <a:cs typeface="Aleo Bold"/>
                <a:sym typeface="Aleo Bold"/>
              </a:rPr>
              <a:t>Premium Price Wars</a:t>
            </a:r>
          </a:p>
        </p:txBody>
      </p:sp>
      <p:sp>
        <p:nvSpPr>
          <p:cNvPr name="TextBox 12" id="12"/>
          <p:cNvSpPr txBox="true"/>
          <p:nvPr/>
        </p:nvSpPr>
        <p:spPr>
          <a:xfrm rot="0">
            <a:off x="8536781" y="2748260"/>
            <a:ext cx="8880722" cy="890885"/>
          </a:xfrm>
          <a:prstGeom prst="rect">
            <a:avLst/>
          </a:prstGeom>
        </p:spPr>
        <p:txBody>
          <a:bodyPr anchor="t" rtlCol="false" tIns="0" lIns="0" bIns="0" rIns="0">
            <a:spAutoFit/>
          </a:bodyPr>
          <a:lstStyle/>
          <a:p>
            <a:pPr algn="l">
              <a:lnSpc>
                <a:spcPts val="3125"/>
              </a:lnSpc>
            </a:pPr>
            <a:r>
              <a:rPr lang="en-US" sz="1937">
                <a:solidFill>
                  <a:srgbClr val="3B3535"/>
                </a:solidFill>
                <a:latin typeface="Arimo"/>
                <a:ea typeface="Arimo"/>
                <a:cs typeface="Arimo"/>
                <a:sym typeface="Arimo"/>
              </a:rPr>
              <a:t>Intense competition on pricing strategies to capture market share and attract cost-conscious consumers</a:t>
            </a:r>
          </a:p>
        </p:txBody>
      </p:sp>
      <p:grpSp>
        <p:nvGrpSpPr>
          <p:cNvPr name="Group 13" id="13"/>
          <p:cNvGrpSpPr>
            <a:grpSpLocks noChangeAspect="true"/>
          </p:cNvGrpSpPr>
          <p:nvPr/>
        </p:nvGrpSpPr>
        <p:grpSpPr>
          <a:xfrm rot="0">
            <a:off x="7821811" y="4097536"/>
            <a:ext cx="372964" cy="466279"/>
            <a:chOff x="0" y="0"/>
            <a:chExt cx="497285" cy="621705"/>
          </a:xfrm>
        </p:grpSpPr>
        <p:sp>
          <p:nvSpPr>
            <p:cNvPr name="Freeform 14" id="14" descr="preencoded.png"/>
            <p:cNvSpPr/>
            <p:nvPr/>
          </p:nvSpPr>
          <p:spPr>
            <a:xfrm flipH="false" flipV="false" rot="0">
              <a:off x="0" y="0"/>
              <a:ext cx="497332" cy="621665"/>
            </a:xfrm>
            <a:custGeom>
              <a:avLst/>
              <a:gdLst/>
              <a:ahLst/>
              <a:cxnLst/>
              <a:rect r="r" b="b" t="t" l="l"/>
              <a:pathLst>
                <a:path h="621665" w="497332">
                  <a:moveTo>
                    <a:pt x="0" y="0"/>
                  </a:moveTo>
                  <a:lnTo>
                    <a:pt x="497332" y="0"/>
                  </a:lnTo>
                  <a:lnTo>
                    <a:pt x="497332" y="621665"/>
                  </a:lnTo>
                  <a:lnTo>
                    <a:pt x="0" y="621665"/>
                  </a:lnTo>
                  <a:lnTo>
                    <a:pt x="0" y="0"/>
                  </a:lnTo>
                  <a:close/>
                </a:path>
              </a:pathLst>
            </a:custGeom>
            <a:blipFill>
              <a:blip r:embed="rId4"/>
              <a:stretch>
                <a:fillRect l="0" t="-248" r="9" b="-254"/>
              </a:stretch>
            </a:blipFill>
          </p:spPr>
        </p:sp>
      </p:grpSp>
      <p:sp>
        <p:nvSpPr>
          <p:cNvPr name="TextBox 15" id="15"/>
          <p:cNvSpPr txBox="true"/>
          <p:nvPr/>
        </p:nvSpPr>
        <p:spPr>
          <a:xfrm rot="0">
            <a:off x="8536781" y="4127004"/>
            <a:ext cx="3954066" cy="418505"/>
          </a:xfrm>
          <a:prstGeom prst="rect">
            <a:avLst/>
          </a:prstGeom>
        </p:spPr>
        <p:txBody>
          <a:bodyPr anchor="t" rtlCol="false" tIns="0" lIns="0" bIns="0" rIns="0">
            <a:spAutoFit/>
          </a:bodyPr>
          <a:lstStyle/>
          <a:p>
            <a:pPr algn="l">
              <a:lnSpc>
                <a:spcPts val="3187"/>
              </a:lnSpc>
            </a:pPr>
            <a:r>
              <a:rPr lang="en-US" sz="2562" b="true">
                <a:solidFill>
                  <a:srgbClr val="3B3535"/>
                </a:solidFill>
                <a:latin typeface="Aleo Bold"/>
                <a:ea typeface="Aleo Bold"/>
                <a:cs typeface="Aleo Bold"/>
                <a:sym typeface="Aleo Bold"/>
              </a:rPr>
              <a:t>Service Excellence Race</a:t>
            </a:r>
          </a:p>
        </p:txBody>
      </p:sp>
      <p:sp>
        <p:nvSpPr>
          <p:cNvPr name="TextBox 16" id="16"/>
          <p:cNvSpPr txBox="true"/>
          <p:nvPr/>
        </p:nvSpPr>
        <p:spPr>
          <a:xfrm rot="0">
            <a:off x="8536781" y="4599385"/>
            <a:ext cx="8880722" cy="890885"/>
          </a:xfrm>
          <a:prstGeom prst="rect">
            <a:avLst/>
          </a:prstGeom>
        </p:spPr>
        <p:txBody>
          <a:bodyPr anchor="t" rtlCol="false" tIns="0" lIns="0" bIns="0" rIns="0">
            <a:spAutoFit/>
          </a:bodyPr>
          <a:lstStyle/>
          <a:p>
            <a:pPr algn="l">
              <a:lnSpc>
                <a:spcPts val="3125"/>
              </a:lnSpc>
            </a:pPr>
            <a:r>
              <a:rPr lang="en-US" sz="1937">
                <a:solidFill>
                  <a:srgbClr val="3B3535"/>
                </a:solidFill>
                <a:latin typeface="Arimo"/>
                <a:ea typeface="Arimo"/>
                <a:cs typeface="Arimo"/>
                <a:sym typeface="Arimo"/>
              </a:rPr>
              <a:t>Competing on customer service quality, claims processing speed, and overall customer experience delivery</a:t>
            </a:r>
          </a:p>
        </p:txBody>
      </p:sp>
      <p:grpSp>
        <p:nvGrpSpPr>
          <p:cNvPr name="Group 17" id="17"/>
          <p:cNvGrpSpPr>
            <a:grpSpLocks noChangeAspect="true"/>
          </p:cNvGrpSpPr>
          <p:nvPr/>
        </p:nvGrpSpPr>
        <p:grpSpPr>
          <a:xfrm rot="0">
            <a:off x="7821811" y="5948660"/>
            <a:ext cx="372964" cy="466279"/>
            <a:chOff x="0" y="0"/>
            <a:chExt cx="497285" cy="621705"/>
          </a:xfrm>
        </p:grpSpPr>
        <p:sp>
          <p:nvSpPr>
            <p:cNvPr name="Freeform 18" id="18" descr="preencoded.png"/>
            <p:cNvSpPr/>
            <p:nvPr/>
          </p:nvSpPr>
          <p:spPr>
            <a:xfrm flipH="false" flipV="false" rot="0">
              <a:off x="0" y="0"/>
              <a:ext cx="497332" cy="621665"/>
            </a:xfrm>
            <a:custGeom>
              <a:avLst/>
              <a:gdLst/>
              <a:ahLst/>
              <a:cxnLst/>
              <a:rect r="r" b="b" t="t" l="l"/>
              <a:pathLst>
                <a:path h="621665" w="497332">
                  <a:moveTo>
                    <a:pt x="0" y="0"/>
                  </a:moveTo>
                  <a:lnTo>
                    <a:pt x="497332" y="0"/>
                  </a:lnTo>
                  <a:lnTo>
                    <a:pt x="497332" y="621665"/>
                  </a:lnTo>
                  <a:lnTo>
                    <a:pt x="0" y="621665"/>
                  </a:lnTo>
                  <a:lnTo>
                    <a:pt x="0" y="0"/>
                  </a:lnTo>
                  <a:close/>
                </a:path>
              </a:pathLst>
            </a:custGeom>
            <a:blipFill>
              <a:blip r:embed="rId4"/>
              <a:stretch>
                <a:fillRect l="0" t="-248" r="9" b="-254"/>
              </a:stretch>
            </a:blipFill>
          </p:spPr>
        </p:sp>
      </p:grpSp>
      <p:sp>
        <p:nvSpPr>
          <p:cNvPr name="TextBox 19" id="19"/>
          <p:cNvSpPr txBox="true"/>
          <p:nvPr/>
        </p:nvSpPr>
        <p:spPr>
          <a:xfrm rot="0">
            <a:off x="8536781" y="5978129"/>
            <a:ext cx="3857179" cy="418505"/>
          </a:xfrm>
          <a:prstGeom prst="rect">
            <a:avLst/>
          </a:prstGeom>
        </p:spPr>
        <p:txBody>
          <a:bodyPr anchor="t" rtlCol="false" tIns="0" lIns="0" bIns="0" rIns="0">
            <a:spAutoFit/>
          </a:bodyPr>
          <a:lstStyle/>
          <a:p>
            <a:pPr algn="l">
              <a:lnSpc>
                <a:spcPts val="3187"/>
              </a:lnSpc>
            </a:pPr>
            <a:r>
              <a:rPr lang="en-US" sz="2562" b="true">
                <a:solidFill>
                  <a:srgbClr val="3B3535"/>
                </a:solidFill>
                <a:latin typeface="Aleo Bold"/>
                <a:ea typeface="Aleo Bold"/>
                <a:cs typeface="Aleo Bold"/>
                <a:sym typeface="Aleo Bold"/>
              </a:rPr>
              <a:t>Product Differentiation</a:t>
            </a:r>
          </a:p>
        </p:txBody>
      </p:sp>
      <p:sp>
        <p:nvSpPr>
          <p:cNvPr name="TextBox 20" id="20"/>
          <p:cNvSpPr txBox="true"/>
          <p:nvPr/>
        </p:nvSpPr>
        <p:spPr>
          <a:xfrm rot="0">
            <a:off x="8536781" y="6450509"/>
            <a:ext cx="8880722" cy="890885"/>
          </a:xfrm>
          <a:prstGeom prst="rect">
            <a:avLst/>
          </a:prstGeom>
        </p:spPr>
        <p:txBody>
          <a:bodyPr anchor="t" rtlCol="false" tIns="0" lIns="0" bIns="0" rIns="0">
            <a:spAutoFit/>
          </a:bodyPr>
          <a:lstStyle/>
          <a:p>
            <a:pPr algn="l">
              <a:lnSpc>
                <a:spcPts val="3125"/>
              </a:lnSpc>
            </a:pPr>
            <a:r>
              <a:rPr lang="en-US" sz="1937">
                <a:solidFill>
                  <a:srgbClr val="3B3535"/>
                </a:solidFill>
                <a:latin typeface="Arimo"/>
                <a:ea typeface="Arimo"/>
                <a:cs typeface="Arimo"/>
                <a:sym typeface="Arimo"/>
              </a:rPr>
              <a:t>Specialized offerings across health, auto, cyber, and life insurance segments with unique value propositions</a:t>
            </a:r>
          </a:p>
        </p:txBody>
      </p:sp>
      <p:grpSp>
        <p:nvGrpSpPr>
          <p:cNvPr name="Group 21" id="21"/>
          <p:cNvGrpSpPr>
            <a:grpSpLocks noChangeAspect="true"/>
          </p:cNvGrpSpPr>
          <p:nvPr/>
        </p:nvGrpSpPr>
        <p:grpSpPr>
          <a:xfrm rot="0">
            <a:off x="7821811" y="7799784"/>
            <a:ext cx="372964" cy="466279"/>
            <a:chOff x="0" y="0"/>
            <a:chExt cx="497285" cy="621705"/>
          </a:xfrm>
        </p:grpSpPr>
        <p:sp>
          <p:nvSpPr>
            <p:cNvPr name="Freeform 22" id="22" descr="preencoded.png"/>
            <p:cNvSpPr/>
            <p:nvPr/>
          </p:nvSpPr>
          <p:spPr>
            <a:xfrm flipH="false" flipV="false" rot="0">
              <a:off x="0" y="0"/>
              <a:ext cx="497332" cy="621665"/>
            </a:xfrm>
            <a:custGeom>
              <a:avLst/>
              <a:gdLst/>
              <a:ahLst/>
              <a:cxnLst/>
              <a:rect r="r" b="b" t="t" l="l"/>
              <a:pathLst>
                <a:path h="621665" w="497332">
                  <a:moveTo>
                    <a:pt x="0" y="0"/>
                  </a:moveTo>
                  <a:lnTo>
                    <a:pt x="497332" y="0"/>
                  </a:lnTo>
                  <a:lnTo>
                    <a:pt x="497332" y="621665"/>
                  </a:lnTo>
                  <a:lnTo>
                    <a:pt x="0" y="621665"/>
                  </a:lnTo>
                  <a:lnTo>
                    <a:pt x="0" y="0"/>
                  </a:lnTo>
                  <a:close/>
                </a:path>
              </a:pathLst>
            </a:custGeom>
            <a:blipFill>
              <a:blip r:embed="rId4"/>
              <a:stretch>
                <a:fillRect l="0" t="-248" r="9" b="-254"/>
              </a:stretch>
            </a:blipFill>
          </p:spPr>
        </p:sp>
      </p:grpSp>
      <p:sp>
        <p:nvSpPr>
          <p:cNvPr name="TextBox 23" id="23"/>
          <p:cNvSpPr txBox="true"/>
          <p:nvPr/>
        </p:nvSpPr>
        <p:spPr>
          <a:xfrm rot="0">
            <a:off x="8536781" y="7829252"/>
            <a:ext cx="3466654" cy="418505"/>
          </a:xfrm>
          <a:prstGeom prst="rect">
            <a:avLst/>
          </a:prstGeom>
        </p:spPr>
        <p:txBody>
          <a:bodyPr anchor="t" rtlCol="false" tIns="0" lIns="0" bIns="0" rIns="0">
            <a:spAutoFit/>
          </a:bodyPr>
          <a:lstStyle/>
          <a:p>
            <a:pPr algn="l">
              <a:lnSpc>
                <a:spcPts val="3187"/>
              </a:lnSpc>
            </a:pPr>
            <a:r>
              <a:rPr lang="en-US" sz="2562" b="true">
                <a:solidFill>
                  <a:srgbClr val="3B3535"/>
                </a:solidFill>
                <a:latin typeface="Aleo Bold"/>
                <a:ea typeface="Aleo Bold"/>
                <a:cs typeface="Aleo Bold"/>
                <a:sym typeface="Aleo Bold"/>
              </a:rPr>
              <a:t>Market Share Battles</a:t>
            </a:r>
          </a:p>
        </p:txBody>
      </p:sp>
      <p:sp>
        <p:nvSpPr>
          <p:cNvPr name="TextBox 24" id="24"/>
          <p:cNvSpPr txBox="true"/>
          <p:nvPr/>
        </p:nvSpPr>
        <p:spPr>
          <a:xfrm rot="0">
            <a:off x="8536781" y="8301632"/>
            <a:ext cx="8880722" cy="890885"/>
          </a:xfrm>
          <a:prstGeom prst="rect">
            <a:avLst/>
          </a:prstGeom>
        </p:spPr>
        <p:txBody>
          <a:bodyPr anchor="t" rtlCol="false" tIns="0" lIns="0" bIns="0" rIns="0">
            <a:spAutoFit/>
          </a:bodyPr>
          <a:lstStyle/>
          <a:p>
            <a:pPr algn="l">
              <a:lnSpc>
                <a:spcPts val="3125"/>
              </a:lnSpc>
            </a:pPr>
            <a:r>
              <a:rPr lang="en-US" sz="1937">
                <a:solidFill>
                  <a:srgbClr val="3B3535"/>
                </a:solidFill>
                <a:latin typeface="Arimo"/>
                <a:ea typeface="Arimo"/>
                <a:cs typeface="Arimo"/>
                <a:sym typeface="Arimo"/>
              </a:rPr>
              <a:t>Aggressive marketing campaigns and brand positioning to establish dominance in key customer segments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grpSp>
        <p:nvGrpSpPr>
          <p:cNvPr name="Group 6" id="6"/>
          <p:cNvGrpSpPr>
            <a:grpSpLocks noChangeAspect="true"/>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a:grpSpLocks noChangeAspect="true"/>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851744" y="631031"/>
            <a:ext cx="9726514" cy="1638895"/>
          </a:xfrm>
          <a:prstGeom prst="rect">
            <a:avLst/>
          </a:prstGeom>
        </p:spPr>
        <p:txBody>
          <a:bodyPr anchor="t" rtlCol="false" tIns="0" lIns="0" bIns="0" rIns="0">
            <a:spAutoFit/>
          </a:bodyPr>
          <a:lstStyle/>
          <a:p>
            <a:pPr algn="l">
              <a:lnSpc>
                <a:spcPts val="6249"/>
              </a:lnSpc>
            </a:pPr>
            <a:r>
              <a:rPr lang="en-US" sz="4999" b="true">
                <a:solidFill>
                  <a:srgbClr val="1F1E1E"/>
                </a:solidFill>
                <a:latin typeface="Aleo Bold"/>
                <a:ea typeface="Aleo Bold"/>
                <a:cs typeface="Aleo Bold"/>
                <a:sym typeface="Aleo Bold"/>
              </a:rPr>
              <a:t>The Power of Healthy Competition</a:t>
            </a:r>
          </a:p>
        </p:txBody>
      </p:sp>
      <p:sp>
        <p:nvSpPr>
          <p:cNvPr name="TextBox 11" id="11"/>
          <p:cNvSpPr txBox="true"/>
          <p:nvPr/>
        </p:nvSpPr>
        <p:spPr>
          <a:xfrm rot="0">
            <a:off x="851744" y="2849612"/>
            <a:ext cx="4566494" cy="989111"/>
          </a:xfrm>
          <a:prstGeom prst="rect">
            <a:avLst/>
          </a:prstGeom>
        </p:spPr>
        <p:txBody>
          <a:bodyPr anchor="t" rtlCol="false" tIns="0" lIns="0" bIns="0" rIns="0">
            <a:spAutoFit/>
          </a:bodyPr>
          <a:lstStyle/>
          <a:p>
            <a:pPr algn="l">
              <a:lnSpc>
                <a:spcPts val="3749"/>
              </a:lnSpc>
            </a:pPr>
            <a:r>
              <a:rPr lang="en-US" sz="3000" b="true">
                <a:solidFill>
                  <a:srgbClr val="1F1E1E"/>
                </a:solidFill>
                <a:latin typeface="Aleo Bold"/>
                <a:ea typeface="Aleo Bold"/>
                <a:cs typeface="Aleo Bold"/>
                <a:sym typeface="Aleo Bold"/>
              </a:rPr>
              <a:t>Efficiency &amp; Innovation Drivers</a:t>
            </a:r>
          </a:p>
        </p:txBody>
      </p:sp>
      <p:sp>
        <p:nvSpPr>
          <p:cNvPr name="TextBox 12" id="12"/>
          <p:cNvSpPr txBox="true"/>
          <p:nvPr/>
        </p:nvSpPr>
        <p:spPr>
          <a:xfrm rot="0">
            <a:off x="851744" y="3977282"/>
            <a:ext cx="4566494" cy="2830116"/>
          </a:xfrm>
          <a:prstGeom prst="rect">
            <a:avLst/>
          </a:prstGeom>
        </p:spPr>
        <p:txBody>
          <a:bodyPr anchor="t" rtlCol="false" tIns="0" lIns="0" bIns="0" rIns="0">
            <a:spAutoFit/>
          </a:bodyPr>
          <a:lstStyle/>
          <a:p>
            <a:pPr algn="l">
              <a:lnSpc>
                <a:spcPts val="3062"/>
              </a:lnSpc>
            </a:pPr>
            <a:r>
              <a:rPr lang="en-US" sz="1874">
                <a:solidFill>
                  <a:srgbClr val="3B3535"/>
                </a:solidFill>
                <a:latin typeface="Arimo"/>
                <a:ea typeface="Arimo"/>
                <a:cs typeface="Arimo"/>
                <a:sym typeface="Arimo"/>
              </a:rPr>
              <a:t>Competition forces insurers to optimize operations, control costs, and continuously innovate. This pressure creates a virtuous cycle of improvement, pushing companies to develop better products and streamline processes.</a:t>
            </a:r>
          </a:p>
        </p:txBody>
      </p:sp>
      <p:sp>
        <p:nvSpPr>
          <p:cNvPr name="TextBox 13" id="13"/>
          <p:cNvSpPr txBox="true"/>
          <p:nvPr/>
        </p:nvSpPr>
        <p:spPr>
          <a:xfrm rot="0">
            <a:off x="851744" y="6921550"/>
            <a:ext cx="4566494" cy="883444"/>
          </a:xfrm>
          <a:prstGeom prst="rect">
            <a:avLst/>
          </a:prstGeom>
        </p:spPr>
        <p:txBody>
          <a:bodyPr anchor="t" rtlCol="false" tIns="0" lIns="0" bIns="0" rIns="0">
            <a:spAutoFit/>
          </a:bodyPr>
          <a:lstStyle/>
          <a:p>
            <a:pPr algn="l" marL="282773" indent="-141387" lvl="1">
              <a:lnSpc>
                <a:spcPts val="3062"/>
              </a:lnSpc>
              <a:buFont typeface="Arial"/>
              <a:buChar char="•"/>
            </a:pPr>
            <a:r>
              <a:rPr lang="en-US" sz="1874">
                <a:solidFill>
                  <a:srgbClr val="3B3535"/>
                </a:solidFill>
                <a:latin typeface="Arimo"/>
                <a:ea typeface="Arimo"/>
                <a:cs typeface="Arimo"/>
                <a:sym typeface="Arimo"/>
              </a:rPr>
              <a:t>Operational efficiency improvements</a:t>
            </a:r>
          </a:p>
        </p:txBody>
      </p:sp>
      <p:sp>
        <p:nvSpPr>
          <p:cNvPr name="TextBox 14" id="14"/>
          <p:cNvSpPr txBox="true"/>
          <p:nvPr/>
        </p:nvSpPr>
        <p:spPr>
          <a:xfrm rot="0">
            <a:off x="851744" y="7785347"/>
            <a:ext cx="4566494" cy="494110"/>
          </a:xfrm>
          <a:prstGeom prst="rect">
            <a:avLst/>
          </a:prstGeom>
        </p:spPr>
        <p:txBody>
          <a:bodyPr anchor="t" rtlCol="false" tIns="0" lIns="0" bIns="0" rIns="0">
            <a:spAutoFit/>
          </a:bodyPr>
          <a:lstStyle/>
          <a:p>
            <a:pPr algn="l" marL="282773" indent="-141387" lvl="1">
              <a:lnSpc>
                <a:spcPts val="3062"/>
              </a:lnSpc>
              <a:buFont typeface="Arial"/>
              <a:buChar char="•"/>
            </a:pPr>
            <a:r>
              <a:rPr lang="en-US" sz="1874">
                <a:solidFill>
                  <a:srgbClr val="3B3535"/>
                </a:solidFill>
                <a:latin typeface="Arimo"/>
                <a:ea typeface="Arimo"/>
                <a:cs typeface="Arimo"/>
                <a:sym typeface="Arimo"/>
              </a:rPr>
              <a:t>Cost optimization initiatives</a:t>
            </a:r>
          </a:p>
        </p:txBody>
      </p:sp>
      <p:sp>
        <p:nvSpPr>
          <p:cNvPr name="TextBox 15" id="15"/>
          <p:cNvSpPr txBox="true"/>
          <p:nvPr/>
        </p:nvSpPr>
        <p:spPr>
          <a:xfrm rot="0">
            <a:off x="851744" y="8259812"/>
            <a:ext cx="4566494" cy="494110"/>
          </a:xfrm>
          <a:prstGeom prst="rect">
            <a:avLst/>
          </a:prstGeom>
        </p:spPr>
        <p:txBody>
          <a:bodyPr anchor="t" rtlCol="false" tIns="0" lIns="0" bIns="0" rIns="0">
            <a:spAutoFit/>
          </a:bodyPr>
          <a:lstStyle/>
          <a:p>
            <a:pPr algn="l" marL="282773" indent="-141387" lvl="1">
              <a:lnSpc>
                <a:spcPts val="3062"/>
              </a:lnSpc>
              <a:buFont typeface="Arial"/>
              <a:buChar char="•"/>
            </a:pPr>
            <a:r>
              <a:rPr lang="en-US" sz="1874">
                <a:solidFill>
                  <a:srgbClr val="3B3535"/>
                </a:solidFill>
                <a:latin typeface="Arimo"/>
                <a:ea typeface="Arimo"/>
                <a:cs typeface="Arimo"/>
                <a:sym typeface="Arimo"/>
              </a:rPr>
              <a:t>Process automation adoption</a:t>
            </a:r>
          </a:p>
        </p:txBody>
      </p:sp>
      <p:sp>
        <p:nvSpPr>
          <p:cNvPr name="TextBox 16" id="16"/>
          <p:cNvSpPr txBox="true"/>
          <p:nvPr/>
        </p:nvSpPr>
        <p:spPr>
          <a:xfrm rot="0">
            <a:off x="6021289" y="2849612"/>
            <a:ext cx="4566494" cy="989111"/>
          </a:xfrm>
          <a:prstGeom prst="rect">
            <a:avLst/>
          </a:prstGeom>
        </p:spPr>
        <p:txBody>
          <a:bodyPr anchor="t" rtlCol="false" tIns="0" lIns="0" bIns="0" rIns="0">
            <a:spAutoFit/>
          </a:bodyPr>
          <a:lstStyle/>
          <a:p>
            <a:pPr algn="l">
              <a:lnSpc>
                <a:spcPts val="3749"/>
              </a:lnSpc>
            </a:pPr>
            <a:r>
              <a:rPr lang="en-US" sz="3000" b="true">
                <a:solidFill>
                  <a:srgbClr val="1F1E1E"/>
                </a:solidFill>
                <a:latin typeface="Aleo Bold"/>
                <a:ea typeface="Aleo Bold"/>
                <a:cs typeface="Aleo Bold"/>
                <a:sym typeface="Aleo Bold"/>
              </a:rPr>
              <a:t>Customer-Centric Evolution</a:t>
            </a:r>
          </a:p>
        </p:txBody>
      </p:sp>
      <p:sp>
        <p:nvSpPr>
          <p:cNvPr name="TextBox 17" id="17"/>
          <p:cNvSpPr txBox="true"/>
          <p:nvPr/>
        </p:nvSpPr>
        <p:spPr>
          <a:xfrm rot="0">
            <a:off x="6021289" y="3977282"/>
            <a:ext cx="4566494" cy="2830116"/>
          </a:xfrm>
          <a:prstGeom prst="rect">
            <a:avLst/>
          </a:prstGeom>
        </p:spPr>
        <p:txBody>
          <a:bodyPr anchor="t" rtlCol="false" tIns="0" lIns="0" bIns="0" rIns="0">
            <a:spAutoFit/>
          </a:bodyPr>
          <a:lstStyle/>
          <a:p>
            <a:pPr algn="l">
              <a:lnSpc>
                <a:spcPts val="3062"/>
              </a:lnSpc>
            </a:pPr>
            <a:r>
              <a:rPr lang="en-US" sz="1874">
                <a:solidFill>
                  <a:srgbClr val="3B3535"/>
                </a:solidFill>
                <a:latin typeface="Arimo"/>
                <a:ea typeface="Arimo"/>
                <a:cs typeface="Arimo"/>
                <a:sym typeface="Arimo"/>
              </a:rPr>
              <a:t>Rivalry drives insurers to prioritize customer needs, resulting in enhanced digital experiences, new distribution channels like bancassurance, and stronger brand trust through consistent service delivery.</a:t>
            </a:r>
          </a:p>
        </p:txBody>
      </p:sp>
      <p:sp>
        <p:nvSpPr>
          <p:cNvPr name="TextBox 18" id="18"/>
          <p:cNvSpPr txBox="true"/>
          <p:nvPr/>
        </p:nvSpPr>
        <p:spPr>
          <a:xfrm rot="0">
            <a:off x="6021289" y="6921550"/>
            <a:ext cx="4566494" cy="883444"/>
          </a:xfrm>
          <a:prstGeom prst="rect">
            <a:avLst/>
          </a:prstGeom>
        </p:spPr>
        <p:txBody>
          <a:bodyPr anchor="t" rtlCol="false" tIns="0" lIns="0" bIns="0" rIns="0">
            <a:spAutoFit/>
          </a:bodyPr>
          <a:lstStyle/>
          <a:p>
            <a:pPr algn="l" marL="282773" indent="-141387" lvl="1">
              <a:lnSpc>
                <a:spcPts val="3062"/>
              </a:lnSpc>
              <a:buFont typeface="Arial"/>
              <a:buChar char="•"/>
            </a:pPr>
            <a:r>
              <a:rPr lang="en-US" sz="1874">
                <a:solidFill>
                  <a:srgbClr val="3B3535"/>
                </a:solidFill>
                <a:latin typeface="Arimo"/>
                <a:ea typeface="Arimo"/>
                <a:cs typeface="Arimo"/>
                <a:sym typeface="Arimo"/>
              </a:rPr>
              <a:t>Digital transformation acceleration</a:t>
            </a:r>
          </a:p>
        </p:txBody>
      </p:sp>
      <p:sp>
        <p:nvSpPr>
          <p:cNvPr name="TextBox 19" id="19"/>
          <p:cNvSpPr txBox="true"/>
          <p:nvPr/>
        </p:nvSpPr>
        <p:spPr>
          <a:xfrm rot="0">
            <a:off x="6021289" y="7785347"/>
            <a:ext cx="4566494" cy="883444"/>
          </a:xfrm>
          <a:prstGeom prst="rect">
            <a:avLst/>
          </a:prstGeom>
        </p:spPr>
        <p:txBody>
          <a:bodyPr anchor="t" rtlCol="false" tIns="0" lIns="0" bIns="0" rIns="0">
            <a:spAutoFit/>
          </a:bodyPr>
          <a:lstStyle/>
          <a:p>
            <a:pPr algn="l" marL="282773" indent="-141387" lvl="1">
              <a:lnSpc>
                <a:spcPts val="3062"/>
              </a:lnSpc>
              <a:buFont typeface="Arial"/>
              <a:buChar char="•"/>
            </a:pPr>
            <a:r>
              <a:rPr lang="en-US" sz="1874">
                <a:solidFill>
                  <a:srgbClr val="3B3535"/>
                </a:solidFill>
                <a:latin typeface="Arimo"/>
                <a:ea typeface="Arimo"/>
                <a:cs typeface="Arimo"/>
                <a:sym typeface="Arimo"/>
              </a:rPr>
              <a:t>Multi-channel distribution strategies</a:t>
            </a:r>
          </a:p>
        </p:txBody>
      </p:sp>
      <p:sp>
        <p:nvSpPr>
          <p:cNvPr name="TextBox 20" id="20"/>
          <p:cNvSpPr txBox="true"/>
          <p:nvPr/>
        </p:nvSpPr>
        <p:spPr>
          <a:xfrm rot="0">
            <a:off x="6021289" y="8649146"/>
            <a:ext cx="4566494" cy="883444"/>
          </a:xfrm>
          <a:prstGeom prst="rect">
            <a:avLst/>
          </a:prstGeom>
        </p:spPr>
        <p:txBody>
          <a:bodyPr anchor="t" rtlCol="false" tIns="0" lIns="0" bIns="0" rIns="0">
            <a:spAutoFit/>
          </a:bodyPr>
          <a:lstStyle/>
          <a:p>
            <a:pPr algn="l" marL="282773" indent="-141387" lvl="1">
              <a:lnSpc>
                <a:spcPts val="3062"/>
              </a:lnSpc>
              <a:buFont typeface="Arial"/>
              <a:buChar char="•"/>
            </a:pPr>
            <a:r>
              <a:rPr lang="en-US" sz="1874">
                <a:solidFill>
                  <a:srgbClr val="3B3535"/>
                </a:solidFill>
                <a:latin typeface="Arimo"/>
                <a:ea typeface="Arimo"/>
                <a:cs typeface="Arimo"/>
                <a:sym typeface="Arimo"/>
              </a:rPr>
              <a:t>Brand differentiation through service</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947886" y="1728341"/>
            <a:ext cx="12029331" cy="928985"/>
          </a:xfrm>
          <a:prstGeom prst="rect">
            <a:avLst/>
          </a:prstGeom>
        </p:spPr>
        <p:txBody>
          <a:bodyPr anchor="t" rtlCol="false" tIns="0" lIns="0" bIns="0" rIns="0">
            <a:spAutoFit/>
          </a:bodyPr>
          <a:lstStyle/>
          <a:p>
            <a:pPr algn="l">
              <a:lnSpc>
                <a:spcPts val="7000"/>
              </a:lnSpc>
            </a:pPr>
            <a:r>
              <a:rPr lang="en-US" sz="5562" b="true">
                <a:solidFill>
                  <a:srgbClr val="1F1E1E"/>
                </a:solidFill>
                <a:latin typeface="Aleo Bold"/>
                <a:ea typeface="Aleo Bold"/>
                <a:cs typeface="Aleo Bold"/>
                <a:sym typeface="Aleo Bold"/>
              </a:rPr>
              <a:t>When Competition Hits Its Limits</a:t>
            </a:r>
          </a:p>
        </p:txBody>
      </p:sp>
      <p:grpSp>
        <p:nvGrpSpPr>
          <p:cNvPr name="Group 7" id="7"/>
          <p:cNvGrpSpPr/>
          <p:nvPr/>
        </p:nvGrpSpPr>
        <p:grpSpPr>
          <a:xfrm rot="0">
            <a:off x="928836" y="3179861"/>
            <a:ext cx="8098780" cy="2563565"/>
            <a:chOff x="0" y="0"/>
            <a:chExt cx="10798373" cy="3418087"/>
          </a:xfrm>
        </p:grpSpPr>
        <p:sp>
          <p:nvSpPr>
            <p:cNvPr name="Freeform 8" id="8"/>
            <p:cNvSpPr/>
            <p:nvPr/>
          </p:nvSpPr>
          <p:spPr>
            <a:xfrm flipH="false" flipV="false" rot="0">
              <a:off x="25400" y="25400"/>
              <a:ext cx="10747629" cy="3367278"/>
            </a:xfrm>
            <a:custGeom>
              <a:avLst/>
              <a:gdLst/>
              <a:ahLst/>
              <a:cxnLst/>
              <a:rect r="r" b="b" t="t" l="l"/>
              <a:pathLst>
                <a:path h="3367278" w="10747629">
                  <a:moveTo>
                    <a:pt x="0" y="243840"/>
                  </a:moveTo>
                  <a:cubicBezTo>
                    <a:pt x="0" y="109220"/>
                    <a:pt x="110236" y="0"/>
                    <a:pt x="246380" y="0"/>
                  </a:cubicBezTo>
                  <a:lnTo>
                    <a:pt x="10501249" y="0"/>
                  </a:lnTo>
                  <a:cubicBezTo>
                    <a:pt x="10637266" y="0"/>
                    <a:pt x="10747629" y="109220"/>
                    <a:pt x="10747629" y="243840"/>
                  </a:cubicBezTo>
                  <a:lnTo>
                    <a:pt x="10747629" y="3123438"/>
                  </a:lnTo>
                  <a:cubicBezTo>
                    <a:pt x="10747629" y="3258058"/>
                    <a:pt x="10637393" y="3367278"/>
                    <a:pt x="10501249" y="3367278"/>
                  </a:cubicBezTo>
                  <a:lnTo>
                    <a:pt x="246380" y="3367278"/>
                  </a:lnTo>
                  <a:cubicBezTo>
                    <a:pt x="110363" y="3367278"/>
                    <a:pt x="0" y="3258058"/>
                    <a:pt x="0" y="3123438"/>
                  </a:cubicBezTo>
                  <a:close/>
                </a:path>
              </a:pathLst>
            </a:custGeom>
            <a:solidFill>
              <a:srgbClr val="FFFAFA"/>
            </a:solidFill>
          </p:spPr>
        </p:sp>
        <p:sp>
          <p:nvSpPr>
            <p:cNvPr name="Freeform 9" id="9"/>
            <p:cNvSpPr/>
            <p:nvPr/>
          </p:nvSpPr>
          <p:spPr>
            <a:xfrm flipH="false" flipV="false" rot="0">
              <a:off x="0" y="0"/>
              <a:ext cx="10798429" cy="3418078"/>
            </a:xfrm>
            <a:custGeom>
              <a:avLst/>
              <a:gdLst/>
              <a:ahLst/>
              <a:cxnLst/>
              <a:rect r="r" b="b" t="t" l="l"/>
              <a:pathLst>
                <a:path h="3418078" w="10798429">
                  <a:moveTo>
                    <a:pt x="0" y="269240"/>
                  </a:moveTo>
                  <a:cubicBezTo>
                    <a:pt x="0" y="120269"/>
                    <a:pt x="121920" y="0"/>
                    <a:pt x="271780" y="0"/>
                  </a:cubicBezTo>
                  <a:lnTo>
                    <a:pt x="10526649" y="0"/>
                  </a:lnTo>
                  <a:lnTo>
                    <a:pt x="10526649" y="25400"/>
                  </a:lnTo>
                  <a:lnTo>
                    <a:pt x="10526649" y="0"/>
                  </a:lnTo>
                  <a:cubicBezTo>
                    <a:pt x="10676509" y="0"/>
                    <a:pt x="10798429" y="120269"/>
                    <a:pt x="10798429" y="269240"/>
                  </a:cubicBezTo>
                  <a:lnTo>
                    <a:pt x="10773029" y="269240"/>
                  </a:lnTo>
                  <a:lnTo>
                    <a:pt x="10798429" y="269240"/>
                  </a:lnTo>
                  <a:lnTo>
                    <a:pt x="10798429" y="3148838"/>
                  </a:lnTo>
                  <a:lnTo>
                    <a:pt x="10773029" y="3148838"/>
                  </a:lnTo>
                  <a:lnTo>
                    <a:pt x="10798429" y="3148838"/>
                  </a:lnTo>
                  <a:cubicBezTo>
                    <a:pt x="10798429" y="3297809"/>
                    <a:pt x="10676509" y="3418078"/>
                    <a:pt x="10526649" y="3418078"/>
                  </a:cubicBezTo>
                  <a:lnTo>
                    <a:pt x="10526649" y="3392678"/>
                  </a:lnTo>
                  <a:lnTo>
                    <a:pt x="10526649" y="3418078"/>
                  </a:lnTo>
                  <a:lnTo>
                    <a:pt x="271780" y="3418078"/>
                  </a:lnTo>
                  <a:lnTo>
                    <a:pt x="271780" y="3392678"/>
                  </a:lnTo>
                  <a:lnTo>
                    <a:pt x="271780" y="3418078"/>
                  </a:lnTo>
                  <a:cubicBezTo>
                    <a:pt x="121920" y="3418078"/>
                    <a:pt x="0" y="3297809"/>
                    <a:pt x="0" y="3148838"/>
                  </a:cubicBezTo>
                  <a:lnTo>
                    <a:pt x="0" y="269240"/>
                  </a:lnTo>
                  <a:lnTo>
                    <a:pt x="25400" y="269240"/>
                  </a:lnTo>
                  <a:lnTo>
                    <a:pt x="0" y="269240"/>
                  </a:lnTo>
                  <a:moveTo>
                    <a:pt x="50800" y="269240"/>
                  </a:moveTo>
                  <a:lnTo>
                    <a:pt x="50800" y="3148838"/>
                  </a:lnTo>
                  <a:lnTo>
                    <a:pt x="25400" y="3148838"/>
                  </a:lnTo>
                  <a:lnTo>
                    <a:pt x="50800" y="3148838"/>
                  </a:lnTo>
                  <a:cubicBezTo>
                    <a:pt x="50800" y="3269234"/>
                    <a:pt x="149479" y="3367278"/>
                    <a:pt x="271780" y="3367278"/>
                  </a:cubicBezTo>
                  <a:lnTo>
                    <a:pt x="10526649" y="3367278"/>
                  </a:lnTo>
                  <a:cubicBezTo>
                    <a:pt x="10648950" y="3367278"/>
                    <a:pt x="10747629" y="3269234"/>
                    <a:pt x="10747629" y="3148838"/>
                  </a:cubicBezTo>
                  <a:lnTo>
                    <a:pt x="10747629" y="269240"/>
                  </a:lnTo>
                  <a:cubicBezTo>
                    <a:pt x="10747629" y="148844"/>
                    <a:pt x="10648950" y="50800"/>
                    <a:pt x="10526649" y="50800"/>
                  </a:cubicBezTo>
                  <a:lnTo>
                    <a:pt x="271780" y="50800"/>
                  </a:lnTo>
                  <a:lnTo>
                    <a:pt x="271780" y="25400"/>
                  </a:lnTo>
                  <a:lnTo>
                    <a:pt x="271780" y="50800"/>
                  </a:lnTo>
                  <a:cubicBezTo>
                    <a:pt x="149479" y="50800"/>
                    <a:pt x="50800" y="148844"/>
                    <a:pt x="50800" y="269240"/>
                  </a:cubicBezTo>
                  <a:close/>
                </a:path>
              </a:pathLst>
            </a:custGeom>
            <a:solidFill>
              <a:srgbClr val="1A2D7A"/>
            </a:solidFill>
          </p:spPr>
        </p:sp>
      </p:grpSp>
      <p:grpSp>
        <p:nvGrpSpPr>
          <p:cNvPr name="Group 10" id="10"/>
          <p:cNvGrpSpPr/>
          <p:nvPr/>
        </p:nvGrpSpPr>
        <p:grpSpPr>
          <a:xfrm rot="0">
            <a:off x="909786" y="3198911"/>
            <a:ext cx="152400" cy="2525465"/>
            <a:chOff x="0" y="0"/>
            <a:chExt cx="203200" cy="3367287"/>
          </a:xfrm>
        </p:grpSpPr>
        <p:sp>
          <p:nvSpPr>
            <p:cNvPr name="Freeform 11" id="11"/>
            <p:cNvSpPr/>
            <p:nvPr/>
          </p:nvSpPr>
          <p:spPr>
            <a:xfrm flipH="false" flipV="false" rot="0">
              <a:off x="0" y="0"/>
              <a:ext cx="203200" cy="3367278"/>
            </a:xfrm>
            <a:custGeom>
              <a:avLst/>
              <a:gdLst/>
              <a:ahLst/>
              <a:cxnLst/>
              <a:rect r="r" b="b" t="t" l="l"/>
              <a:pathLst>
                <a:path h="3367278" w="203200">
                  <a:moveTo>
                    <a:pt x="0" y="101600"/>
                  </a:moveTo>
                  <a:cubicBezTo>
                    <a:pt x="0" y="45466"/>
                    <a:pt x="45466" y="0"/>
                    <a:pt x="101600" y="0"/>
                  </a:cubicBezTo>
                  <a:cubicBezTo>
                    <a:pt x="157734" y="0"/>
                    <a:pt x="203200" y="45466"/>
                    <a:pt x="203200" y="101600"/>
                  </a:cubicBezTo>
                  <a:lnTo>
                    <a:pt x="203200" y="3265678"/>
                  </a:lnTo>
                  <a:cubicBezTo>
                    <a:pt x="203200" y="3321812"/>
                    <a:pt x="157734" y="3367278"/>
                    <a:pt x="101600" y="3367278"/>
                  </a:cubicBezTo>
                  <a:cubicBezTo>
                    <a:pt x="45466" y="3367278"/>
                    <a:pt x="0" y="3321812"/>
                    <a:pt x="0" y="3265678"/>
                  </a:cubicBezTo>
                  <a:close/>
                </a:path>
              </a:pathLst>
            </a:custGeom>
            <a:solidFill>
              <a:srgbClr val="1A2D7A"/>
            </a:solidFill>
          </p:spPr>
        </p:sp>
      </p:grpSp>
      <p:sp>
        <p:nvSpPr>
          <p:cNvPr name="TextBox 12" id="12"/>
          <p:cNvSpPr txBox="true"/>
          <p:nvPr/>
        </p:nvSpPr>
        <p:spPr>
          <a:xfrm rot="0">
            <a:off x="1371005" y="3469630"/>
            <a:ext cx="3563391" cy="483394"/>
          </a:xfrm>
          <a:prstGeom prst="rect">
            <a:avLst/>
          </a:prstGeom>
        </p:spPr>
        <p:txBody>
          <a:bodyPr anchor="t" rtlCol="false" tIns="0" lIns="0" bIns="0" rIns="0">
            <a:spAutoFit/>
          </a:bodyPr>
          <a:lstStyle/>
          <a:p>
            <a:pPr algn="l">
              <a:lnSpc>
                <a:spcPts val="3500"/>
              </a:lnSpc>
            </a:pPr>
            <a:r>
              <a:rPr lang="en-US" sz="2750" b="true">
                <a:solidFill>
                  <a:srgbClr val="3B3535"/>
                </a:solidFill>
                <a:latin typeface="Aleo Bold"/>
                <a:ea typeface="Aleo Bold"/>
                <a:cs typeface="Aleo Bold"/>
                <a:sym typeface="Aleo Bold"/>
              </a:rPr>
              <a:t>Margin Erosion</a:t>
            </a:r>
          </a:p>
        </p:txBody>
      </p:sp>
      <p:sp>
        <p:nvSpPr>
          <p:cNvPr name="TextBox 13" id="13"/>
          <p:cNvSpPr txBox="true"/>
          <p:nvPr/>
        </p:nvSpPr>
        <p:spPr>
          <a:xfrm rot="0">
            <a:off x="1371005" y="4029670"/>
            <a:ext cx="7328744" cy="1385887"/>
          </a:xfrm>
          <a:prstGeom prst="rect">
            <a:avLst/>
          </a:prstGeom>
        </p:spPr>
        <p:txBody>
          <a:bodyPr anchor="t" rtlCol="false" tIns="0" lIns="0" bIns="0" rIns="0">
            <a:spAutoFit/>
          </a:bodyPr>
          <a:lstStyle/>
          <a:p>
            <a:pPr algn="l">
              <a:lnSpc>
                <a:spcPts val="3374"/>
              </a:lnSpc>
            </a:pPr>
            <a:r>
              <a:rPr lang="en-US" sz="2125">
                <a:solidFill>
                  <a:srgbClr val="3B3535"/>
                </a:solidFill>
                <a:latin typeface="Arimo"/>
                <a:ea typeface="Arimo"/>
                <a:cs typeface="Arimo"/>
                <a:sym typeface="Arimo"/>
              </a:rPr>
              <a:t>Price wars drive down premium rates, reducing profitability and limiting resources available for innovation and customer service improvements</a:t>
            </a:r>
          </a:p>
        </p:txBody>
      </p:sp>
      <p:grpSp>
        <p:nvGrpSpPr>
          <p:cNvPr name="Group 14" id="14"/>
          <p:cNvGrpSpPr/>
          <p:nvPr/>
        </p:nvGrpSpPr>
        <p:grpSpPr>
          <a:xfrm rot="0">
            <a:off x="9260235" y="3179861"/>
            <a:ext cx="8098929" cy="2563565"/>
            <a:chOff x="0" y="0"/>
            <a:chExt cx="10798572" cy="3418087"/>
          </a:xfrm>
        </p:grpSpPr>
        <p:sp>
          <p:nvSpPr>
            <p:cNvPr name="Freeform 15" id="15"/>
            <p:cNvSpPr/>
            <p:nvPr/>
          </p:nvSpPr>
          <p:spPr>
            <a:xfrm flipH="false" flipV="false" rot="0">
              <a:off x="25400" y="25400"/>
              <a:ext cx="10747756" cy="3367278"/>
            </a:xfrm>
            <a:custGeom>
              <a:avLst/>
              <a:gdLst/>
              <a:ahLst/>
              <a:cxnLst/>
              <a:rect r="r" b="b" t="t" l="l"/>
              <a:pathLst>
                <a:path h="3367278" w="10747756">
                  <a:moveTo>
                    <a:pt x="0" y="243840"/>
                  </a:moveTo>
                  <a:cubicBezTo>
                    <a:pt x="0" y="109220"/>
                    <a:pt x="110236" y="0"/>
                    <a:pt x="246380" y="0"/>
                  </a:cubicBezTo>
                  <a:lnTo>
                    <a:pt x="10501376" y="0"/>
                  </a:lnTo>
                  <a:cubicBezTo>
                    <a:pt x="10637393" y="0"/>
                    <a:pt x="10747756" y="109220"/>
                    <a:pt x="10747756" y="243840"/>
                  </a:cubicBezTo>
                  <a:lnTo>
                    <a:pt x="10747756" y="3123438"/>
                  </a:lnTo>
                  <a:cubicBezTo>
                    <a:pt x="10747756" y="3258058"/>
                    <a:pt x="10637520" y="3367278"/>
                    <a:pt x="10501376" y="3367278"/>
                  </a:cubicBezTo>
                  <a:lnTo>
                    <a:pt x="246380" y="3367278"/>
                  </a:lnTo>
                  <a:cubicBezTo>
                    <a:pt x="110363" y="3367278"/>
                    <a:pt x="0" y="3258058"/>
                    <a:pt x="0" y="3123438"/>
                  </a:cubicBezTo>
                  <a:close/>
                </a:path>
              </a:pathLst>
            </a:custGeom>
            <a:solidFill>
              <a:srgbClr val="FFFAFA"/>
            </a:solidFill>
          </p:spPr>
        </p:sp>
        <p:sp>
          <p:nvSpPr>
            <p:cNvPr name="Freeform 16" id="16"/>
            <p:cNvSpPr/>
            <p:nvPr/>
          </p:nvSpPr>
          <p:spPr>
            <a:xfrm flipH="false" flipV="false" rot="0">
              <a:off x="0" y="0"/>
              <a:ext cx="10798556" cy="3418078"/>
            </a:xfrm>
            <a:custGeom>
              <a:avLst/>
              <a:gdLst/>
              <a:ahLst/>
              <a:cxnLst/>
              <a:rect r="r" b="b" t="t" l="l"/>
              <a:pathLst>
                <a:path h="3418078" w="10798556">
                  <a:moveTo>
                    <a:pt x="0" y="269240"/>
                  </a:moveTo>
                  <a:cubicBezTo>
                    <a:pt x="0" y="120269"/>
                    <a:pt x="121920" y="0"/>
                    <a:pt x="271780" y="0"/>
                  </a:cubicBezTo>
                  <a:lnTo>
                    <a:pt x="10526776" y="0"/>
                  </a:lnTo>
                  <a:lnTo>
                    <a:pt x="10526776" y="25400"/>
                  </a:lnTo>
                  <a:lnTo>
                    <a:pt x="10526776" y="0"/>
                  </a:lnTo>
                  <a:cubicBezTo>
                    <a:pt x="10676636" y="0"/>
                    <a:pt x="10798556" y="120269"/>
                    <a:pt x="10798556" y="269240"/>
                  </a:cubicBezTo>
                  <a:lnTo>
                    <a:pt x="10773156" y="269240"/>
                  </a:lnTo>
                  <a:lnTo>
                    <a:pt x="10798556" y="269240"/>
                  </a:lnTo>
                  <a:lnTo>
                    <a:pt x="10798556" y="3148838"/>
                  </a:lnTo>
                  <a:lnTo>
                    <a:pt x="10773156" y="3148838"/>
                  </a:lnTo>
                  <a:lnTo>
                    <a:pt x="10798556" y="3148838"/>
                  </a:lnTo>
                  <a:cubicBezTo>
                    <a:pt x="10798556" y="3297809"/>
                    <a:pt x="10676636" y="3418078"/>
                    <a:pt x="10526776" y="3418078"/>
                  </a:cubicBezTo>
                  <a:lnTo>
                    <a:pt x="10526776" y="3392678"/>
                  </a:lnTo>
                  <a:lnTo>
                    <a:pt x="10526776" y="3418078"/>
                  </a:lnTo>
                  <a:lnTo>
                    <a:pt x="271780" y="3418078"/>
                  </a:lnTo>
                  <a:lnTo>
                    <a:pt x="271780" y="3392678"/>
                  </a:lnTo>
                  <a:lnTo>
                    <a:pt x="271780" y="3418078"/>
                  </a:lnTo>
                  <a:cubicBezTo>
                    <a:pt x="121920" y="3418078"/>
                    <a:pt x="0" y="3297809"/>
                    <a:pt x="0" y="3148838"/>
                  </a:cubicBezTo>
                  <a:lnTo>
                    <a:pt x="0" y="269240"/>
                  </a:lnTo>
                  <a:lnTo>
                    <a:pt x="25400" y="269240"/>
                  </a:lnTo>
                  <a:lnTo>
                    <a:pt x="0" y="269240"/>
                  </a:lnTo>
                  <a:moveTo>
                    <a:pt x="50800" y="269240"/>
                  </a:moveTo>
                  <a:lnTo>
                    <a:pt x="50800" y="3148838"/>
                  </a:lnTo>
                  <a:lnTo>
                    <a:pt x="25400" y="3148838"/>
                  </a:lnTo>
                  <a:lnTo>
                    <a:pt x="50800" y="3148838"/>
                  </a:lnTo>
                  <a:cubicBezTo>
                    <a:pt x="50800" y="3269234"/>
                    <a:pt x="149479" y="3367278"/>
                    <a:pt x="271780" y="3367278"/>
                  </a:cubicBezTo>
                  <a:lnTo>
                    <a:pt x="10526776" y="3367278"/>
                  </a:lnTo>
                  <a:cubicBezTo>
                    <a:pt x="10649077" y="3367278"/>
                    <a:pt x="10747756" y="3269234"/>
                    <a:pt x="10747756" y="3148838"/>
                  </a:cubicBezTo>
                  <a:lnTo>
                    <a:pt x="10747756" y="269240"/>
                  </a:lnTo>
                  <a:cubicBezTo>
                    <a:pt x="10747756" y="148844"/>
                    <a:pt x="10649077" y="50800"/>
                    <a:pt x="10526776" y="50800"/>
                  </a:cubicBezTo>
                  <a:lnTo>
                    <a:pt x="271780" y="50800"/>
                  </a:lnTo>
                  <a:lnTo>
                    <a:pt x="271780" y="25400"/>
                  </a:lnTo>
                  <a:lnTo>
                    <a:pt x="271780" y="50800"/>
                  </a:lnTo>
                  <a:cubicBezTo>
                    <a:pt x="149479" y="50800"/>
                    <a:pt x="50800" y="148844"/>
                    <a:pt x="50800" y="269240"/>
                  </a:cubicBezTo>
                  <a:close/>
                </a:path>
              </a:pathLst>
            </a:custGeom>
            <a:solidFill>
              <a:srgbClr val="1A2D7A"/>
            </a:solidFill>
          </p:spPr>
        </p:sp>
      </p:grpSp>
      <p:grpSp>
        <p:nvGrpSpPr>
          <p:cNvPr name="Group 17" id="17"/>
          <p:cNvGrpSpPr/>
          <p:nvPr/>
        </p:nvGrpSpPr>
        <p:grpSpPr>
          <a:xfrm rot="0">
            <a:off x="9241185" y="3198911"/>
            <a:ext cx="152400" cy="2525465"/>
            <a:chOff x="0" y="0"/>
            <a:chExt cx="203200" cy="3367287"/>
          </a:xfrm>
        </p:grpSpPr>
        <p:sp>
          <p:nvSpPr>
            <p:cNvPr name="Freeform 18" id="18"/>
            <p:cNvSpPr/>
            <p:nvPr/>
          </p:nvSpPr>
          <p:spPr>
            <a:xfrm flipH="false" flipV="false" rot="0">
              <a:off x="0" y="0"/>
              <a:ext cx="203200" cy="3367278"/>
            </a:xfrm>
            <a:custGeom>
              <a:avLst/>
              <a:gdLst/>
              <a:ahLst/>
              <a:cxnLst/>
              <a:rect r="r" b="b" t="t" l="l"/>
              <a:pathLst>
                <a:path h="3367278" w="203200">
                  <a:moveTo>
                    <a:pt x="0" y="101600"/>
                  </a:moveTo>
                  <a:cubicBezTo>
                    <a:pt x="0" y="45466"/>
                    <a:pt x="45466" y="0"/>
                    <a:pt x="101600" y="0"/>
                  </a:cubicBezTo>
                  <a:cubicBezTo>
                    <a:pt x="157734" y="0"/>
                    <a:pt x="203200" y="45466"/>
                    <a:pt x="203200" y="101600"/>
                  </a:cubicBezTo>
                  <a:lnTo>
                    <a:pt x="203200" y="3265678"/>
                  </a:lnTo>
                  <a:cubicBezTo>
                    <a:pt x="203200" y="3321812"/>
                    <a:pt x="157734" y="3367278"/>
                    <a:pt x="101600" y="3367278"/>
                  </a:cubicBezTo>
                  <a:cubicBezTo>
                    <a:pt x="45466" y="3367278"/>
                    <a:pt x="0" y="3321812"/>
                    <a:pt x="0" y="3265678"/>
                  </a:cubicBezTo>
                  <a:close/>
                </a:path>
              </a:pathLst>
            </a:custGeom>
            <a:solidFill>
              <a:srgbClr val="1A2D7A"/>
            </a:solidFill>
          </p:spPr>
        </p:sp>
      </p:grpSp>
      <p:sp>
        <p:nvSpPr>
          <p:cNvPr name="TextBox 19" id="19"/>
          <p:cNvSpPr txBox="true"/>
          <p:nvPr/>
        </p:nvSpPr>
        <p:spPr>
          <a:xfrm rot="0">
            <a:off x="9702404" y="3469630"/>
            <a:ext cx="4717405" cy="483394"/>
          </a:xfrm>
          <a:prstGeom prst="rect">
            <a:avLst/>
          </a:prstGeom>
        </p:spPr>
        <p:txBody>
          <a:bodyPr anchor="t" rtlCol="false" tIns="0" lIns="0" bIns="0" rIns="0">
            <a:spAutoFit/>
          </a:bodyPr>
          <a:lstStyle/>
          <a:p>
            <a:pPr algn="l">
              <a:lnSpc>
                <a:spcPts val="3500"/>
              </a:lnSpc>
            </a:pPr>
            <a:r>
              <a:rPr lang="en-US" sz="2750" b="true">
                <a:solidFill>
                  <a:srgbClr val="3B3535"/>
                </a:solidFill>
                <a:latin typeface="Aleo Bold"/>
                <a:ea typeface="Aleo Bold"/>
                <a:cs typeface="Aleo Bold"/>
                <a:sym typeface="Aleo Bold"/>
              </a:rPr>
              <a:t>Product Commoditization</a:t>
            </a:r>
          </a:p>
        </p:txBody>
      </p:sp>
      <p:sp>
        <p:nvSpPr>
          <p:cNvPr name="TextBox 20" id="20"/>
          <p:cNvSpPr txBox="true"/>
          <p:nvPr/>
        </p:nvSpPr>
        <p:spPr>
          <a:xfrm rot="0">
            <a:off x="9702404" y="4029670"/>
            <a:ext cx="7328892" cy="1385887"/>
          </a:xfrm>
          <a:prstGeom prst="rect">
            <a:avLst/>
          </a:prstGeom>
        </p:spPr>
        <p:txBody>
          <a:bodyPr anchor="t" rtlCol="false" tIns="0" lIns="0" bIns="0" rIns="0">
            <a:spAutoFit/>
          </a:bodyPr>
          <a:lstStyle/>
          <a:p>
            <a:pPr algn="l">
              <a:lnSpc>
                <a:spcPts val="3374"/>
              </a:lnSpc>
            </a:pPr>
            <a:r>
              <a:rPr lang="en-US" sz="2125">
                <a:solidFill>
                  <a:srgbClr val="3B3535"/>
                </a:solidFill>
                <a:latin typeface="Arimo"/>
                <a:ea typeface="Arimo"/>
                <a:cs typeface="Arimo"/>
                <a:sym typeface="Arimo"/>
              </a:rPr>
              <a:t>Intense competition leads to standardized offerings with minimal differentiation, making it difficult to create unique value propositions</a:t>
            </a:r>
          </a:p>
        </p:txBody>
      </p:sp>
      <p:grpSp>
        <p:nvGrpSpPr>
          <p:cNvPr name="Group 21" id="21"/>
          <p:cNvGrpSpPr/>
          <p:nvPr/>
        </p:nvGrpSpPr>
        <p:grpSpPr>
          <a:xfrm rot="0">
            <a:off x="928836" y="5976045"/>
            <a:ext cx="8098780" cy="2563565"/>
            <a:chOff x="0" y="0"/>
            <a:chExt cx="10798373" cy="3418087"/>
          </a:xfrm>
        </p:grpSpPr>
        <p:sp>
          <p:nvSpPr>
            <p:cNvPr name="Freeform 22" id="22"/>
            <p:cNvSpPr/>
            <p:nvPr/>
          </p:nvSpPr>
          <p:spPr>
            <a:xfrm flipH="false" flipV="false" rot="0">
              <a:off x="25400" y="25400"/>
              <a:ext cx="10747629" cy="3367278"/>
            </a:xfrm>
            <a:custGeom>
              <a:avLst/>
              <a:gdLst/>
              <a:ahLst/>
              <a:cxnLst/>
              <a:rect r="r" b="b" t="t" l="l"/>
              <a:pathLst>
                <a:path h="3367278" w="10747629">
                  <a:moveTo>
                    <a:pt x="0" y="243840"/>
                  </a:moveTo>
                  <a:cubicBezTo>
                    <a:pt x="0" y="109220"/>
                    <a:pt x="110236" y="0"/>
                    <a:pt x="246380" y="0"/>
                  </a:cubicBezTo>
                  <a:lnTo>
                    <a:pt x="10501249" y="0"/>
                  </a:lnTo>
                  <a:cubicBezTo>
                    <a:pt x="10637266" y="0"/>
                    <a:pt x="10747629" y="109220"/>
                    <a:pt x="10747629" y="243840"/>
                  </a:cubicBezTo>
                  <a:lnTo>
                    <a:pt x="10747629" y="3123438"/>
                  </a:lnTo>
                  <a:cubicBezTo>
                    <a:pt x="10747629" y="3258058"/>
                    <a:pt x="10637393" y="3367278"/>
                    <a:pt x="10501249" y="3367278"/>
                  </a:cubicBezTo>
                  <a:lnTo>
                    <a:pt x="246380" y="3367278"/>
                  </a:lnTo>
                  <a:cubicBezTo>
                    <a:pt x="110363" y="3367278"/>
                    <a:pt x="0" y="3258058"/>
                    <a:pt x="0" y="3123438"/>
                  </a:cubicBezTo>
                  <a:close/>
                </a:path>
              </a:pathLst>
            </a:custGeom>
            <a:solidFill>
              <a:srgbClr val="FFFAFA"/>
            </a:solidFill>
          </p:spPr>
        </p:sp>
        <p:sp>
          <p:nvSpPr>
            <p:cNvPr name="Freeform 23" id="23"/>
            <p:cNvSpPr/>
            <p:nvPr/>
          </p:nvSpPr>
          <p:spPr>
            <a:xfrm flipH="false" flipV="false" rot="0">
              <a:off x="0" y="0"/>
              <a:ext cx="10798429" cy="3418078"/>
            </a:xfrm>
            <a:custGeom>
              <a:avLst/>
              <a:gdLst/>
              <a:ahLst/>
              <a:cxnLst/>
              <a:rect r="r" b="b" t="t" l="l"/>
              <a:pathLst>
                <a:path h="3418078" w="10798429">
                  <a:moveTo>
                    <a:pt x="0" y="269240"/>
                  </a:moveTo>
                  <a:cubicBezTo>
                    <a:pt x="0" y="120269"/>
                    <a:pt x="121920" y="0"/>
                    <a:pt x="271780" y="0"/>
                  </a:cubicBezTo>
                  <a:lnTo>
                    <a:pt x="10526649" y="0"/>
                  </a:lnTo>
                  <a:lnTo>
                    <a:pt x="10526649" y="25400"/>
                  </a:lnTo>
                  <a:lnTo>
                    <a:pt x="10526649" y="0"/>
                  </a:lnTo>
                  <a:cubicBezTo>
                    <a:pt x="10676509" y="0"/>
                    <a:pt x="10798429" y="120269"/>
                    <a:pt x="10798429" y="269240"/>
                  </a:cubicBezTo>
                  <a:lnTo>
                    <a:pt x="10773029" y="269240"/>
                  </a:lnTo>
                  <a:lnTo>
                    <a:pt x="10798429" y="269240"/>
                  </a:lnTo>
                  <a:lnTo>
                    <a:pt x="10798429" y="3148838"/>
                  </a:lnTo>
                  <a:lnTo>
                    <a:pt x="10773029" y="3148838"/>
                  </a:lnTo>
                  <a:lnTo>
                    <a:pt x="10798429" y="3148838"/>
                  </a:lnTo>
                  <a:cubicBezTo>
                    <a:pt x="10798429" y="3297809"/>
                    <a:pt x="10676509" y="3418078"/>
                    <a:pt x="10526649" y="3418078"/>
                  </a:cubicBezTo>
                  <a:lnTo>
                    <a:pt x="10526649" y="3392678"/>
                  </a:lnTo>
                  <a:lnTo>
                    <a:pt x="10526649" y="3418078"/>
                  </a:lnTo>
                  <a:lnTo>
                    <a:pt x="271780" y="3418078"/>
                  </a:lnTo>
                  <a:lnTo>
                    <a:pt x="271780" y="3392678"/>
                  </a:lnTo>
                  <a:lnTo>
                    <a:pt x="271780" y="3418078"/>
                  </a:lnTo>
                  <a:cubicBezTo>
                    <a:pt x="121920" y="3418078"/>
                    <a:pt x="0" y="3297809"/>
                    <a:pt x="0" y="3148838"/>
                  </a:cubicBezTo>
                  <a:lnTo>
                    <a:pt x="0" y="269240"/>
                  </a:lnTo>
                  <a:lnTo>
                    <a:pt x="25400" y="269240"/>
                  </a:lnTo>
                  <a:lnTo>
                    <a:pt x="0" y="269240"/>
                  </a:lnTo>
                  <a:moveTo>
                    <a:pt x="50800" y="269240"/>
                  </a:moveTo>
                  <a:lnTo>
                    <a:pt x="50800" y="3148838"/>
                  </a:lnTo>
                  <a:lnTo>
                    <a:pt x="25400" y="3148838"/>
                  </a:lnTo>
                  <a:lnTo>
                    <a:pt x="50800" y="3148838"/>
                  </a:lnTo>
                  <a:cubicBezTo>
                    <a:pt x="50800" y="3269234"/>
                    <a:pt x="149479" y="3367278"/>
                    <a:pt x="271780" y="3367278"/>
                  </a:cubicBezTo>
                  <a:lnTo>
                    <a:pt x="10526649" y="3367278"/>
                  </a:lnTo>
                  <a:cubicBezTo>
                    <a:pt x="10648950" y="3367278"/>
                    <a:pt x="10747629" y="3269234"/>
                    <a:pt x="10747629" y="3148838"/>
                  </a:cubicBezTo>
                  <a:lnTo>
                    <a:pt x="10747629" y="269240"/>
                  </a:lnTo>
                  <a:cubicBezTo>
                    <a:pt x="10747629" y="148844"/>
                    <a:pt x="10648950" y="50800"/>
                    <a:pt x="10526649" y="50800"/>
                  </a:cubicBezTo>
                  <a:lnTo>
                    <a:pt x="271780" y="50800"/>
                  </a:lnTo>
                  <a:lnTo>
                    <a:pt x="271780" y="25400"/>
                  </a:lnTo>
                  <a:lnTo>
                    <a:pt x="271780" y="50800"/>
                  </a:lnTo>
                  <a:cubicBezTo>
                    <a:pt x="149479" y="50800"/>
                    <a:pt x="50800" y="148844"/>
                    <a:pt x="50800" y="269240"/>
                  </a:cubicBezTo>
                  <a:close/>
                </a:path>
              </a:pathLst>
            </a:custGeom>
            <a:solidFill>
              <a:srgbClr val="1A2D7A"/>
            </a:solidFill>
          </p:spPr>
        </p:sp>
      </p:grpSp>
      <p:grpSp>
        <p:nvGrpSpPr>
          <p:cNvPr name="Group 24" id="24"/>
          <p:cNvGrpSpPr/>
          <p:nvPr/>
        </p:nvGrpSpPr>
        <p:grpSpPr>
          <a:xfrm rot="0">
            <a:off x="909786" y="5995095"/>
            <a:ext cx="152400" cy="2525465"/>
            <a:chOff x="0" y="0"/>
            <a:chExt cx="203200" cy="3367287"/>
          </a:xfrm>
        </p:grpSpPr>
        <p:sp>
          <p:nvSpPr>
            <p:cNvPr name="Freeform 25" id="25"/>
            <p:cNvSpPr/>
            <p:nvPr/>
          </p:nvSpPr>
          <p:spPr>
            <a:xfrm flipH="false" flipV="false" rot="0">
              <a:off x="0" y="0"/>
              <a:ext cx="203200" cy="3367278"/>
            </a:xfrm>
            <a:custGeom>
              <a:avLst/>
              <a:gdLst/>
              <a:ahLst/>
              <a:cxnLst/>
              <a:rect r="r" b="b" t="t" l="l"/>
              <a:pathLst>
                <a:path h="3367278" w="203200">
                  <a:moveTo>
                    <a:pt x="0" y="101600"/>
                  </a:moveTo>
                  <a:cubicBezTo>
                    <a:pt x="0" y="45466"/>
                    <a:pt x="45466" y="0"/>
                    <a:pt x="101600" y="0"/>
                  </a:cubicBezTo>
                  <a:cubicBezTo>
                    <a:pt x="157734" y="0"/>
                    <a:pt x="203200" y="45466"/>
                    <a:pt x="203200" y="101600"/>
                  </a:cubicBezTo>
                  <a:lnTo>
                    <a:pt x="203200" y="3265678"/>
                  </a:lnTo>
                  <a:cubicBezTo>
                    <a:pt x="203200" y="3321812"/>
                    <a:pt x="157734" y="3367278"/>
                    <a:pt x="101600" y="3367278"/>
                  </a:cubicBezTo>
                  <a:cubicBezTo>
                    <a:pt x="45466" y="3367278"/>
                    <a:pt x="0" y="3321812"/>
                    <a:pt x="0" y="3265678"/>
                  </a:cubicBezTo>
                  <a:close/>
                </a:path>
              </a:pathLst>
            </a:custGeom>
            <a:solidFill>
              <a:srgbClr val="1A2D7A"/>
            </a:solidFill>
          </p:spPr>
        </p:sp>
      </p:grpSp>
      <p:sp>
        <p:nvSpPr>
          <p:cNvPr name="TextBox 26" id="26"/>
          <p:cNvSpPr txBox="true"/>
          <p:nvPr/>
        </p:nvSpPr>
        <p:spPr>
          <a:xfrm rot="0">
            <a:off x="1371005" y="6265812"/>
            <a:ext cx="3563391" cy="483394"/>
          </a:xfrm>
          <a:prstGeom prst="rect">
            <a:avLst/>
          </a:prstGeom>
        </p:spPr>
        <p:txBody>
          <a:bodyPr anchor="t" rtlCol="false" tIns="0" lIns="0" bIns="0" rIns="0">
            <a:spAutoFit/>
          </a:bodyPr>
          <a:lstStyle/>
          <a:p>
            <a:pPr algn="l">
              <a:lnSpc>
                <a:spcPts val="3500"/>
              </a:lnSpc>
            </a:pPr>
            <a:r>
              <a:rPr lang="en-US" sz="2750" b="true">
                <a:solidFill>
                  <a:srgbClr val="3B3535"/>
                </a:solidFill>
                <a:latin typeface="Aleo Bold"/>
                <a:ea typeface="Aleo Bold"/>
                <a:cs typeface="Aleo Bold"/>
                <a:sym typeface="Aleo Bold"/>
              </a:rPr>
              <a:t>Siloed Innovation</a:t>
            </a:r>
          </a:p>
        </p:txBody>
      </p:sp>
      <p:sp>
        <p:nvSpPr>
          <p:cNvPr name="TextBox 27" id="27"/>
          <p:cNvSpPr txBox="true"/>
          <p:nvPr/>
        </p:nvSpPr>
        <p:spPr>
          <a:xfrm rot="0">
            <a:off x="1371005" y="6825854"/>
            <a:ext cx="7328744" cy="1385887"/>
          </a:xfrm>
          <a:prstGeom prst="rect">
            <a:avLst/>
          </a:prstGeom>
        </p:spPr>
        <p:txBody>
          <a:bodyPr anchor="t" rtlCol="false" tIns="0" lIns="0" bIns="0" rIns="0">
            <a:spAutoFit/>
          </a:bodyPr>
          <a:lstStyle/>
          <a:p>
            <a:pPr algn="l">
              <a:lnSpc>
                <a:spcPts val="3374"/>
              </a:lnSpc>
            </a:pPr>
            <a:r>
              <a:rPr lang="en-US" sz="2125">
                <a:solidFill>
                  <a:srgbClr val="3B3535"/>
                </a:solidFill>
                <a:latin typeface="Arimo"/>
                <a:ea typeface="Arimo"/>
                <a:cs typeface="Arimo"/>
                <a:sym typeface="Arimo"/>
              </a:rPr>
              <a:t>Companies guard intellectual property and insights, preventing industry-wide collaboration on addressing systemic challenges</a:t>
            </a:r>
          </a:p>
        </p:txBody>
      </p:sp>
      <p:grpSp>
        <p:nvGrpSpPr>
          <p:cNvPr name="Group 28" id="28"/>
          <p:cNvGrpSpPr/>
          <p:nvPr/>
        </p:nvGrpSpPr>
        <p:grpSpPr>
          <a:xfrm rot="0">
            <a:off x="9260235" y="5976045"/>
            <a:ext cx="8098929" cy="2563565"/>
            <a:chOff x="0" y="0"/>
            <a:chExt cx="10798572" cy="3418087"/>
          </a:xfrm>
        </p:grpSpPr>
        <p:sp>
          <p:nvSpPr>
            <p:cNvPr name="Freeform 29" id="29"/>
            <p:cNvSpPr/>
            <p:nvPr/>
          </p:nvSpPr>
          <p:spPr>
            <a:xfrm flipH="false" flipV="false" rot="0">
              <a:off x="25400" y="25400"/>
              <a:ext cx="10747756" cy="3367278"/>
            </a:xfrm>
            <a:custGeom>
              <a:avLst/>
              <a:gdLst/>
              <a:ahLst/>
              <a:cxnLst/>
              <a:rect r="r" b="b" t="t" l="l"/>
              <a:pathLst>
                <a:path h="3367278" w="10747756">
                  <a:moveTo>
                    <a:pt x="0" y="243840"/>
                  </a:moveTo>
                  <a:cubicBezTo>
                    <a:pt x="0" y="109220"/>
                    <a:pt x="110236" y="0"/>
                    <a:pt x="246380" y="0"/>
                  </a:cubicBezTo>
                  <a:lnTo>
                    <a:pt x="10501376" y="0"/>
                  </a:lnTo>
                  <a:cubicBezTo>
                    <a:pt x="10637393" y="0"/>
                    <a:pt x="10747756" y="109220"/>
                    <a:pt x="10747756" y="243840"/>
                  </a:cubicBezTo>
                  <a:lnTo>
                    <a:pt x="10747756" y="3123438"/>
                  </a:lnTo>
                  <a:cubicBezTo>
                    <a:pt x="10747756" y="3258058"/>
                    <a:pt x="10637520" y="3367278"/>
                    <a:pt x="10501376" y="3367278"/>
                  </a:cubicBezTo>
                  <a:lnTo>
                    <a:pt x="246380" y="3367278"/>
                  </a:lnTo>
                  <a:cubicBezTo>
                    <a:pt x="110363" y="3367278"/>
                    <a:pt x="0" y="3258058"/>
                    <a:pt x="0" y="3123438"/>
                  </a:cubicBezTo>
                  <a:close/>
                </a:path>
              </a:pathLst>
            </a:custGeom>
            <a:solidFill>
              <a:srgbClr val="FFFAFA"/>
            </a:solidFill>
          </p:spPr>
        </p:sp>
        <p:sp>
          <p:nvSpPr>
            <p:cNvPr name="Freeform 30" id="30"/>
            <p:cNvSpPr/>
            <p:nvPr/>
          </p:nvSpPr>
          <p:spPr>
            <a:xfrm flipH="false" flipV="false" rot="0">
              <a:off x="0" y="0"/>
              <a:ext cx="10798556" cy="3418078"/>
            </a:xfrm>
            <a:custGeom>
              <a:avLst/>
              <a:gdLst/>
              <a:ahLst/>
              <a:cxnLst/>
              <a:rect r="r" b="b" t="t" l="l"/>
              <a:pathLst>
                <a:path h="3418078" w="10798556">
                  <a:moveTo>
                    <a:pt x="0" y="269240"/>
                  </a:moveTo>
                  <a:cubicBezTo>
                    <a:pt x="0" y="120269"/>
                    <a:pt x="121920" y="0"/>
                    <a:pt x="271780" y="0"/>
                  </a:cubicBezTo>
                  <a:lnTo>
                    <a:pt x="10526776" y="0"/>
                  </a:lnTo>
                  <a:lnTo>
                    <a:pt x="10526776" y="25400"/>
                  </a:lnTo>
                  <a:lnTo>
                    <a:pt x="10526776" y="0"/>
                  </a:lnTo>
                  <a:cubicBezTo>
                    <a:pt x="10676636" y="0"/>
                    <a:pt x="10798556" y="120269"/>
                    <a:pt x="10798556" y="269240"/>
                  </a:cubicBezTo>
                  <a:lnTo>
                    <a:pt x="10773156" y="269240"/>
                  </a:lnTo>
                  <a:lnTo>
                    <a:pt x="10798556" y="269240"/>
                  </a:lnTo>
                  <a:lnTo>
                    <a:pt x="10798556" y="3148838"/>
                  </a:lnTo>
                  <a:lnTo>
                    <a:pt x="10773156" y="3148838"/>
                  </a:lnTo>
                  <a:lnTo>
                    <a:pt x="10798556" y="3148838"/>
                  </a:lnTo>
                  <a:cubicBezTo>
                    <a:pt x="10798556" y="3297809"/>
                    <a:pt x="10676636" y="3418078"/>
                    <a:pt x="10526776" y="3418078"/>
                  </a:cubicBezTo>
                  <a:lnTo>
                    <a:pt x="10526776" y="3392678"/>
                  </a:lnTo>
                  <a:lnTo>
                    <a:pt x="10526776" y="3418078"/>
                  </a:lnTo>
                  <a:lnTo>
                    <a:pt x="271780" y="3418078"/>
                  </a:lnTo>
                  <a:lnTo>
                    <a:pt x="271780" y="3392678"/>
                  </a:lnTo>
                  <a:lnTo>
                    <a:pt x="271780" y="3418078"/>
                  </a:lnTo>
                  <a:cubicBezTo>
                    <a:pt x="121920" y="3418078"/>
                    <a:pt x="0" y="3297809"/>
                    <a:pt x="0" y="3148838"/>
                  </a:cubicBezTo>
                  <a:lnTo>
                    <a:pt x="0" y="269240"/>
                  </a:lnTo>
                  <a:lnTo>
                    <a:pt x="25400" y="269240"/>
                  </a:lnTo>
                  <a:lnTo>
                    <a:pt x="0" y="269240"/>
                  </a:lnTo>
                  <a:moveTo>
                    <a:pt x="50800" y="269240"/>
                  </a:moveTo>
                  <a:lnTo>
                    <a:pt x="50800" y="3148838"/>
                  </a:lnTo>
                  <a:lnTo>
                    <a:pt x="25400" y="3148838"/>
                  </a:lnTo>
                  <a:lnTo>
                    <a:pt x="50800" y="3148838"/>
                  </a:lnTo>
                  <a:cubicBezTo>
                    <a:pt x="50800" y="3269234"/>
                    <a:pt x="149479" y="3367278"/>
                    <a:pt x="271780" y="3367278"/>
                  </a:cubicBezTo>
                  <a:lnTo>
                    <a:pt x="10526776" y="3367278"/>
                  </a:lnTo>
                  <a:cubicBezTo>
                    <a:pt x="10649077" y="3367278"/>
                    <a:pt x="10747756" y="3269234"/>
                    <a:pt x="10747756" y="3148838"/>
                  </a:cubicBezTo>
                  <a:lnTo>
                    <a:pt x="10747756" y="269240"/>
                  </a:lnTo>
                  <a:cubicBezTo>
                    <a:pt x="10747756" y="148844"/>
                    <a:pt x="10649077" y="50800"/>
                    <a:pt x="10526776" y="50800"/>
                  </a:cubicBezTo>
                  <a:lnTo>
                    <a:pt x="271780" y="50800"/>
                  </a:lnTo>
                  <a:lnTo>
                    <a:pt x="271780" y="25400"/>
                  </a:lnTo>
                  <a:lnTo>
                    <a:pt x="271780" y="50800"/>
                  </a:lnTo>
                  <a:cubicBezTo>
                    <a:pt x="149479" y="50800"/>
                    <a:pt x="50800" y="148844"/>
                    <a:pt x="50800" y="269240"/>
                  </a:cubicBezTo>
                  <a:close/>
                </a:path>
              </a:pathLst>
            </a:custGeom>
            <a:solidFill>
              <a:srgbClr val="1A2D7A"/>
            </a:solidFill>
          </p:spPr>
        </p:sp>
      </p:grpSp>
      <p:grpSp>
        <p:nvGrpSpPr>
          <p:cNvPr name="Group 31" id="31"/>
          <p:cNvGrpSpPr/>
          <p:nvPr/>
        </p:nvGrpSpPr>
        <p:grpSpPr>
          <a:xfrm rot="0">
            <a:off x="9241185" y="5995095"/>
            <a:ext cx="152400" cy="2525465"/>
            <a:chOff x="0" y="0"/>
            <a:chExt cx="203200" cy="3367287"/>
          </a:xfrm>
        </p:grpSpPr>
        <p:sp>
          <p:nvSpPr>
            <p:cNvPr name="Freeform 32" id="32"/>
            <p:cNvSpPr/>
            <p:nvPr/>
          </p:nvSpPr>
          <p:spPr>
            <a:xfrm flipH="false" flipV="false" rot="0">
              <a:off x="0" y="0"/>
              <a:ext cx="203200" cy="3367278"/>
            </a:xfrm>
            <a:custGeom>
              <a:avLst/>
              <a:gdLst/>
              <a:ahLst/>
              <a:cxnLst/>
              <a:rect r="r" b="b" t="t" l="l"/>
              <a:pathLst>
                <a:path h="3367278" w="203200">
                  <a:moveTo>
                    <a:pt x="0" y="101600"/>
                  </a:moveTo>
                  <a:cubicBezTo>
                    <a:pt x="0" y="45466"/>
                    <a:pt x="45466" y="0"/>
                    <a:pt x="101600" y="0"/>
                  </a:cubicBezTo>
                  <a:cubicBezTo>
                    <a:pt x="157734" y="0"/>
                    <a:pt x="203200" y="45466"/>
                    <a:pt x="203200" y="101600"/>
                  </a:cubicBezTo>
                  <a:lnTo>
                    <a:pt x="203200" y="3265678"/>
                  </a:lnTo>
                  <a:cubicBezTo>
                    <a:pt x="203200" y="3321812"/>
                    <a:pt x="157734" y="3367278"/>
                    <a:pt x="101600" y="3367278"/>
                  </a:cubicBezTo>
                  <a:cubicBezTo>
                    <a:pt x="45466" y="3367278"/>
                    <a:pt x="0" y="3321812"/>
                    <a:pt x="0" y="3265678"/>
                  </a:cubicBezTo>
                  <a:close/>
                </a:path>
              </a:pathLst>
            </a:custGeom>
            <a:solidFill>
              <a:srgbClr val="1A2D7A"/>
            </a:solidFill>
          </p:spPr>
        </p:sp>
      </p:grpSp>
      <p:sp>
        <p:nvSpPr>
          <p:cNvPr name="TextBox 33" id="33"/>
          <p:cNvSpPr txBox="true"/>
          <p:nvPr/>
        </p:nvSpPr>
        <p:spPr>
          <a:xfrm rot="0">
            <a:off x="9702404" y="6265812"/>
            <a:ext cx="3749725" cy="483394"/>
          </a:xfrm>
          <a:prstGeom prst="rect">
            <a:avLst/>
          </a:prstGeom>
        </p:spPr>
        <p:txBody>
          <a:bodyPr anchor="t" rtlCol="false" tIns="0" lIns="0" bIns="0" rIns="0">
            <a:spAutoFit/>
          </a:bodyPr>
          <a:lstStyle/>
          <a:p>
            <a:pPr algn="l">
              <a:lnSpc>
                <a:spcPts val="3500"/>
              </a:lnSpc>
            </a:pPr>
            <a:r>
              <a:rPr lang="en-US" sz="2750" b="true">
                <a:solidFill>
                  <a:srgbClr val="3B3535"/>
                </a:solidFill>
                <a:latin typeface="Aleo Bold"/>
                <a:ea typeface="Aleo Bold"/>
                <a:cs typeface="Aleo Bold"/>
                <a:sym typeface="Aleo Bold"/>
              </a:rPr>
              <a:t>Limited Risk Sharing</a:t>
            </a:r>
          </a:p>
        </p:txBody>
      </p:sp>
      <p:sp>
        <p:nvSpPr>
          <p:cNvPr name="TextBox 34" id="34"/>
          <p:cNvSpPr txBox="true"/>
          <p:nvPr/>
        </p:nvSpPr>
        <p:spPr>
          <a:xfrm rot="0">
            <a:off x="9702404" y="6825854"/>
            <a:ext cx="7328892" cy="1385887"/>
          </a:xfrm>
          <a:prstGeom prst="rect">
            <a:avLst/>
          </a:prstGeom>
        </p:spPr>
        <p:txBody>
          <a:bodyPr anchor="t" rtlCol="false" tIns="0" lIns="0" bIns="0" rIns="0">
            <a:spAutoFit/>
          </a:bodyPr>
          <a:lstStyle/>
          <a:p>
            <a:pPr algn="l">
              <a:lnSpc>
                <a:spcPts val="3374"/>
              </a:lnSpc>
            </a:pPr>
            <a:r>
              <a:rPr lang="en-US" sz="2125">
                <a:solidFill>
                  <a:srgbClr val="3B3535"/>
                </a:solidFill>
                <a:latin typeface="Arimo"/>
                <a:ea typeface="Arimo"/>
                <a:cs typeface="Arimo"/>
                <a:sym typeface="Arimo"/>
              </a:rPr>
              <a:t>Reluctance to collaborate on large-scale risks leaves individual insurers vulnerable to catastrophic events and emerging threats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grpSp>
        <p:nvGrpSpPr>
          <p:cNvPr name="Group 6" id="6"/>
          <p:cNvGrpSpPr>
            <a:grpSpLocks noChangeAspect="true"/>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679085" y="749052"/>
            <a:ext cx="9787830" cy="1571922"/>
          </a:xfrm>
          <a:prstGeom prst="rect">
            <a:avLst/>
          </a:prstGeom>
        </p:spPr>
        <p:txBody>
          <a:bodyPr anchor="t" rtlCol="false" tIns="0" lIns="0" bIns="0" rIns="0">
            <a:spAutoFit/>
          </a:bodyPr>
          <a:lstStyle/>
          <a:p>
            <a:pPr algn="l">
              <a:lnSpc>
                <a:spcPts val="6062"/>
              </a:lnSpc>
            </a:pPr>
            <a:r>
              <a:rPr lang="en-US" sz="4812" b="true">
                <a:solidFill>
                  <a:srgbClr val="1F1E1E"/>
                </a:solidFill>
                <a:latin typeface="Aleo Bold"/>
                <a:ea typeface="Aleo Bold"/>
                <a:cs typeface="Aleo Bold"/>
                <a:sym typeface="Aleo Bold"/>
              </a:rPr>
              <a:t>Strategic Challenges in Pure Competition</a:t>
            </a:r>
          </a:p>
        </p:txBody>
      </p:sp>
      <p:grpSp>
        <p:nvGrpSpPr>
          <p:cNvPr name="Group 9" id="9"/>
          <p:cNvGrpSpPr/>
          <p:nvPr/>
        </p:nvGrpSpPr>
        <p:grpSpPr>
          <a:xfrm rot="0">
            <a:off x="7674322" y="2668041"/>
            <a:ext cx="537270" cy="537270"/>
            <a:chOff x="0" y="0"/>
            <a:chExt cx="716360" cy="716360"/>
          </a:xfrm>
        </p:grpSpPr>
        <p:sp>
          <p:nvSpPr>
            <p:cNvPr name="Freeform 10" id="10"/>
            <p:cNvSpPr/>
            <p:nvPr/>
          </p:nvSpPr>
          <p:spPr>
            <a:xfrm flipH="false" flipV="false" rot="0">
              <a:off x="6350" y="6350"/>
              <a:ext cx="703580" cy="703707"/>
            </a:xfrm>
            <a:custGeom>
              <a:avLst/>
              <a:gdLst/>
              <a:ahLst/>
              <a:cxnLst/>
              <a:rect r="r" b="b" t="t" l="l"/>
              <a:pathLst>
                <a:path h="703707" w="703580">
                  <a:moveTo>
                    <a:pt x="0" y="131318"/>
                  </a:moveTo>
                  <a:cubicBezTo>
                    <a:pt x="0" y="58801"/>
                    <a:pt x="58801" y="0"/>
                    <a:pt x="131318" y="0"/>
                  </a:cubicBezTo>
                  <a:lnTo>
                    <a:pt x="572262" y="0"/>
                  </a:lnTo>
                  <a:cubicBezTo>
                    <a:pt x="644779" y="0"/>
                    <a:pt x="703580" y="58801"/>
                    <a:pt x="703580" y="131318"/>
                  </a:cubicBezTo>
                  <a:lnTo>
                    <a:pt x="703580" y="572262"/>
                  </a:lnTo>
                  <a:cubicBezTo>
                    <a:pt x="703580" y="644779"/>
                    <a:pt x="644779" y="703580"/>
                    <a:pt x="572262" y="703580"/>
                  </a:cubicBezTo>
                  <a:lnTo>
                    <a:pt x="131318" y="703580"/>
                  </a:lnTo>
                  <a:cubicBezTo>
                    <a:pt x="58801" y="703707"/>
                    <a:pt x="0" y="644779"/>
                    <a:pt x="0" y="572262"/>
                  </a:cubicBezTo>
                  <a:close/>
                </a:path>
              </a:pathLst>
            </a:custGeom>
            <a:solidFill>
              <a:srgbClr val="D5DCF6"/>
            </a:solidFill>
          </p:spPr>
        </p:sp>
        <p:sp>
          <p:nvSpPr>
            <p:cNvPr name="Freeform 11" id="11"/>
            <p:cNvSpPr/>
            <p:nvPr/>
          </p:nvSpPr>
          <p:spPr>
            <a:xfrm flipH="false" flipV="false" rot="0">
              <a:off x="0" y="0"/>
              <a:ext cx="716280" cy="716407"/>
            </a:xfrm>
            <a:custGeom>
              <a:avLst/>
              <a:gdLst/>
              <a:ahLst/>
              <a:cxnLst/>
              <a:rect r="r" b="b" t="t" l="l"/>
              <a:pathLst>
                <a:path h="716407" w="716280">
                  <a:moveTo>
                    <a:pt x="0" y="137668"/>
                  </a:moveTo>
                  <a:cubicBezTo>
                    <a:pt x="0" y="61722"/>
                    <a:pt x="61722" y="0"/>
                    <a:pt x="137668" y="0"/>
                  </a:cubicBezTo>
                  <a:lnTo>
                    <a:pt x="578612" y="0"/>
                  </a:lnTo>
                  <a:lnTo>
                    <a:pt x="578612" y="6350"/>
                  </a:lnTo>
                  <a:lnTo>
                    <a:pt x="578612" y="0"/>
                  </a:lnTo>
                  <a:cubicBezTo>
                    <a:pt x="654685" y="0"/>
                    <a:pt x="716280" y="61722"/>
                    <a:pt x="716280" y="137668"/>
                  </a:cubicBezTo>
                  <a:lnTo>
                    <a:pt x="709930" y="137668"/>
                  </a:lnTo>
                  <a:lnTo>
                    <a:pt x="716280" y="137668"/>
                  </a:lnTo>
                  <a:lnTo>
                    <a:pt x="716280" y="578612"/>
                  </a:lnTo>
                  <a:lnTo>
                    <a:pt x="709930" y="578612"/>
                  </a:lnTo>
                  <a:lnTo>
                    <a:pt x="716280" y="578612"/>
                  </a:lnTo>
                  <a:cubicBezTo>
                    <a:pt x="716280" y="654685"/>
                    <a:pt x="654558" y="716280"/>
                    <a:pt x="578612" y="716280"/>
                  </a:cubicBezTo>
                  <a:lnTo>
                    <a:pt x="578612" y="709930"/>
                  </a:lnTo>
                  <a:lnTo>
                    <a:pt x="578612" y="716280"/>
                  </a:lnTo>
                  <a:lnTo>
                    <a:pt x="137668" y="716280"/>
                  </a:lnTo>
                  <a:lnTo>
                    <a:pt x="137668" y="709930"/>
                  </a:lnTo>
                  <a:lnTo>
                    <a:pt x="137668" y="716280"/>
                  </a:lnTo>
                  <a:cubicBezTo>
                    <a:pt x="61722" y="716407"/>
                    <a:pt x="0" y="654685"/>
                    <a:pt x="0" y="578612"/>
                  </a:cubicBezTo>
                  <a:lnTo>
                    <a:pt x="0" y="137668"/>
                  </a:lnTo>
                  <a:lnTo>
                    <a:pt x="6350" y="137668"/>
                  </a:lnTo>
                  <a:lnTo>
                    <a:pt x="0" y="137668"/>
                  </a:lnTo>
                  <a:moveTo>
                    <a:pt x="12700" y="137668"/>
                  </a:moveTo>
                  <a:lnTo>
                    <a:pt x="12700" y="578612"/>
                  </a:lnTo>
                  <a:lnTo>
                    <a:pt x="6350" y="578612"/>
                  </a:lnTo>
                  <a:lnTo>
                    <a:pt x="12700" y="578612"/>
                  </a:lnTo>
                  <a:cubicBezTo>
                    <a:pt x="12700" y="647700"/>
                    <a:pt x="68707" y="703580"/>
                    <a:pt x="137668" y="703580"/>
                  </a:cubicBezTo>
                  <a:lnTo>
                    <a:pt x="578612" y="703580"/>
                  </a:lnTo>
                  <a:cubicBezTo>
                    <a:pt x="647700" y="703580"/>
                    <a:pt x="703580" y="647573"/>
                    <a:pt x="703580" y="578612"/>
                  </a:cubicBezTo>
                  <a:lnTo>
                    <a:pt x="703580" y="137668"/>
                  </a:lnTo>
                  <a:cubicBezTo>
                    <a:pt x="703707" y="68707"/>
                    <a:pt x="647700" y="12700"/>
                    <a:pt x="578612" y="12700"/>
                  </a:cubicBezTo>
                  <a:lnTo>
                    <a:pt x="137668" y="12700"/>
                  </a:lnTo>
                  <a:lnTo>
                    <a:pt x="137668" y="6350"/>
                  </a:lnTo>
                  <a:lnTo>
                    <a:pt x="137668" y="12700"/>
                  </a:lnTo>
                  <a:cubicBezTo>
                    <a:pt x="68707" y="12700"/>
                    <a:pt x="12700" y="68707"/>
                    <a:pt x="12700" y="137668"/>
                  </a:cubicBezTo>
                  <a:close/>
                </a:path>
              </a:pathLst>
            </a:custGeom>
            <a:solidFill>
              <a:srgbClr val="BBC2DC"/>
            </a:solidFill>
          </p:spPr>
        </p:sp>
      </p:grpSp>
      <p:sp>
        <p:nvSpPr>
          <p:cNvPr name="TextBox 12" id="12"/>
          <p:cNvSpPr txBox="true"/>
          <p:nvPr/>
        </p:nvSpPr>
        <p:spPr>
          <a:xfrm rot="0">
            <a:off x="7757740" y="2743275"/>
            <a:ext cx="370434" cy="424904"/>
          </a:xfrm>
          <a:prstGeom prst="rect">
            <a:avLst/>
          </a:prstGeom>
        </p:spPr>
        <p:txBody>
          <a:bodyPr anchor="t" rtlCol="false" tIns="0" lIns="0" bIns="0" rIns="0">
            <a:spAutoFit/>
          </a:bodyPr>
          <a:lstStyle/>
          <a:p>
            <a:pPr algn="ctr">
              <a:lnSpc>
                <a:spcPts val="2874"/>
              </a:lnSpc>
            </a:pPr>
            <a:r>
              <a:rPr lang="en-US" sz="2874" b="true">
                <a:solidFill>
                  <a:srgbClr val="3B3535"/>
                </a:solidFill>
                <a:latin typeface="Aleo Bold"/>
                <a:ea typeface="Aleo Bold"/>
                <a:cs typeface="Aleo Bold"/>
                <a:sym typeface="Aleo Bold"/>
              </a:rPr>
              <a:t>1</a:t>
            </a:r>
          </a:p>
        </p:txBody>
      </p:sp>
      <p:sp>
        <p:nvSpPr>
          <p:cNvPr name="TextBox 13" id="13"/>
          <p:cNvSpPr txBox="true"/>
          <p:nvPr/>
        </p:nvSpPr>
        <p:spPr>
          <a:xfrm rot="0">
            <a:off x="8441382" y="2724745"/>
            <a:ext cx="3757910" cy="414337"/>
          </a:xfrm>
          <a:prstGeom prst="rect">
            <a:avLst/>
          </a:prstGeom>
        </p:spPr>
        <p:txBody>
          <a:bodyPr anchor="t" rtlCol="false" tIns="0" lIns="0" bIns="0" rIns="0">
            <a:spAutoFit/>
          </a:bodyPr>
          <a:lstStyle/>
          <a:p>
            <a:pPr algn="l">
              <a:lnSpc>
                <a:spcPts val="3000"/>
              </a:lnSpc>
            </a:pPr>
            <a:r>
              <a:rPr lang="en-US" sz="2375" b="true">
                <a:solidFill>
                  <a:srgbClr val="3B3535"/>
                </a:solidFill>
                <a:latin typeface="Aleo Bold"/>
                <a:ea typeface="Aleo Bold"/>
                <a:cs typeface="Aleo Bold"/>
                <a:sym typeface="Aleo Bold"/>
              </a:rPr>
              <a:t>Rising Acquisition Costs</a:t>
            </a:r>
          </a:p>
        </p:txBody>
      </p:sp>
      <p:sp>
        <p:nvSpPr>
          <p:cNvPr name="TextBox 14" id="14"/>
          <p:cNvSpPr txBox="true"/>
          <p:nvPr/>
        </p:nvSpPr>
        <p:spPr>
          <a:xfrm rot="0">
            <a:off x="8441382" y="3184475"/>
            <a:ext cx="9025532" cy="845641"/>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Customer acquisition expenses continue climbing as competition intensifies, making profitable growth increasingly difficult to achieve</a:t>
            </a:r>
          </a:p>
        </p:txBody>
      </p:sp>
      <p:grpSp>
        <p:nvGrpSpPr>
          <p:cNvPr name="Group 15" id="15"/>
          <p:cNvGrpSpPr/>
          <p:nvPr/>
        </p:nvGrpSpPr>
        <p:grpSpPr>
          <a:xfrm rot="0">
            <a:off x="7674322" y="4494460"/>
            <a:ext cx="537270" cy="537270"/>
            <a:chOff x="0" y="0"/>
            <a:chExt cx="716360" cy="716360"/>
          </a:xfrm>
        </p:grpSpPr>
        <p:sp>
          <p:nvSpPr>
            <p:cNvPr name="Freeform 16" id="16"/>
            <p:cNvSpPr/>
            <p:nvPr/>
          </p:nvSpPr>
          <p:spPr>
            <a:xfrm flipH="false" flipV="false" rot="0">
              <a:off x="6350" y="6350"/>
              <a:ext cx="703580" cy="703707"/>
            </a:xfrm>
            <a:custGeom>
              <a:avLst/>
              <a:gdLst/>
              <a:ahLst/>
              <a:cxnLst/>
              <a:rect r="r" b="b" t="t" l="l"/>
              <a:pathLst>
                <a:path h="703707" w="703580">
                  <a:moveTo>
                    <a:pt x="0" y="131318"/>
                  </a:moveTo>
                  <a:cubicBezTo>
                    <a:pt x="0" y="58801"/>
                    <a:pt x="58801" y="0"/>
                    <a:pt x="131318" y="0"/>
                  </a:cubicBezTo>
                  <a:lnTo>
                    <a:pt x="572262" y="0"/>
                  </a:lnTo>
                  <a:cubicBezTo>
                    <a:pt x="644779" y="0"/>
                    <a:pt x="703580" y="58801"/>
                    <a:pt x="703580" y="131318"/>
                  </a:cubicBezTo>
                  <a:lnTo>
                    <a:pt x="703580" y="572262"/>
                  </a:lnTo>
                  <a:cubicBezTo>
                    <a:pt x="703580" y="644779"/>
                    <a:pt x="644779" y="703580"/>
                    <a:pt x="572262" y="703580"/>
                  </a:cubicBezTo>
                  <a:lnTo>
                    <a:pt x="131318" y="703580"/>
                  </a:lnTo>
                  <a:cubicBezTo>
                    <a:pt x="58801" y="703707"/>
                    <a:pt x="0" y="644779"/>
                    <a:pt x="0" y="572262"/>
                  </a:cubicBezTo>
                  <a:close/>
                </a:path>
              </a:pathLst>
            </a:custGeom>
            <a:solidFill>
              <a:srgbClr val="D5DCF6"/>
            </a:solidFill>
          </p:spPr>
        </p:sp>
        <p:sp>
          <p:nvSpPr>
            <p:cNvPr name="Freeform 17" id="17"/>
            <p:cNvSpPr/>
            <p:nvPr/>
          </p:nvSpPr>
          <p:spPr>
            <a:xfrm flipH="false" flipV="false" rot="0">
              <a:off x="0" y="0"/>
              <a:ext cx="716280" cy="716407"/>
            </a:xfrm>
            <a:custGeom>
              <a:avLst/>
              <a:gdLst/>
              <a:ahLst/>
              <a:cxnLst/>
              <a:rect r="r" b="b" t="t" l="l"/>
              <a:pathLst>
                <a:path h="716407" w="716280">
                  <a:moveTo>
                    <a:pt x="0" y="137668"/>
                  </a:moveTo>
                  <a:cubicBezTo>
                    <a:pt x="0" y="61722"/>
                    <a:pt x="61722" y="0"/>
                    <a:pt x="137668" y="0"/>
                  </a:cubicBezTo>
                  <a:lnTo>
                    <a:pt x="578612" y="0"/>
                  </a:lnTo>
                  <a:lnTo>
                    <a:pt x="578612" y="6350"/>
                  </a:lnTo>
                  <a:lnTo>
                    <a:pt x="578612" y="0"/>
                  </a:lnTo>
                  <a:cubicBezTo>
                    <a:pt x="654685" y="0"/>
                    <a:pt x="716280" y="61722"/>
                    <a:pt x="716280" y="137668"/>
                  </a:cubicBezTo>
                  <a:lnTo>
                    <a:pt x="709930" y="137668"/>
                  </a:lnTo>
                  <a:lnTo>
                    <a:pt x="716280" y="137668"/>
                  </a:lnTo>
                  <a:lnTo>
                    <a:pt x="716280" y="578612"/>
                  </a:lnTo>
                  <a:lnTo>
                    <a:pt x="709930" y="578612"/>
                  </a:lnTo>
                  <a:lnTo>
                    <a:pt x="716280" y="578612"/>
                  </a:lnTo>
                  <a:cubicBezTo>
                    <a:pt x="716280" y="654685"/>
                    <a:pt x="654558" y="716280"/>
                    <a:pt x="578612" y="716280"/>
                  </a:cubicBezTo>
                  <a:lnTo>
                    <a:pt x="578612" y="709930"/>
                  </a:lnTo>
                  <a:lnTo>
                    <a:pt x="578612" y="716280"/>
                  </a:lnTo>
                  <a:lnTo>
                    <a:pt x="137668" y="716280"/>
                  </a:lnTo>
                  <a:lnTo>
                    <a:pt x="137668" y="709930"/>
                  </a:lnTo>
                  <a:lnTo>
                    <a:pt x="137668" y="716280"/>
                  </a:lnTo>
                  <a:cubicBezTo>
                    <a:pt x="61722" y="716407"/>
                    <a:pt x="0" y="654685"/>
                    <a:pt x="0" y="578612"/>
                  </a:cubicBezTo>
                  <a:lnTo>
                    <a:pt x="0" y="137668"/>
                  </a:lnTo>
                  <a:lnTo>
                    <a:pt x="6350" y="137668"/>
                  </a:lnTo>
                  <a:lnTo>
                    <a:pt x="0" y="137668"/>
                  </a:lnTo>
                  <a:moveTo>
                    <a:pt x="12700" y="137668"/>
                  </a:moveTo>
                  <a:lnTo>
                    <a:pt x="12700" y="578612"/>
                  </a:lnTo>
                  <a:lnTo>
                    <a:pt x="6350" y="578612"/>
                  </a:lnTo>
                  <a:lnTo>
                    <a:pt x="12700" y="578612"/>
                  </a:lnTo>
                  <a:cubicBezTo>
                    <a:pt x="12700" y="647700"/>
                    <a:pt x="68707" y="703580"/>
                    <a:pt x="137668" y="703580"/>
                  </a:cubicBezTo>
                  <a:lnTo>
                    <a:pt x="578612" y="703580"/>
                  </a:lnTo>
                  <a:cubicBezTo>
                    <a:pt x="647700" y="703580"/>
                    <a:pt x="703580" y="647573"/>
                    <a:pt x="703580" y="578612"/>
                  </a:cubicBezTo>
                  <a:lnTo>
                    <a:pt x="703580" y="137668"/>
                  </a:lnTo>
                  <a:cubicBezTo>
                    <a:pt x="703707" y="68707"/>
                    <a:pt x="647700" y="12700"/>
                    <a:pt x="578612" y="12700"/>
                  </a:cubicBezTo>
                  <a:lnTo>
                    <a:pt x="137668" y="12700"/>
                  </a:lnTo>
                  <a:lnTo>
                    <a:pt x="137668" y="6350"/>
                  </a:lnTo>
                  <a:lnTo>
                    <a:pt x="137668" y="12700"/>
                  </a:lnTo>
                  <a:cubicBezTo>
                    <a:pt x="68707" y="12700"/>
                    <a:pt x="12700" y="68707"/>
                    <a:pt x="12700" y="137668"/>
                  </a:cubicBezTo>
                  <a:close/>
                </a:path>
              </a:pathLst>
            </a:custGeom>
            <a:solidFill>
              <a:srgbClr val="BBC2DC"/>
            </a:solidFill>
          </p:spPr>
        </p:sp>
      </p:grpSp>
      <p:sp>
        <p:nvSpPr>
          <p:cNvPr name="TextBox 18" id="18"/>
          <p:cNvSpPr txBox="true"/>
          <p:nvPr/>
        </p:nvSpPr>
        <p:spPr>
          <a:xfrm rot="0">
            <a:off x="7757740" y="4569694"/>
            <a:ext cx="370434" cy="424904"/>
          </a:xfrm>
          <a:prstGeom prst="rect">
            <a:avLst/>
          </a:prstGeom>
        </p:spPr>
        <p:txBody>
          <a:bodyPr anchor="t" rtlCol="false" tIns="0" lIns="0" bIns="0" rIns="0">
            <a:spAutoFit/>
          </a:bodyPr>
          <a:lstStyle/>
          <a:p>
            <a:pPr algn="ctr">
              <a:lnSpc>
                <a:spcPts val="2874"/>
              </a:lnSpc>
            </a:pPr>
            <a:r>
              <a:rPr lang="en-US" sz="2874" b="true">
                <a:solidFill>
                  <a:srgbClr val="3B3535"/>
                </a:solidFill>
                <a:latin typeface="Aleo Bold"/>
                <a:ea typeface="Aleo Bold"/>
                <a:cs typeface="Aleo Bold"/>
                <a:sym typeface="Aleo Bold"/>
              </a:rPr>
              <a:t>2</a:t>
            </a:r>
          </a:p>
        </p:txBody>
      </p:sp>
      <p:sp>
        <p:nvSpPr>
          <p:cNvPr name="TextBox 19" id="19"/>
          <p:cNvSpPr txBox="true"/>
          <p:nvPr/>
        </p:nvSpPr>
        <p:spPr>
          <a:xfrm rot="0">
            <a:off x="8441382" y="4551164"/>
            <a:ext cx="4415879" cy="414337"/>
          </a:xfrm>
          <a:prstGeom prst="rect">
            <a:avLst/>
          </a:prstGeom>
        </p:spPr>
        <p:txBody>
          <a:bodyPr anchor="t" rtlCol="false" tIns="0" lIns="0" bIns="0" rIns="0">
            <a:spAutoFit/>
          </a:bodyPr>
          <a:lstStyle/>
          <a:p>
            <a:pPr algn="l">
              <a:lnSpc>
                <a:spcPts val="3000"/>
              </a:lnSpc>
            </a:pPr>
            <a:r>
              <a:rPr lang="en-US" sz="2375" b="true">
                <a:solidFill>
                  <a:srgbClr val="3B3535"/>
                </a:solidFill>
                <a:latin typeface="Aleo Bold"/>
                <a:ea typeface="Aleo Bold"/>
                <a:cs typeface="Aleo Bold"/>
                <a:sym typeface="Aleo Bold"/>
              </a:rPr>
              <a:t>Market Saturation Pressures</a:t>
            </a:r>
          </a:p>
        </p:txBody>
      </p:sp>
      <p:sp>
        <p:nvSpPr>
          <p:cNvPr name="TextBox 20" id="20"/>
          <p:cNvSpPr txBox="true"/>
          <p:nvPr/>
        </p:nvSpPr>
        <p:spPr>
          <a:xfrm rot="0">
            <a:off x="8441382" y="5010894"/>
            <a:ext cx="9025532" cy="845641"/>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Mature markets offer limited opportunities for differentiation, forcing insurers to compete primarily on price rather than value</a:t>
            </a:r>
          </a:p>
        </p:txBody>
      </p:sp>
      <p:grpSp>
        <p:nvGrpSpPr>
          <p:cNvPr name="Group 21" id="21"/>
          <p:cNvGrpSpPr/>
          <p:nvPr/>
        </p:nvGrpSpPr>
        <p:grpSpPr>
          <a:xfrm rot="0">
            <a:off x="7674322" y="6320879"/>
            <a:ext cx="537270" cy="537270"/>
            <a:chOff x="0" y="0"/>
            <a:chExt cx="716360" cy="716360"/>
          </a:xfrm>
        </p:grpSpPr>
        <p:sp>
          <p:nvSpPr>
            <p:cNvPr name="Freeform 22" id="22"/>
            <p:cNvSpPr/>
            <p:nvPr/>
          </p:nvSpPr>
          <p:spPr>
            <a:xfrm flipH="false" flipV="false" rot="0">
              <a:off x="6350" y="6350"/>
              <a:ext cx="703580" cy="703707"/>
            </a:xfrm>
            <a:custGeom>
              <a:avLst/>
              <a:gdLst/>
              <a:ahLst/>
              <a:cxnLst/>
              <a:rect r="r" b="b" t="t" l="l"/>
              <a:pathLst>
                <a:path h="703707" w="703580">
                  <a:moveTo>
                    <a:pt x="0" y="131318"/>
                  </a:moveTo>
                  <a:cubicBezTo>
                    <a:pt x="0" y="58801"/>
                    <a:pt x="58801" y="0"/>
                    <a:pt x="131318" y="0"/>
                  </a:cubicBezTo>
                  <a:lnTo>
                    <a:pt x="572262" y="0"/>
                  </a:lnTo>
                  <a:cubicBezTo>
                    <a:pt x="644779" y="0"/>
                    <a:pt x="703580" y="58801"/>
                    <a:pt x="703580" y="131318"/>
                  </a:cubicBezTo>
                  <a:lnTo>
                    <a:pt x="703580" y="572262"/>
                  </a:lnTo>
                  <a:cubicBezTo>
                    <a:pt x="703580" y="644779"/>
                    <a:pt x="644779" y="703580"/>
                    <a:pt x="572262" y="703580"/>
                  </a:cubicBezTo>
                  <a:lnTo>
                    <a:pt x="131318" y="703580"/>
                  </a:lnTo>
                  <a:cubicBezTo>
                    <a:pt x="58801" y="703707"/>
                    <a:pt x="0" y="644779"/>
                    <a:pt x="0" y="572262"/>
                  </a:cubicBezTo>
                  <a:close/>
                </a:path>
              </a:pathLst>
            </a:custGeom>
            <a:solidFill>
              <a:srgbClr val="D5DCF6"/>
            </a:solidFill>
          </p:spPr>
        </p:sp>
        <p:sp>
          <p:nvSpPr>
            <p:cNvPr name="Freeform 23" id="23"/>
            <p:cNvSpPr/>
            <p:nvPr/>
          </p:nvSpPr>
          <p:spPr>
            <a:xfrm flipH="false" flipV="false" rot="0">
              <a:off x="0" y="0"/>
              <a:ext cx="716280" cy="716407"/>
            </a:xfrm>
            <a:custGeom>
              <a:avLst/>
              <a:gdLst/>
              <a:ahLst/>
              <a:cxnLst/>
              <a:rect r="r" b="b" t="t" l="l"/>
              <a:pathLst>
                <a:path h="716407" w="716280">
                  <a:moveTo>
                    <a:pt x="0" y="137668"/>
                  </a:moveTo>
                  <a:cubicBezTo>
                    <a:pt x="0" y="61722"/>
                    <a:pt x="61722" y="0"/>
                    <a:pt x="137668" y="0"/>
                  </a:cubicBezTo>
                  <a:lnTo>
                    <a:pt x="578612" y="0"/>
                  </a:lnTo>
                  <a:lnTo>
                    <a:pt x="578612" y="6350"/>
                  </a:lnTo>
                  <a:lnTo>
                    <a:pt x="578612" y="0"/>
                  </a:lnTo>
                  <a:cubicBezTo>
                    <a:pt x="654685" y="0"/>
                    <a:pt x="716280" y="61722"/>
                    <a:pt x="716280" y="137668"/>
                  </a:cubicBezTo>
                  <a:lnTo>
                    <a:pt x="709930" y="137668"/>
                  </a:lnTo>
                  <a:lnTo>
                    <a:pt x="716280" y="137668"/>
                  </a:lnTo>
                  <a:lnTo>
                    <a:pt x="716280" y="578612"/>
                  </a:lnTo>
                  <a:lnTo>
                    <a:pt x="709930" y="578612"/>
                  </a:lnTo>
                  <a:lnTo>
                    <a:pt x="716280" y="578612"/>
                  </a:lnTo>
                  <a:cubicBezTo>
                    <a:pt x="716280" y="654685"/>
                    <a:pt x="654558" y="716280"/>
                    <a:pt x="578612" y="716280"/>
                  </a:cubicBezTo>
                  <a:lnTo>
                    <a:pt x="578612" y="709930"/>
                  </a:lnTo>
                  <a:lnTo>
                    <a:pt x="578612" y="716280"/>
                  </a:lnTo>
                  <a:lnTo>
                    <a:pt x="137668" y="716280"/>
                  </a:lnTo>
                  <a:lnTo>
                    <a:pt x="137668" y="709930"/>
                  </a:lnTo>
                  <a:lnTo>
                    <a:pt x="137668" y="716280"/>
                  </a:lnTo>
                  <a:cubicBezTo>
                    <a:pt x="61722" y="716407"/>
                    <a:pt x="0" y="654685"/>
                    <a:pt x="0" y="578612"/>
                  </a:cubicBezTo>
                  <a:lnTo>
                    <a:pt x="0" y="137668"/>
                  </a:lnTo>
                  <a:lnTo>
                    <a:pt x="6350" y="137668"/>
                  </a:lnTo>
                  <a:lnTo>
                    <a:pt x="0" y="137668"/>
                  </a:lnTo>
                  <a:moveTo>
                    <a:pt x="12700" y="137668"/>
                  </a:moveTo>
                  <a:lnTo>
                    <a:pt x="12700" y="578612"/>
                  </a:lnTo>
                  <a:lnTo>
                    <a:pt x="6350" y="578612"/>
                  </a:lnTo>
                  <a:lnTo>
                    <a:pt x="12700" y="578612"/>
                  </a:lnTo>
                  <a:cubicBezTo>
                    <a:pt x="12700" y="647700"/>
                    <a:pt x="68707" y="703580"/>
                    <a:pt x="137668" y="703580"/>
                  </a:cubicBezTo>
                  <a:lnTo>
                    <a:pt x="578612" y="703580"/>
                  </a:lnTo>
                  <a:cubicBezTo>
                    <a:pt x="647700" y="703580"/>
                    <a:pt x="703580" y="647573"/>
                    <a:pt x="703580" y="578612"/>
                  </a:cubicBezTo>
                  <a:lnTo>
                    <a:pt x="703580" y="137668"/>
                  </a:lnTo>
                  <a:cubicBezTo>
                    <a:pt x="703707" y="68707"/>
                    <a:pt x="647700" y="12700"/>
                    <a:pt x="578612" y="12700"/>
                  </a:cubicBezTo>
                  <a:lnTo>
                    <a:pt x="137668" y="12700"/>
                  </a:lnTo>
                  <a:lnTo>
                    <a:pt x="137668" y="6350"/>
                  </a:lnTo>
                  <a:lnTo>
                    <a:pt x="137668" y="12700"/>
                  </a:lnTo>
                  <a:cubicBezTo>
                    <a:pt x="68707" y="12700"/>
                    <a:pt x="12700" y="68707"/>
                    <a:pt x="12700" y="137668"/>
                  </a:cubicBezTo>
                  <a:close/>
                </a:path>
              </a:pathLst>
            </a:custGeom>
            <a:solidFill>
              <a:srgbClr val="BBC2DC"/>
            </a:solidFill>
          </p:spPr>
        </p:sp>
      </p:grpSp>
      <p:sp>
        <p:nvSpPr>
          <p:cNvPr name="TextBox 24" id="24"/>
          <p:cNvSpPr txBox="true"/>
          <p:nvPr/>
        </p:nvSpPr>
        <p:spPr>
          <a:xfrm rot="0">
            <a:off x="7757740" y="6396112"/>
            <a:ext cx="370434" cy="424904"/>
          </a:xfrm>
          <a:prstGeom prst="rect">
            <a:avLst/>
          </a:prstGeom>
        </p:spPr>
        <p:txBody>
          <a:bodyPr anchor="t" rtlCol="false" tIns="0" lIns="0" bIns="0" rIns="0">
            <a:spAutoFit/>
          </a:bodyPr>
          <a:lstStyle/>
          <a:p>
            <a:pPr algn="ctr">
              <a:lnSpc>
                <a:spcPts val="2874"/>
              </a:lnSpc>
            </a:pPr>
            <a:r>
              <a:rPr lang="en-US" sz="2874" b="true">
                <a:solidFill>
                  <a:srgbClr val="3B3535"/>
                </a:solidFill>
                <a:latin typeface="Aleo Bold"/>
                <a:ea typeface="Aleo Bold"/>
                <a:cs typeface="Aleo Bold"/>
                <a:sym typeface="Aleo Bold"/>
              </a:rPr>
              <a:t>3</a:t>
            </a:r>
          </a:p>
        </p:txBody>
      </p:sp>
      <p:sp>
        <p:nvSpPr>
          <p:cNvPr name="TextBox 25" id="25"/>
          <p:cNvSpPr txBox="true"/>
          <p:nvPr/>
        </p:nvSpPr>
        <p:spPr>
          <a:xfrm rot="0">
            <a:off x="8441382" y="6377583"/>
            <a:ext cx="3338810" cy="414337"/>
          </a:xfrm>
          <a:prstGeom prst="rect">
            <a:avLst/>
          </a:prstGeom>
        </p:spPr>
        <p:txBody>
          <a:bodyPr anchor="t" rtlCol="false" tIns="0" lIns="0" bIns="0" rIns="0">
            <a:spAutoFit/>
          </a:bodyPr>
          <a:lstStyle/>
          <a:p>
            <a:pPr algn="l">
              <a:lnSpc>
                <a:spcPts val="3000"/>
              </a:lnSpc>
            </a:pPr>
            <a:r>
              <a:rPr lang="en-US" sz="2375" b="true">
                <a:solidFill>
                  <a:srgbClr val="3B3535"/>
                </a:solidFill>
                <a:latin typeface="Aleo Bold"/>
                <a:ea typeface="Aleo Bold"/>
                <a:cs typeface="Aleo Bold"/>
                <a:sym typeface="Aleo Bold"/>
              </a:rPr>
              <a:t>Data Sharing Barriers</a:t>
            </a:r>
          </a:p>
        </p:txBody>
      </p:sp>
      <p:sp>
        <p:nvSpPr>
          <p:cNvPr name="TextBox 26" id="26"/>
          <p:cNvSpPr txBox="true"/>
          <p:nvPr/>
        </p:nvSpPr>
        <p:spPr>
          <a:xfrm rot="0">
            <a:off x="8441382" y="6837312"/>
            <a:ext cx="9025532" cy="845641"/>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Competitive dynamics prevent collaboration on fraud prevention and risk assessment, limiting industry-wide security improvements</a:t>
            </a:r>
          </a:p>
        </p:txBody>
      </p:sp>
      <p:grpSp>
        <p:nvGrpSpPr>
          <p:cNvPr name="Group 27" id="27"/>
          <p:cNvGrpSpPr/>
          <p:nvPr/>
        </p:nvGrpSpPr>
        <p:grpSpPr>
          <a:xfrm rot="0">
            <a:off x="7674322" y="8147297"/>
            <a:ext cx="537270" cy="537270"/>
            <a:chOff x="0" y="0"/>
            <a:chExt cx="716360" cy="716360"/>
          </a:xfrm>
        </p:grpSpPr>
        <p:sp>
          <p:nvSpPr>
            <p:cNvPr name="Freeform 28" id="28"/>
            <p:cNvSpPr/>
            <p:nvPr/>
          </p:nvSpPr>
          <p:spPr>
            <a:xfrm flipH="false" flipV="false" rot="0">
              <a:off x="6350" y="6350"/>
              <a:ext cx="703580" cy="703707"/>
            </a:xfrm>
            <a:custGeom>
              <a:avLst/>
              <a:gdLst/>
              <a:ahLst/>
              <a:cxnLst/>
              <a:rect r="r" b="b" t="t" l="l"/>
              <a:pathLst>
                <a:path h="703707" w="703580">
                  <a:moveTo>
                    <a:pt x="0" y="131318"/>
                  </a:moveTo>
                  <a:cubicBezTo>
                    <a:pt x="0" y="58801"/>
                    <a:pt x="58801" y="0"/>
                    <a:pt x="131318" y="0"/>
                  </a:cubicBezTo>
                  <a:lnTo>
                    <a:pt x="572262" y="0"/>
                  </a:lnTo>
                  <a:cubicBezTo>
                    <a:pt x="644779" y="0"/>
                    <a:pt x="703580" y="58801"/>
                    <a:pt x="703580" y="131318"/>
                  </a:cubicBezTo>
                  <a:lnTo>
                    <a:pt x="703580" y="572262"/>
                  </a:lnTo>
                  <a:cubicBezTo>
                    <a:pt x="703580" y="644779"/>
                    <a:pt x="644779" y="703580"/>
                    <a:pt x="572262" y="703580"/>
                  </a:cubicBezTo>
                  <a:lnTo>
                    <a:pt x="131318" y="703580"/>
                  </a:lnTo>
                  <a:cubicBezTo>
                    <a:pt x="58801" y="703707"/>
                    <a:pt x="0" y="644779"/>
                    <a:pt x="0" y="572262"/>
                  </a:cubicBezTo>
                  <a:close/>
                </a:path>
              </a:pathLst>
            </a:custGeom>
            <a:solidFill>
              <a:srgbClr val="D5DCF6"/>
            </a:solidFill>
          </p:spPr>
        </p:sp>
        <p:sp>
          <p:nvSpPr>
            <p:cNvPr name="Freeform 29" id="29"/>
            <p:cNvSpPr/>
            <p:nvPr/>
          </p:nvSpPr>
          <p:spPr>
            <a:xfrm flipH="false" flipV="false" rot="0">
              <a:off x="0" y="0"/>
              <a:ext cx="716280" cy="716407"/>
            </a:xfrm>
            <a:custGeom>
              <a:avLst/>
              <a:gdLst/>
              <a:ahLst/>
              <a:cxnLst/>
              <a:rect r="r" b="b" t="t" l="l"/>
              <a:pathLst>
                <a:path h="716407" w="716280">
                  <a:moveTo>
                    <a:pt x="0" y="137668"/>
                  </a:moveTo>
                  <a:cubicBezTo>
                    <a:pt x="0" y="61722"/>
                    <a:pt x="61722" y="0"/>
                    <a:pt x="137668" y="0"/>
                  </a:cubicBezTo>
                  <a:lnTo>
                    <a:pt x="578612" y="0"/>
                  </a:lnTo>
                  <a:lnTo>
                    <a:pt x="578612" y="6350"/>
                  </a:lnTo>
                  <a:lnTo>
                    <a:pt x="578612" y="0"/>
                  </a:lnTo>
                  <a:cubicBezTo>
                    <a:pt x="654685" y="0"/>
                    <a:pt x="716280" y="61722"/>
                    <a:pt x="716280" y="137668"/>
                  </a:cubicBezTo>
                  <a:lnTo>
                    <a:pt x="709930" y="137668"/>
                  </a:lnTo>
                  <a:lnTo>
                    <a:pt x="716280" y="137668"/>
                  </a:lnTo>
                  <a:lnTo>
                    <a:pt x="716280" y="578612"/>
                  </a:lnTo>
                  <a:lnTo>
                    <a:pt x="709930" y="578612"/>
                  </a:lnTo>
                  <a:lnTo>
                    <a:pt x="716280" y="578612"/>
                  </a:lnTo>
                  <a:cubicBezTo>
                    <a:pt x="716280" y="654685"/>
                    <a:pt x="654558" y="716280"/>
                    <a:pt x="578612" y="716280"/>
                  </a:cubicBezTo>
                  <a:lnTo>
                    <a:pt x="578612" y="709930"/>
                  </a:lnTo>
                  <a:lnTo>
                    <a:pt x="578612" y="716280"/>
                  </a:lnTo>
                  <a:lnTo>
                    <a:pt x="137668" y="716280"/>
                  </a:lnTo>
                  <a:lnTo>
                    <a:pt x="137668" y="709930"/>
                  </a:lnTo>
                  <a:lnTo>
                    <a:pt x="137668" y="716280"/>
                  </a:lnTo>
                  <a:cubicBezTo>
                    <a:pt x="61722" y="716407"/>
                    <a:pt x="0" y="654685"/>
                    <a:pt x="0" y="578612"/>
                  </a:cubicBezTo>
                  <a:lnTo>
                    <a:pt x="0" y="137668"/>
                  </a:lnTo>
                  <a:lnTo>
                    <a:pt x="6350" y="137668"/>
                  </a:lnTo>
                  <a:lnTo>
                    <a:pt x="0" y="137668"/>
                  </a:lnTo>
                  <a:moveTo>
                    <a:pt x="12700" y="137668"/>
                  </a:moveTo>
                  <a:lnTo>
                    <a:pt x="12700" y="578612"/>
                  </a:lnTo>
                  <a:lnTo>
                    <a:pt x="6350" y="578612"/>
                  </a:lnTo>
                  <a:lnTo>
                    <a:pt x="12700" y="578612"/>
                  </a:lnTo>
                  <a:cubicBezTo>
                    <a:pt x="12700" y="647700"/>
                    <a:pt x="68707" y="703580"/>
                    <a:pt x="137668" y="703580"/>
                  </a:cubicBezTo>
                  <a:lnTo>
                    <a:pt x="578612" y="703580"/>
                  </a:lnTo>
                  <a:cubicBezTo>
                    <a:pt x="647700" y="703580"/>
                    <a:pt x="703580" y="647573"/>
                    <a:pt x="703580" y="578612"/>
                  </a:cubicBezTo>
                  <a:lnTo>
                    <a:pt x="703580" y="137668"/>
                  </a:lnTo>
                  <a:cubicBezTo>
                    <a:pt x="703707" y="68707"/>
                    <a:pt x="647700" y="12700"/>
                    <a:pt x="578612" y="12700"/>
                  </a:cubicBezTo>
                  <a:lnTo>
                    <a:pt x="137668" y="12700"/>
                  </a:lnTo>
                  <a:lnTo>
                    <a:pt x="137668" y="6350"/>
                  </a:lnTo>
                  <a:lnTo>
                    <a:pt x="137668" y="12700"/>
                  </a:lnTo>
                  <a:cubicBezTo>
                    <a:pt x="68707" y="12700"/>
                    <a:pt x="12700" y="68707"/>
                    <a:pt x="12700" y="137668"/>
                  </a:cubicBezTo>
                  <a:close/>
                </a:path>
              </a:pathLst>
            </a:custGeom>
            <a:solidFill>
              <a:srgbClr val="BBC2DC"/>
            </a:solidFill>
          </p:spPr>
        </p:sp>
      </p:grpSp>
      <p:sp>
        <p:nvSpPr>
          <p:cNvPr name="TextBox 30" id="30"/>
          <p:cNvSpPr txBox="true"/>
          <p:nvPr/>
        </p:nvSpPr>
        <p:spPr>
          <a:xfrm rot="0">
            <a:off x="7757740" y="8222531"/>
            <a:ext cx="370434" cy="424904"/>
          </a:xfrm>
          <a:prstGeom prst="rect">
            <a:avLst/>
          </a:prstGeom>
        </p:spPr>
        <p:txBody>
          <a:bodyPr anchor="t" rtlCol="false" tIns="0" lIns="0" bIns="0" rIns="0">
            <a:spAutoFit/>
          </a:bodyPr>
          <a:lstStyle/>
          <a:p>
            <a:pPr algn="ctr">
              <a:lnSpc>
                <a:spcPts val="2874"/>
              </a:lnSpc>
            </a:pPr>
            <a:r>
              <a:rPr lang="en-US" sz="2874" b="true">
                <a:solidFill>
                  <a:srgbClr val="3B3535"/>
                </a:solidFill>
                <a:latin typeface="Aleo Bold"/>
                <a:ea typeface="Aleo Bold"/>
                <a:cs typeface="Aleo Bold"/>
                <a:sym typeface="Aleo Bold"/>
              </a:rPr>
              <a:t>4</a:t>
            </a:r>
          </a:p>
        </p:txBody>
      </p:sp>
      <p:sp>
        <p:nvSpPr>
          <p:cNvPr name="TextBox 31" id="31"/>
          <p:cNvSpPr txBox="true"/>
          <p:nvPr/>
        </p:nvSpPr>
        <p:spPr>
          <a:xfrm rot="0">
            <a:off x="8441382" y="8204001"/>
            <a:ext cx="5078314" cy="414337"/>
          </a:xfrm>
          <a:prstGeom prst="rect">
            <a:avLst/>
          </a:prstGeom>
        </p:spPr>
        <p:txBody>
          <a:bodyPr anchor="t" rtlCol="false" tIns="0" lIns="0" bIns="0" rIns="0">
            <a:spAutoFit/>
          </a:bodyPr>
          <a:lstStyle/>
          <a:p>
            <a:pPr algn="l">
              <a:lnSpc>
                <a:spcPts val="3000"/>
              </a:lnSpc>
            </a:pPr>
            <a:r>
              <a:rPr lang="en-US" sz="2375" b="true">
                <a:solidFill>
                  <a:srgbClr val="3B3535"/>
                </a:solidFill>
                <a:latin typeface="Aleo Bold"/>
                <a:ea typeface="Aleo Bold"/>
                <a:cs typeface="Aleo Bold"/>
                <a:sym typeface="Aleo Bold"/>
              </a:rPr>
              <a:t>Catastrophic Event Vulnerability</a:t>
            </a:r>
          </a:p>
        </p:txBody>
      </p:sp>
      <p:sp>
        <p:nvSpPr>
          <p:cNvPr name="TextBox 32" id="32"/>
          <p:cNvSpPr txBox="true"/>
          <p:nvPr/>
        </p:nvSpPr>
        <p:spPr>
          <a:xfrm rot="0">
            <a:off x="8441382" y="8663731"/>
            <a:ext cx="9025532" cy="845641"/>
          </a:xfrm>
          <a:prstGeom prst="rect">
            <a:avLst/>
          </a:prstGeom>
        </p:spPr>
        <p:txBody>
          <a:bodyPr anchor="t" rtlCol="false" tIns="0" lIns="0" bIns="0" rIns="0">
            <a:spAutoFit/>
          </a:bodyPr>
          <a:lstStyle/>
          <a:p>
            <a:pPr algn="l">
              <a:lnSpc>
                <a:spcPts val="2937"/>
              </a:lnSpc>
            </a:pPr>
            <a:r>
              <a:rPr lang="en-US" sz="1812">
                <a:solidFill>
                  <a:srgbClr val="3B3535"/>
                </a:solidFill>
                <a:latin typeface="Arimo"/>
                <a:ea typeface="Arimo"/>
                <a:cs typeface="Arimo"/>
                <a:sym typeface="Arimo"/>
              </a:rPr>
              <a:t>Individual insurers struggle to manage exposure during pandemics, natural disasters, and other large-scale events affecting entire markets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729704" y="525810"/>
            <a:ext cx="10974735" cy="1419374"/>
          </a:xfrm>
          <a:prstGeom prst="rect">
            <a:avLst/>
          </a:prstGeom>
        </p:spPr>
        <p:txBody>
          <a:bodyPr anchor="t" rtlCol="false" tIns="0" lIns="0" bIns="0" rIns="0">
            <a:spAutoFit/>
          </a:bodyPr>
          <a:lstStyle/>
          <a:p>
            <a:pPr algn="l">
              <a:lnSpc>
                <a:spcPts val="10749"/>
              </a:lnSpc>
            </a:pPr>
            <a:r>
              <a:rPr lang="en-US" sz="8624" b="true">
                <a:solidFill>
                  <a:srgbClr val="1F1E1E"/>
                </a:solidFill>
                <a:latin typeface="Aleo Bold"/>
                <a:ea typeface="Aleo Bold"/>
                <a:cs typeface="Aleo Bold"/>
                <a:sym typeface="Aleo Bold"/>
              </a:rPr>
              <a:t>Coopetition</a:t>
            </a:r>
          </a:p>
        </p:txBody>
      </p:sp>
      <p:sp>
        <p:nvSpPr>
          <p:cNvPr name="TextBox 7" id="7"/>
          <p:cNvSpPr txBox="true"/>
          <p:nvPr/>
        </p:nvSpPr>
        <p:spPr>
          <a:xfrm rot="0">
            <a:off x="729704" y="2229296"/>
            <a:ext cx="9006185" cy="577304"/>
          </a:xfrm>
          <a:prstGeom prst="rect">
            <a:avLst/>
          </a:prstGeom>
        </p:spPr>
        <p:txBody>
          <a:bodyPr anchor="t" rtlCol="false" tIns="0" lIns="0" bIns="0" rIns="0">
            <a:spAutoFit/>
          </a:bodyPr>
          <a:lstStyle/>
          <a:p>
            <a:pPr algn="l">
              <a:lnSpc>
                <a:spcPts val="4312"/>
              </a:lnSpc>
            </a:pPr>
            <a:r>
              <a:rPr lang="en-US" sz="3437" b="true">
                <a:solidFill>
                  <a:srgbClr val="1F1E1E"/>
                </a:solidFill>
                <a:latin typeface="Aleo Bold"/>
                <a:ea typeface="Aleo Bold"/>
                <a:cs typeface="Aleo Bold"/>
                <a:sym typeface="Aleo Bold"/>
              </a:rPr>
              <a:t>Where Competition Meets Collaboration</a:t>
            </a:r>
          </a:p>
        </p:txBody>
      </p:sp>
      <p:sp>
        <p:nvSpPr>
          <p:cNvPr name="TextBox 8" id="8"/>
          <p:cNvSpPr txBox="true"/>
          <p:nvPr/>
        </p:nvSpPr>
        <p:spPr>
          <a:xfrm rot="0">
            <a:off x="729704" y="3221087"/>
            <a:ext cx="8159949" cy="752773"/>
          </a:xfrm>
          <a:prstGeom prst="rect">
            <a:avLst/>
          </a:prstGeom>
        </p:spPr>
        <p:txBody>
          <a:bodyPr anchor="t" rtlCol="false" tIns="0" lIns="0" bIns="0" rIns="0">
            <a:spAutoFit/>
          </a:bodyPr>
          <a:lstStyle/>
          <a:p>
            <a:pPr algn="l">
              <a:lnSpc>
                <a:spcPts val="2625"/>
              </a:lnSpc>
            </a:pPr>
            <a:r>
              <a:rPr lang="en-US" sz="1625" b="true">
                <a:solidFill>
                  <a:srgbClr val="1A2D7A"/>
                </a:solidFill>
                <a:latin typeface="Arimo Bold"/>
                <a:ea typeface="Arimo Bold"/>
                <a:cs typeface="Arimo Bold"/>
                <a:sym typeface="Arimo Bold"/>
              </a:rPr>
              <a:t>Coopetition</a:t>
            </a:r>
            <a:r>
              <a:rPr lang="en-US" sz="1625">
                <a:solidFill>
                  <a:srgbClr val="3B3535"/>
                </a:solidFill>
                <a:latin typeface="Arimo"/>
                <a:ea typeface="Arimo"/>
                <a:cs typeface="Arimo"/>
                <a:sym typeface="Arimo"/>
              </a:rPr>
              <a:t> represents a strategic approach where competitors collaborate in non-core areas while maintaining rivalry in customer-facing markets.</a:t>
            </a:r>
          </a:p>
        </p:txBody>
      </p:sp>
      <p:sp>
        <p:nvSpPr>
          <p:cNvPr name="TextBox 9" id="9"/>
          <p:cNvSpPr txBox="true"/>
          <p:nvPr/>
        </p:nvSpPr>
        <p:spPr>
          <a:xfrm rot="0">
            <a:off x="729704" y="4075659"/>
            <a:ext cx="8159949" cy="1086296"/>
          </a:xfrm>
          <a:prstGeom prst="rect">
            <a:avLst/>
          </a:prstGeom>
        </p:spPr>
        <p:txBody>
          <a:bodyPr anchor="t" rtlCol="false" tIns="0" lIns="0" bIns="0" rIns="0">
            <a:spAutoFit/>
          </a:bodyPr>
          <a:lstStyle/>
          <a:p>
            <a:pPr algn="l">
              <a:lnSpc>
                <a:spcPts val="2625"/>
              </a:lnSpc>
            </a:pPr>
            <a:r>
              <a:rPr lang="en-US" sz="1625">
                <a:solidFill>
                  <a:srgbClr val="3B3535"/>
                </a:solidFill>
                <a:latin typeface="Arimo"/>
                <a:ea typeface="Arimo"/>
                <a:cs typeface="Arimo"/>
                <a:sym typeface="Arimo"/>
              </a:rPr>
              <a:t>This model enables insurers to share costs, manage complex risks collectively, and drive industry-wide innovation—all while preserving competitive advantages in their primary business areas.</a:t>
            </a:r>
          </a:p>
        </p:txBody>
      </p:sp>
      <p:grpSp>
        <p:nvGrpSpPr>
          <p:cNvPr name="Group 10" id="10"/>
          <p:cNvGrpSpPr>
            <a:grpSpLocks noChangeAspect="true"/>
          </p:cNvGrpSpPr>
          <p:nvPr/>
        </p:nvGrpSpPr>
        <p:grpSpPr>
          <a:xfrm rot="0">
            <a:off x="9407872" y="3353841"/>
            <a:ext cx="8159949" cy="5438477"/>
            <a:chOff x="0" y="0"/>
            <a:chExt cx="10879932" cy="7251303"/>
          </a:xfrm>
        </p:grpSpPr>
        <p:sp>
          <p:nvSpPr>
            <p:cNvPr name="Freeform 11" id="11" descr="preencoded.png"/>
            <p:cNvSpPr/>
            <p:nvPr/>
          </p:nvSpPr>
          <p:spPr>
            <a:xfrm flipH="false" flipV="false" rot="0">
              <a:off x="0" y="0"/>
              <a:ext cx="10879963" cy="7251319"/>
            </a:xfrm>
            <a:custGeom>
              <a:avLst/>
              <a:gdLst/>
              <a:ahLst/>
              <a:cxnLst/>
              <a:rect r="r" b="b" t="t" l="l"/>
              <a:pathLst>
                <a:path h="7251319" w="10879963">
                  <a:moveTo>
                    <a:pt x="0" y="0"/>
                  </a:moveTo>
                  <a:lnTo>
                    <a:pt x="10879963" y="0"/>
                  </a:lnTo>
                  <a:lnTo>
                    <a:pt x="10879963" y="7251319"/>
                  </a:lnTo>
                  <a:lnTo>
                    <a:pt x="0" y="7251319"/>
                  </a:lnTo>
                  <a:lnTo>
                    <a:pt x="0" y="0"/>
                  </a:lnTo>
                  <a:close/>
                </a:path>
              </a:pathLst>
            </a:custGeom>
            <a:blipFill>
              <a:blip r:embed="rId3"/>
              <a:stretch>
                <a:fillRect l="-15" t="0" r="-15" b="0"/>
              </a:stretch>
            </a:blipFill>
          </p:spPr>
        </p:sp>
      </p:grpSp>
      <p:grpSp>
        <p:nvGrpSpPr>
          <p:cNvPr name="Group 12" id="12"/>
          <p:cNvGrpSpPr/>
          <p:nvPr/>
        </p:nvGrpSpPr>
        <p:grpSpPr>
          <a:xfrm rot="0">
            <a:off x="729704" y="9261425"/>
            <a:ext cx="16828591" cy="885825"/>
            <a:chOff x="0" y="0"/>
            <a:chExt cx="22438122" cy="1181100"/>
          </a:xfrm>
        </p:grpSpPr>
        <p:sp>
          <p:nvSpPr>
            <p:cNvPr name="Freeform 13" id="13"/>
            <p:cNvSpPr/>
            <p:nvPr/>
          </p:nvSpPr>
          <p:spPr>
            <a:xfrm flipH="false" flipV="false" rot="0">
              <a:off x="0" y="0"/>
              <a:ext cx="22438106" cy="1181100"/>
            </a:xfrm>
            <a:custGeom>
              <a:avLst/>
              <a:gdLst/>
              <a:ahLst/>
              <a:cxnLst/>
              <a:rect r="r" b="b" t="t" l="l"/>
              <a:pathLst>
                <a:path h="1181100" w="22438106">
                  <a:moveTo>
                    <a:pt x="0" y="116713"/>
                  </a:moveTo>
                  <a:cubicBezTo>
                    <a:pt x="0" y="52324"/>
                    <a:pt x="52324" y="0"/>
                    <a:pt x="116713" y="0"/>
                  </a:cubicBezTo>
                  <a:lnTo>
                    <a:pt x="22321393" y="0"/>
                  </a:lnTo>
                  <a:cubicBezTo>
                    <a:pt x="22385908" y="0"/>
                    <a:pt x="22438106" y="52324"/>
                    <a:pt x="22438106" y="116713"/>
                  </a:cubicBezTo>
                  <a:lnTo>
                    <a:pt x="22438106" y="1064387"/>
                  </a:lnTo>
                  <a:cubicBezTo>
                    <a:pt x="22438106" y="1128903"/>
                    <a:pt x="22385781" y="1181100"/>
                    <a:pt x="22321393" y="1181100"/>
                  </a:cubicBezTo>
                  <a:lnTo>
                    <a:pt x="116713" y="1181100"/>
                  </a:lnTo>
                  <a:cubicBezTo>
                    <a:pt x="52324" y="1181100"/>
                    <a:pt x="0" y="1128776"/>
                    <a:pt x="0" y="1064387"/>
                  </a:cubicBezTo>
                  <a:close/>
                </a:path>
              </a:pathLst>
            </a:custGeom>
            <a:solidFill>
              <a:srgbClr val="C0CAF2"/>
            </a:solidFill>
          </p:spPr>
        </p:sp>
      </p:grpSp>
      <p:grpSp>
        <p:nvGrpSpPr>
          <p:cNvPr name="Group 14" id="14"/>
          <p:cNvGrpSpPr>
            <a:grpSpLocks noChangeAspect="true"/>
          </p:cNvGrpSpPr>
          <p:nvPr/>
        </p:nvGrpSpPr>
        <p:grpSpPr>
          <a:xfrm rot="0">
            <a:off x="938212" y="9577685"/>
            <a:ext cx="260597" cy="208509"/>
            <a:chOff x="0" y="0"/>
            <a:chExt cx="347463" cy="278012"/>
          </a:xfrm>
        </p:grpSpPr>
        <p:sp>
          <p:nvSpPr>
            <p:cNvPr name="Freeform 15" id="15" descr="preencoded.png"/>
            <p:cNvSpPr/>
            <p:nvPr/>
          </p:nvSpPr>
          <p:spPr>
            <a:xfrm flipH="false" flipV="false" rot="0">
              <a:off x="0" y="0"/>
              <a:ext cx="347472" cy="278003"/>
            </a:xfrm>
            <a:custGeom>
              <a:avLst/>
              <a:gdLst/>
              <a:ahLst/>
              <a:cxnLst/>
              <a:rect r="r" b="b" t="t" l="l"/>
              <a:pathLst>
                <a:path h="278003" w="347472">
                  <a:moveTo>
                    <a:pt x="0" y="0"/>
                  </a:moveTo>
                  <a:lnTo>
                    <a:pt x="347472" y="0"/>
                  </a:lnTo>
                  <a:lnTo>
                    <a:pt x="347472" y="278003"/>
                  </a:lnTo>
                  <a:lnTo>
                    <a:pt x="0" y="278003"/>
                  </a:lnTo>
                  <a:lnTo>
                    <a:pt x="0" y="0"/>
                  </a:lnTo>
                  <a:close/>
                </a:path>
              </a:pathLst>
            </a:custGeom>
            <a:blipFill>
              <a:blip r:embed="rId4"/>
              <a:stretch>
                <a:fillRect l="0" t="-918" r="2" b="-921"/>
              </a:stretch>
            </a:blipFill>
          </p:spPr>
        </p:sp>
      </p:grpSp>
      <p:sp>
        <p:nvSpPr>
          <p:cNvPr name="TextBox 16" id="16"/>
          <p:cNvSpPr txBox="true"/>
          <p:nvPr/>
        </p:nvSpPr>
        <p:spPr>
          <a:xfrm rot="0">
            <a:off x="1407319" y="9436299"/>
            <a:ext cx="15942469" cy="419249"/>
          </a:xfrm>
          <a:prstGeom prst="rect">
            <a:avLst/>
          </a:prstGeom>
        </p:spPr>
        <p:txBody>
          <a:bodyPr anchor="t" rtlCol="false" tIns="0" lIns="0" bIns="0" rIns="0">
            <a:spAutoFit/>
          </a:bodyPr>
          <a:lstStyle/>
          <a:p>
            <a:pPr algn="l">
              <a:lnSpc>
                <a:spcPts val="2625"/>
              </a:lnSpc>
            </a:pPr>
            <a:r>
              <a:rPr lang="en-US" sz="1625">
                <a:solidFill>
                  <a:srgbClr val="000000"/>
                </a:solidFill>
                <a:latin typeface="Arimo"/>
                <a:ea typeface="Arimo"/>
                <a:cs typeface="Arimo"/>
                <a:sym typeface="Arimo"/>
              </a:rPr>
              <a:t>The concept transforms traditional zero-sum thinking into collaborative value creation, where shared success strengthens the entire industry ecosystem.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947886" y="1520577"/>
            <a:ext cx="9600754" cy="928985"/>
          </a:xfrm>
          <a:prstGeom prst="rect">
            <a:avLst/>
          </a:prstGeom>
        </p:spPr>
        <p:txBody>
          <a:bodyPr anchor="t" rtlCol="false" tIns="0" lIns="0" bIns="0" rIns="0">
            <a:spAutoFit/>
          </a:bodyPr>
          <a:lstStyle/>
          <a:p>
            <a:pPr algn="l">
              <a:lnSpc>
                <a:spcPts val="7000"/>
              </a:lnSpc>
            </a:pPr>
            <a:r>
              <a:rPr lang="en-US" sz="5562" b="true">
                <a:solidFill>
                  <a:srgbClr val="1F1E1E"/>
                </a:solidFill>
                <a:latin typeface="Aleo Bold"/>
                <a:ea typeface="Aleo Bold"/>
                <a:cs typeface="Aleo Bold"/>
                <a:sym typeface="Aleo Bold"/>
              </a:rPr>
              <a:t>Forces Driving Coopetition</a:t>
            </a:r>
          </a:p>
        </p:txBody>
      </p:sp>
      <p:sp>
        <p:nvSpPr>
          <p:cNvPr name="TextBox 7" id="7"/>
          <p:cNvSpPr txBox="true"/>
          <p:nvPr/>
        </p:nvSpPr>
        <p:spPr>
          <a:xfrm rot="0">
            <a:off x="1373386" y="3226445"/>
            <a:ext cx="4495800" cy="483394"/>
          </a:xfrm>
          <a:prstGeom prst="rect">
            <a:avLst/>
          </a:prstGeom>
        </p:spPr>
        <p:txBody>
          <a:bodyPr anchor="t" rtlCol="false" tIns="0" lIns="0" bIns="0" rIns="0">
            <a:spAutoFit/>
          </a:bodyPr>
          <a:lstStyle/>
          <a:p>
            <a:pPr algn="r">
              <a:lnSpc>
                <a:spcPts val="3500"/>
              </a:lnSpc>
            </a:pPr>
            <a:r>
              <a:rPr lang="en-US" sz="2750" b="true">
                <a:solidFill>
                  <a:srgbClr val="3B3535"/>
                </a:solidFill>
                <a:latin typeface="Aleo Bold"/>
                <a:ea typeface="Aleo Bold"/>
                <a:cs typeface="Aleo Bold"/>
                <a:sym typeface="Aleo Bold"/>
              </a:rPr>
              <a:t>Complex Risk Landscape</a:t>
            </a:r>
          </a:p>
        </p:txBody>
      </p:sp>
      <p:sp>
        <p:nvSpPr>
          <p:cNvPr name="TextBox 8" id="8"/>
          <p:cNvSpPr txBox="true"/>
          <p:nvPr/>
        </p:nvSpPr>
        <p:spPr>
          <a:xfrm rot="0">
            <a:off x="947886" y="3786485"/>
            <a:ext cx="4921300" cy="1819275"/>
          </a:xfrm>
          <a:prstGeom prst="rect">
            <a:avLst/>
          </a:prstGeom>
        </p:spPr>
        <p:txBody>
          <a:bodyPr anchor="t" rtlCol="false" tIns="0" lIns="0" bIns="0" rIns="0">
            <a:spAutoFit/>
          </a:bodyPr>
          <a:lstStyle/>
          <a:p>
            <a:pPr algn="r">
              <a:lnSpc>
                <a:spcPts val="3374"/>
              </a:lnSpc>
            </a:pPr>
            <a:r>
              <a:rPr lang="en-US" sz="2125">
                <a:solidFill>
                  <a:srgbClr val="3B3535"/>
                </a:solidFill>
                <a:latin typeface="Arimo"/>
                <a:ea typeface="Arimo"/>
                <a:cs typeface="Arimo"/>
                <a:sym typeface="Arimo"/>
              </a:rPr>
              <a:t>Cyber threats and climate risks exceed individual insurer capacity, requiring collective risk management approaches</a:t>
            </a:r>
          </a:p>
        </p:txBody>
      </p:sp>
      <p:grpSp>
        <p:nvGrpSpPr>
          <p:cNvPr name="Group 9" id="9"/>
          <p:cNvGrpSpPr>
            <a:grpSpLocks noChangeAspect="true"/>
          </p:cNvGrpSpPr>
          <p:nvPr/>
        </p:nvGrpSpPr>
        <p:grpSpPr>
          <a:xfrm rot="0">
            <a:off x="6275337" y="2991148"/>
            <a:ext cx="5737175" cy="5737175"/>
            <a:chOff x="0" y="0"/>
            <a:chExt cx="7649567" cy="7649567"/>
          </a:xfrm>
        </p:grpSpPr>
        <p:sp>
          <p:nvSpPr>
            <p:cNvPr name="Freeform 10" id="10" descr="preencoded.png"/>
            <p:cNvSpPr/>
            <p:nvPr/>
          </p:nvSpPr>
          <p:spPr>
            <a:xfrm flipH="false" flipV="false" rot="0">
              <a:off x="0" y="0"/>
              <a:ext cx="7649591" cy="7649591"/>
            </a:xfrm>
            <a:custGeom>
              <a:avLst/>
              <a:gdLst/>
              <a:ahLst/>
              <a:cxnLst/>
              <a:rect r="r" b="b" t="t" l="l"/>
              <a:pathLst>
                <a:path h="7649591" w="7649591">
                  <a:moveTo>
                    <a:pt x="0" y="0"/>
                  </a:moveTo>
                  <a:lnTo>
                    <a:pt x="7649591" y="0"/>
                  </a:lnTo>
                  <a:lnTo>
                    <a:pt x="7649591" y="7649591"/>
                  </a:lnTo>
                  <a:lnTo>
                    <a:pt x="0" y="7649591"/>
                  </a:lnTo>
                  <a:lnTo>
                    <a:pt x="0" y="0"/>
                  </a:lnTo>
                  <a:close/>
                </a:path>
              </a:pathLst>
            </a:custGeom>
            <a:blipFill>
              <a:blip r:embed="rId3"/>
              <a:stretch>
                <a:fillRect l="0" t="0" r="0" b="0"/>
              </a:stretch>
            </a:blipFill>
          </p:spPr>
        </p:sp>
      </p:grpSp>
      <p:grpSp>
        <p:nvGrpSpPr>
          <p:cNvPr name="Group 11" id="11"/>
          <p:cNvGrpSpPr>
            <a:grpSpLocks noChangeAspect="true"/>
          </p:cNvGrpSpPr>
          <p:nvPr/>
        </p:nvGrpSpPr>
        <p:grpSpPr>
          <a:xfrm rot="0">
            <a:off x="7786612" y="3963516"/>
            <a:ext cx="405110" cy="506463"/>
            <a:chOff x="0" y="0"/>
            <a:chExt cx="540147" cy="675283"/>
          </a:xfrm>
        </p:grpSpPr>
        <p:sp>
          <p:nvSpPr>
            <p:cNvPr name="Freeform 12" id="12" descr="preencoded.png"/>
            <p:cNvSpPr/>
            <p:nvPr/>
          </p:nvSpPr>
          <p:spPr>
            <a:xfrm flipH="false" flipV="false" rot="0">
              <a:off x="0" y="0"/>
              <a:ext cx="540131" cy="675259"/>
            </a:xfrm>
            <a:custGeom>
              <a:avLst/>
              <a:gdLst/>
              <a:ahLst/>
              <a:cxnLst/>
              <a:rect r="r" b="b" t="t" l="l"/>
              <a:pathLst>
                <a:path h="675259" w="540131">
                  <a:moveTo>
                    <a:pt x="0" y="0"/>
                  </a:moveTo>
                  <a:lnTo>
                    <a:pt x="540131" y="0"/>
                  </a:lnTo>
                  <a:lnTo>
                    <a:pt x="540131" y="675259"/>
                  </a:lnTo>
                  <a:lnTo>
                    <a:pt x="0" y="675259"/>
                  </a:lnTo>
                  <a:lnTo>
                    <a:pt x="0" y="0"/>
                  </a:lnTo>
                  <a:close/>
                </a:path>
              </a:pathLst>
            </a:custGeom>
            <a:blipFill>
              <a:blip r:embed="rId4"/>
              <a:stretch>
                <a:fillRect l="-715" t="0" r="-717" b="-3"/>
              </a:stretch>
            </a:blipFill>
          </p:spPr>
        </p:sp>
      </p:grpSp>
      <p:sp>
        <p:nvSpPr>
          <p:cNvPr name="TextBox 13" id="13"/>
          <p:cNvSpPr txBox="true"/>
          <p:nvPr/>
        </p:nvSpPr>
        <p:spPr>
          <a:xfrm rot="0">
            <a:off x="12418665" y="3003798"/>
            <a:ext cx="4921449" cy="928688"/>
          </a:xfrm>
          <a:prstGeom prst="rect">
            <a:avLst/>
          </a:prstGeom>
        </p:spPr>
        <p:txBody>
          <a:bodyPr anchor="t" rtlCol="false" tIns="0" lIns="0" bIns="0" rIns="0">
            <a:spAutoFit/>
          </a:bodyPr>
          <a:lstStyle/>
          <a:p>
            <a:pPr algn="l">
              <a:lnSpc>
                <a:spcPts val="3500"/>
              </a:lnSpc>
            </a:pPr>
            <a:r>
              <a:rPr lang="en-US" sz="2750" b="true">
                <a:solidFill>
                  <a:srgbClr val="3B3535"/>
                </a:solidFill>
                <a:latin typeface="Aleo Bold"/>
                <a:ea typeface="Aleo Bold"/>
                <a:cs typeface="Aleo Bold"/>
                <a:sym typeface="Aleo Bold"/>
              </a:rPr>
              <a:t>Technology Investment Costs</a:t>
            </a:r>
          </a:p>
        </p:txBody>
      </p:sp>
      <p:sp>
        <p:nvSpPr>
          <p:cNvPr name="TextBox 14" id="14"/>
          <p:cNvSpPr txBox="true"/>
          <p:nvPr/>
        </p:nvSpPr>
        <p:spPr>
          <a:xfrm rot="0">
            <a:off x="12418665" y="4009132"/>
            <a:ext cx="4921449" cy="1819275"/>
          </a:xfrm>
          <a:prstGeom prst="rect">
            <a:avLst/>
          </a:prstGeom>
        </p:spPr>
        <p:txBody>
          <a:bodyPr anchor="t" rtlCol="false" tIns="0" lIns="0" bIns="0" rIns="0">
            <a:spAutoFit/>
          </a:bodyPr>
          <a:lstStyle/>
          <a:p>
            <a:pPr algn="l">
              <a:lnSpc>
                <a:spcPts val="3374"/>
              </a:lnSpc>
            </a:pPr>
            <a:r>
              <a:rPr lang="en-US" sz="2125">
                <a:solidFill>
                  <a:srgbClr val="3B3535"/>
                </a:solidFill>
                <a:latin typeface="Arimo"/>
                <a:ea typeface="Arimo"/>
                <a:cs typeface="Arimo"/>
                <a:sym typeface="Arimo"/>
              </a:rPr>
              <a:t>AI, blockchain, and data platform development requires substantial investment best shared across industry participants</a:t>
            </a:r>
          </a:p>
        </p:txBody>
      </p:sp>
      <p:grpSp>
        <p:nvGrpSpPr>
          <p:cNvPr name="Group 15" id="15"/>
          <p:cNvGrpSpPr>
            <a:grpSpLocks noChangeAspect="true"/>
          </p:cNvGrpSpPr>
          <p:nvPr/>
        </p:nvGrpSpPr>
        <p:grpSpPr>
          <a:xfrm rot="0">
            <a:off x="6275337" y="2991148"/>
            <a:ext cx="5737175" cy="5737175"/>
            <a:chOff x="0" y="0"/>
            <a:chExt cx="7649567" cy="7649567"/>
          </a:xfrm>
        </p:grpSpPr>
        <p:sp>
          <p:nvSpPr>
            <p:cNvPr name="Freeform 16" id="16" descr="preencoded.png"/>
            <p:cNvSpPr/>
            <p:nvPr/>
          </p:nvSpPr>
          <p:spPr>
            <a:xfrm flipH="false" flipV="false" rot="0">
              <a:off x="0" y="0"/>
              <a:ext cx="7649591" cy="7649591"/>
            </a:xfrm>
            <a:custGeom>
              <a:avLst/>
              <a:gdLst/>
              <a:ahLst/>
              <a:cxnLst/>
              <a:rect r="r" b="b" t="t" l="l"/>
              <a:pathLst>
                <a:path h="7649591" w="7649591">
                  <a:moveTo>
                    <a:pt x="0" y="0"/>
                  </a:moveTo>
                  <a:lnTo>
                    <a:pt x="7649591" y="0"/>
                  </a:lnTo>
                  <a:lnTo>
                    <a:pt x="7649591" y="7649591"/>
                  </a:lnTo>
                  <a:lnTo>
                    <a:pt x="0" y="7649591"/>
                  </a:lnTo>
                  <a:lnTo>
                    <a:pt x="0" y="0"/>
                  </a:lnTo>
                  <a:close/>
                </a:path>
              </a:pathLst>
            </a:custGeom>
            <a:blipFill>
              <a:blip r:embed="rId5"/>
              <a:stretch>
                <a:fillRect l="0" t="0" r="0" b="0"/>
              </a:stretch>
            </a:blipFill>
          </p:spPr>
        </p:sp>
      </p:grpSp>
      <p:grpSp>
        <p:nvGrpSpPr>
          <p:cNvPr name="Group 17" id="17"/>
          <p:cNvGrpSpPr>
            <a:grpSpLocks noChangeAspect="true"/>
          </p:cNvGrpSpPr>
          <p:nvPr/>
        </p:nvGrpSpPr>
        <p:grpSpPr>
          <a:xfrm rot="0">
            <a:off x="10584135" y="4451821"/>
            <a:ext cx="405110" cy="506462"/>
            <a:chOff x="0" y="0"/>
            <a:chExt cx="540147" cy="675283"/>
          </a:xfrm>
        </p:grpSpPr>
        <p:sp>
          <p:nvSpPr>
            <p:cNvPr name="Freeform 18" id="18" descr="preencoded.png"/>
            <p:cNvSpPr/>
            <p:nvPr/>
          </p:nvSpPr>
          <p:spPr>
            <a:xfrm flipH="false" flipV="false" rot="0">
              <a:off x="0" y="0"/>
              <a:ext cx="540131" cy="675259"/>
            </a:xfrm>
            <a:custGeom>
              <a:avLst/>
              <a:gdLst/>
              <a:ahLst/>
              <a:cxnLst/>
              <a:rect r="r" b="b" t="t" l="l"/>
              <a:pathLst>
                <a:path h="675259" w="540131">
                  <a:moveTo>
                    <a:pt x="0" y="0"/>
                  </a:moveTo>
                  <a:lnTo>
                    <a:pt x="540131" y="0"/>
                  </a:lnTo>
                  <a:lnTo>
                    <a:pt x="540131" y="675259"/>
                  </a:lnTo>
                  <a:lnTo>
                    <a:pt x="0" y="675259"/>
                  </a:lnTo>
                  <a:lnTo>
                    <a:pt x="0" y="0"/>
                  </a:lnTo>
                  <a:close/>
                </a:path>
              </a:pathLst>
            </a:custGeom>
            <a:blipFill>
              <a:blip r:embed="rId6"/>
              <a:stretch>
                <a:fillRect l="-715" t="0" r="-717" b="-3"/>
              </a:stretch>
            </a:blipFill>
          </p:spPr>
        </p:sp>
      </p:grpSp>
      <p:sp>
        <p:nvSpPr>
          <p:cNvPr name="TextBox 19" id="19"/>
          <p:cNvSpPr txBox="true"/>
          <p:nvPr/>
        </p:nvSpPr>
        <p:spPr>
          <a:xfrm rot="0">
            <a:off x="12418665" y="6298109"/>
            <a:ext cx="4658916" cy="483394"/>
          </a:xfrm>
          <a:prstGeom prst="rect">
            <a:avLst/>
          </a:prstGeom>
        </p:spPr>
        <p:txBody>
          <a:bodyPr anchor="t" rtlCol="false" tIns="0" lIns="0" bIns="0" rIns="0">
            <a:spAutoFit/>
          </a:bodyPr>
          <a:lstStyle/>
          <a:p>
            <a:pPr algn="l">
              <a:lnSpc>
                <a:spcPts val="3500"/>
              </a:lnSpc>
            </a:pPr>
            <a:r>
              <a:rPr lang="en-US" sz="2750" b="true">
                <a:solidFill>
                  <a:srgbClr val="3B3535"/>
                </a:solidFill>
                <a:latin typeface="Aleo Bold"/>
                <a:ea typeface="Aleo Bold"/>
                <a:cs typeface="Aleo Bold"/>
                <a:sym typeface="Aleo Bold"/>
              </a:rPr>
              <a:t>Regulatory Requirements</a:t>
            </a:r>
          </a:p>
        </p:txBody>
      </p:sp>
      <p:sp>
        <p:nvSpPr>
          <p:cNvPr name="TextBox 20" id="20"/>
          <p:cNvSpPr txBox="true"/>
          <p:nvPr/>
        </p:nvSpPr>
        <p:spPr>
          <a:xfrm rot="0">
            <a:off x="12418665" y="6858149"/>
            <a:ext cx="4921449" cy="1819275"/>
          </a:xfrm>
          <a:prstGeom prst="rect">
            <a:avLst/>
          </a:prstGeom>
        </p:spPr>
        <p:txBody>
          <a:bodyPr anchor="t" rtlCol="false" tIns="0" lIns="0" bIns="0" rIns="0">
            <a:spAutoFit/>
          </a:bodyPr>
          <a:lstStyle/>
          <a:p>
            <a:pPr algn="l">
              <a:lnSpc>
                <a:spcPts val="3374"/>
              </a:lnSpc>
            </a:pPr>
            <a:r>
              <a:rPr lang="en-US" sz="2125">
                <a:solidFill>
                  <a:srgbClr val="3B3535"/>
                </a:solidFill>
                <a:latin typeface="Arimo"/>
                <a:ea typeface="Arimo"/>
                <a:cs typeface="Arimo"/>
                <a:sym typeface="Arimo"/>
              </a:rPr>
              <a:t>Increasing demands for transparency, compliance, and consumer protection drive collaborative solutions</a:t>
            </a:r>
          </a:p>
        </p:txBody>
      </p:sp>
      <p:grpSp>
        <p:nvGrpSpPr>
          <p:cNvPr name="Group 21" id="21"/>
          <p:cNvGrpSpPr>
            <a:grpSpLocks noChangeAspect="true"/>
          </p:cNvGrpSpPr>
          <p:nvPr/>
        </p:nvGrpSpPr>
        <p:grpSpPr>
          <a:xfrm rot="0">
            <a:off x="6275337" y="2991148"/>
            <a:ext cx="5737175" cy="5737175"/>
            <a:chOff x="0" y="0"/>
            <a:chExt cx="7649567" cy="7649567"/>
          </a:xfrm>
        </p:grpSpPr>
        <p:sp>
          <p:nvSpPr>
            <p:cNvPr name="Freeform 22" id="22" descr="preencoded.png"/>
            <p:cNvSpPr/>
            <p:nvPr/>
          </p:nvSpPr>
          <p:spPr>
            <a:xfrm flipH="false" flipV="false" rot="0">
              <a:off x="0" y="0"/>
              <a:ext cx="7649591" cy="7649591"/>
            </a:xfrm>
            <a:custGeom>
              <a:avLst/>
              <a:gdLst/>
              <a:ahLst/>
              <a:cxnLst/>
              <a:rect r="r" b="b" t="t" l="l"/>
              <a:pathLst>
                <a:path h="7649591" w="7649591">
                  <a:moveTo>
                    <a:pt x="0" y="0"/>
                  </a:moveTo>
                  <a:lnTo>
                    <a:pt x="7649591" y="0"/>
                  </a:lnTo>
                  <a:lnTo>
                    <a:pt x="7649591" y="7649591"/>
                  </a:lnTo>
                  <a:lnTo>
                    <a:pt x="0" y="7649591"/>
                  </a:lnTo>
                  <a:lnTo>
                    <a:pt x="0" y="0"/>
                  </a:lnTo>
                  <a:close/>
                </a:path>
              </a:pathLst>
            </a:custGeom>
            <a:blipFill>
              <a:blip r:embed="rId7"/>
              <a:stretch>
                <a:fillRect l="0" t="0" r="0" b="0"/>
              </a:stretch>
            </a:blipFill>
          </p:spPr>
        </p:sp>
      </p:grpSp>
      <p:grpSp>
        <p:nvGrpSpPr>
          <p:cNvPr name="Group 23" id="23"/>
          <p:cNvGrpSpPr>
            <a:grpSpLocks noChangeAspect="true"/>
          </p:cNvGrpSpPr>
          <p:nvPr/>
        </p:nvGrpSpPr>
        <p:grpSpPr>
          <a:xfrm rot="0">
            <a:off x="10095830" y="7249344"/>
            <a:ext cx="405110" cy="506462"/>
            <a:chOff x="0" y="0"/>
            <a:chExt cx="540147" cy="675283"/>
          </a:xfrm>
        </p:grpSpPr>
        <p:sp>
          <p:nvSpPr>
            <p:cNvPr name="Freeform 24" id="24" descr="preencoded.png"/>
            <p:cNvSpPr/>
            <p:nvPr/>
          </p:nvSpPr>
          <p:spPr>
            <a:xfrm flipH="false" flipV="false" rot="0">
              <a:off x="0" y="0"/>
              <a:ext cx="540131" cy="675259"/>
            </a:xfrm>
            <a:custGeom>
              <a:avLst/>
              <a:gdLst/>
              <a:ahLst/>
              <a:cxnLst/>
              <a:rect r="r" b="b" t="t" l="l"/>
              <a:pathLst>
                <a:path h="675259" w="540131">
                  <a:moveTo>
                    <a:pt x="0" y="0"/>
                  </a:moveTo>
                  <a:lnTo>
                    <a:pt x="540131" y="0"/>
                  </a:lnTo>
                  <a:lnTo>
                    <a:pt x="540131" y="675259"/>
                  </a:lnTo>
                  <a:lnTo>
                    <a:pt x="0" y="675259"/>
                  </a:lnTo>
                  <a:lnTo>
                    <a:pt x="0" y="0"/>
                  </a:lnTo>
                  <a:close/>
                </a:path>
              </a:pathLst>
            </a:custGeom>
            <a:blipFill>
              <a:blip r:embed="rId8"/>
              <a:stretch>
                <a:fillRect l="-715" t="0" r="-717" b="-3"/>
              </a:stretch>
            </a:blipFill>
          </p:spPr>
        </p:sp>
      </p:grpSp>
      <p:sp>
        <p:nvSpPr>
          <p:cNvPr name="TextBox 25" id="25"/>
          <p:cNvSpPr txBox="true"/>
          <p:nvPr/>
        </p:nvSpPr>
        <p:spPr>
          <a:xfrm rot="0">
            <a:off x="1635324" y="6298109"/>
            <a:ext cx="4233862" cy="483394"/>
          </a:xfrm>
          <a:prstGeom prst="rect">
            <a:avLst/>
          </a:prstGeom>
        </p:spPr>
        <p:txBody>
          <a:bodyPr anchor="t" rtlCol="false" tIns="0" lIns="0" bIns="0" rIns="0">
            <a:spAutoFit/>
          </a:bodyPr>
          <a:lstStyle/>
          <a:p>
            <a:pPr algn="r">
              <a:lnSpc>
                <a:spcPts val="3500"/>
              </a:lnSpc>
            </a:pPr>
            <a:r>
              <a:rPr lang="en-US" sz="2750" b="true">
                <a:solidFill>
                  <a:srgbClr val="3B3535"/>
                </a:solidFill>
                <a:latin typeface="Aleo Bold"/>
                <a:ea typeface="Aleo Bold"/>
                <a:cs typeface="Aleo Bold"/>
                <a:sym typeface="Aleo Bold"/>
              </a:rPr>
              <a:t>Customer Expectations</a:t>
            </a:r>
          </a:p>
        </p:txBody>
      </p:sp>
      <p:sp>
        <p:nvSpPr>
          <p:cNvPr name="TextBox 26" id="26"/>
          <p:cNvSpPr txBox="true"/>
          <p:nvPr/>
        </p:nvSpPr>
        <p:spPr>
          <a:xfrm rot="0">
            <a:off x="947886" y="6858149"/>
            <a:ext cx="4921300" cy="1819275"/>
          </a:xfrm>
          <a:prstGeom prst="rect">
            <a:avLst/>
          </a:prstGeom>
        </p:spPr>
        <p:txBody>
          <a:bodyPr anchor="t" rtlCol="false" tIns="0" lIns="0" bIns="0" rIns="0">
            <a:spAutoFit/>
          </a:bodyPr>
          <a:lstStyle/>
          <a:p>
            <a:pPr algn="r">
              <a:lnSpc>
                <a:spcPts val="3374"/>
              </a:lnSpc>
            </a:pPr>
            <a:r>
              <a:rPr lang="en-US" sz="2125">
                <a:solidFill>
                  <a:srgbClr val="3B3535"/>
                </a:solidFill>
                <a:latin typeface="Arimo"/>
                <a:ea typeface="Arimo"/>
                <a:cs typeface="Arimo"/>
                <a:sym typeface="Arimo"/>
              </a:rPr>
              <a:t>Demands for faster, more reliable, and integrated services push insurers toward shared platforms and standards</a:t>
            </a:r>
          </a:p>
        </p:txBody>
      </p:sp>
      <p:grpSp>
        <p:nvGrpSpPr>
          <p:cNvPr name="Group 27" id="27"/>
          <p:cNvGrpSpPr>
            <a:grpSpLocks noChangeAspect="true"/>
          </p:cNvGrpSpPr>
          <p:nvPr/>
        </p:nvGrpSpPr>
        <p:grpSpPr>
          <a:xfrm rot="0">
            <a:off x="6275337" y="2991148"/>
            <a:ext cx="5737175" cy="5737175"/>
            <a:chOff x="0" y="0"/>
            <a:chExt cx="7649567" cy="7649567"/>
          </a:xfrm>
        </p:grpSpPr>
        <p:sp>
          <p:nvSpPr>
            <p:cNvPr name="Freeform 28" id="28" descr="preencoded.png"/>
            <p:cNvSpPr/>
            <p:nvPr/>
          </p:nvSpPr>
          <p:spPr>
            <a:xfrm flipH="false" flipV="false" rot="0">
              <a:off x="0" y="0"/>
              <a:ext cx="7649591" cy="7649591"/>
            </a:xfrm>
            <a:custGeom>
              <a:avLst/>
              <a:gdLst/>
              <a:ahLst/>
              <a:cxnLst/>
              <a:rect r="r" b="b" t="t" l="l"/>
              <a:pathLst>
                <a:path h="7649591" w="7649591">
                  <a:moveTo>
                    <a:pt x="0" y="0"/>
                  </a:moveTo>
                  <a:lnTo>
                    <a:pt x="7649591" y="0"/>
                  </a:lnTo>
                  <a:lnTo>
                    <a:pt x="7649591" y="7649591"/>
                  </a:lnTo>
                  <a:lnTo>
                    <a:pt x="0" y="7649591"/>
                  </a:lnTo>
                  <a:lnTo>
                    <a:pt x="0" y="0"/>
                  </a:lnTo>
                  <a:close/>
                </a:path>
              </a:pathLst>
            </a:custGeom>
            <a:blipFill>
              <a:blip r:embed="rId9"/>
              <a:stretch>
                <a:fillRect l="0" t="0" r="0" b="0"/>
              </a:stretch>
            </a:blipFill>
          </p:spPr>
        </p:sp>
      </p:grpSp>
      <p:grpSp>
        <p:nvGrpSpPr>
          <p:cNvPr name="Group 29" id="29"/>
          <p:cNvGrpSpPr>
            <a:grpSpLocks noChangeAspect="true"/>
          </p:cNvGrpSpPr>
          <p:nvPr/>
        </p:nvGrpSpPr>
        <p:grpSpPr>
          <a:xfrm rot="0">
            <a:off x="7298307" y="6761039"/>
            <a:ext cx="405110" cy="506462"/>
            <a:chOff x="0" y="0"/>
            <a:chExt cx="540147" cy="675283"/>
          </a:xfrm>
        </p:grpSpPr>
        <p:sp>
          <p:nvSpPr>
            <p:cNvPr name="Freeform 30" id="30" descr="preencoded.png"/>
            <p:cNvSpPr/>
            <p:nvPr/>
          </p:nvSpPr>
          <p:spPr>
            <a:xfrm flipH="false" flipV="false" rot="0">
              <a:off x="0" y="0"/>
              <a:ext cx="540131" cy="675259"/>
            </a:xfrm>
            <a:custGeom>
              <a:avLst/>
              <a:gdLst/>
              <a:ahLst/>
              <a:cxnLst/>
              <a:rect r="r" b="b" t="t" l="l"/>
              <a:pathLst>
                <a:path h="675259" w="540131">
                  <a:moveTo>
                    <a:pt x="0" y="0"/>
                  </a:moveTo>
                  <a:lnTo>
                    <a:pt x="540131" y="0"/>
                  </a:lnTo>
                  <a:lnTo>
                    <a:pt x="540131" y="675259"/>
                  </a:lnTo>
                  <a:lnTo>
                    <a:pt x="0" y="675259"/>
                  </a:lnTo>
                  <a:lnTo>
                    <a:pt x="0" y="0"/>
                  </a:lnTo>
                  <a:close/>
                </a:path>
              </a:pathLst>
            </a:custGeom>
            <a:blipFill>
              <a:blip r:embed="rId10"/>
              <a:stretch>
                <a:fillRect l="-715" t="0" r="-717" b="-3"/>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947886" y="1704380"/>
            <a:ext cx="9988451" cy="928985"/>
          </a:xfrm>
          <a:prstGeom prst="rect">
            <a:avLst/>
          </a:prstGeom>
        </p:spPr>
        <p:txBody>
          <a:bodyPr anchor="t" rtlCol="false" tIns="0" lIns="0" bIns="0" rIns="0">
            <a:spAutoFit/>
          </a:bodyPr>
          <a:lstStyle/>
          <a:p>
            <a:pPr algn="l">
              <a:lnSpc>
                <a:spcPts val="7000"/>
              </a:lnSpc>
            </a:pPr>
            <a:r>
              <a:rPr lang="en-US" sz="5562" b="true">
                <a:solidFill>
                  <a:srgbClr val="1F1E1E"/>
                </a:solidFill>
                <a:latin typeface="Aleo Bold"/>
                <a:ea typeface="Aleo Bold"/>
                <a:cs typeface="Aleo Bold"/>
                <a:sym typeface="Aleo Bold"/>
              </a:rPr>
              <a:t>Coopetition Success Stories</a:t>
            </a:r>
          </a:p>
        </p:txBody>
      </p:sp>
      <p:grpSp>
        <p:nvGrpSpPr>
          <p:cNvPr name="Group 7" id="7"/>
          <p:cNvGrpSpPr>
            <a:grpSpLocks noChangeAspect="true"/>
          </p:cNvGrpSpPr>
          <p:nvPr/>
        </p:nvGrpSpPr>
        <p:grpSpPr>
          <a:xfrm rot="0">
            <a:off x="947886" y="3174950"/>
            <a:ext cx="2229594" cy="1377851"/>
            <a:chOff x="0" y="0"/>
            <a:chExt cx="2972792" cy="1837135"/>
          </a:xfrm>
        </p:grpSpPr>
        <p:sp>
          <p:nvSpPr>
            <p:cNvPr name="Freeform 8" id="8" descr="preencoded.png"/>
            <p:cNvSpPr/>
            <p:nvPr/>
          </p:nvSpPr>
          <p:spPr>
            <a:xfrm flipH="false" flipV="false" rot="0">
              <a:off x="0" y="0"/>
              <a:ext cx="2972816" cy="1837182"/>
            </a:xfrm>
            <a:custGeom>
              <a:avLst/>
              <a:gdLst/>
              <a:ahLst/>
              <a:cxnLst/>
              <a:rect r="r" b="b" t="t" l="l"/>
              <a:pathLst>
                <a:path h="1837182" w="2972816">
                  <a:moveTo>
                    <a:pt x="0" y="0"/>
                  </a:moveTo>
                  <a:lnTo>
                    <a:pt x="2972816" y="0"/>
                  </a:lnTo>
                  <a:lnTo>
                    <a:pt x="2972816" y="1837182"/>
                  </a:lnTo>
                  <a:lnTo>
                    <a:pt x="0" y="1837182"/>
                  </a:lnTo>
                  <a:lnTo>
                    <a:pt x="0" y="0"/>
                  </a:lnTo>
                  <a:close/>
                </a:path>
              </a:pathLst>
            </a:custGeom>
            <a:blipFill>
              <a:blip r:embed="rId3"/>
              <a:stretch>
                <a:fillRect l="0" t="-135" r="0" b="-132"/>
              </a:stretch>
            </a:blipFill>
          </p:spPr>
        </p:sp>
      </p:grpSp>
      <p:sp>
        <p:nvSpPr>
          <p:cNvPr name="TextBox 9" id="9"/>
          <p:cNvSpPr txBox="true"/>
          <p:nvPr/>
        </p:nvSpPr>
        <p:spPr>
          <a:xfrm rot="0">
            <a:off x="947886" y="4853136"/>
            <a:ext cx="3844230" cy="928688"/>
          </a:xfrm>
          <a:prstGeom prst="rect">
            <a:avLst/>
          </a:prstGeom>
        </p:spPr>
        <p:txBody>
          <a:bodyPr anchor="t" rtlCol="false" tIns="0" lIns="0" bIns="0" rIns="0">
            <a:spAutoFit/>
          </a:bodyPr>
          <a:lstStyle/>
          <a:p>
            <a:pPr algn="l">
              <a:lnSpc>
                <a:spcPts val="3500"/>
              </a:lnSpc>
            </a:pPr>
            <a:r>
              <a:rPr lang="en-US" sz="2750" b="true">
                <a:solidFill>
                  <a:srgbClr val="3B3535"/>
                </a:solidFill>
                <a:latin typeface="Aleo Bold"/>
                <a:ea typeface="Aleo Bold"/>
                <a:cs typeface="Aleo Bold"/>
                <a:sym typeface="Aleo Bold"/>
              </a:rPr>
              <a:t>B3i Blockchain Initiative</a:t>
            </a:r>
          </a:p>
        </p:txBody>
      </p:sp>
      <p:sp>
        <p:nvSpPr>
          <p:cNvPr name="TextBox 10" id="10"/>
          <p:cNvSpPr txBox="true"/>
          <p:nvPr/>
        </p:nvSpPr>
        <p:spPr>
          <a:xfrm rot="0">
            <a:off x="947886" y="5858470"/>
            <a:ext cx="3844230" cy="2686050"/>
          </a:xfrm>
          <a:prstGeom prst="rect">
            <a:avLst/>
          </a:prstGeom>
        </p:spPr>
        <p:txBody>
          <a:bodyPr anchor="t" rtlCol="false" tIns="0" lIns="0" bIns="0" rIns="0">
            <a:spAutoFit/>
          </a:bodyPr>
          <a:lstStyle/>
          <a:p>
            <a:pPr algn="l">
              <a:lnSpc>
                <a:spcPts val="3374"/>
              </a:lnSpc>
            </a:pPr>
            <a:r>
              <a:rPr lang="en-US" sz="2125">
                <a:solidFill>
                  <a:srgbClr val="3B3535"/>
                </a:solidFill>
                <a:latin typeface="Arimo"/>
                <a:ea typeface="Arimo"/>
                <a:cs typeface="Arimo"/>
                <a:sym typeface="Arimo"/>
              </a:rPr>
              <a:t>Major insurers collaborate on shared blockchain infrastructure, reducing costs and improving efficiency while maintaining competitive products</a:t>
            </a:r>
          </a:p>
        </p:txBody>
      </p:sp>
      <p:grpSp>
        <p:nvGrpSpPr>
          <p:cNvPr name="Group 11" id="11"/>
          <p:cNvGrpSpPr>
            <a:grpSpLocks noChangeAspect="true"/>
          </p:cNvGrpSpPr>
          <p:nvPr/>
        </p:nvGrpSpPr>
        <p:grpSpPr>
          <a:xfrm rot="0">
            <a:off x="5130552" y="3174950"/>
            <a:ext cx="2229594" cy="1377851"/>
            <a:chOff x="0" y="0"/>
            <a:chExt cx="2972792" cy="1837135"/>
          </a:xfrm>
        </p:grpSpPr>
        <p:sp>
          <p:nvSpPr>
            <p:cNvPr name="Freeform 12" id="12" descr="preencoded.png"/>
            <p:cNvSpPr/>
            <p:nvPr/>
          </p:nvSpPr>
          <p:spPr>
            <a:xfrm flipH="false" flipV="false" rot="0">
              <a:off x="0" y="0"/>
              <a:ext cx="2972816" cy="1837182"/>
            </a:xfrm>
            <a:custGeom>
              <a:avLst/>
              <a:gdLst/>
              <a:ahLst/>
              <a:cxnLst/>
              <a:rect r="r" b="b" t="t" l="l"/>
              <a:pathLst>
                <a:path h="1837182" w="2972816">
                  <a:moveTo>
                    <a:pt x="0" y="0"/>
                  </a:moveTo>
                  <a:lnTo>
                    <a:pt x="2972816" y="0"/>
                  </a:lnTo>
                  <a:lnTo>
                    <a:pt x="2972816" y="1837182"/>
                  </a:lnTo>
                  <a:lnTo>
                    <a:pt x="0" y="1837182"/>
                  </a:lnTo>
                  <a:lnTo>
                    <a:pt x="0" y="0"/>
                  </a:lnTo>
                  <a:close/>
                </a:path>
              </a:pathLst>
            </a:custGeom>
            <a:blipFill>
              <a:blip r:embed="rId4"/>
              <a:stretch>
                <a:fillRect l="0" t="-135" r="0" b="-132"/>
              </a:stretch>
            </a:blipFill>
          </p:spPr>
        </p:sp>
      </p:grpSp>
      <p:sp>
        <p:nvSpPr>
          <p:cNvPr name="TextBox 13" id="13"/>
          <p:cNvSpPr txBox="true"/>
          <p:nvPr/>
        </p:nvSpPr>
        <p:spPr>
          <a:xfrm rot="0">
            <a:off x="5130552" y="4853136"/>
            <a:ext cx="3563391" cy="483394"/>
          </a:xfrm>
          <a:prstGeom prst="rect">
            <a:avLst/>
          </a:prstGeom>
        </p:spPr>
        <p:txBody>
          <a:bodyPr anchor="t" rtlCol="false" tIns="0" lIns="0" bIns="0" rIns="0">
            <a:spAutoFit/>
          </a:bodyPr>
          <a:lstStyle/>
          <a:p>
            <a:pPr algn="l">
              <a:lnSpc>
                <a:spcPts val="3500"/>
              </a:lnSpc>
            </a:pPr>
            <a:r>
              <a:rPr lang="en-US" sz="2750" b="true">
                <a:solidFill>
                  <a:srgbClr val="3B3535"/>
                </a:solidFill>
                <a:latin typeface="Aleo Bold"/>
                <a:ea typeface="Aleo Bold"/>
                <a:cs typeface="Aleo Bold"/>
                <a:sym typeface="Aleo Bold"/>
              </a:rPr>
              <a:t>Cyber Risk Pools</a:t>
            </a:r>
          </a:p>
        </p:txBody>
      </p:sp>
      <p:sp>
        <p:nvSpPr>
          <p:cNvPr name="TextBox 14" id="14"/>
          <p:cNvSpPr txBox="true"/>
          <p:nvPr/>
        </p:nvSpPr>
        <p:spPr>
          <a:xfrm rot="0">
            <a:off x="5130552" y="5413176"/>
            <a:ext cx="3844230" cy="2252663"/>
          </a:xfrm>
          <a:prstGeom prst="rect">
            <a:avLst/>
          </a:prstGeom>
        </p:spPr>
        <p:txBody>
          <a:bodyPr anchor="t" rtlCol="false" tIns="0" lIns="0" bIns="0" rIns="0">
            <a:spAutoFit/>
          </a:bodyPr>
          <a:lstStyle/>
          <a:p>
            <a:pPr algn="l">
              <a:lnSpc>
                <a:spcPts val="3374"/>
              </a:lnSpc>
            </a:pPr>
            <a:r>
              <a:rPr lang="en-US" sz="2125">
                <a:solidFill>
                  <a:srgbClr val="3B3535"/>
                </a:solidFill>
                <a:latin typeface="Arimo"/>
                <a:ea typeface="Arimo"/>
                <a:cs typeface="Arimo"/>
                <a:sym typeface="Arimo"/>
              </a:rPr>
              <a:t>Industry consortiums jointly cover large-scale cyber risks, providing coverage beyond individual company capacity</a:t>
            </a:r>
          </a:p>
        </p:txBody>
      </p:sp>
      <p:grpSp>
        <p:nvGrpSpPr>
          <p:cNvPr name="Group 15" id="15"/>
          <p:cNvGrpSpPr>
            <a:grpSpLocks noChangeAspect="true"/>
          </p:cNvGrpSpPr>
          <p:nvPr/>
        </p:nvGrpSpPr>
        <p:grpSpPr>
          <a:xfrm rot="0">
            <a:off x="9313217" y="3174950"/>
            <a:ext cx="2229594" cy="1377851"/>
            <a:chOff x="0" y="0"/>
            <a:chExt cx="2972792" cy="1837135"/>
          </a:xfrm>
        </p:grpSpPr>
        <p:sp>
          <p:nvSpPr>
            <p:cNvPr name="Freeform 16" id="16" descr="preencoded.png"/>
            <p:cNvSpPr/>
            <p:nvPr/>
          </p:nvSpPr>
          <p:spPr>
            <a:xfrm flipH="false" flipV="false" rot="0">
              <a:off x="0" y="0"/>
              <a:ext cx="2972816" cy="1837182"/>
            </a:xfrm>
            <a:custGeom>
              <a:avLst/>
              <a:gdLst/>
              <a:ahLst/>
              <a:cxnLst/>
              <a:rect r="r" b="b" t="t" l="l"/>
              <a:pathLst>
                <a:path h="1837182" w="2972816">
                  <a:moveTo>
                    <a:pt x="0" y="0"/>
                  </a:moveTo>
                  <a:lnTo>
                    <a:pt x="2972816" y="0"/>
                  </a:lnTo>
                  <a:lnTo>
                    <a:pt x="2972816" y="1837182"/>
                  </a:lnTo>
                  <a:lnTo>
                    <a:pt x="0" y="1837182"/>
                  </a:lnTo>
                  <a:lnTo>
                    <a:pt x="0" y="0"/>
                  </a:lnTo>
                  <a:close/>
                </a:path>
              </a:pathLst>
            </a:custGeom>
            <a:blipFill>
              <a:blip r:embed="rId5"/>
              <a:stretch>
                <a:fillRect l="0" t="-135" r="0" b="-132"/>
              </a:stretch>
            </a:blipFill>
          </p:spPr>
        </p:sp>
      </p:grpSp>
      <p:sp>
        <p:nvSpPr>
          <p:cNvPr name="TextBox 17" id="17"/>
          <p:cNvSpPr txBox="true"/>
          <p:nvPr/>
        </p:nvSpPr>
        <p:spPr>
          <a:xfrm rot="0">
            <a:off x="9313217" y="4853136"/>
            <a:ext cx="3739754" cy="483394"/>
          </a:xfrm>
          <a:prstGeom prst="rect">
            <a:avLst/>
          </a:prstGeom>
        </p:spPr>
        <p:txBody>
          <a:bodyPr anchor="t" rtlCol="false" tIns="0" lIns="0" bIns="0" rIns="0">
            <a:spAutoFit/>
          </a:bodyPr>
          <a:lstStyle/>
          <a:p>
            <a:pPr algn="l">
              <a:lnSpc>
                <a:spcPts val="3500"/>
              </a:lnSpc>
            </a:pPr>
            <a:r>
              <a:rPr lang="en-US" sz="2750" b="true">
                <a:solidFill>
                  <a:srgbClr val="3B3535"/>
                </a:solidFill>
                <a:latin typeface="Aleo Bold"/>
                <a:ea typeface="Aleo Bold"/>
                <a:cs typeface="Aleo Bold"/>
                <a:sym typeface="Aleo Bold"/>
              </a:rPr>
              <a:t>Open Insurance APIs</a:t>
            </a:r>
          </a:p>
        </p:txBody>
      </p:sp>
      <p:sp>
        <p:nvSpPr>
          <p:cNvPr name="TextBox 18" id="18"/>
          <p:cNvSpPr txBox="true"/>
          <p:nvPr/>
        </p:nvSpPr>
        <p:spPr>
          <a:xfrm rot="0">
            <a:off x="9313217" y="5413176"/>
            <a:ext cx="3844230" cy="2252663"/>
          </a:xfrm>
          <a:prstGeom prst="rect">
            <a:avLst/>
          </a:prstGeom>
        </p:spPr>
        <p:txBody>
          <a:bodyPr anchor="t" rtlCol="false" tIns="0" lIns="0" bIns="0" rIns="0">
            <a:spAutoFit/>
          </a:bodyPr>
          <a:lstStyle/>
          <a:p>
            <a:pPr algn="l">
              <a:lnSpc>
                <a:spcPts val="3374"/>
              </a:lnSpc>
            </a:pPr>
            <a:r>
              <a:rPr lang="en-US" sz="2125">
                <a:solidFill>
                  <a:srgbClr val="3B3535"/>
                </a:solidFill>
                <a:latin typeface="Arimo"/>
                <a:ea typeface="Arimo"/>
                <a:cs typeface="Arimo"/>
                <a:sym typeface="Arimo"/>
              </a:rPr>
              <a:t>Common platforms enable seamless integration while allowing competitive differentiation in customer experience and pricing</a:t>
            </a:r>
          </a:p>
        </p:txBody>
      </p:sp>
      <p:grpSp>
        <p:nvGrpSpPr>
          <p:cNvPr name="Group 19" id="19"/>
          <p:cNvGrpSpPr>
            <a:grpSpLocks noChangeAspect="true"/>
          </p:cNvGrpSpPr>
          <p:nvPr/>
        </p:nvGrpSpPr>
        <p:grpSpPr>
          <a:xfrm rot="0">
            <a:off x="13495884" y="3174950"/>
            <a:ext cx="2229594" cy="1377851"/>
            <a:chOff x="0" y="0"/>
            <a:chExt cx="2972792" cy="1837135"/>
          </a:xfrm>
        </p:grpSpPr>
        <p:sp>
          <p:nvSpPr>
            <p:cNvPr name="Freeform 20" id="20" descr="preencoded.png"/>
            <p:cNvSpPr/>
            <p:nvPr/>
          </p:nvSpPr>
          <p:spPr>
            <a:xfrm flipH="false" flipV="false" rot="0">
              <a:off x="0" y="0"/>
              <a:ext cx="2972816" cy="1837182"/>
            </a:xfrm>
            <a:custGeom>
              <a:avLst/>
              <a:gdLst/>
              <a:ahLst/>
              <a:cxnLst/>
              <a:rect r="r" b="b" t="t" l="l"/>
              <a:pathLst>
                <a:path h="1837182" w="2972816">
                  <a:moveTo>
                    <a:pt x="0" y="0"/>
                  </a:moveTo>
                  <a:lnTo>
                    <a:pt x="2972816" y="0"/>
                  </a:lnTo>
                  <a:lnTo>
                    <a:pt x="2972816" y="1837182"/>
                  </a:lnTo>
                  <a:lnTo>
                    <a:pt x="0" y="1837182"/>
                  </a:lnTo>
                  <a:lnTo>
                    <a:pt x="0" y="0"/>
                  </a:lnTo>
                  <a:close/>
                </a:path>
              </a:pathLst>
            </a:custGeom>
            <a:blipFill>
              <a:blip r:embed="rId6"/>
              <a:stretch>
                <a:fillRect l="0" t="-135" r="0" b="-132"/>
              </a:stretch>
            </a:blipFill>
          </p:spPr>
        </p:sp>
      </p:grpSp>
      <p:sp>
        <p:nvSpPr>
          <p:cNvPr name="TextBox 21" id="21"/>
          <p:cNvSpPr txBox="true"/>
          <p:nvPr/>
        </p:nvSpPr>
        <p:spPr>
          <a:xfrm rot="0">
            <a:off x="13495884" y="4853136"/>
            <a:ext cx="3844230" cy="928688"/>
          </a:xfrm>
          <a:prstGeom prst="rect">
            <a:avLst/>
          </a:prstGeom>
        </p:spPr>
        <p:txBody>
          <a:bodyPr anchor="t" rtlCol="false" tIns="0" lIns="0" bIns="0" rIns="0">
            <a:spAutoFit/>
          </a:bodyPr>
          <a:lstStyle/>
          <a:p>
            <a:pPr algn="l">
              <a:lnSpc>
                <a:spcPts val="3500"/>
              </a:lnSpc>
            </a:pPr>
            <a:r>
              <a:rPr lang="en-US" sz="2750" b="true">
                <a:solidFill>
                  <a:srgbClr val="3B3535"/>
                </a:solidFill>
                <a:latin typeface="Aleo Bold"/>
                <a:ea typeface="Aleo Bold"/>
                <a:cs typeface="Aleo Bold"/>
                <a:sym typeface="Aleo Bold"/>
              </a:rPr>
              <a:t>Insurtech Partnerships</a:t>
            </a:r>
          </a:p>
        </p:txBody>
      </p:sp>
      <p:sp>
        <p:nvSpPr>
          <p:cNvPr name="TextBox 22" id="22"/>
          <p:cNvSpPr txBox="true"/>
          <p:nvPr/>
        </p:nvSpPr>
        <p:spPr>
          <a:xfrm rot="0">
            <a:off x="13495884" y="5858470"/>
            <a:ext cx="3844230" cy="2252663"/>
          </a:xfrm>
          <a:prstGeom prst="rect">
            <a:avLst/>
          </a:prstGeom>
        </p:spPr>
        <p:txBody>
          <a:bodyPr anchor="t" rtlCol="false" tIns="0" lIns="0" bIns="0" rIns="0">
            <a:spAutoFit/>
          </a:bodyPr>
          <a:lstStyle/>
          <a:p>
            <a:pPr algn="l">
              <a:lnSpc>
                <a:spcPts val="3374"/>
              </a:lnSpc>
            </a:pPr>
            <a:r>
              <a:rPr lang="en-US" sz="2125">
                <a:solidFill>
                  <a:srgbClr val="3B3535"/>
                </a:solidFill>
                <a:latin typeface="Arimo"/>
                <a:ea typeface="Arimo"/>
                <a:cs typeface="Arimo"/>
                <a:sym typeface="Arimo"/>
              </a:rPr>
              <a:t>Traditional insurers jointly fund and support startups, sharing innovation costs while gaining access to cutting-edge solutions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7EEF9"/>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AFA"/>
            </a:solidFill>
          </p:spPr>
        </p:sp>
      </p:grpSp>
      <p:sp>
        <p:nvSpPr>
          <p:cNvPr name="TextBox 6" id="6"/>
          <p:cNvSpPr txBox="true"/>
          <p:nvPr/>
        </p:nvSpPr>
        <p:spPr>
          <a:xfrm rot="0">
            <a:off x="918865" y="683865"/>
            <a:ext cx="14577269" cy="901750"/>
          </a:xfrm>
          <a:prstGeom prst="rect">
            <a:avLst/>
          </a:prstGeom>
        </p:spPr>
        <p:txBody>
          <a:bodyPr anchor="t" rtlCol="false" tIns="0" lIns="0" bIns="0" rIns="0">
            <a:spAutoFit/>
          </a:bodyPr>
          <a:lstStyle/>
          <a:p>
            <a:pPr algn="l">
              <a:lnSpc>
                <a:spcPts val="6749"/>
              </a:lnSpc>
            </a:pPr>
            <a:r>
              <a:rPr lang="en-US" sz="5437" b="true">
                <a:solidFill>
                  <a:srgbClr val="1F1E1E"/>
                </a:solidFill>
                <a:latin typeface="Aleo Bold"/>
                <a:ea typeface="Aleo Bold"/>
                <a:cs typeface="Aleo Bold"/>
                <a:sym typeface="Aleo Bold"/>
              </a:rPr>
              <a:t>Balancing Collaboration and Competition</a:t>
            </a:r>
          </a:p>
        </p:txBody>
      </p:sp>
      <p:sp>
        <p:nvSpPr>
          <p:cNvPr name="TextBox 7" id="7"/>
          <p:cNvSpPr txBox="true"/>
          <p:nvPr/>
        </p:nvSpPr>
        <p:spPr>
          <a:xfrm rot="0">
            <a:off x="918865" y="2222898"/>
            <a:ext cx="4495949" cy="537270"/>
          </a:xfrm>
          <a:prstGeom prst="rect">
            <a:avLst/>
          </a:prstGeom>
        </p:spPr>
        <p:txBody>
          <a:bodyPr anchor="t" rtlCol="false" tIns="0" lIns="0" bIns="0" rIns="0">
            <a:spAutoFit/>
          </a:bodyPr>
          <a:lstStyle/>
          <a:p>
            <a:pPr algn="l">
              <a:lnSpc>
                <a:spcPts val="4062"/>
              </a:lnSpc>
            </a:pPr>
            <a:r>
              <a:rPr lang="en-US" sz="3250" b="true">
                <a:solidFill>
                  <a:srgbClr val="1F1E1E"/>
                </a:solidFill>
                <a:latin typeface="Aleo Bold"/>
                <a:ea typeface="Aleo Bold"/>
                <a:cs typeface="Aleo Bold"/>
                <a:sym typeface="Aleo Bold"/>
              </a:rPr>
              <a:t>Strategic Advantages</a:t>
            </a:r>
          </a:p>
        </p:txBody>
      </p:sp>
      <p:sp>
        <p:nvSpPr>
          <p:cNvPr name="TextBox 8" id="8"/>
          <p:cNvSpPr txBox="true"/>
          <p:nvPr/>
        </p:nvSpPr>
        <p:spPr>
          <a:xfrm rot="0">
            <a:off x="918865" y="2936974"/>
            <a:ext cx="9613850" cy="925711"/>
          </a:xfrm>
          <a:prstGeom prst="rect">
            <a:avLst/>
          </a:prstGeom>
        </p:spPr>
        <p:txBody>
          <a:bodyPr anchor="t" rtlCol="false" tIns="0" lIns="0" bIns="0" rIns="0">
            <a:spAutoFit/>
          </a:bodyPr>
          <a:lstStyle/>
          <a:p>
            <a:pPr algn="l" marL="311051" indent="-155525" lvl="1">
              <a:lnSpc>
                <a:spcPts val="3249"/>
              </a:lnSpc>
              <a:buFont typeface="Arial"/>
              <a:buChar char="•"/>
            </a:pPr>
            <a:r>
              <a:rPr lang="en-US" b="true" sz="2062">
                <a:solidFill>
                  <a:srgbClr val="3B3535"/>
                </a:solidFill>
                <a:latin typeface="Arimo Bold"/>
                <a:ea typeface="Arimo Bold"/>
                <a:cs typeface="Arimo Bold"/>
                <a:sym typeface="Arimo Bold"/>
              </a:rPr>
              <a:t>Shared Innovation Investment</a:t>
            </a:r>
            <a:r>
              <a:rPr lang="en-US" sz="2062">
                <a:solidFill>
                  <a:srgbClr val="3B3535"/>
                </a:solidFill>
                <a:latin typeface="Arimo"/>
                <a:ea typeface="Arimo"/>
                <a:cs typeface="Arimo"/>
                <a:sym typeface="Arimo"/>
              </a:rPr>
              <a:t> - Reduce individual technology development costs while accelerating industry-wide advancement</a:t>
            </a:r>
          </a:p>
        </p:txBody>
      </p:sp>
      <p:sp>
        <p:nvSpPr>
          <p:cNvPr name="TextBox 9" id="9"/>
          <p:cNvSpPr txBox="true"/>
          <p:nvPr/>
        </p:nvSpPr>
        <p:spPr>
          <a:xfrm rot="0">
            <a:off x="918865" y="3868787"/>
            <a:ext cx="9613850" cy="925711"/>
          </a:xfrm>
          <a:prstGeom prst="rect">
            <a:avLst/>
          </a:prstGeom>
        </p:spPr>
        <p:txBody>
          <a:bodyPr anchor="t" rtlCol="false" tIns="0" lIns="0" bIns="0" rIns="0">
            <a:spAutoFit/>
          </a:bodyPr>
          <a:lstStyle/>
          <a:p>
            <a:pPr algn="l" marL="311051" indent="-155525" lvl="1">
              <a:lnSpc>
                <a:spcPts val="3249"/>
              </a:lnSpc>
              <a:buFont typeface="Arial"/>
              <a:buChar char="•"/>
            </a:pPr>
            <a:r>
              <a:rPr lang="en-US" b="true" sz="2062">
                <a:solidFill>
                  <a:srgbClr val="3B3535"/>
                </a:solidFill>
                <a:latin typeface="Arimo Bold"/>
                <a:ea typeface="Arimo Bold"/>
                <a:cs typeface="Arimo Bold"/>
                <a:sym typeface="Arimo Bold"/>
              </a:rPr>
              <a:t>Enhanced Regulatory Acceptance</a:t>
            </a:r>
            <a:r>
              <a:rPr lang="en-US" sz="2062">
                <a:solidFill>
                  <a:srgbClr val="3B3535"/>
                </a:solidFill>
                <a:latin typeface="Arimo"/>
                <a:ea typeface="Arimo"/>
                <a:cs typeface="Arimo"/>
                <a:sym typeface="Arimo"/>
              </a:rPr>
              <a:t> - Collaborative approaches gain faster approval and support from regulatory bodies</a:t>
            </a:r>
          </a:p>
        </p:txBody>
      </p:sp>
      <p:sp>
        <p:nvSpPr>
          <p:cNvPr name="TextBox 10" id="10"/>
          <p:cNvSpPr txBox="true"/>
          <p:nvPr/>
        </p:nvSpPr>
        <p:spPr>
          <a:xfrm rot="0">
            <a:off x="918865" y="4800600"/>
            <a:ext cx="9613850" cy="925711"/>
          </a:xfrm>
          <a:prstGeom prst="rect">
            <a:avLst/>
          </a:prstGeom>
        </p:spPr>
        <p:txBody>
          <a:bodyPr anchor="t" rtlCol="false" tIns="0" lIns="0" bIns="0" rIns="0">
            <a:spAutoFit/>
          </a:bodyPr>
          <a:lstStyle/>
          <a:p>
            <a:pPr algn="l" marL="311051" indent="-155525" lvl="1">
              <a:lnSpc>
                <a:spcPts val="3249"/>
              </a:lnSpc>
              <a:buFont typeface="Arial"/>
              <a:buChar char="•"/>
            </a:pPr>
            <a:r>
              <a:rPr lang="en-US" b="true" sz="2062">
                <a:solidFill>
                  <a:srgbClr val="3B3535"/>
                </a:solidFill>
                <a:latin typeface="Arimo Bold"/>
                <a:ea typeface="Arimo Bold"/>
                <a:cs typeface="Arimo Bold"/>
                <a:sym typeface="Arimo Bold"/>
              </a:rPr>
              <a:t>Strengthened Customer Trust</a:t>
            </a:r>
            <a:r>
              <a:rPr lang="en-US" sz="2062">
                <a:solidFill>
                  <a:srgbClr val="3B3535"/>
                </a:solidFill>
                <a:latin typeface="Arimo"/>
                <a:ea typeface="Arimo"/>
                <a:cs typeface="Arimo"/>
                <a:sym typeface="Arimo"/>
              </a:rPr>
              <a:t> - Industry-wide standards and shared security measures increase overall consumer confidence</a:t>
            </a:r>
          </a:p>
        </p:txBody>
      </p:sp>
      <p:sp>
        <p:nvSpPr>
          <p:cNvPr name="TextBox 11" id="11"/>
          <p:cNvSpPr txBox="true"/>
          <p:nvPr/>
        </p:nvSpPr>
        <p:spPr>
          <a:xfrm rot="0">
            <a:off x="918865" y="5969794"/>
            <a:ext cx="4147394" cy="537270"/>
          </a:xfrm>
          <a:prstGeom prst="rect">
            <a:avLst/>
          </a:prstGeom>
        </p:spPr>
        <p:txBody>
          <a:bodyPr anchor="t" rtlCol="false" tIns="0" lIns="0" bIns="0" rIns="0">
            <a:spAutoFit/>
          </a:bodyPr>
          <a:lstStyle/>
          <a:p>
            <a:pPr algn="l">
              <a:lnSpc>
                <a:spcPts val="4062"/>
              </a:lnSpc>
            </a:pPr>
            <a:r>
              <a:rPr lang="en-US" sz="3250" b="true">
                <a:solidFill>
                  <a:srgbClr val="1F1E1E"/>
                </a:solidFill>
                <a:latin typeface="Aleo Bold"/>
                <a:ea typeface="Aleo Bold"/>
                <a:cs typeface="Aleo Bold"/>
                <a:sym typeface="Aleo Bold"/>
              </a:rPr>
              <a:t>Critical Risk Factors</a:t>
            </a:r>
          </a:p>
        </p:txBody>
      </p:sp>
      <p:sp>
        <p:nvSpPr>
          <p:cNvPr name="TextBox 12" id="12"/>
          <p:cNvSpPr txBox="true"/>
          <p:nvPr/>
        </p:nvSpPr>
        <p:spPr>
          <a:xfrm rot="0">
            <a:off x="918865" y="6683871"/>
            <a:ext cx="9613850" cy="925711"/>
          </a:xfrm>
          <a:prstGeom prst="rect">
            <a:avLst/>
          </a:prstGeom>
        </p:spPr>
        <p:txBody>
          <a:bodyPr anchor="t" rtlCol="false" tIns="0" lIns="0" bIns="0" rIns="0">
            <a:spAutoFit/>
          </a:bodyPr>
          <a:lstStyle/>
          <a:p>
            <a:pPr algn="l" marL="311051" indent="-155525" lvl="1">
              <a:lnSpc>
                <a:spcPts val="3249"/>
              </a:lnSpc>
              <a:buFont typeface="Arial"/>
              <a:buChar char="•"/>
            </a:pPr>
            <a:r>
              <a:rPr lang="en-US" b="true" sz="2062">
                <a:solidFill>
                  <a:srgbClr val="3B3535"/>
                </a:solidFill>
                <a:latin typeface="Arimo Bold"/>
                <a:ea typeface="Arimo Bold"/>
                <a:cs typeface="Arimo Bold"/>
                <a:sym typeface="Arimo Bold"/>
              </a:rPr>
              <a:t>Competitive Balance</a:t>
            </a:r>
            <a:r>
              <a:rPr lang="en-US" sz="2062">
                <a:solidFill>
                  <a:srgbClr val="3B3535"/>
                </a:solidFill>
                <a:latin typeface="Arimo"/>
                <a:ea typeface="Arimo"/>
                <a:cs typeface="Arimo"/>
                <a:sym typeface="Arimo"/>
              </a:rPr>
              <a:t> - Managing the tension between collaboration benefits and maintaining competitive advantages</a:t>
            </a:r>
          </a:p>
        </p:txBody>
      </p:sp>
      <p:sp>
        <p:nvSpPr>
          <p:cNvPr name="TextBox 13" id="13"/>
          <p:cNvSpPr txBox="true"/>
          <p:nvPr/>
        </p:nvSpPr>
        <p:spPr>
          <a:xfrm rot="0">
            <a:off x="918865" y="7615684"/>
            <a:ext cx="9613850" cy="925711"/>
          </a:xfrm>
          <a:prstGeom prst="rect">
            <a:avLst/>
          </a:prstGeom>
        </p:spPr>
        <p:txBody>
          <a:bodyPr anchor="t" rtlCol="false" tIns="0" lIns="0" bIns="0" rIns="0">
            <a:spAutoFit/>
          </a:bodyPr>
          <a:lstStyle/>
          <a:p>
            <a:pPr algn="l" marL="311051" indent="-155525" lvl="1">
              <a:lnSpc>
                <a:spcPts val="3249"/>
              </a:lnSpc>
              <a:buFont typeface="Arial"/>
              <a:buChar char="•"/>
            </a:pPr>
            <a:r>
              <a:rPr lang="en-US" b="true" sz="2062">
                <a:solidFill>
                  <a:srgbClr val="3B3535"/>
                </a:solidFill>
                <a:latin typeface="Arimo Bold"/>
                <a:ea typeface="Arimo Bold"/>
                <a:cs typeface="Arimo Bold"/>
                <a:sym typeface="Arimo Bold"/>
              </a:rPr>
              <a:t>Data Privacy Governance</a:t>
            </a:r>
            <a:r>
              <a:rPr lang="en-US" sz="2062">
                <a:solidFill>
                  <a:srgbClr val="3B3535"/>
                </a:solidFill>
                <a:latin typeface="Arimo"/>
                <a:ea typeface="Arimo"/>
                <a:cs typeface="Arimo"/>
                <a:sym typeface="Arimo"/>
              </a:rPr>
              <a:t> - Protecting sensitive information while enabling valuable data sharing for industry benefit</a:t>
            </a:r>
          </a:p>
        </p:txBody>
      </p:sp>
      <p:sp>
        <p:nvSpPr>
          <p:cNvPr name="TextBox 14" id="14"/>
          <p:cNvSpPr txBox="true"/>
          <p:nvPr/>
        </p:nvSpPr>
        <p:spPr>
          <a:xfrm rot="0">
            <a:off x="918865" y="8547497"/>
            <a:ext cx="9613850" cy="925711"/>
          </a:xfrm>
          <a:prstGeom prst="rect">
            <a:avLst/>
          </a:prstGeom>
        </p:spPr>
        <p:txBody>
          <a:bodyPr anchor="t" rtlCol="false" tIns="0" lIns="0" bIns="0" rIns="0">
            <a:spAutoFit/>
          </a:bodyPr>
          <a:lstStyle/>
          <a:p>
            <a:pPr algn="l" marL="311051" indent="-155525" lvl="1">
              <a:lnSpc>
                <a:spcPts val="3249"/>
              </a:lnSpc>
              <a:buFont typeface="Arial"/>
              <a:buChar char="•"/>
            </a:pPr>
            <a:r>
              <a:rPr lang="en-US" b="true" sz="2062">
                <a:solidFill>
                  <a:srgbClr val="3B3535"/>
                </a:solidFill>
                <a:latin typeface="Arimo Bold"/>
                <a:ea typeface="Arimo Bold"/>
                <a:cs typeface="Arimo Bold"/>
                <a:sym typeface="Arimo Bold"/>
              </a:rPr>
              <a:t>Power Dynamics</a:t>
            </a:r>
            <a:r>
              <a:rPr lang="en-US" sz="2062">
                <a:solidFill>
                  <a:srgbClr val="3B3535"/>
                </a:solidFill>
                <a:latin typeface="Arimo"/>
                <a:ea typeface="Arimo"/>
                <a:cs typeface="Arimo"/>
                <a:sym typeface="Arimo"/>
              </a:rPr>
              <a:t> - Ensuring fair participation and preventing larger insurers from dominating collaborative initiatives</a:t>
            </a:r>
          </a:p>
        </p:txBody>
      </p:sp>
      <p:grpSp>
        <p:nvGrpSpPr>
          <p:cNvPr name="Group 15" id="15"/>
          <p:cNvGrpSpPr>
            <a:grpSpLocks noChangeAspect="true"/>
          </p:cNvGrpSpPr>
          <p:nvPr/>
        </p:nvGrpSpPr>
        <p:grpSpPr>
          <a:xfrm rot="0">
            <a:off x="11182796" y="2274689"/>
            <a:ext cx="6195715" cy="4510385"/>
            <a:chOff x="0" y="0"/>
            <a:chExt cx="8260953" cy="6013847"/>
          </a:xfrm>
        </p:grpSpPr>
        <p:sp>
          <p:nvSpPr>
            <p:cNvPr name="Freeform 16" id="16" descr="preencoded.png"/>
            <p:cNvSpPr/>
            <p:nvPr/>
          </p:nvSpPr>
          <p:spPr>
            <a:xfrm flipH="false" flipV="false" rot="0">
              <a:off x="0" y="0"/>
              <a:ext cx="8260969" cy="6013831"/>
            </a:xfrm>
            <a:custGeom>
              <a:avLst/>
              <a:gdLst/>
              <a:ahLst/>
              <a:cxnLst/>
              <a:rect r="r" b="b" t="t" l="l"/>
              <a:pathLst>
                <a:path h="6013831" w="8260969">
                  <a:moveTo>
                    <a:pt x="0" y="0"/>
                  </a:moveTo>
                  <a:lnTo>
                    <a:pt x="8260969" y="0"/>
                  </a:lnTo>
                  <a:lnTo>
                    <a:pt x="8260969" y="6013831"/>
                  </a:lnTo>
                  <a:lnTo>
                    <a:pt x="0" y="6013831"/>
                  </a:lnTo>
                  <a:lnTo>
                    <a:pt x="0" y="0"/>
                  </a:lnTo>
                  <a:close/>
                </a:path>
              </a:pathLst>
            </a:custGeom>
            <a:blipFill>
              <a:blip r:embed="rId3"/>
              <a:stretch>
                <a:fillRect l="0" t="-85" r="0" b="-85"/>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DAG0U1Y1YhY</dc:identifier>
  <dcterms:modified xsi:type="dcterms:W3CDTF">2011-08-01T06:04:30Z</dcterms:modified>
  <cp:revision>1</cp:revision>
  <dc:title>Competition-vs-Coopetition-in-the-Insurance-Market.pptx</dc:title>
</cp:coreProperties>
</file>
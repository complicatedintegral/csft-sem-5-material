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3" r:id="rId16"/>
    <p:sldId id="270" r:id="rId17"/>
    <p:sldId id="271" r:id="rId18"/>
    <p:sldId id="27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6" d="100"/>
          <a:sy n="56" d="100"/>
        </p:scale>
        <p:origin x="100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BF45F-5065-9AA0-0FEE-FE775087A86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99CB88A-CFAD-5F3B-5A8E-79A135353B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DFD6B2D-988A-88F5-C42C-8C899B685DCB}"/>
              </a:ext>
            </a:extLst>
          </p:cNvPr>
          <p:cNvSpPr>
            <a:spLocks noGrp="1"/>
          </p:cNvSpPr>
          <p:nvPr>
            <p:ph type="dt" sz="half" idx="10"/>
          </p:nvPr>
        </p:nvSpPr>
        <p:spPr/>
        <p:txBody>
          <a:bodyPr/>
          <a:lstStyle/>
          <a:p>
            <a:fld id="{FBA96377-ACFF-4A47-B8AA-12F9ADDF308A}" type="datetimeFigureOut">
              <a:rPr lang="en-IN" smtClean="0"/>
              <a:t>11-08-2025</a:t>
            </a:fld>
            <a:endParaRPr lang="en-IN"/>
          </a:p>
        </p:txBody>
      </p:sp>
      <p:sp>
        <p:nvSpPr>
          <p:cNvPr id="5" name="Footer Placeholder 4">
            <a:extLst>
              <a:ext uri="{FF2B5EF4-FFF2-40B4-BE49-F238E27FC236}">
                <a16:creationId xmlns:a16="http://schemas.microsoft.com/office/drawing/2014/main" id="{B6AC4534-1ECB-A72C-F846-7FC1A0D9973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B939FA1-FD4A-165F-197B-035B39778519}"/>
              </a:ext>
            </a:extLst>
          </p:cNvPr>
          <p:cNvSpPr>
            <a:spLocks noGrp="1"/>
          </p:cNvSpPr>
          <p:nvPr>
            <p:ph type="sldNum" sz="quarter" idx="12"/>
          </p:nvPr>
        </p:nvSpPr>
        <p:spPr/>
        <p:txBody>
          <a:bodyPr/>
          <a:lstStyle/>
          <a:p>
            <a:fld id="{D19D8131-5090-4D7D-96D7-79DF45B5D452}" type="slidenum">
              <a:rPr lang="en-IN" smtClean="0"/>
              <a:t>‹#›</a:t>
            </a:fld>
            <a:endParaRPr lang="en-IN"/>
          </a:p>
        </p:txBody>
      </p:sp>
    </p:spTree>
    <p:extLst>
      <p:ext uri="{BB962C8B-B14F-4D97-AF65-F5344CB8AC3E}">
        <p14:creationId xmlns:p14="http://schemas.microsoft.com/office/powerpoint/2010/main" val="2600903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B696B-F934-A450-7BE2-2FCDB04B9CC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F59BE6E-EBEF-63DB-562A-BEF0D6F3A5D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B892D3-BD30-0AD5-2A44-1B332D1C49DB}"/>
              </a:ext>
            </a:extLst>
          </p:cNvPr>
          <p:cNvSpPr>
            <a:spLocks noGrp="1"/>
          </p:cNvSpPr>
          <p:nvPr>
            <p:ph type="dt" sz="half" idx="10"/>
          </p:nvPr>
        </p:nvSpPr>
        <p:spPr/>
        <p:txBody>
          <a:bodyPr/>
          <a:lstStyle/>
          <a:p>
            <a:fld id="{FBA96377-ACFF-4A47-B8AA-12F9ADDF308A}" type="datetimeFigureOut">
              <a:rPr lang="en-IN" smtClean="0"/>
              <a:t>11-08-2025</a:t>
            </a:fld>
            <a:endParaRPr lang="en-IN"/>
          </a:p>
        </p:txBody>
      </p:sp>
      <p:sp>
        <p:nvSpPr>
          <p:cNvPr id="5" name="Footer Placeholder 4">
            <a:extLst>
              <a:ext uri="{FF2B5EF4-FFF2-40B4-BE49-F238E27FC236}">
                <a16:creationId xmlns:a16="http://schemas.microsoft.com/office/drawing/2014/main" id="{3FCA1517-8CB9-B233-8684-30D5568C3C4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B1E5056-F61F-3B75-B78D-987F82C0DD64}"/>
              </a:ext>
            </a:extLst>
          </p:cNvPr>
          <p:cNvSpPr>
            <a:spLocks noGrp="1"/>
          </p:cNvSpPr>
          <p:nvPr>
            <p:ph type="sldNum" sz="quarter" idx="12"/>
          </p:nvPr>
        </p:nvSpPr>
        <p:spPr/>
        <p:txBody>
          <a:bodyPr/>
          <a:lstStyle/>
          <a:p>
            <a:fld id="{D19D8131-5090-4D7D-96D7-79DF45B5D452}" type="slidenum">
              <a:rPr lang="en-IN" smtClean="0"/>
              <a:t>‹#›</a:t>
            </a:fld>
            <a:endParaRPr lang="en-IN"/>
          </a:p>
        </p:txBody>
      </p:sp>
    </p:spTree>
    <p:extLst>
      <p:ext uri="{BB962C8B-B14F-4D97-AF65-F5344CB8AC3E}">
        <p14:creationId xmlns:p14="http://schemas.microsoft.com/office/powerpoint/2010/main" val="38859079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2C099-56F5-168C-5140-FA5EB5C878D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3A8E951-BC11-4F89-818F-357500A7C35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34B085-C7A9-3CEA-9D32-8659AA7CC7B2}"/>
              </a:ext>
            </a:extLst>
          </p:cNvPr>
          <p:cNvSpPr>
            <a:spLocks noGrp="1"/>
          </p:cNvSpPr>
          <p:nvPr>
            <p:ph type="dt" sz="half" idx="10"/>
          </p:nvPr>
        </p:nvSpPr>
        <p:spPr/>
        <p:txBody>
          <a:bodyPr/>
          <a:lstStyle/>
          <a:p>
            <a:fld id="{FBA96377-ACFF-4A47-B8AA-12F9ADDF308A}" type="datetimeFigureOut">
              <a:rPr lang="en-IN" smtClean="0"/>
              <a:t>11-08-2025</a:t>
            </a:fld>
            <a:endParaRPr lang="en-IN"/>
          </a:p>
        </p:txBody>
      </p:sp>
      <p:sp>
        <p:nvSpPr>
          <p:cNvPr id="5" name="Footer Placeholder 4">
            <a:extLst>
              <a:ext uri="{FF2B5EF4-FFF2-40B4-BE49-F238E27FC236}">
                <a16:creationId xmlns:a16="http://schemas.microsoft.com/office/drawing/2014/main" id="{CFCE5A4C-9899-A793-6863-5671B0B9FE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22E89C-4E9D-19A6-0CC5-F3B5971240CA}"/>
              </a:ext>
            </a:extLst>
          </p:cNvPr>
          <p:cNvSpPr>
            <a:spLocks noGrp="1"/>
          </p:cNvSpPr>
          <p:nvPr>
            <p:ph type="sldNum" sz="quarter" idx="12"/>
          </p:nvPr>
        </p:nvSpPr>
        <p:spPr/>
        <p:txBody>
          <a:bodyPr/>
          <a:lstStyle/>
          <a:p>
            <a:fld id="{D19D8131-5090-4D7D-96D7-79DF45B5D452}" type="slidenum">
              <a:rPr lang="en-IN" smtClean="0"/>
              <a:t>‹#›</a:t>
            </a:fld>
            <a:endParaRPr lang="en-IN"/>
          </a:p>
        </p:txBody>
      </p:sp>
    </p:spTree>
    <p:extLst>
      <p:ext uri="{BB962C8B-B14F-4D97-AF65-F5344CB8AC3E}">
        <p14:creationId xmlns:p14="http://schemas.microsoft.com/office/powerpoint/2010/main" val="9269414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378F5-31D7-827C-42A1-4926374303A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9A0207A-0918-9005-42FE-EC9729D9DC8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14B4E72-D449-8B2E-7EA4-EF21FDAA9B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8948733-F32D-972A-49FF-3F13015C4CA0}"/>
              </a:ext>
            </a:extLst>
          </p:cNvPr>
          <p:cNvSpPr>
            <a:spLocks noGrp="1"/>
          </p:cNvSpPr>
          <p:nvPr>
            <p:ph type="dt" sz="half" idx="10"/>
          </p:nvPr>
        </p:nvSpPr>
        <p:spPr/>
        <p:txBody>
          <a:bodyPr/>
          <a:lstStyle/>
          <a:p>
            <a:fld id="{FBA96377-ACFF-4A47-B8AA-12F9ADDF308A}" type="datetimeFigureOut">
              <a:rPr lang="en-IN" smtClean="0"/>
              <a:t>11-08-2025</a:t>
            </a:fld>
            <a:endParaRPr lang="en-IN"/>
          </a:p>
        </p:txBody>
      </p:sp>
      <p:sp>
        <p:nvSpPr>
          <p:cNvPr id="6" name="Footer Placeholder 5">
            <a:extLst>
              <a:ext uri="{FF2B5EF4-FFF2-40B4-BE49-F238E27FC236}">
                <a16:creationId xmlns:a16="http://schemas.microsoft.com/office/drawing/2014/main" id="{74A6BFB0-B0A2-CB43-0895-259AD694EBB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EC4022D-8A19-41C1-8002-B6E3C3196D0C}"/>
              </a:ext>
            </a:extLst>
          </p:cNvPr>
          <p:cNvSpPr>
            <a:spLocks noGrp="1"/>
          </p:cNvSpPr>
          <p:nvPr>
            <p:ph type="sldNum" sz="quarter" idx="12"/>
          </p:nvPr>
        </p:nvSpPr>
        <p:spPr/>
        <p:txBody>
          <a:bodyPr/>
          <a:lstStyle/>
          <a:p>
            <a:fld id="{D19D8131-5090-4D7D-96D7-79DF45B5D452}" type="slidenum">
              <a:rPr lang="en-IN" smtClean="0"/>
              <a:t>‹#›</a:t>
            </a:fld>
            <a:endParaRPr lang="en-IN"/>
          </a:p>
        </p:txBody>
      </p:sp>
    </p:spTree>
    <p:extLst>
      <p:ext uri="{BB962C8B-B14F-4D97-AF65-F5344CB8AC3E}">
        <p14:creationId xmlns:p14="http://schemas.microsoft.com/office/powerpoint/2010/main" val="20141105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9DA7D-DC53-1F71-6A85-88458540B9D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B655C7D-FE3F-E49E-F911-4F0620DB88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74E0E0F-1268-2502-187A-61EF543328A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DA84E89-B8A8-A01B-0326-18D0668624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3A0A34A-EAB4-570B-C396-ED6225124FB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27197C6-DD36-3B9E-3386-B727A4C23F57}"/>
              </a:ext>
            </a:extLst>
          </p:cNvPr>
          <p:cNvSpPr>
            <a:spLocks noGrp="1"/>
          </p:cNvSpPr>
          <p:nvPr>
            <p:ph type="dt" sz="half" idx="10"/>
          </p:nvPr>
        </p:nvSpPr>
        <p:spPr/>
        <p:txBody>
          <a:bodyPr/>
          <a:lstStyle/>
          <a:p>
            <a:fld id="{FBA96377-ACFF-4A47-B8AA-12F9ADDF308A}" type="datetimeFigureOut">
              <a:rPr lang="en-IN" smtClean="0"/>
              <a:t>11-08-2025</a:t>
            </a:fld>
            <a:endParaRPr lang="en-IN"/>
          </a:p>
        </p:txBody>
      </p:sp>
      <p:sp>
        <p:nvSpPr>
          <p:cNvPr id="8" name="Footer Placeholder 7">
            <a:extLst>
              <a:ext uri="{FF2B5EF4-FFF2-40B4-BE49-F238E27FC236}">
                <a16:creationId xmlns:a16="http://schemas.microsoft.com/office/drawing/2014/main" id="{853A7F18-3C58-5867-B138-D840E7F7137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BDC9315-3F7B-B99C-493E-A6839830E2B8}"/>
              </a:ext>
            </a:extLst>
          </p:cNvPr>
          <p:cNvSpPr>
            <a:spLocks noGrp="1"/>
          </p:cNvSpPr>
          <p:nvPr>
            <p:ph type="sldNum" sz="quarter" idx="12"/>
          </p:nvPr>
        </p:nvSpPr>
        <p:spPr/>
        <p:txBody>
          <a:bodyPr/>
          <a:lstStyle/>
          <a:p>
            <a:fld id="{D19D8131-5090-4D7D-96D7-79DF45B5D452}" type="slidenum">
              <a:rPr lang="en-IN" smtClean="0"/>
              <a:t>‹#›</a:t>
            </a:fld>
            <a:endParaRPr lang="en-IN"/>
          </a:p>
        </p:txBody>
      </p:sp>
    </p:spTree>
    <p:extLst>
      <p:ext uri="{BB962C8B-B14F-4D97-AF65-F5344CB8AC3E}">
        <p14:creationId xmlns:p14="http://schemas.microsoft.com/office/powerpoint/2010/main" val="3743833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489FA-C40D-DB42-708B-93A4F743D03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BEB262D-7A18-0BCF-14D0-373066AA8BB7}"/>
              </a:ext>
            </a:extLst>
          </p:cNvPr>
          <p:cNvSpPr>
            <a:spLocks noGrp="1"/>
          </p:cNvSpPr>
          <p:nvPr>
            <p:ph type="dt" sz="half" idx="10"/>
          </p:nvPr>
        </p:nvSpPr>
        <p:spPr/>
        <p:txBody>
          <a:bodyPr/>
          <a:lstStyle/>
          <a:p>
            <a:fld id="{FBA96377-ACFF-4A47-B8AA-12F9ADDF308A}" type="datetimeFigureOut">
              <a:rPr lang="en-IN" smtClean="0"/>
              <a:t>11-08-2025</a:t>
            </a:fld>
            <a:endParaRPr lang="en-IN"/>
          </a:p>
        </p:txBody>
      </p:sp>
      <p:sp>
        <p:nvSpPr>
          <p:cNvPr id="4" name="Footer Placeholder 3">
            <a:extLst>
              <a:ext uri="{FF2B5EF4-FFF2-40B4-BE49-F238E27FC236}">
                <a16:creationId xmlns:a16="http://schemas.microsoft.com/office/drawing/2014/main" id="{AEF44B70-2666-3A27-8AA6-F081DF65377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388B8EE-1CBF-1176-4072-20CFF616A476}"/>
              </a:ext>
            </a:extLst>
          </p:cNvPr>
          <p:cNvSpPr>
            <a:spLocks noGrp="1"/>
          </p:cNvSpPr>
          <p:nvPr>
            <p:ph type="sldNum" sz="quarter" idx="12"/>
          </p:nvPr>
        </p:nvSpPr>
        <p:spPr/>
        <p:txBody>
          <a:bodyPr/>
          <a:lstStyle/>
          <a:p>
            <a:fld id="{D19D8131-5090-4D7D-96D7-79DF45B5D452}" type="slidenum">
              <a:rPr lang="en-IN" smtClean="0"/>
              <a:t>‹#›</a:t>
            </a:fld>
            <a:endParaRPr lang="en-IN"/>
          </a:p>
        </p:txBody>
      </p:sp>
    </p:spTree>
    <p:extLst>
      <p:ext uri="{BB962C8B-B14F-4D97-AF65-F5344CB8AC3E}">
        <p14:creationId xmlns:p14="http://schemas.microsoft.com/office/powerpoint/2010/main" val="7433056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D117354-CF48-15DB-BFC6-333B682863CF}"/>
              </a:ext>
            </a:extLst>
          </p:cNvPr>
          <p:cNvSpPr>
            <a:spLocks noGrp="1"/>
          </p:cNvSpPr>
          <p:nvPr>
            <p:ph type="dt" sz="half" idx="10"/>
          </p:nvPr>
        </p:nvSpPr>
        <p:spPr/>
        <p:txBody>
          <a:bodyPr/>
          <a:lstStyle/>
          <a:p>
            <a:fld id="{FBA96377-ACFF-4A47-B8AA-12F9ADDF308A}" type="datetimeFigureOut">
              <a:rPr lang="en-IN" smtClean="0"/>
              <a:t>11-08-2025</a:t>
            </a:fld>
            <a:endParaRPr lang="en-IN"/>
          </a:p>
        </p:txBody>
      </p:sp>
      <p:sp>
        <p:nvSpPr>
          <p:cNvPr id="3" name="Footer Placeholder 2">
            <a:extLst>
              <a:ext uri="{FF2B5EF4-FFF2-40B4-BE49-F238E27FC236}">
                <a16:creationId xmlns:a16="http://schemas.microsoft.com/office/drawing/2014/main" id="{5911533E-BB77-D0D0-4F6A-0C62443C284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6BF1FB6-C65F-558D-F9C8-AB748D7969E6}"/>
              </a:ext>
            </a:extLst>
          </p:cNvPr>
          <p:cNvSpPr>
            <a:spLocks noGrp="1"/>
          </p:cNvSpPr>
          <p:nvPr>
            <p:ph type="sldNum" sz="quarter" idx="12"/>
          </p:nvPr>
        </p:nvSpPr>
        <p:spPr/>
        <p:txBody>
          <a:bodyPr/>
          <a:lstStyle/>
          <a:p>
            <a:fld id="{D19D8131-5090-4D7D-96D7-79DF45B5D452}" type="slidenum">
              <a:rPr lang="en-IN" smtClean="0"/>
              <a:t>‹#›</a:t>
            </a:fld>
            <a:endParaRPr lang="en-IN"/>
          </a:p>
        </p:txBody>
      </p:sp>
    </p:spTree>
    <p:extLst>
      <p:ext uri="{BB962C8B-B14F-4D97-AF65-F5344CB8AC3E}">
        <p14:creationId xmlns:p14="http://schemas.microsoft.com/office/powerpoint/2010/main" val="34948302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AF9D-216C-F649-A100-78A56301B0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FB7480F-9314-3304-3741-0496B4F23D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58D4281-4503-2DD6-8DF1-F6776E0D67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7016D7-FD22-324B-A027-2439EE050CD9}"/>
              </a:ext>
            </a:extLst>
          </p:cNvPr>
          <p:cNvSpPr>
            <a:spLocks noGrp="1"/>
          </p:cNvSpPr>
          <p:nvPr>
            <p:ph type="dt" sz="half" idx="10"/>
          </p:nvPr>
        </p:nvSpPr>
        <p:spPr/>
        <p:txBody>
          <a:bodyPr/>
          <a:lstStyle/>
          <a:p>
            <a:fld id="{FBA96377-ACFF-4A47-B8AA-12F9ADDF308A}" type="datetimeFigureOut">
              <a:rPr lang="en-IN" smtClean="0"/>
              <a:t>11-08-2025</a:t>
            </a:fld>
            <a:endParaRPr lang="en-IN"/>
          </a:p>
        </p:txBody>
      </p:sp>
      <p:sp>
        <p:nvSpPr>
          <p:cNvPr id="6" name="Footer Placeholder 5">
            <a:extLst>
              <a:ext uri="{FF2B5EF4-FFF2-40B4-BE49-F238E27FC236}">
                <a16:creationId xmlns:a16="http://schemas.microsoft.com/office/drawing/2014/main" id="{35AF6D15-539F-128E-507F-3197652C547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457CC0B-14CA-ADB2-6ECF-3BE4FD124B82}"/>
              </a:ext>
            </a:extLst>
          </p:cNvPr>
          <p:cNvSpPr>
            <a:spLocks noGrp="1"/>
          </p:cNvSpPr>
          <p:nvPr>
            <p:ph type="sldNum" sz="quarter" idx="12"/>
          </p:nvPr>
        </p:nvSpPr>
        <p:spPr/>
        <p:txBody>
          <a:bodyPr/>
          <a:lstStyle/>
          <a:p>
            <a:fld id="{D19D8131-5090-4D7D-96D7-79DF45B5D452}" type="slidenum">
              <a:rPr lang="en-IN" smtClean="0"/>
              <a:t>‹#›</a:t>
            </a:fld>
            <a:endParaRPr lang="en-IN"/>
          </a:p>
        </p:txBody>
      </p:sp>
    </p:spTree>
    <p:extLst>
      <p:ext uri="{BB962C8B-B14F-4D97-AF65-F5344CB8AC3E}">
        <p14:creationId xmlns:p14="http://schemas.microsoft.com/office/powerpoint/2010/main" val="6630456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4D30B-573B-421E-1C95-A9FBCD4A33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3D88775-5C63-4CB1-8636-878844209D7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607FFC1-6661-DD9B-C4DA-4D64520A92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CE4FED-D391-D063-37D4-325A17ABAED0}"/>
              </a:ext>
            </a:extLst>
          </p:cNvPr>
          <p:cNvSpPr>
            <a:spLocks noGrp="1"/>
          </p:cNvSpPr>
          <p:nvPr>
            <p:ph type="dt" sz="half" idx="10"/>
          </p:nvPr>
        </p:nvSpPr>
        <p:spPr/>
        <p:txBody>
          <a:bodyPr/>
          <a:lstStyle/>
          <a:p>
            <a:fld id="{FBA96377-ACFF-4A47-B8AA-12F9ADDF308A}" type="datetimeFigureOut">
              <a:rPr lang="en-IN" smtClean="0"/>
              <a:t>11-08-2025</a:t>
            </a:fld>
            <a:endParaRPr lang="en-IN"/>
          </a:p>
        </p:txBody>
      </p:sp>
      <p:sp>
        <p:nvSpPr>
          <p:cNvPr id="6" name="Footer Placeholder 5">
            <a:extLst>
              <a:ext uri="{FF2B5EF4-FFF2-40B4-BE49-F238E27FC236}">
                <a16:creationId xmlns:a16="http://schemas.microsoft.com/office/drawing/2014/main" id="{0545CCA4-F56C-BE0A-7F26-8D2515A22C4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BDB8F74-1CBD-E6BF-250A-3C5BCA4EF470}"/>
              </a:ext>
            </a:extLst>
          </p:cNvPr>
          <p:cNvSpPr>
            <a:spLocks noGrp="1"/>
          </p:cNvSpPr>
          <p:nvPr>
            <p:ph type="sldNum" sz="quarter" idx="12"/>
          </p:nvPr>
        </p:nvSpPr>
        <p:spPr/>
        <p:txBody>
          <a:bodyPr/>
          <a:lstStyle/>
          <a:p>
            <a:fld id="{D19D8131-5090-4D7D-96D7-79DF45B5D452}" type="slidenum">
              <a:rPr lang="en-IN" smtClean="0"/>
              <a:t>‹#›</a:t>
            </a:fld>
            <a:endParaRPr lang="en-IN"/>
          </a:p>
        </p:txBody>
      </p:sp>
    </p:spTree>
    <p:extLst>
      <p:ext uri="{BB962C8B-B14F-4D97-AF65-F5344CB8AC3E}">
        <p14:creationId xmlns:p14="http://schemas.microsoft.com/office/powerpoint/2010/main" val="31604328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2DF29-41F7-EDF3-15B9-E7A635B1BF6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DD58715-A87B-971A-8B22-06E81E3C70D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07DD0FE-26E0-5B6E-C961-6AF02AD49FEF}"/>
              </a:ext>
            </a:extLst>
          </p:cNvPr>
          <p:cNvSpPr>
            <a:spLocks noGrp="1"/>
          </p:cNvSpPr>
          <p:nvPr>
            <p:ph type="dt" sz="half" idx="10"/>
          </p:nvPr>
        </p:nvSpPr>
        <p:spPr/>
        <p:txBody>
          <a:bodyPr/>
          <a:lstStyle/>
          <a:p>
            <a:fld id="{FBA96377-ACFF-4A47-B8AA-12F9ADDF308A}" type="datetimeFigureOut">
              <a:rPr lang="en-IN" smtClean="0"/>
              <a:t>11-08-2025</a:t>
            </a:fld>
            <a:endParaRPr lang="en-IN"/>
          </a:p>
        </p:txBody>
      </p:sp>
      <p:sp>
        <p:nvSpPr>
          <p:cNvPr id="5" name="Footer Placeholder 4">
            <a:extLst>
              <a:ext uri="{FF2B5EF4-FFF2-40B4-BE49-F238E27FC236}">
                <a16:creationId xmlns:a16="http://schemas.microsoft.com/office/drawing/2014/main" id="{72C8F16D-1044-ABC3-F5B9-228607D0A62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67A0D08-BE4C-0F2A-35C8-A7B32A55C8C5}"/>
              </a:ext>
            </a:extLst>
          </p:cNvPr>
          <p:cNvSpPr>
            <a:spLocks noGrp="1"/>
          </p:cNvSpPr>
          <p:nvPr>
            <p:ph type="sldNum" sz="quarter" idx="12"/>
          </p:nvPr>
        </p:nvSpPr>
        <p:spPr/>
        <p:txBody>
          <a:bodyPr/>
          <a:lstStyle/>
          <a:p>
            <a:fld id="{D19D8131-5090-4D7D-96D7-79DF45B5D452}" type="slidenum">
              <a:rPr lang="en-IN" smtClean="0"/>
              <a:t>‹#›</a:t>
            </a:fld>
            <a:endParaRPr lang="en-IN"/>
          </a:p>
        </p:txBody>
      </p:sp>
    </p:spTree>
    <p:extLst>
      <p:ext uri="{BB962C8B-B14F-4D97-AF65-F5344CB8AC3E}">
        <p14:creationId xmlns:p14="http://schemas.microsoft.com/office/powerpoint/2010/main" val="41893443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4AFC69C-3C21-4110-8C8B-F78E6F686E2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B9D74CE-9771-3117-FC48-F46AADCBD9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24B3D1-5D81-79CA-9DC6-D3B2C9941B14}"/>
              </a:ext>
            </a:extLst>
          </p:cNvPr>
          <p:cNvSpPr>
            <a:spLocks noGrp="1"/>
          </p:cNvSpPr>
          <p:nvPr>
            <p:ph type="dt" sz="half" idx="10"/>
          </p:nvPr>
        </p:nvSpPr>
        <p:spPr/>
        <p:txBody>
          <a:bodyPr/>
          <a:lstStyle/>
          <a:p>
            <a:fld id="{FBA96377-ACFF-4A47-B8AA-12F9ADDF308A}" type="datetimeFigureOut">
              <a:rPr lang="en-IN" smtClean="0"/>
              <a:t>11-08-2025</a:t>
            </a:fld>
            <a:endParaRPr lang="en-IN"/>
          </a:p>
        </p:txBody>
      </p:sp>
      <p:sp>
        <p:nvSpPr>
          <p:cNvPr id="5" name="Footer Placeholder 4">
            <a:extLst>
              <a:ext uri="{FF2B5EF4-FFF2-40B4-BE49-F238E27FC236}">
                <a16:creationId xmlns:a16="http://schemas.microsoft.com/office/drawing/2014/main" id="{6948D6A2-2D47-466C-635B-3BF8CF3A71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E82D3C-3AED-A18A-DB08-CDCFE51E52A9}"/>
              </a:ext>
            </a:extLst>
          </p:cNvPr>
          <p:cNvSpPr>
            <a:spLocks noGrp="1"/>
          </p:cNvSpPr>
          <p:nvPr>
            <p:ph type="sldNum" sz="quarter" idx="12"/>
          </p:nvPr>
        </p:nvSpPr>
        <p:spPr/>
        <p:txBody>
          <a:bodyPr/>
          <a:lstStyle/>
          <a:p>
            <a:fld id="{D19D8131-5090-4D7D-96D7-79DF45B5D452}" type="slidenum">
              <a:rPr lang="en-IN" smtClean="0"/>
              <a:t>‹#›</a:t>
            </a:fld>
            <a:endParaRPr lang="en-IN"/>
          </a:p>
        </p:txBody>
      </p:sp>
    </p:spTree>
    <p:extLst>
      <p:ext uri="{BB962C8B-B14F-4D97-AF65-F5344CB8AC3E}">
        <p14:creationId xmlns:p14="http://schemas.microsoft.com/office/powerpoint/2010/main" val="10848620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2BB802-45B4-50D4-7BDA-6EAED73C31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494A389-21CC-F5D0-D44E-A73A4C9BC6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4D3E1D1-1FC4-115E-2C3E-49917CABDBC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BA96377-ACFF-4A47-B8AA-12F9ADDF308A}" type="datetimeFigureOut">
              <a:rPr lang="en-IN" smtClean="0"/>
              <a:t>11-08-2025</a:t>
            </a:fld>
            <a:endParaRPr lang="en-IN"/>
          </a:p>
        </p:txBody>
      </p:sp>
      <p:sp>
        <p:nvSpPr>
          <p:cNvPr id="5" name="Footer Placeholder 4">
            <a:extLst>
              <a:ext uri="{FF2B5EF4-FFF2-40B4-BE49-F238E27FC236}">
                <a16:creationId xmlns:a16="http://schemas.microsoft.com/office/drawing/2014/main" id="{770A652D-6877-A37D-7312-588A45FDC4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DC779A66-0E29-ABF1-0E91-52F3B46DBF7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19D8131-5090-4D7D-96D7-79DF45B5D452}" type="slidenum">
              <a:rPr lang="en-IN" smtClean="0"/>
              <a:t>‹#›</a:t>
            </a:fld>
            <a:endParaRPr lang="en-IN"/>
          </a:p>
        </p:txBody>
      </p:sp>
    </p:spTree>
    <p:extLst>
      <p:ext uri="{BB962C8B-B14F-4D97-AF65-F5344CB8AC3E}">
        <p14:creationId xmlns:p14="http://schemas.microsoft.com/office/powerpoint/2010/main" val="11988052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sathee.iitk.ac.in/article/banking-article/history_of_insurance/#restructuring-of-general-insurance-corporation-of-india-gic" TargetMode="External"/><Relationship Id="rId2" Type="http://schemas.openxmlformats.org/officeDocument/2006/relationships/hyperlink" Target="https://sathee.iitk.ac.in/article/banking-article/history_of_insurance/#powers-of-irda"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sathee.iitk.ac.in/article/banking-article/history_of_insurance/#significance-of-insurance-sector" TargetMode="External"/><Relationship Id="rId2" Type="http://schemas.openxmlformats.org/officeDocument/2006/relationships/hyperlink" Target="https://sathee.iitk.ac.in/article/banking-article/history_of_insurance/#current-insurance-landscape-in-india"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sathee.iitk.ac.in/article/banking-article/insurance_companies_in_india/"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A9D05-D25D-A4CE-CF0C-E754EC3B4881}"/>
              </a:ext>
            </a:extLst>
          </p:cNvPr>
          <p:cNvSpPr>
            <a:spLocks noGrp="1"/>
          </p:cNvSpPr>
          <p:nvPr>
            <p:ph type="ctrTitle"/>
          </p:nvPr>
        </p:nvSpPr>
        <p:spPr/>
        <p:txBody>
          <a:bodyPr/>
          <a:lstStyle/>
          <a:p>
            <a:r>
              <a:rPr lang="en-US" dirty="0"/>
              <a:t>History of Insurance in Indian</a:t>
            </a:r>
            <a:endParaRPr lang="en-IN" dirty="0"/>
          </a:p>
        </p:txBody>
      </p:sp>
      <p:sp>
        <p:nvSpPr>
          <p:cNvPr id="3" name="Subtitle 2">
            <a:extLst>
              <a:ext uri="{FF2B5EF4-FFF2-40B4-BE49-F238E27FC236}">
                <a16:creationId xmlns:a16="http://schemas.microsoft.com/office/drawing/2014/main" id="{3778BFFB-9B35-F836-779B-25CF6353333E}"/>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315342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3B909-8F87-B990-B4C4-D5D65935FC7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FD7203A-D1D2-421C-F46F-3DC695A1FB4D}"/>
              </a:ext>
            </a:extLst>
          </p:cNvPr>
          <p:cNvSpPr>
            <a:spLocks noGrp="1"/>
          </p:cNvSpPr>
          <p:nvPr>
            <p:ph idx="1"/>
          </p:nvPr>
        </p:nvSpPr>
        <p:spPr/>
        <p:txBody>
          <a:bodyPr/>
          <a:lstStyle/>
          <a:p>
            <a:r>
              <a:rPr lang="en-US" dirty="0"/>
              <a:t>The history of insurance in India dates back to ancient times, with references found in the writings of Manu (</a:t>
            </a:r>
            <a:r>
              <a:rPr lang="en-US" dirty="0" err="1"/>
              <a:t>Manusmriti</a:t>
            </a:r>
            <a:r>
              <a:rPr lang="en-US" dirty="0"/>
              <a:t>), Kautilya (</a:t>
            </a:r>
            <a:r>
              <a:rPr lang="en-US" dirty="0" err="1"/>
              <a:t>Arthashastra</a:t>
            </a:r>
            <a:r>
              <a:rPr lang="en-US" dirty="0"/>
              <a:t>), and Yagnavalkya (</a:t>
            </a:r>
            <a:r>
              <a:rPr lang="en-US" dirty="0" err="1"/>
              <a:t>Dharmasastra</a:t>
            </a:r>
            <a:r>
              <a:rPr lang="en-US" dirty="0"/>
              <a:t>).</a:t>
            </a:r>
          </a:p>
          <a:p>
            <a:r>
              <a:rPr lang="en-US" dirty="0"/>
              <a:t> However, modern insurance practices in India began in the 19th century.</a:t>
            </a:r>
            <a:endParaRPr lang="en-IN" dirty="0"/>
          </a:p>
        </p:txBody>
      </p:sp>
    </p:spTree>
    <p:extLst>
      <p:ext uri="{BB962C8B-B14F-4D97-AF65-F5344CB8AC3E}">
        <p14:creationId xmlns:p14="http://schemas.microsoft.com/office/powerpoint/2010/main" val="12453332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CC944-980D-6246-0060-9C5DC4BC0141}"/>
              </a:ext>
            </a:extLst>
          </p:cNvPr>
          <p:cNvSpPr>
            <a:spLocks noGrp="1"/>
          </p:cNvSpPr>
          <p:nvPr>
            <p:ph type="title"/>
          </p:nvPr>
        </p:nvSpPr>
        <p:spPr/>
        <p:txBody>
          <a:bodyPr>
            <a:normAutofit/>
          </a:bodyPr>
          <a:lstStyle/>
          <a:p>
            <a:r>
              <a:rPr lang="en-US" dirty="0"/>
              <a:t>Key Milestones in the History of Insurance in India</a:t>
            </a:r>
            <a:endParaRPr lang="en-IN" dirty="0"/>
          </a:p>
        </p:txBody>
      </p:sp>
      <p:sp>
        <p:nvSpPr>
          <p:cNvPr id="3" name="Content Placeholder 2">
            <a:extLst>
              <a:ext uri="{FF2B5EF4-FFF2-40B4-BE49-F238E27FC236}">
                <a16:creationId xmlns:a16="http://schemas.microsoft.com/office/drawing/2014/main" id="{9B1BA390-D6DC-BE79-F0CF-5C4FE1133AAF}"/>
              </a:ext>
            </a:extLst>
          </p:cNvPr>
          <p:cNvSpPr>
            <a:spLocks noGrp="1"/>
          </p:cNvSpPr>
          <p:nvPr>
            <p:ph idx="1"/>
          </p:nvPr>
        </p:nvSpPr>
        <p:spPr/>
        <p:txBody>
          <a:bodyPr>
            <a:normAutofit fontScale="92500" lnSpcReduction="10000"/>
          </a:bodyPr>
          <a:lstStyle/>
          <a:p>
            <a:r>
              <a:rPr lang="en-US" b="1" dirty="0"/>
              <a:t>1818:</a:t>
            </a:r>
            <a:r>
              <a:rPr lang="en-US" dirty="0"/>
              <a:t> The Oriental Life Insurance Company was established in Calcutta, marking the beginning of the life insurance business in India. However, the company failed in 1834.</a:t>
            </a:r>
          </a:p>
          <a:p>
            <a:r>
              <a:rPr lang="en-US" b="1" dirty="0"/>
              <a:t>1829:</a:t>
            </a:r>
            <a:r>
              <a:rPr lang="en-US" dirty="0"/>
              <a:t> The Madras Equitable was established in the Madras Presidency, becoming the first successful life insurance company in India.</a:t>
            </a:r>
          </a:p>
          <a:p>
            <a:r>
              <a:rPr lang="en-US" b="1" dirty="0"/>
              <a:t>1870:</a:t>
            </a:r>
            <a:r>
              <a:rPr lang="en-US" dirty="0"/>
              <a:t> The British Insurance Act was enacted, regulating the insurance industry in India.</a:t>
            </a:r>
          </a:p>
          <a:p>
            <a:r>
              <a:rPr lang="en-US" b="1" dirty="0"/>
              <a:t>1871-1897:</a:t>
            </a:r>
            <a:r>
              <a:rPr lang="en-US" dirty="0"/>
              <a:t> Several foreign insurance companies, such as the Albert Life Assurance, Liverpool and London Globe Insurance, and Royal Insurance, entered the Indian market, creating competition for Indian insurers</a:t>
            </a:r>
            <a:endParaRPr lang="en-IN" dirty="0"/>
          </a:p>
        </p:txBody>
      </p:sp>
    </p:spTree>
    <p:extLst>
      <p:ext uri="{BB962C8B-B14F-4D97-AF65-F5344CB8AC3E}">
        <p14:creationId xmlns:p14="http://schemas.microsoft.com/office/powerpoint/2010/main" val="5814681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BFFEE-5A42-3F08-8FF9-AE74B7E0ED7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C802A6F-F939-6D26-B5F3-DD71A1AD1749}"/>
              </a:ext>
            </a:extLst>
          </p:cNvPr>
          <p:cNvSpPr>
            <a:spLocks noGrp="1"/>
          </p:cNvSpPr>
          <p:nvPr>
            <p:ph idx="1"/>
          </p:nvPr>
        </p:nvSpPr>
        <p:spPr/>
        <p:txBody>
          <a:bodyPr>
            <a:normAutofit lnSpcReduction="10000"/>
          </a:bodyPr>
          <a:lstStyle/>
          <a:p>
            <a:r>
              <a:rPr lang="en-US" b="1" dirty="0"/>
              <a:t>1912:</a:t>
            </a:r>
            <a:r>
              <a:rPr lang="en-US" dirty="0"/>
              <a:t> The Indian Life Assurance Companies Act was passed, providing further regulation for the life insurance industry in India.</a:t>
            </a:r>
          </a:p>
          <a:p>
            <a:r>
              <a:rPr lang="en-US" b="1" dirty="0"/>
              <a:t>1928:</a:t>
            </a:r>
            <a:r>
              <a:rPr lang="en-US" dirty="0"/>
              <a:t> The Insurance Act was passed, consolidating and amending the various insurance laws in India.</a:t>
            </a:r>
          </a:p>
          <a:p>
            <a:r>
              <a:rPr lang="en-US" b="1" dirty="0"/>
              <a:t>1956:</a:t>
            </a:r>
            <a:r>
              <a:rPr lang="en-US" dirty="0"/>
              <a:t> The Life Insurance Corporation of India (LIC) was established, nationalizing the life insurance industry in India.</a:t>
            </a:r>
          </a:p>
          <a:p>
            <a:r>
              <a:rPr lang="en-US" b="1" dirty="0"/>
              <a:t>1999:</a:t>
            </a:r>
            <a:r>
              <a:rPr lang="en-US" dirty="0"/>
              <a:t> The Insurance Regulatory and Development Authority (IRDA) was established, regulating the insurance industry in India.</a:t>
            </a:r>
          </a:p>
          <a:p>
            <a:r>
              <a:rPr lang="en-US" b="1" dirty="0"/>
              <a:t>2000:</a:t>
            </a:r>
            <a:r>
              <a:rPr lang="en-US" dirty="0"/>
              <a:t> The Insurance Act was amended to allow private sector participation in the insurance industry.</a:t>
            </a:r>
          </a:p>
          <a:p>
            <a:endParaRPr lang="en-IN" dirty="0"/>
          </a:p>
        </p:txBody>
      </p:sp>
    </p:spTree>
    <p:extLst>
      <p:ext uri="{BB962C8B-B14F-4D97-AF65-F5344CB8AC3E}">
        <p14:creationId xmlns:p14="http://schemas.microsoft.com/office/powerpoint/2010/main" val="11336767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D98FD-143F-3BE5-5D22-F445ECEEF3E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A02EC21-9B7E-157C-BA3F-806C3322E505}"/>
              </a:ext>
            </a:extLst>
          </p:cNvPr>
          <p:cNvSpPr>
            <a:spLocks noGrp="1"/>
          </p:cNvSpPr>
          <p:nvPr>
            <p:ph idx="1"/>
          </p:nvPr>
        </p:nvSpPr>
        <p:spPr/>
        <p:txBody>
          <a:bodyPr/>
          <a:lstStyle/>
          <a:p>
            <a:r>
              <a:rPr lang="en-US" b="1" dirty="0"/>
              <a:t>Nationalization of Insurance Business:</a:t>
            </a:r>
            <a:r>
              <a:rPr lang="en-US" dirty="0"/>
              <a:t> Amid allegations of unfair trade practices, the government of India decided to nationalize the insurance business.</a:t>
            </a:r>
          </a:p>
          <a:p>
            <a:r>
              <a:rPr lang="en-US" dirty="0"/>
              <a:t>On January 19, 1956, the Life Insurance sector was nationalized, and the Life Insurance Corporation (LIC) was established in the same year.</a:t>
            </a:r>
          </a:p>
          <a:p>
            <a:r>
              <a:rPr lang="en-US" dirty="0"/>
              <a:t>LIC absorbed 154 Indian, 16 non-Indian insurers, and 75 provident societies, totaling 245 Indian and foreign insurers.</a:t>
            </a:r>
          </a:p>
          <a:p>
            <a:r>
              <a:rPr lang="en-US" dirty="0"/>
              <a:t>LIC held a monopoly until the late 1990s when the insurance sector was reopened to the private sector.</a:t>
            </a:r>
          </a:p>
          <a:p>
            <a:endParaRPr lang="en-IN" dirty="0"/>
          </a:p>
        </p:txBody>
      </p:sp>
    </p:spTree>
    <p:extLst>
      <p:ext uri="{BB962C8B-B14F-4D97-AF65-F5344CB8AC3E}">
        <p14:creationId xmlns:p14="http://schemas.microsoft.com/office/powerpoint/2010/main" val="7171913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41D9B-BEB2-6869-DF6A-17B3A21CE9A4}"/>
              </a:ext>
            </a:extLst>
          </p:cNvPr>
          <p:cNvSpPr>
            <a:spLocks noGrp="1"/>
          </p:cNvSpPr>
          <p:nvPr>
            <p:ph type="title"/>
          </p:nvPr>
        </p:nvSpPr>
        <p:spPr/>
        <p:txBody>
          <a:bodyPr/>
          <a:lstStyle/>
          <a:p>
            <a:r>
              <a:rPr lang="en-US" dirty="0"/>
              <a:t>General Insurance in India</a:t>
            </a:r>
            <a:endParaRPr lang="en-IN" dirty="0"/>
          </a:p>
        </p:txBody>
      </p:sp>
      <p:sp>
        <p:nvSpPr>
          <p:cNvPr id="3" name="Content Placeholder 2">
            <a:extLst>
              <a:ext uri="{FF2B5EF4-FFF2-40B4-BE49-F238E27FC236}">
                <a16:creationId xmlns:a16="http://schemas.microsoft.com/office/drawing/2014/main" id="{F707560D-6243-54A5-F7A6-C63693C8A5C5}"/>
              </a:ext>
            </a:extLst>
          </p:cNvPr>
          <p:cNvSpPr>
            <a:spLocks noGrp="1"/>
          </p:cNvSpPr>
          <p:nvPr>
            <p:ph idx="1"/>
          </p:nvPr>
        </p:nvSpPr>
        <p:spPr/>
        <p:txBody>
          <a:bodyPr/>
          <a:lstStyle/>
          <a:p>
            <a:r>
              <a:rPr lang="en-US" dirty="0"/>
              <a:t>The history of general insurance can be traced back to the Industrial Revolution in the West and the subsequent growth of seafaring trade and commerce in the 17th century. It was introduced in India during the British colonial period.</a:t>
            </a:r>
          </a:p>
          <a:p>
            <a:endParaRPr lang="en-US" dirty="0"/>
          </a:p>
          <a:p>
            <a:endParaRPr lang="en-IN" dirty="0"/>
          </a:p>
        </p:txBody>
      </p:sp>
    </p:spTree>
    <p:extLst>
      <p:ext uri="{BB962C8B-B14F-4D97-AF65-F5344CB8AC3E}">
        <p14:creationId xmlns:p14="http://schemas.microsoft.com/office/powerpoint/2010/main" val="33120053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BBAA6-39DB-7710-927A-BF954C1613D5}"/>
              </a:ext>
            </a:extLst>
          </p:cNvPr>
          <p:cNvSpPr>
            <a:spLocks noGrp="1"/>
          </p:cNvSpPr>
          <p:nvPr>
            <p:ph type="title"/>
          </p:nvPr>
        </p:nvSpPr>
        <p:spPr/>
        <p:txBody>
          <a:bodyPr/>
          <a:lstStyle/>
          <a:p>
            <a:r>
              <a:rPr lang="en-US" dirty="0"/>
              <a:t>Early Insurers</a:t>
            </a:r>
            <a:endParaRPr lang="en-IN" dirty="0"/>
          </a:p>
        </p:txBody>
      </p:sp>
      <p:sp>
        <p:nvSpPr>
          <p:cNvPr id="3" name="Content Placeholder 2">
            <a:extLst>
              <a:ext uri="{FF2B5EF4-FFF2-40B4-BE49-F238E27FC236}">
                <a16:creationId xmlns:a16="http://schemas.microsoft.com/office/drawing/2014/main" id="{9BBE416E-A79D-5CE5-0A8D-EEAF446E51E6}"/>
              </a:ext>
            </a:extLst>
          </p:cNvPr>
          <p:cNvSpPr>
            <a:spLocks noGrp="1"/>
          </p:cNvSpPr>
          <p:nvPr>
            <p:ph idx="1"/>
          </p:nvPr>
        </p:nvSpPr>
        <p:spPr/>
        <p:txBody>
          <a:bodyPr/>
          <a:lstStyle/>
          <a:p>
            <a:r>
              <a:rPr lang="en-US" dirty="0"/>
              <a:t>Early Insurers</a:t>
            </a:r>
          </a:p>
          <a:p>
            <a:r>
              <a:rPr lang="en-US" dirty="0"/>
              <a:t>The general insurance business in India was nationalized on January 1, 1973, through the General Insurance Business (Nationalization) Act of 1972.</a:t>
            </a:r>
          </a:p>
          <a:p>
            <a:r>
              <a:rPr lang="en-US" dirty="0"/>
              <a:t>As a result, 107 insurers were merged into four companies: National Insurance Company Ltd., New India Assurance Company Ltd., Oriental Insurance Company Ltd., and United India Insurance Company Ltd.</a:t>
            </a:r>
          </a:p>
          <a:p>
            <a:r>
              <a:rPr lang="en-US" dirty="0"/>
              <a:t>The General Insurance Corporation of India was established as a company in 1971.</a:t>
            </a:r>
          </a:p>
          <a:p>
            <a:endParaRPr lang="en-IN" dirty="0"/>
          </a:p>
        </p:txBody>
      </p:sp>
    </p:spTree>
    <p:extLst>
      <p:ext uri="{BB962C8B-B14F-4D97-AF65-F5344CB8AC3E}">
        <p14:creationId xmlns:p14="http://schemas.microsoft.com/office/powerpoint/2010/main" val="2126343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C9874-A537-D024-6A7D-539B29D4E731}"/>
              </a:ext>
            </a:extLst>
          </p:cNvPr>
          <p:cNvSpPr>
            <a:spLocks noGrp="1"/>
          </p:cNvSpPr>
          <p:nvPr>
            <p:ph type="title"/>
          </p:nvPr>
        </p:nvSpPr>
        <p:spPr/>
        <p:txBody>
          <a:bodyPr/>
          <a:lstStyle/>
          <a:p>
            <a:r>
              <a:rPr lang="en-IN" dirty="0"/>
              <a:t>Malhotra Committee</a:t>
            </a:r>
          </a:p>
        </p:txBody>
      </p:sp>
      <p:sp>
        <p:nvSpPr>
          <p:cNvPr id="3" name="Content Placeholder 2">
            <a:extLst>
              <a:ext uri="{FF2B5EF4-FFF2-40B4-BE49-F238E27FC236}">
                <a16:creationId xmlns:a16="http://schemas.microsoft.com/office/drawing/2014/main" id="{0F088CEB-E3B2-54C7-D9AE-72609C305187}"/>
              </a:ext>
            </a:extLst>
          </p:cNvPr>
          <p:cNvSpPr>
            <a:spLocks noGrp="1"/>
          </p:cNvSpPr>
          <p:nvPr>
            <p:ph idx="1"/>
          </p:nvPr>
        </p:nvSpPr>
        <p:spPr/>
        <p:txBody>
          <a:bodyPr/>
          <a:lstStyle/>
          <a:p>
            <a:r>
              <a:rPr lang="en-US" dirty="0"/>
              <a:t>In 1993, the government formed a committee led by R.N. Malhotra, former governor of the Reserve Bank of India (RBI), to propose reforms for the insurance sector in India.</a:t>
            </a:r>
          </a:p>
          <a:p>
            <a:r>
              <a:rPr lang="en-US" dirty="0"/>
              <a:t>The committee’s objective was to align with the reforms initiated in the financial sector.</a:t>
            </a:r>
          </a:p>
          <a:p>
            <a:r>
              <a:rPr lang="en-US" dirty="0"/>
              <a:t>In its report submitted in 1994, the committee recommended allowing the private sector to enter the insurance industry.</a:t>
            </a:r>
          </a:p>
          <a:p>
            <a:r>
              <a:rPr lang="en-US" dirty="0"/>
              <a:t>The report also suggested that foreign companies be permitted to enter by establishing Indian companies, preferably through joint ventures with Indian partners.</a:t>
            </a:r>
          </a:p>
          <a:p>
            <a:endParaRPr lang="en-IN" dirty="0"/>
          </a:p>
        </p:txBody>
      </p:sp>
    </p:spTree>
    <p:extLst>
      <p:ext uri="{BB962C8B-B14F-4D97-AF65-F5344CB8AC3E}">
        <p14:creationId xmlns:p14="http://schemas.microsoft.com/office/powerpoint/2010/main" val="20525703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B57AC-C1DA-EEA2-CB6F-3686B560ACB7}"/>
              </a:ext>
            </a:extLst>
          </p:cNvPr>
          <p:cNvSpPr>
            <a:spLocks noGrp="1"/>
          </p:cNvSpPr>
          <p:nvPr>
            <p:ph type="title"/>
          </p:nvPr>
        </p:nvSpPr>
        <p:spPr/>
        <p:txBody>
          <a:bodyPr/>
          <a:lstStyle/>
          <a:p>
            <a:r>
              <a:rPr lang="en-IN" dirty="0"/>
              <a:t>Establishment of IRDA</a:t>
            </a:r>
          </a:p>
        </p:txBody>
      </p:sp>
      <p:sp>
        <p:nvSpPr>
          <p:cNvPr id="3" name="Content Placeholder 2">
            <a:extLst>
              <a:ext uri="{FF2B5EF4-FFF2-40B4-BE49-F238E27FC236}">
                <a16:creationId xmlns:a16="http://schemas.microsoft.com/office/drawing/2014/main" id="{E973DE3E-9CE6-B4B1-5346-6B22A36C1213}"/>
              </a:ext>
            </a:extLst>
          </p:cNvPr>
          <p:cNvSpPr>
            <a:spLocks noGrp="1"/>
          </p:cNvSpPr>
          <p:nvPr>
            <p:ph idx="1"/>
          </p:nvPr>
        </p:nvSpPr>
        <p:spPr/>
        <p:txBody>
          <a:bodyPr/>
          <a:lstStyle/>
          <a:p>
            <a:r>
              <a:rPr lang="en-US" dirty="0"/>
              <a:t>In accordance with the recommendations of the Malhotra Committee report, the Insurance Regulatory and Development Authority (IRDA) was established in 1999.</a:t>
            </a:r>
          </a:p>
          <a:p>
            <a:r>
              <a:rPr lang="en-US" dirty="0"/>
              <a:t>IRDA is an autonomous body responsible for regulating and developing the insurance industry in India.</a:t>
            </a:r>
          </a:p>
          <a:p>
            <a:r>
              <a:rPr lang="en-US" dirty="0"/>
              <a:t>It has played a crucial role in promoting competition, protecting policyholders’ interests, and ensuring the financial soundness of insurance companies.</a:t>
            </a:r>
          </a:p>
          <a:p>
            <a:endParaRPr lang="en-IN" dirty="0"/>
          </a:p>
        </p:txBody>
      </p:sp>
    </p:spTree>
    <p:extLst>
      <p:ext uri="{BB962C8B-B14F-4D97-AF65-F5344CB8AC3E}">
        <p14:creationId xmlns:p14="http://schemas.microsoft.com/office/powerpoint/2010/main" val="6646747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8E975-FFD6-CCFF-3D84-32414CA170E9}"/>
              </a:ext>
            </a:extLst>
          </p:cNvPr>
          <p:cNvSpPr>
            <a:spLocks noGrp="1"/>
          </p:cNvSpPr>
          <p:nvPr>
            <p:ph type="title"/>
          </p:nvPr>
        </p:nvSpPr>
        <p:spPr/>
        <p:txBody>
          <a:bodyPr>
            <a:normAutofit/>
          </a:bodyPr>
          <a:lstStyle/>
          <a:p>
            <a:r>
              <a:rPr lang="en-US" dirty="0"/>
              <a:t>Insurance Regulatory and Development Authority (IRDA)</a:t>
            </a:r>
            <a:endParaRPr lang="en-IN" dirty="0"/>
          </a:p>
        </p:txBody>
      </p:sp>
      <p:sp>
        <p:nvSpPr>
          <p:cNvPr id="3" name="Content Placeholder 2">
            <a:extLst>
              <a:ext uri="{FF2B5EF4-FFF2-40B4-BE49-F238E27FC236}">
                <a16:creationId xmlns:a16="http://schemas.microsoft.com/office/drawing/2014/main" id="{FA7C1C51-F097-3A81-CE67-083B627AB04F}"/>
              </a:ext>
            </a:extLst>
          </p:cNvPr>
          <p:cNvSpPr>
            <a:spLocks noGrp="1"/>
          </p:cNvSpPr>
          <p:nvPr>
            <p:ph idx="1"/>
          </p:nvPr>
        </p:nvSpPr>
        <p:spPr/>
        <p:txBody>
          <a:bodyPr/>
          <a:lstStyle/>
          <a:p>
            <a:r>
              <a:rPr lang="en-US" dirty="0"/>
              <a:t>The Insurance Regulatory and Development Authority (IRDA) is an autonomous body responsible for regulating and developing the insurance industry in India. It was established in April 2000 as a statutory body.</a:t>
            </a:r>
            <a:endParaRPr lang="en-IN" dirty="0"/>
          </a:p>
        </p:txBody>
      </p:sp>
    </p:spTree>
    <p:extLst>
      <p:ext uri="{BB962C8B-B14F-4D97-AF65-F5344CB8AC3E}">
        <p14:creationId xmlns:p14="http://schemas.microsoft.com/office/powerpoint/2010/main" val="25633385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358B9-9976-6A92-D37B-8DA23A93421D}"/>
              </a:ext>
            </a:extLst>
          </p:cNvPr>
          <p:cNvSpPr>
            <a:spLocks noGrp="1"/>
          </p:cNvSpPr>
          <p:nvPr>
            <p:ph type="title"/>
          </p:nvPr>
        </p:nvSpPr>
        <p:spPr/>
        <p:txBody>
          <a:bodyPr/>
          <a:lstStyle/>
          <a:p>
            <a:r>
              <a:rPr lang="en-US" dirty="0"/>
              <a:t>Objectives of IRDA:</a:t>
            </a:r>
            <a:endParaRPr lang="en-IN" dirty="0"/>
          </a:p>
        </p:txBody>
      </p:sp>
      <p:sp>
        <p:nvSpPr>
          <p:cNvPr id="3" name="Content Placeholder 2">
            <a:extLst>
              <a:ext uri="{FF2B5EF4-FFF2-40B4-BE49-F238E27FC236}">
                <a16:creationId xmlns:a16="http://schemas.microsoft.com/office/drawing/2014/main" id="{91AD509A-2AB5-AB20-D511-9999152D3C4C}"/>
              </a:ext>
            </a:extLst>
          </p:cNvPr>
          <p:cNvSpPr>
            <a:spLocks noGrp="1"/>
          </p:cNvSpPr>
          <p:nvPr>
            <p:ph idx="1"/>
          </p:nvPr>
        </p:nvSpPr>
        <p:spPr/>
        <p:txBody>
          <a:bodyPr/>
          <a:lstStyle/>
          <a:p>
            <a:r>
              <a:rPr lang="en-US" dirty="0"/>
              <a:t>Promote competition in the insurance industry to enhance customer satisfaction through increased consumer choices and lower premiums.</a:t>
            </a:r>
          </a:p>
          <a:p>
            <a:r>
              <a:rPr lang="en-US" dirty="0"/>
              <a:t>Ensure the financial security of the insurance market.</a:t>
            </a:r>
          </a:p>
          <a:p>
            <a:endParaRPr lang="en-IN" dirty="0"/>
          </a:p>
        </p:txBody>
      </p:sp>
    </p:spTree>
    <p:extLst>
      <p:ext uri="{BB962C8B-B14F-4D97-AF65-F5344CB8AC3E}">
        <p14:creationId xmlns:p14="http://schemas.microsoft.com/office/powerpoint/2010/main" val="7369641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017720-89F3-1210-7CC4-8E069AF9FAFB}"/>
              </a:ext>
            </a:extLst>
          </p:cNvPr>
          <p:cNvSpPr>
            <a:spLocks noGrp="1"/>
          </p:cNvSpPr>
          <p:nvPr>
            <p:ph idx="1"/>
          </p:nvPr>
        </p:nvSpPr>
        <p:spPr>
          <a:xfrm>
            <a:off x="838200" y="777240"/>
            <a:ext cx="10515600" cy="5399723"/>
          </a:xfrm>
        </p:spPr>
        <p:txBody>
          <a:bodyPr>
            <a:normAutofit/>
          </a:bodyPr>
          <a:lstStyle/>
          <a:p>
            <a:r>
              <a:rPr lang="en-US" dirty="0">
                <a:hlinkClick r:id="rId2"/>
              </a:rPr>
              <a:t>Powers of IRDA:</a:t>
            </a:r>
            <a:endParaRPr lang="en-US" dirty="0"/>
          </a:p>
          <a:p>
            <a:r>
              <a:rPr lang="en-US" dirty="0"/>
              <a:t>Frame regulations under Section 114A of the Insurance Act of 1938.</a:t>
            </a:r>
          </a:p>
          <a:p>
            <a:r>
              <a:rPr lang="en-US" dirty="0"/>
              <a:t>Since 2000, it has framed various regulations covering:</a:t>
            </a:r>
          </a:p>
          <a:p>
            <a:pPr lvl="1"/>
            <a:r>
              <a:rPr lang="en-US" dirty="0"/>
              <a:t>Registration of companies for carrying on insurance business.</a:t>
            </a:r>
          </a:p>
          <a:p>
            <a:pPr lvl="1"/>
            <a:r>
              <a:rPr lang="en-US" dirty="0"/>
              <a:t>Protection of policyholders’ interests.</a:t>
            </a:r>
          </a:p>
          <a:p>
            <a:r>
              <a:rPr lang="en-US" dirty="0">
                <a:hlinkClick r:id="rId3"/>
              </a:rPr>
              <a:t>Restructuring of General Insurance Corporation of India (GIC):</a:t>
            </a:r>
            <a:endParaRPr lang="en-US" dirty="0"/>
          </a:p>
          <a:p>
            <a:r>
              <a:rPr lang="en-US" dirty="0"/>
              <a:t>In December 2000, the subsidiaries of GIC were restructured as independent companies.</a:t>
            </a:r>
          </a:p>
          <a:p>
            <a:r>
              <a:rPr lang="en-US" dirty="0"/>
              <a:t>GIC was converted into a national re-insurer.</a:t>
            </a:r>
          </a:p>
          <a:p>
            <a:endParaRPr lang="en-IN" dirty="0"/>
          </a:p>
        </p:txBody>
      </p:sp>
    </p:spTree>
    <p:extLst>
      <p:ext uri="{BB962C8B-B14F-4D97-AF65-F5344CB8AC3E}">
        <p14:creationId xmlns:p14="http://schemas.microsoft.com/office/powerpoint/2010/main" val="22902744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B5825D-E544-DEF1-9649-7CDEE8848E7F}"/>
              </a:ext>
            </a:extLst>
          </p:cNvPr>
          <p:cNvSpPr>
            <a:spLocks noGrp="1"/>
          </p:cNvSpPr>
          <p:nvPr>
            <p:ph idx="1"/>
          </p:nvPr>
        </p:nvSpPr>
        <p:spPr>
          <a:xfrm>
            <a:off x="838200" y="548640"/>
            <a:ext cx="10515600" cy="5628323"/>
          </a:xfrm>
        </p:spPr>
        <p:txBody>
          <a:bodyPr>
            <a:normAutofit/>
          </a:bodyPr>
          <a:lstStyle/>
          <a:p>
            <a:r>
              <a:rPr lang="en-US" dirty="0">
                <a:hlinkClick r:id="rId2"/>
              </a:rPr>
              <a:t>Current Insurance Landscape in India:</a:t>
            </a:r>
            <a:endParaRPr lang="en-US" dirty="0"/>
          </a:p>
          <a:p>
            <a:r>
              <a:rPr lang="en-US" dirty="0"/>
              <a:t>34 general insurance companies, including the Export Credit Guarantee Corporation (ECGC) and Agriculture Insurance Corporation of India.</a:t>
            </a:r>
          </a:p>
          <a:p>
            <a:r>
              <a:rPr lang="en-US" dirty="0"/>
              <a:t>24 life insurance companies operating in India.</a:t>
            </a:r>
          </a:p>
          <a:p>
            <a:r>
              <a:rPr lang="en-US" dirty="0">
                <a:hlinkClick r:id="rId3"/>
              </a:rPr>
              <a:t>Significance of Insurance Sector:</a:t>
            </a:r>
            <a:endParaRPr lang="en-US" dirty="0"/>
          </a:p>
          <a:p>
            <a:r>
              <a:rPr lang="en-US" dirty="0"/>
              <a:t>Insurance is a rapidly growing sector, contributing around 7% to India’s GDP, along with banking services.</a:t>
            </a:r>
          </a:p>
          <a:p>
            <a:r>
              <a:rPr lang="en-US" dirty="0"/>
              <a:t>Provides long-term funds for infrastructural development and strengthens the country’s risk-taking ability.</a:t>
            </a:r>
          </a:p>
          <a:p>
            <a:r>
              <a:rPr lang="en-US" dirty="0"/>
              <a:t>A well-developed insurance sector plays a crucial role in economic development.</a:t>
            </a:r>
          </a:p>
          <a:p>
            <a:endParaRPr lang="en-IN" dirty="0"/>
          </a:p>
        </p:txBody>
      </p:sp>
    </p:spTree>
    <p:extLst>
      <p:ext uri="{BB962C8B-B14F-4D97-AF65-F5344CB8AC3E}">
        <p14:creationId xmlns:p14="http://schemas.microsoft.com/office/powerpoint/2010/main" val="24848580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8FD2B-39F7-0B70-ABD9-43923AF5241A}"/>
              </a:ext>
            </a:extLst>
          </p:cNvPr>
          <p:cNvSpPr>
            <a:spLocks noGrp="1"/>
          </p:cNvSpPr>
          <p:nvPr>
            <p:ph type="title"/>
          </p:nvPr>
        </p:nvSpPr>
        <p:spPr/>
        <p:txBody>
          <a:bodyPr/>
          <a:lstStyle/>
          <a:p>
            <a:r>
              <a:rPr lang="en-US" dirty="0"/>
              <a:t>History of Insurance in India - Timeline</a:t>
            </a:r>
            <a:endParaRPr lang="en-IN" dirty="0"/>
          </a:p>
        </p:txBody>
      </p:sp>
      <p:sp>
        <p:nvSpPr>
          <p:cNvPr id="3" name="Content Placeholder 2">
            <a:extLst>
              <a:ext uri="{FF2B5EF4-FFF2-40B4-BE49-F238E27FC236}">
                <a16:creationId xmlns:a16="http://schemas.microsoft.com/office/drawing/2014/main" id="{0E1C0F6F-F8FE-897E-3B1A-3CACC4B2DEFE}"/>
              </a:ext>
            </a:extLst>
          </p:cNvPr>
          <p:cNvSpPr>
            <a:spLocks noGrp="1"/>
          </p:cNvSpPr>
          <p:nvPr>
            <p:ph idx="1"/>
          </p:nvPr>
        </p:nvSpPr>
        <p:spPr/>
        <p:txBody>
          <a:bodyPr>
            <a:normAutofit/>
          </a:bodyPr>
          <a:lstStyle/>
          <a:p>
            <a:r>
              <a:rPr lang="en-US" b="1" dirty="0"/>
              <a:t>1818:</a:t>
            </a:r>
            <a:r>
              <a:rPr lang="en-US" dirty="0"/>
              <a:t> Life insurance business introduced in India through Oriental Life Insurance Company (Calcutta).</a:t>
            </a:r>
          </a:p>
          <a:p>
            <a:r>
              <a:rPr lang="en-US" b="1" dirty="0"/>
              <a:t>1829:</a:t>
            </a:r>
            <a:r>
              <a:rPr lang="en-US" dirty="0"/>
              <a:t> Madras Equitable started transacting life insurance in the Madras Presidency.</a:t>
            </a:r>
          </a:p>
          <a:p>
            <a:r>
              <a:rPr lang="en-US" b="1" dirty="0"/>
              <a:t>1834:</a:t>
            </a:r>
            <a:r>
              <a:rPr lang="en-US" dirty="0"/>
              <a:t> Failure of the Oriental Life Insurance Company.</a:t>
            </a:r>
          </a:p>
          <a:p>
            <a:r>
              <a:rPr lang="en-US" b="1" dirty="0"/>
              <a:t>1870:</a:t>
            </a:r>
            <a:r>
              <a:rPr lang="en-US" dirty="0"/>
              <a:t> British Insurance Act enactment.</a:t>
            </a:r>
          </a:p>
          <a:p>
            <a:r>
              <a:rPr lang="en-US" b="1" dirty="0"/>
              <a:t>1871:</a:t>
            </a:r>
            <a:r>
              <a:rPr lang="en-US" dirty="0"/>
              <a:t> Set up of Bombay Mutual.</a:t>
            </a:r>
          </a:p>
          <a:p>
            <a:r>
              <a:rPr lang="en-US" b="1" dirty="0"/>
              <a:t>1874:</a:t>
            </a:r>
            <a:r>
              <a:rPr lang="en-US" dirty="0"/>
              <a:t> Set up of Oriental.</a:t>
            </a:r>
          </a:p>
          <a:p>
            <a:endParaRPr lang="en-IN" dirty="0"/>
          </a:p>
        </p:txBody>
      </p:sp>
    </p:spTree>
    <p:extLst>
      <p:ext uri="{BB962C8B-B14F-4D97-AF65-F5344CB8AC3E}">
        <p14:creationId xmlns:p14="http://schemas.microsoft.com/office/powerpoint/2010/main" val="11736493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0AB9C-05CA-DFCD-5130-E43CFFBD3CC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8170166-E190-7BB3-D554-14EB444C8438}"/>
              </a:ext>
            </a:extLst>
          </p:cNvPr>
          <p:cNvSpPr>
            <a:spLocks noGrp="1"/>
          </p:cNvSpPr>
          <p:nvPr>
            <p:ph idx="1"/>
          </p:nvPr>
        </p:nvSpPr>
        <p:spPr/>
        <p:txBody>
          <a:bodyPr>
            <a:normAutofit fontScale="92500"/>
          </a:bodyPr>
          <a:lstStyle/>
          <a:p>
            <a:r>
              <a:rPr lang="en-US" b="1" dirty="0"/>
              <a:t>1897:</a:t>
            </a:r>
            <a:r>
              <a:rPr lang="en-US" dirty="0"/>
              <a:t> Set up of Empire of India.</a:t>
            </a:r>
          </a:p>
          <a:p>
            <a:r>
              <a:rPr lang="en-US" b="1" dirty="0"/>
              <a:t>1907:</a:t>
            </a:r>
            <a:endParaRPr lang="en-US" dirty="0"/>
          </a:p>
          <a:p>
            <a:r>
              <a:rPr lang="en-US" dirty="0"/>
              <a:t>Indian Mercantile Insurance Ltd. was set up.</a:t>
            </a:r>
          </a:p>
          <a:p>
            <a:r>
              <a:rPr lang="en-US" b="1" dirty="0"/>
              <a:t>1914:</a:t>
            </a:r>
            <a:r>
              <a:rPr lang="en-US" dirty="0"/>
              <a:t> Government of India published returns of the </a:t>
            </a:r>
            <a:r>
              <a:rPr lang="en-US" dirty="0">
                <a:hlinkClick r:id="rId2"/>
              </a:rPr>
              <a:t>Insurance Companies in India</a:t>
            </a:r>
            <a:r>
              <a:rPr lang="en-US" dirty="0"/>
              <a:t>.</a:t>
            </a:r>
          </a:p>
          <a:p>
            <a:r>
              <a:rPr lang="en-US" b="1" dirty="0"/>
              <a:t>1928:</a:t>
            </a:r>
            <a:r>
              <a:rPr lang="en-US" dirty="0"/>
              <a:t> Indian Insurance Companies Act enactment to enable the government to collect statistical data about the life and non-life business transacted in the country by both Indian and foreign insurers.</a:t>
            </a:r>
          </a:p>
          <a:p>
            <a:r>
              <a:rPr lang="en-US" b="1" dirty="0"/>
              <a:t>1938:</a:t>
            </a:r>
            <a:r>
              <a:rPr lang="en-US" dirty="0"/>
              <a:t> Consolidation of earlier legislation and amendment of the Insurance Act.</a:t>
            </a:r>
          </a:p>
          <a:p>
            <a:endParaRPr lang="en-IN" dirty="0"/>
          </a:p>
        </p:txBody>
      </p:sp>
    </p:spTree>
    <p:extLst>
      <p:ext uri="{BB962C8B-B14F-4D97-AF65-F5344CB8AC3E}">
        <p14:creationId xmlns:p14="http://schemas.microsoft.com/office/powerpoint/2010/main" val="3016632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F5B78-1F3C-E33D-61E3-7300BB0B45E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DE717C8-1872-F695-2EE6-9945C88DEF08}"/>
              </a:ext>
            </a:extLst>
          </p:cNvPr>
          <p:cNvSpPr>
            <a:spLocks noGrp="1"/>
          </p:cNvSpPr>
          <p:nvPr>
            <p:ph idx="1"/>
          </p:nvPr>
        </p:nvSpPr>
        <p:spPr/>
        <p:txBody>
          <a:bodyPr>
            <a:normAutofit fontScale="92500" lnSpcReduction="10000"/>
          </a:bodyPr>
          <a:lstStyle/>
          <a:p>
            <a:r>
              <a:rPr lang="en-US" b="1" dirty="0"/>
              <a:t>19th January 1956:</a:t>
            </a:r>
            <a:endParaRPr lang="en-US" dirty="0"/>
          </a:p>
          <a:p>
            <a:r>
              <a:rPr lang="en-US" dirty="0"/>
              <a:t>An ordinance was issued to nationalize the life insurance sector.</a:t>
            </a:r>
          </a:p>
          <a:p>
            <a:r>
              <a:rPr lang="en-US" dirty="0"/>
              <a:t>The Life Insurance Corporation (LIC) was established.</a:t>
            </a:r>
          </a:p>
          <a:p>
            <a:r>
              <a:rPr lang="en-US" b="1" dirty="0"/>
              <a:t>1957:</a:t>
            </a:r>
            <a:endParaRPr lang="en-US" dirty="0"/>
          </a:p>
          <a:p>
            <a:r>
              <a:rPr lang="en-US" dirty="0"/>
              <a:t>The General Insurance Council was formed.</a:t>
            </a:r>
          </a:p>
          <a:p>
            <a:r>
              <a:rPr lang="en-US" b="1" dirty="0"/>
              <a:t>1968:</a:t>
            </a:r>
            <a:endParaRPr lang="en-US" dirty="0"/>
          </a:p>
          <a:p>
            <a:r>
              <a:rPr lang="en-US" dirty="0"/>
              <a:t>The Insurance Act was amended to regulate investments and set minimum solvency margins.</a:t>
            </a:r>
          </a:p>
          <a:p>
            <a:r>
              <a:rPr lang="en-US" b="1" dirty="0"/>
              <a:t>1972:</a:t>
            </a:r>
            <a:endParaRPr lang="en-US" dirty="0"/>
          </a:p>
          <a:p>
            <a:r>
              <a:rPr lang="en-US" dirty="0"/>
              <a:t>The General Insurance Business (Nationalization) Act was passed.</a:t>
            </a:r>
          </a:p>
          <a:p>
            <a:endParaRPr lang="en-IN" dirty="0"/>
          </a:p>
        </p:txBody>
      </p:sp>
    </p:spTree>
    <p:extLst>
      <p:ext uri="{BB962C8B-B14F-4D97-AF65-F5344CB8AC3E}">
        <p14:creationId xmlns:p14="http://schemas.microsoft.com/office/powerpoint/2010/main" val="19399816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F7C2A-98F8-4CA0-DC92-394D1A7E322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D1B67F0-D2CA-7965-BFFB-51DC38BEF59F}"/>
              </a:ext>
            </a:extLst>
          </p:cNvPr>
          <p:cNvSpPr>
            <a:spLocks noGrp="1"/>
          </p:cNvSpPr>
          <p:nvPr>
            <p:ph idx="1"/>
          </p:nvPr>
        </p:nvSpPr>
        <p:spPr/>
        <p:txBody>
          <a:bodyPr>
            <a:normAutofit fontScale="85000" lnSpcReduction="20000"/>
          </a:bodyPr>
          <a:lstStyle/>
          <a:p>
            <a:r>
              <a:rPr lang="en-US" b="1" dirty="0"/>
              <a:t>1971:</a:t>
            </a:r>
            <a:endParaRPr lang="en-US" dirty="0"/>
          </a:p>
          <a:p>
            <a:r>
              <a:rPr lang="en-US" dirty="0"/>
              <a:t>General Insurance Corporation of India was incorporated as a company.</a:t>
            </a:r>
          </a:p>
          <a:p>
            <a:r>
              <a:rPr lang="en-US" b="1" dirty="0"/>
              <a:t>01st January 1973:</a:t>
            </a:r>
            <a:endParaRPr lang="en-US" dirty="0"/>
          </a:p>
          <a:p>
            <a:r>
              <a:rPr lang="en-US" dirty="0"/>
              <a:t>The insurance business was nationalized.</a:t>
            </a:r>
          </a:p>
          <a:p>
            <a:r>
              <a:rPr lang="en-US" b="1" dirty="0"/>
              <a:t>1993:</a:t>
            </a:r>
            <a:endParaRPr lang="en-US" dirty="0"/>
          </a:p>
          <a:p>
            <a:r>
              <a:rPr lang="en-US" dirty="0"/>
              <a:t>The RN Malhotra committee was formed to propose recommendations for reforms in the insurance sector in India.</a:t>
            </a:r>
          </a:p>
          <a:p>
            <a:r>
              <a:rPr lang="en-US" b="1" dirty="0"/>
              <a:t>1999:</a:t>
            </a:r>
            <a:endParaRPr lang="en-US" dirty="0"/>
          </a:p>
          <a:p>
            <a:r>
              <a:rPr lang="en-US" dirty="0"/>
              <a:t>The Insurance Regulatory and Development Authority (IRDA) was established.</a:t>
            </a:r>
          </a:p>
          <a:p>
            <a:r>
              <a:rPr lang="en-US" b="1" dirty="0"/>
              <a:t>2000:</a:t>
            </a:r>
            <a:endParaRPr lang="en-US" dirty="0"/>
          </a:p>
          <a:p>
            <a:r>
              <a:rPr lang="en-US" dirty="0"/>
              <a:t>IRDA was incorporated as a statutory body.</a:t>
            </a:r>
          </a:p>
          <a:p>
            <a:endParaRPr lang="en-IN" dirty="0"/>
          </a:p>
        </p:txBody>
      </p:sp>
    </p:spTree>
    <p:extLst>
      <p:ext uri="{BB962C8B-B14F-4D97-AF65-F5344CB8AC3E}">
        <p14:creationId xmlns:p14="http://schemas.microsoft.com/office/powerpoint/2010/main" val="24887986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B1F62-64A1-53D0-F231-5A47DB21B23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BC8F3A8-6C50-4FC1-0CA0-A970179E7A60}"/>
              </a:ext>
            </a:extLst>
          </p:cNvPr>
          <p:cNvSpPr>
            <a:spLocks noGrp="1"/>
          </p:cNvSpPr>
          <p:nvPr>
            <p:ph idx="1"/>
          </p:nvPr>
        </p:nvSpPr>
        <p:spPr/>
        <p:txBody>
          <a:bodyPr>
            <a:normAutofit fontScale="85000" lnSpcReduction="20000"/>
          </a:bodyPr>
          <a:lstStyle/>
          <a:p>
            <a:r>
              <a:rPr lang="en-US" b="1" dirty="0"/>
              <a:t>August 2000:</a:t>
            </a:r>
            <a:endParaRPr lang="en-US" dirty="0"/>
          </a:p>
          <a:p>
            <a:r>
              <a:rPr lang="en-US" dirty="0"/>
              <a:t>IRDA opened the market with an invitation for applications for registrations.</a:t>
            </a:r>
          </a:p>
          <a:p>
            <a:r>
              <a:rPr lang="en-US" b="1" dirty="0"/>
              <a:t>December 2000:</a:t>
            </a:r>
            <a:endParaRPr lang="en-US" dirty="0"/>
          </a:p>
          <a:p>
            <a:r>
              <a:rPr lang="en-US" dirty="0"/>
              <a:t>Subsidiaries of the General Insurance Corporation of India were restructured as independent companies.</a:t>
            </a:r>
          </a:p>
          <a:p>
            <a:r>
              <a:rPr lang="en-US" dirty="0"/>
              <a:t>GIC was converted into a national re-insurer.</a:t>
            </a:r>
          </a:p>
          <a:p>
            <a:r>
              <a:rPr lang="en-US" b="1" dirty="0"/>
              <a:t>July 2002:</a:t>
            </a:r>
            <a:endParaRPr lang="en-US" dirty="0"/>
          </a:p>
          <a:p>
            <a:r>
              <a:rPr lang="en-US" dirty="0"/>
              <a:t>A bill to de-link the four subsidiaries from GIC was passed in parliament.</a:t>
            </a:r>
          </a:p>
          <a:p>
            <a:r>
              <a:rPr lang="en-US" b="1" dirty="0"/>
              <a:t>Presently:</a:t>
            </a:r>
            <a:endParaRPr lang="en-US" dirty="0"/>
          </a:p>
          <a:p>
            <a:r>
              <a:rPr lang="en-US" dirty="0"/>
              <a:t>34 general insurance companies, including the Export Credit Guarantee Corporation of India (ECGC) and Agriculture Insurance Corporation of India, and 24 life insurance companies are operational in India.</a:t>
            </a:r>
          </a:p>
          <a:p>
            <a:endParaRPr lang="en-IN" dirty="0"/>
          </a:p>
        </p:txBody>
      </p:sp>
    </p:spTree>
    <p:extLst>
      <p:ext uri="{BB962C8B-B14F-4D97-AF65-F5344CB8AC3E}">
        <p14:creationId xmlns:p14="http://schemas.microsoft.com/office/powerpoint/2010/main" val="10819018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TotalTime>
  <Words>1245</Words>
  <Application>Microsoft Office PowerPoint</Application>
  <PresentationFormat>Widescreen</PresentationFormat>
  <Paragraphs>94</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Aptos</vt:lpstr>
      <vt:lpstr>Aptos Display</vt:lpstr>
      <vt:lpstr>Arial</vt:lpstr>
      <vt:lpstr>Office Theme</vt:lpstr>
      <vt:lpstr>History of Insurance in Indian</vt:lpstr>
      <vt:lpstr>PowerPoint Presentation</vt:lpstr>
      <vt:lpstr>Key Milestones in the History of Insurance in India</vt:lpstr>
      <vt:lpstr>PowerPoint Presentation</vt:lpstr>
      <vt:lpstr>PowerPoint Presentation</vt:lpstr>
      <vt:lpstr>General Insurance in India</vt:lpstr>
      <vt:lpstr>Early Insurers</vt:lpstr>
      <vt:lpstr>Malhotra Committee</vt:lpstr>
      <vt:lpstr>Establishment of IRDA</vt:lpstr>
      <vt:lpstr>Insurance Regulatory and Development Authority (IRDA)</vt:lpstr>
      <vt:lpstr>Objectives of IRDA:</vt:lpstr>
      <vt:lpstr>PowerPoint Presentation</vt:lpstr>
      <vt:lpstr>PowerPoint Presentation</vt:lpstr>
      <vt:lpstr>History of Insurance in India - Timeline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Sumukh S Hungund [MAHE-MIT]</dc:creator>
  <cp:lastModifiedBy>Sumukh S Hungund [MAHE-MIT]</cp:lastModifiedBy>
  <cp:revision>1</cp:revision>
  <dcterms:created xsi:type="dcterms:W3CDTF">2025-08-11T16:00:15Z</dcterms:created>
  <dcterms:modified xsi:type="dcterms:W3CDTF">2025-08-11T16:34:06Z</dcterms:modified>
</cp:coreProperties>
</file>
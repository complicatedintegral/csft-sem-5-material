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Lst>
  <p:notesMasterIdLst>
    <p:notesMasterId r:id="rId15"/>
  </p:notesMasterIdLst>
  <p:sldIdLst>
    <p:sldId id="256" r:id="rId2"/>
    <p:sldId id="257" r:id="rId3"/>
    <p:sldId id="259" r:id="rId4"/>
    <p:sldId id="260" r:id="rId5"/>
    <p:sldId id="261" r:id="rId6"/>
    <p:sldId id="262" r:id="rId7"/>
    <p:sldId id="263" r:id="rId8"/>
    <p:sldId id="264" r:id="rId9"/>
    <p:sldId id="265" r:id="rId10"/>
    <p:sldId id="258"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6" d="100"/>
          <a:sy n="56" d="100"/>
        </p:scale>
        <p:origin x="1000"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929752-318F-4CCC-A231-59742D9D5824}" type="doc">
      <dgm:prSet loTypeId="urn:microsoft.com/office/officeart/2005/8/layout/chevronAccent+Icon" loCatId="officeonline" qsTypeId="urn:microsoft.com/office/officeart/2005/8/quickstyle/simple1" qsCatId="simple" csTypeId="urn:microsoft.com/office/officeart/2005/8/colors/accent1_2" csCatId="accent1" phldr="1"/>
      <dgm:spPr/>
    </dgm:pt>
    <dgm:pt modelId="{544EA4EC-2183-4FDB-9631-396C522D49BD}">
      <dgm:prSet phldrT="[Text]"/>
      <dgm:spPr/>
      <dgm:t>
        <a:bodyPr/>
        <a:lstStyle/>
        <a:p>
          <a:r>
            <a:rPr lang="en-US" dirty="0"/>
            <a:t>Product and Marketing</a:t>
          </a:r>
          <a:endParaRPr lang="en-IN" dirty="0"/>
        </a:p>
      </dgm:t>
    </dgm:pt>
    <dgm:pt modelId="{81176590-3F1D-44C2-98C0-E05353D63249}" type="parTrans" cxnId="{A3AB3A9E-8B79-43D6-9C16-1DF26ED0BDB9}">
      <dgm:prSet/>
      <dgm:spPr/>
      <dgm:t>
        <a:bodyPr/>
        <a:lstStyle/>
        <a:p>
          <a:endParaRPr lang="en-IN"/>
        </a:p>
      </dgm:t>
    </dgm:pt>
    <dgm:pt modelId="{54C25438-D04A-451B-8CF8-AADCAA6EB4AE}" type="sibTrans" cxnId="{A3AB3A9E-8B79-43D6-9C16-1DF26ED0BDB9}">
      <dgm:prSet/>
      <dgm:spPr/>
      <dgm:t>
        <a:bodyPr/>
        <a:lstStyle/>
        <a:p>
          <a:endParaRPr lang="en-IN"/>
        </a:p>
      </dgm:t>
    </dgm:pt>
    <dgm:pt modelId="{D5315471-B888-40D7-BE62-DB22AED5EC6B}">
      <dgm:prSet phldrT="[Text]"/>
      <dgm:spPr/>
      <dgm:t>
        <a:bodyPr/>
        <a:lstStyle/>
        <a:p>
          <a:r>
            <a:rPr lang="en-US" dirty="0"/>
            <a:t>Sales &amp; Origination</a:t>
          </a:r>
          <a:endParaRPr lang="en-IN" dirty="0"/>
        </a:p>
      </dgm:t>
    </dgm:pt>
    <dgm:pt modelId="{C50681BB-2EBA-4B04-923D-A7A3EF8E5A49}" type="parTrans" cxnId="{6B9D88C1-9134-4C08-9FCB-247D1B87F63D}">
      <dgm:prSet/>
      <dgm:spPr/>
      <dgm:t>
        <a:bodyPr/>
        <a:lstStyle/>
        <a:p>
          <a:endParaRPr lang="en-IN"/>
        </a:p>
      </dgm:t>
    </dgm:pt>
    <dgm:pt modelId="{C4A7A7B0-2D0F-42A3-819B-03F1E9881145}" type="sibTrans" cxnId="{6B9D88C1-9134-4C08-9FCB-247D1B87F63D}">
      <dgm:prSet/>
      <dgm:spPr/>
      <dgm:t>
        <a:bodyPr/>
        <a:lstStyle/>
        <a:p>
          <a:endParaRPr lang="en-IN"/>
        </a:p>
      </dgm:t>
    </dgm:pt>
    <dgm:pt modelId="{9E7BA9DA-7F48-401E-BAC5-E3EB0215B625}">
      <dgm:prSet phldrT="[Text]"/>
      <dgm:spPr/>
      <dgm:t>
        <a:bodyPr/>
        <a:lstStyle/>
        <a:p>
          <a:r>
            <a:rPr lang="en-US" dirty="0"/>
            <a:t>Underwriting and Pricing</a:t>
          </a:r>
          <a:endParaRPr lang="en-IN" dirty="0"/>
        </a:p>
      </dgm:t>
    </dgm:pt>
    <dgm:pt modelId="{91FF8F71-36E5-45FD-A546-0AC370416025}" type="parTrans" cxnId="{ED2A6D7E-897E-450E-8367-6627E543F923}">
      <dgm:prSet/>
      <dgm:spPr/>
      <dgm:t>
        <a:bodyPr/>
        <a:lstStyle/>
        <a:p>
          <a:endParaRPr lang="en-IN"/>
        </a:p>
      </dgm:t>
    </dgm:pt>
    <dgm:pt modelId="{88407ADC-AC49-4BC0-8EA0-DF5065E0AD16}" type="sibTrans" cxnId="{ED2A6D7E-897E-450E-8367-6627E543F923}">
      <dgm:prSet/>
      <dgm:spPr/>
      <dgm:t>
        <a:bodyPr/>
        <a:lstStyle/>
        <a:p>
          <a:endParaRPr lang="en-IN"/>
        </a:p>
      </dgm:t>
    </dgm:pt>
    <dgm:pt modelId="{8D123C91-5884-4463-8E69-140DA1B6288D}" type="pres">
      <dgm:prSet presAssocID="{C5929752-318F-4CCC-A231-59742D9D5824}" presName="Name0" presStyleCnt="0">
        <dgm:presLayoutVars>
          <dgm:dir/>
          <dgm:resizeHandles val="exact"/>
        </dgm:presLayoutVars>
      </dgm:prSet>
      <dgm:spPr/>
    </dgm:pt>
    <dgm:pt modelId="{8626EBBE-E1EB-4F7B-8BE3-0BE8BB4EFD2B}" type="pres">
      <dgm:prSet presAssocID="{544EA4EC-2183-4FDB-9631-396C522D49BD}" presName="composite" presStyleCnt="0"/>
      <dgm:spPr/>
    </dgm:pt>
    <dgm:pt modelId="{1DFE972C-8BDC-43E7-A1E4-33CBCAD2E105}" type="pres">
      <dgm:prSet presAssocID="{544EA4EC-2183-4FDB-9631-396C522D49BD}" presName="bgChev" presStyleLbl="node1" presStyleIdx="0" presStyleCnt="3"/>
      <dgm:spPr/>
    </dgm:pt>
    <dgm:pt modelId="{8A784D3A-4AFE-4254-B71C-80E2A0A762CC}" type="pres">
      <dgm:prSet presAssocID="{544EA4EC-2183-4FDB-9631-396C522D49BD}" presName="txNode" presStyleLbl="fgAcc1" presStyleIdx="0" presStyleCnt="3">
        <dgm:presLayoutVars>
          <dgm:bulletEnabled val="1"/>
        </dgm:presLayoutVars>
      </dgm:prSet>
      <dgm:spPr/>
    </dgm:pt>
    <dgm:pt modelId="{2EAEE136-C189-490E-A8A3-003A411836A3}" type="pres">
      <dgm:prSet presAssocID="{54C25438-D04A-451B-8CF8-AADCAA6EB4AE}" presName="compositeSpace" presStyleCnt="0"/>
      <dgm:spPr/>
    </dgm:pt>
    <dgm:pt modelId="{AE5E1D47-F66B-4D63-BF9B-753332F6DD89}" type="pres">
      <dgm:prSet presAssocID="{D5315471-B888-40D7-BE62-DB22AED5EC6B}" presName="composite" presStyleCnt="0"/>
      <dgm:spPr/>
    </dgm:pt>
    <dgm:pt modelId="{D239AAFD-90C0-4A87-ADDC-530DB14B46F0}" type="pres">
      <dgm:prSet presAssocID="{D5315471-B888-40D7-BE62-DB22AED5EC6B}" presName="bgChev" presStyleLbl="node1" presStyleIdx="1" presStyleCnt="3"/>
      <dgm:spPr/>
    </dgm:pt>
    <dgm:pt modelId="{378F73C0-E279-4DEF-996F-15B74FF0CC8B}" type="pres">
      <dgm:prSet presAssocID="{D5315471-B888-40D7-BE62-DB22AED5EC6B}" presName="txNode" presStyleLbl="fgAcc1" presStyleIdx="1" presStyleCnt="3">
        <dgm:presLayoutVars>
          <dgm:bulletEnabled val="1"/>
        </dgm:presLayoutVars>
      </dgm:prSet>
      <dgm:spPr/>
    </dgm:pt>
    <dgm:pt modelId="{6DC84391-590F-40E0-8D6A-159B92D4C4D5}" type="pres">
      <dgm:prSet presAssocID="{C4A7A7B0-2D0F-42A3-819B-03F1E9881145}" presName="compositeSpace" presStyleCnt="0"/>
      <dgm:spPr/>
    </dgm:pt>
    <dgm:pt modelId="{F493A660-EE38-4EBD-8D1A-037B96C5A934}" type="pres">
      <dgm:prSet presAssocID="{9E7BA9DA-7F48-401E-BAC5-E3EB0215B625}" presName="composite" presStyleCnt="0"/>
      <dgm:spPr/>
    </dgm:pt>
    <dgm:pt modelId="{850E58CB-8131-471A-A221-43A92F1D7136}" type="pres">
      <dgm:prSet presAssocID="{9E7BA9DA-7F48-401E-BAC5-E3EB0215B625}" presName="bgChev" presStyleLbl="node1" presStyleIdx="2" presStyleCnt="3"/>
      <dgm:spPr/>
    </dgm:pt>
    <dgm:pt modelId="{D1C95058-A856-4199-9B17-9B3D61090596}" type="pres">
      <dgm:prSet presAssocID="{9E7BA9DA-7F48-401E-BAC5-E3EB0215B625}" presName="txNode" presStyleLbl="fgAcc1" presStyleIdx="2" presStyleCnt="3" custLinFactX="28328" custLinFactNeighborX="100000" custLinFactNeighborY="-2243">
        <dgm:presLayoutVars>
          <dgm:bulletEnabled val="1"/>
        </dgm:presLayoutVars>
      </dgm:prSet>
      <dgm:spPr/>
    </dgm:pt>
  </dgm:ptLst>
  <dgm:cxnLst>
    <dgm:cxn modelId="{73909D50-2D47-487F-B430-8A23E15C7333}" type="presOf" srcId="{C5929752-318F-4CCC-A231-59742D9D5824}" destId="{8D123C91-5884-4463-8E69-140DA1B6288D}" srcOrd="0" destOrd="0" presId="urn:microsoft.com/office/officeart/2005/8/layout/chevronAccent+Icon"/>
    <dgm:cxn modelId="{ED2A6D7E-897E-450E-8367-6627E543F923}" srcId="{C5929752-318F-4CCC-A231-59742D9D5824}" destId="{9E7BA9DA-7F48-401E-BAC5-E3EB0215B625}" srcOrd="2" destOrd="0" parTransId="{91FF8F71-36E5-45FD-A546-0AC370416025}" sibTransId="{88407ADC-AC49-4BC0-8EA0-DF5065E0AD16}"/>
    <dgm:cxn modelId="{9E88789C-222E-45BC-BABB-CAC3C66B37F8}" type="presOf" srcId="{9E7BA9DA-7F48-401E-BAC5-E3EB0215B625}" destId="{D1C95058-A856-4199-9B17-9B3D61090596}" srcOrd="0" destOrd="0" presId="urn:microsoft.com/office/officeart/2005/8/layout/chevronAccent+Icon"/>
    <dgm:cxn modelId="{A3AB3A9E-8B79-43D6-9C16-1DF26ED0BDB9}" srcId="{C5929752-318F-4CCC-A231-59742D9D5824}" destId="{544EA4EC-2183-4FDB-9631-396C522D49BD}" srcOrd="0" destOrd="0" parTransId="{81176590-3F1D-44C2-98C0-E05353D63249}" sibTransId="{54C25438-D04A-451B-8CF8-AADCAA6EB4AE}"/>
    <dgm:cxn modelId="{49A3A99E-AB69-48D5-93FF-D4170C5D4F9A}" type="presOf" srcId="{D5315471-B888-40D7-BE62-DB22AED5EC6B}" destId="{378F73C0-E279-4DEF-996F-15B74FF0CC8B}" srcOrd="0" destOrd="0" presId="urn:microsoft.com/office/officeart/2005/8/layout/chevronAccent+Icon"/>
    <dgm:cxn modelId="{5F23859F-5092-4FF5-9854-A9E5E87172D7}" type="presOf" srcId="{544EA4EC-2183-4FDB-9631-396C522D49BD}" destId="{8A784D3A-4AFE-4254-B71C-80E2A0A762CC}" srcOrd="0" destOrd="0" presId="urn:microsoft.com/office/officeart/2005/8/layout/chevronAccent+Icon"/>
    <dgm:cxn modelId="{6B9D88C1-9134-4C08-9FCB-247D1B87F63D}" srcId="{C5929752-318F-4CCC-A231-59742D9D5824}" destId="{D5315471-B888-40D7-BE62-DB22AED5EC6B}" srcOrd="1" destOrd="0" parTransId="{C50681BB-2EBA-4B04-923D-A7A3EF8E5A49}" sibTransId="{C4A7A7B0-2D0F-42A3-819B-03F1E9881145}"/>
    <dgm:cxn modelId="{EF4F751D-79B9-4478-BB6D-C6A8D65784C2}" type="presParOf" srcId="{8D123C91-5884-4463-8E69-140DA1B6288D}" destId="{8626EBBE-E1EB-4F7B-8BE3-0BE8BB4EFD2B}" srcOrd="0" destOrd="0" presId="urn:microsoft.com/office/officeart/2005/8/layout/chevronAccent+Icon"/>
    <dgm:cxn modelId="{47515D16-71D1-445F-8137-7800E0C1F485}" type="presParOf" srcId="{8626EBBE-E1EB-4F7B-8BE3-0BE8BB4EFD2B}" destId="{1DFE972C-8BDC-43E7-A1E4-33CBCAD2E105}" srcOrd="0" destOrd="0" presId="urn:microsoft.com/office/officeart/2005/8/layout/chevronAccent+Icon"/>
    <dgm:cxn modelId="{76992093-7D19-4B38-8653-ECC41A569FE1}" type="presParOf" srcId="{8626EBBE-E1EB-4F7B-8BE3-0BE8BB4EFD2B}" destId="{8A784D3A-4AFE-4254-B71C-80E2A0A762CC}" srcOrd="1" destOrd="0" presId="urn:microsoft.com/office/officeart/2005/8/layout/chevronAccent+Icon"/>
    <dgm:cxn modelId="{57CBB6CE-3C8E-47AD-A36D-A5F9C88F6FE4}" type="presParOf" srcId="{8D123C91-5884-4463-8E69-140DA1B6288D}" destId="{2EAEE136-C189-490E-A8A3-003A411836A3}" srcOrd="1" destOrd="0" presId="urn:microsoft.com/office/officeart/2005/8/layout/chevronAccent+Icon"/>
    <dgm:cxn modelId="{DF012F7C-1100-47AD-A705-3E5E268F43F6}" type="presParOf" srcId="{8D123C91-5884-4463-8E69-140DA1B6288D}" destId="{AE5E1D47-F66B-4D63-BF9B-753332F6DD89}" srcOrd="2" destOrd="0" presId="urn:microsoft.com/office/officeart/2005/8/layout/chevronAccent+Icon"/>
    <dgm:cxn modelId="{4444DAAC-DE4F-40CF-83F3-DA53108F9A19}" type="presParOf" srcId="{AE5E1D47-F66B-4D63-BF9B-753332F6DD89}" destId="{D239AAFD-90C0-4A87-ADDC-530DB14B46F0}" srcOrd="0" destOrd="0" presId="urn:microsoft.com/office/officeart/2005/8/layout/chevronAccent+Icon"/>
    <dgm:cxn modelId="{7BE50400-BD79-488E-B1D9-5A1D88CF85A7}" type="presParOf" srcId="{AE5E1D47-F66B-4D63-BF9B-753332F6DD89}" destId="{378F73C0-E279-4DEF-996F-15B74FF0CC8B}" srcOrd="1" destOrd="0" presId="urn:microsoft.com/office/officeart/2005/8/layout/chevronAccent+Icon"/>
    <dgm:cxn modelId="{7C7A49A7-F147-4298-A9B9-6F6D2ACDAA7F}" type="presParOf" srcId="{8D123C91-5884-4463-8E69-140DA1B6288D}" destId="{6DC84391-590F-40E0-8D6A-159B92D4C4D5}" srcOrd="3" destOrd="0" presId="urn:microsoft.com/office/officeart/2005/8/layout/chevronAccent+Icon"/>
    <dgm:cxn modelId="{48DF4302-87AB-41F6-BF8C-A5BAF37A56DC}" type="presParOf" srcId="{8D123C91-5884-4463-8E69-140DA1B6288D}" destId="{F493A660-EE38-4EBD-8D1A-037B96C5A934}" srcOrd="4" destOrd="0" presId="urn:microsoft.com/office/officeart/2005/8/layout/chevronAccent+Icon"/>
    <dgm:cxn modelId="{8DB9ECFE-FF72-418F-95B3-C2D6B7B389C2}" type="presParOf" srcId="{F493A660-EE38-4EBD-8D1A-037B96C5A934}" destId="{850E58CB-8131-471A-A221-43A92F1D7136}" srcOrd="0" destOrd="0" presId="urn:microsoft.com/office/officeart/2005/8/layout/chevronAccent+Icon"/>
    <dgm:cxn modelId="{A4E07A9A-7C0F-40E3-8D15-66392DD98625}" type="presParOf" srcId="{F493A660-EE38-4EBD-8D1A-037B96C5A934}" destId="{D1C95058-A856-4199-9B17-9B3D61090596}" srcOrd="1" destOrd="0" presId="urn:microsoft.com/office/officeart/2005/8/layout/chevronAccent+Icon"/>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929752-318F-4CCC-A231-59742D9D5824}" type="doc">
      <dgm:prSet loTypeId="urn:microsoft.com/office/officeart/2005/8/layout/chevronAccent+Icon" loCatId="officeonline" qsTypeId="urn:microsoft.com/office/officeart/2005/8/quickstyle/simple1" qsCatId="simple" csTypeId="urn:microsoft.com/office/officeart/2005/8/colors/accent1_2" csCatId="accent1" phldr="1"/>
      <dgm:spPr/>
    </dgm:pt>
    <dgm:pt modelId="{544EA4EC-2183-4FDB-9631-396C522D49BD}">
      <dgm:prSet phldrT="[Text]"/>
      <dgm:spPr/>
      <dgm:t>
        <a:bodyPr/>
        <a:lstStyle/>
        <a:p>
          <a:r>
            <a:rPr lang="en-US" dirty="0"/>
            <a:t>Issuance and Admin</a:t>
          </a:r>
          <a:endParaRPr lang="en-IN" dirty="0"/>
        </a:p>
      </dgm:t>
    </dgm:pt>
    <dgm:pt modelId="{81176590-3F1D-44C2-98C0-E05353D63249}" type="parTrans" cxnId="{A3AB3A9E-8B79-43D6-9C16-1DF26ED0BDB9}">
      <dgm:prSet/>
      <dgm:spPr/>
      <dgm:t>
        <a:bodyPr/>
        <a:lstStyle/>
        <a:p>
          <a:endParaRPr lang="en-IN"/>
        </a:p>
      </dgm:t>
    </dgm:pt>
    <dgm:pt modelId="{54C25438-D04A-451B-8CF8-AADCAA6EB4AE}" type="sibTrans" cxnId="{A3AB3A9E-8B79-43D6-9C16-1DF26ED0BDB9}">
      <dgm:prSet/>
      <dgm:spPr/>
      <dgm:t>
        <a:bodyPr/>
        <a:lstStyle/>
        <a:p>
          <a:endParaRPr lang="en-IN"/>
        </a:p>
      </dgm:t>
    </dgm:pt>
    <dgm:pt modelId="{D5315471-B888-40D7-BE62-DB22AED5EC6B}">
      <dgm:prSet phldrT="[Text]"/>
      <dgm:spPr/>
      <dgm:t>
        <a:bodyPr/>
        <a:lstStyle/>
        <a:p>
          <a:r>
            <a:rPr lang="en-US" dirty="0"/>
            <a:t>Maturity and Claim</a:t>
          </a:r>
          <a:endParaRPr lang="en-IN" dirty="0"/>
        </a:p>
      </dgm:t>
    </dgm:pt>
    <dgm:pt modelId="{C50681BB-2EBA-4B04-923D-A7A3EF8E5A49}" type="parTrans" cxnId="{6B9D88C1-9134-4C08-9FCB-247D1B87F63D}">
      <dgm:prSet/>
      <dgm:spPr/>
      <dgm:t>
        <a:bodyPr/>
        <a:lstStyle/>
        <a:p>
          <a:endParaRPr lang="en-IN"/>
        </a:p>
      </dgm:t>
    </dgm:pt>
    <dgm:pt modelId="{C4A7A7B0-2D0F-42A3-819B-03F1E9881145}" type="sibTrans" cxnId="{6B9D88C1-9134-4C08-9FCB-247D1B87F63D}">
      <dgm:prSet/>
      <dgm:spPr/>
      <dgm:t>
        <a:bodyPr/>
        <a:lstStyle/>
        <a:p>
          <a:endParaRPr lang="en-IN"/>
        </a:p>
      </dgm:t>
    </dgm:pt>
    <dgm:pt modelId="{9E7BA9DA-7F48-401E-BAC5-E3EB0215B625}">
      <dgm:prSet phldrT="[Text]"/>
      <dgm:spPr/>
      <dgm:t>
        <a:bodyPr/>
        <a:lstStyle/>
        <a:p>
          <a:r>
            <a:rPr lang="en-US" dirty="0"/>
            <a:t>Asset Management and Compliance</a:t>
          </a:r>
          <a:endParaRPr lang="en-IN" dirty="0"/>
        </a:p>
      </dgm:t>
    </dgm:pt>
    <dgm:pt modelId="{91FF8F71-36E5-45FD-A546-0AC370416025}" type="parTrans" cxnId="{ED2A6D7E-897E-450E-8367-6627E543F923}">
      <dgm:prSet/>
      <dgm:spPr/>
      <dgm:t>
        <a:bodyPr/>
        <a:lstStyle/>
        <a:p>
          <a:endParaRPr lang="en-IN"/>
        </a:p>
      </dgm:t>
    </dgm:pt>
    <dgm:pt modelId="{88407ADC-AC49-4BC0-8EA0-DF5065E0AD16}" type="sibTrans" cxnId="{ED2A6D7E-897E-450E-8367-6627E543F923}">
      <dgm:prSet/>
      <dgm:spPr/>
      <dgm:t>
        <a:bodyPr/>
        <a:lstStyle/>
        <a:p>
          <a:endParaRPr lang="en-IN"/>
        </a:p>
      </dgm:t>
    </dgm:pt>
    <dgm:pt modelId="{8D123C91-5884-4463-8E69-140DA1B6288D}" type="pres">
      <dgm:prSet presAssocID="{C5929752-318F-4CCC-A231-59742D9D5824}" presName="Name0" presStyleCnt="0">
        <dgm:presLayoutVars>
          <dgm:dir/>
          <dgm:resizeHandles val="exact"/>
        </dgm:presLayoutVars>
      </dgm:prSet>
      <dgm:spPr/>
    </dgm:pt>
    <dgm:pt modelId="{8626EBBE-E1EB-4F7B-8BE3-0BE8BB4EFD2B}" type="pres">
      <dgm:prSet presAssocID="{544EA4EC-2183-4FDB-9631-396C522D49BD}" presName="composite" presStyleCnt="0"/>
      <dgm:spPr/>
    </dgm:pt>
    <dgm:pt modelId="{1DFE972C-8BDC-43E7-A1E4-33CBCAD2E105}" type="pres">
      <dgm:prSet presAssocID="{544EA4EC-2183-4FDB-9631-396C522D49BD}" presName="bgChev" presStyleLbl="node1" presStyleIdx="0" presStyleCnt="3"/>
      <dgm:spPr/>
    </dgm:pt>
    <dgm:pt modelId="{8A784D3A-4AFE-4254-B71C-80E2A0A762CC}" type="pres">
      <dgm:prSet presAssocID="{544EA4EC-2183-4FDB-9631-396C522D49BD}" presName="txNode" presStyleLbl="fgAcc1" presStyleIdx="0" presStyleCnt="3">
        <dgm:presLayoutVars>
          <dgm:bulletEnabled val="1"/>
        </dgm:presLayoutVars>
      </dgm:prSet>
      <dgm:spPr/>
    </dgm:pt>
    <dgm:pt modelId="{2EAEE136-C189-490E-A8A3-003A411836A3}" type="pres">
      <dgm:prSet presAssocID="{54C25438-D04A-451B-8CF8-AADCAA6EB4AE}" presName="compositeSpace" presStyleCnt="0"/>
      <dgm:spPr/>
    </dgm:pt>
    <dgm:pt modelId="{AE5E1D47-F66B-4D63-BF9B-753332F6DD89}" type="pres">
      <dgm:prSet presAssocID="{D5315471-B888-40D7-BE62-DB22AED5EC6B}" presName="composite" presStyleCnt="0"/>
      <dgm:spPr/>
    </dgm:pt>
    <dgm:pt modelId="{D239AAFD-90C0-4A87-ADDC-530DB14B46F0}" type="pres">
      <dgm:prSet presAssocID="{D5315471-B888-40D7-BE62-DB22AED5EC6B}" presName="bgChev" presStyleLbl="node1" presStyleIdx="1" presStyleCnt="3"/>
      <dgm:spPr/>
    </dgm:pt>
    <dgm:pt modelId="{378F73C0-E279-4DEF-996F-15B74FF0CC8B}" type="pres">
      <dgm:prSet presAssocID="{D5315471-B888-40D7-BE62-DB22AED5EC6B}" presName="txNode" presStyleLbl="fgAcc1" presStyleIdx="1" presStyleCnt="3">
        <dgm:presLayoutVars>
          <dgm:bulletEnabled val="1"/>
        </dgm:presLayoutVars>
      </dgm:prSet>
      <dgm:spPr/>
    </dgm:pt>
    <dgm:pt modelId="{6DC84391-590F-40E0-8D6A-159B92D4C4D5}" type="pres">
      <dgm:prSet presAssocID="{C4A7A7B0-2D0F-42A3-819B-03F1E9881145}" presName="compositeSpace" presStyleCnt="0"/>
      <dgm:spPr/>
    </dgm:pt>
    <dgm:pt modelId="{F493A660-EE38-4EBD-8D1A-037B96C5A934}" type="pres">
      <dgm:prSet presAssocID="{9E7BA9DA-7F48-401E-BAC5-E3EB0215B625}" presName="composite" presStyleCnt="0"/>
      <dgm:spPr/>
    </dgm:pt>
    <dgm:pt modelId="{850E58CB-8131-471A-A221-43A92F1D7136}" type="pres">
      <dgm:prSet presAssocID="{9E7BA9DA-7F48-401E-BAC5-E3EB0215B625}" presName="bgChev" presStyleLbl="node1" presStyleIdx="2" presStyleCnt="3"/>
      <dgm:spPr/>
    </dgm:pt>
    <dgm:pt modelId="{D1C95058-A856-4199-9B17-9B3D61090596}" type="pres">
      <dgm:prSet presAssocID="{9E7BA9DA-7F48-401E-BAC5-E3EB0215B625}" presName="txNode" presStyleLbl="fgAcc1" presStyleIdx="2" presStyleCnt="3" custLinFactX="28328" custLinFactNeighborX="100000" custLinFactNeighborY="-2243">
        <dgm:presLayoutVars>
          <dgm:bulletEnabled val="1"/>
        </dgm:presLayoutVars>
      </dgm:prSet>
      <dgm:spPr/>
    </dgm:pt>
  </dgm:ptLst>
  <dgm:cxnLst>
    <dgm:cxn modelId="{73909D50-2D47-487F-B430-8A23E15C7333}" type="presOf" srcId="{C5929752-318F-4CCC-A231-59742D9D5824}" destId="{8D123C91-5884-4463-8E69-140DA1B6288D}" srcOrd="0" destOrd="0" presId="urn:microsoft.com/office/officeart/2005/8/layout/chevronAccent+Icon"/>
    <dgm:cxn modelId="{ED2A6D7E-897E-450E-8367-6627E543F923}" srcId="{C5929752-318F-4CCC-A231-59742D9D5824}" destId="{9E7BA9DA-7F48-401E-BAC5-E3EB0215B625}" srcOrd="2" destOrd="0" parTransId="{91FF8F71-36E5-45FD-A546-0AC370416025}" sibTransId="{88407ADC-AC49-4BC0-8EA0-DF5065E0AD16}"/>
    <dgm:cxn modelId="{9E88789C-222E-45BC-BABB-CAC3C66B37F8}" type="presOf" srcId="{9E7BA9DA-7F48-401E-BAC5-E3EB0215B625}" destId="{D1C95058-A856-4199-9B17-9B3D61090596}" srcOrd="0" destOrd="0" presId="urn:microsoft.com/office/officeart/2005/8/layout/chevronAccent+Icon"/>
    <dgm:cxn modelId="{A3AB3A9E-8B79-43D6-9C16-1DF26ED0BDB9}" srcId="{C5929752-318F-4CCC-A231-59742D9D5824}" destId="{544EA4EC-2183-4FDB-9631-396C522D49BD}" srcOrd="0" destOrd="0" parTransId="{81176590-3F1D-44C2-98C0-E05353D63249}" sibTransId="{54C25438-D04A-451B-8CF8-AADCAA6EB4AE}"/>
    <dgm:cxn modelId="{49A3A99E-AB69-48D5-93FF-D4170C5D4F9A}" type="presOf" srcId="{D5315471-B888-40D7-BE62-DB22AED5EC6B}" destId="{378F73C0-E279-4DEF-996F-15B74FF0CC8B}" srcOrd="0" destOrd="0" presId="urn:microsoft.com/office/officeart/2005/8/layout/chevronAccent+Icon"/>
    <dgm:cxn modelId="{5F23859F-5092-4FF5-9854-A9E5E87172D7}" type="presOf" srcId="{544EA4EC-2183-4FDB-9631-396C522D49BD}" destId="{8A784D3A-4AFE-4254-B71C-80E2A0A762CC}" srcOrd="0" destOrd="0" presId="urn:microsoft.com/office/officeart/2005/8/layout/chevronAccent+Icon"/>
    <dgm:cxn modelId="{6B9D88C1-9134-4C08-9FCB-247D1B87F63D}" srcId="{C5929752-318F-4CCC-A231-59742D9D5824}" destId="{D5315471-B888-40D7-BE62-DB22AED5EC6B}" srcOrd="1" destOrd="0" parTransId="{C50681BB-2EBA-4B04-923D-A7A3EF8E5A49}" sibTransId="{C4A7A7B0-2D0F-42A3-819B-03F1E9881145}"/>
    <dgm:cxn modelId="{EF4F751D-79B9-4478-BB6D-C6A8D65784C2}" type="presParOf" srcId="{8D123C91-5884-4463-8E69-140DA1B6288D}" destId="{8626EBBE-E1EB-4F7B-8BE3-0BE8BB4EFD2B}" srcOrd="0" destOrd="0" presId="urn:microsoft.com/office/officeart/2005/8/layout/chevronAccent+Icon"/>
    <dgm:cxn modelId="{47515D16-71D1-445F-8137-7800E0C1F485}" type="presParOf" srcId="{8626EBBE-E1EB-4F7B-8BE3-0BE8BB4EFD2B}" destId="{1DFE972C-8BDC-43E7-A1E4-33CBCAD2E105}" srcOrd="0" destOrd="0" presId="urn:microsoft.com/office/officeart/2005/8/layout/chevronAccent+Icon"/>
    <dgm:cxn modelId="{76992093-7D19-4B38-8653-ECC41A569FE1}" type="presParOf" srcId="{8626EBBE-E1EB-4F7B-8BE3-0BE8BB4EFD2B}" destId="{8A784D3A-4AFE-4254-B71C-80E2A0A762CC}" srcOrd="1" destOrd="0" presId="urn:microsoft.com/office/officeart/2005/8/layout/chevronAccent+Icon"/>
    <dgm:cxn modelId="{57CBB6CE-3C8E-47AD-A36D-A5F9C88F6FE4}" type="presParOf" srcId="{8D123C91-5884-4463-8E69-140DA1B6288D}" destId="{2EAEE136-C189-490E-A8A3-003A411836A3}" srcOrd="1" destOrd="0" presId="urn:microsoft.com/office/officeart/2005/8/layout/chevronAccent+Icon"/>
    <dgm:cxn modelId="{DF012F7C-1100-47AD-A705-3E5E268F43F6}" type="presParOf" srcId="{8D123C91-5884-4463-8E69-140DA1B6288D}" destId="{AE5E1D47-F66B-4D63-BF9B-753332F6DD89}" srcOrd="2" destOrd="0" presId="urn:microsoft.com/office/officeart/2005/8/layout/chevronAccent+Icon"/>
    <dgm:cxn modelId="{4444DAAC-DE4F-40CF-83F3-DA53108F9A19}" type="presParOf" srcId="{AE5E1D47-F66B-4D63-BF9B-753332F6DD89}" destId="{D239AAFD-90C0-4A87-ADDC-530DB14B46F0}" srcOrd="0" destOrd="0" presId="urn:microsoft.com/office/officeart/2005/8/layout/chevronAccent+Icon"/>
    <dgm:cxn modelId="{7BE50400-BD79-488E-B1D9-5A1D88CF85A7}" type="presParOf" srcId="{AE5E1D47-F66B-4D63-BF9B-753332F6DD89}" destId="{378F73C0-E279-4DEF-996F-15B74FF0CC8B}" srcOrd="1" destOrd="0" presId="urn:microsoft.com/office/officeart/2005/8/layout/chevronAccent+Icon"/>
    <dgm:cxn modelId="{7C7A49A7-F147-4298-A9B9-6F6D2ACDAA7F}" type="presParOf" srcId="{8D123C91-5884-4463-8E69-140DA1B6288D}" destId="{6DC84391-590F-40E0-8D6A-159B92D4C4D5}" srcOrd="3" destOrd="0" presId="urn:microsoft.com/office/officeart/2005/8/layout/chevronAccent+Icon"/>
    <dgm:cxn modelId="{48DF4302-87AB-41F6-BF8C-A5BAF37A56DC}" type="presParOf" srcId="{8D123C91-5884-4463-8E69-140DA1B6288D}" destId="{F493A660-EE38-4EBD-8D1A-037B96C5A934}" srcOrd="4" destOrd="0" presId="urn:microsoft.com/office/officeart/2005/8/layout/chevronAccent+Icon"/>
    <dgm:cxn modelId="{8DB9ECFE-FF72-418F-95B3-C2D6B7B389C2}" type="presParOf" srcId="{F493A660-EE38-4EBD-8D1A-037B96C5A934}" destId="{850E58CB-8131-471A-A221-43A92F1D7136}" srcOrd="0" destOrd="0" presId="urn:microsoft.com/office/officeart/2005/8/layout/chevronAccent+Icon"/>
    <dgm:cxn modelId="{A4E07A9A-7C0F-40E3-8D15-66392DD98625}" type="presParOf" srcId="{F493A660-EE38-4EBD-8D1A-037B96C5A934}" destId="{D1C95058-A856-4199-9B17-9B3D61090596}" srcOrd="1" destOrd="0" presId="urn:microsoft.com/office/officeart/2005/8/layout/chevronAccent+Icon"/>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FE972C-8BDC-43E7-A1E4-33CBCAD2E105}">
      <dsp:nvSpPr>
        <dsp:cNvPr id="0" name=""/>
        <dsp:cNvSpPr/>
      </dsp:nvSpPr>
      <dsp:spPr>
        <a:xfrm>
          <a:off x="688" y="922281"/>
          <a:ext cx="1729803" cy="667704"/>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784D3A-4AFE-4254-B71C-80E2A0A762CC}">
      <dsp:nvSpPr>
        <dsp:cNvPr id="0" name=""/>
        <dsp:cNvSpPr/>
      </dsp:nvSpPr>
      <dsp:spPr>
        <a:xfrm>
          <a:off x="461969" y="1089207"/>
          <a:ext cx="1460722" cy="6677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Product and Marketing</a:t>
          </a:r>
          <a:endParaRPr lang="en-IN" sz="1500" kern="1200" dirty="0"/>
        </a:p>
      </dsp:txBody>
      <dsp:txXfrm>
        <a:off x="481525" y="1108763"/>
        <a:ext cx="1421610" cy="628592"/>
      </dsp:txXfrm>
    </dsp:sp>
    <dsp:sp modelId="{D239AAFD-90C0-4A87-ADDC-530DB14B46F0}">
      <dsp:nvSpPr>
        <dsp:cNvPr id="0" name=""/>
        <dsp:cNvSpPr/>
      </dsp:nvSpPr>
      <dsp:spPr>
        <a:xfrm>
          <a:off x="1976508" y="922281"/>
          <a:ext cx="1729803" cy="667704"/>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8F73C0-E279-4DEF-996F-15B74FF0CC8B}">
      <dsp:nvSpPr>
        <dsp:cNvPr id="0" name=""/>
        <dsp:cNvSpPr/>
      </dsp:nvSpPr>
      <dsp:spPr>
        <a:xfrm>
          <a:off x="2437789" y="1089207"/>
          <a:ext cx="1460722" cy="6677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Sales &amp; Origination</a:t>
          </a:r>
          <a:endParaRPr lang="en-IN" sz="1500" kern="1200" dirty="0"/>
        </a:p>
      </dsp:txBody>
      <dsp:txXfrm>
        <a:off x="2457345" y="1108763"/>
        <a:ext cx="1421610" cy="628592"/>
      </dsp:txXfrm>
    </dsp:sp>
    <dsp:sp modelId="{850E58CB-8131-471A-A221-43A92F1D7136}">
      <dsp:nvSpPr>
        <dsp:cNvPr id="0" name=""/>
        <dsp:cNvSpPr/>
      </dsp:nvSpPr>
      <dsp:spPr>
        <a:xfrm>
          <a:off x="3952327" y="922281"/>
          <a:ext cx="1729803" cy="667704"/>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C95058-A856-4199-9B17-9B3D61090596}">
      <dsp:nvSpPr>
        <dsp:cNvPr id="0" name=""/>
        <dsp:cNvSpPr/>
      </dsp:nvSpPr>
      <dsp:spPr>
        <a:xfrm>
          <a:off x="4414297" y="1074230"/>
          <a:ext cx="1460722" cy="6677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666750">
            <a:lnSpc>
              <a:spcPct val="90000"/>
            </a:lnSpc>
            <a:spcBef>
              <a:spcPct val="0"/>
            </a:spcBef>
            <a:spcAft>
              <a:spcPct val="35000"/>
            </a:spcAft>
            <a:buNone/>
          </a:pPr>
          <a:r>
            <a:rPr lang="en-US" sz="1500" kern="1200" dirty="0"/>
            <a:t>Underwriting and Pricing</a:t>
          </a:r>
          <a:endParaRPr lang="en-IN" sz="1500" kern="1200" dirty="0"/>
        </a:p>
      </dsp:txBody>
      <dsp:txXfrm>
        <a:off x="4433853" y="1093786"/>
        <a:ext cx="1421610" cy="62859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FE972C-8BDC-43E7-A1E4-33CBCAD2E105}">
      <dsp:nvSpPr>
        <dsp:cNvPr id="0" name=""/>
        <dsp:cNvSpPr/>
      </dsp:nvSpPr>
      <dsp:spPr>
        <a:xfrm>
          <a:off x="653" y="1203994"/>
          <a:ext cx="1642303" cy="633929"/>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A784D3A-4AFE-4254-B71C-80E2A0A762CC}">
      <dsp:nvSpPr>
        <dsp:cNvPr id="0" name=""/>
        <dsp:cNvSpPr/>
      </dsp:nvSpPr>
      <dsp:spPr>
        <a:xfrm>
          <a:off x="438601" y="1362476"/>
          <a:ext cx="1386834" cy="633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Issuance and Admin</a:t>
          </a:r>
          <a:endParaRPr lang="en-IN" sz="1100" kern="1200" dirty="0"/>
        </a:p>
      </dsp:txBody>
      <dsp:txXfrm>
        <a:off x="457168" y="1381043"/>
        <a:ext cx="1349700" cy="596795"/>
      </dsp:txXfrm>
    </dsp:sp>
    <dsp:sp modelId="{D239AAFD-90C0-4A87-ADDC-530DB14B46F0}">
      <dsp:nvSpPr>
        <dsp:cNvPr id="0" name=""/>
        <dsp:cNvSpPr/>
      </dsp:nvSpPr>
      <dsp:spPr>
        <a:xfrm>
          <a:off x="1876529" y="1203994"/>
          <a:ext cx="1642303" cy="633929"/>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78F73C0-E279-4DEF-996F-15B74FF0CC8B}">
      <dsp:nvSpPr>
        <dsp:cNvPr id="0" name=""/>
        <dsp:cNvSpPr/>
      </dsp:nvSpPr>
      <dsp:spPr>
        <a:xfrm>
          <a:off x="2314476" y="1362476"/>
          <a:ext cx="1386834" cy="633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Maturity and Claim</a:t>
          </a:r>
          <a:endParaRPr lang="en-IN" sz="1100" kern="1200" dirty="0"/>
        </a:p>
      </dsp:txBody>
      <dsp:txXfrm>
        <a:off x="2333043" y="1381043"/>
        <a:ext cx="1349700" cy="596795"/>
      </dsp:txXfrm>
    </dsp:sp>
    <dsp:sp modelId="{850E58CB-8131-471A-A221-43A92F1D7136}">
      <dsp:nvSpPr>
        <dsp:cNvPr id="0" name=""/>
        <dsp:cNvSpPr/>
      </dsp:nvSpPr>
      <dsp:spPr>
        <a:xfrm>
          <a:off x="3752404" y="1203994"/>
          <a:ext cx="1642303" cy="633929"/>
        </a:xfrm>
        <a:prstGeom prst="chevron">
          <a:avLst>
            <a:gd name="adj" fmla="val 4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1C95058-A856-4199-9B17-9B3D61090596}">
      <dsp:nvSpPr>
        <dsp:cNvPr id="0" name=""/>
        <dsp:cNvSpPr/>
      </dsp:nvSpPr>
      <dsp:spPr>
        <a:xfrm>
          <a:off x="4191005" y="1348257"/>
          <a:ext cx="1386834" cy="6339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en-US" sz="1100" kern="1200" dirty="0"/>
            <a:t>Asset Management and Compliance</a:t>
          </a:r>
          <a:endParaRPr lang="en-IN" sz="1100" kern="1200" dirty="0"/>
        </a:p>
      </dsp:txBody>
      <dsp:txXfrm>
        <a:off x="4209572" y="1366824"/>
        <a:ext cx="1349700" cy="596795"/>
      </dsp:txXfrm>
    </dsp:sp>
  </dsp:spTree>
</dsp:drawing>
</file>

<file path=ppt/diagrams/layout1.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chevronAccent+Icon">
  <dgm:title val="Chevron Accent Process"/>
  <dgm:desc val="Use to show sequential steps in a task, process, or workflow, or to emphasize movement or direction. Works best with minimal Level 1 and Level 2 text."/>
  <dgm:catLst>
    <dgm:cat type="process" pri="9500"/>
    <dgm:cat type="officeonline" pri="2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forName="composite" refType="w"/>
      <dgm:constr type="primFontSz" for="des" forName="txNode" op="equ" val="65"/>
      <dgm:constr type="w" for="ch" forName="compositeSpace" refType="w" refFor="ch" refForName="composite" fact="0.028"/>
    </dgm:constrLst>
    <dgm:ruleLst/>
    <dgm:forEach name="Name4" axis="ch" ptType="node">
      <dgm:layoutNode name="composite">
        <dgm:alg type="composite"/>
        <dgm:shape xmlns:r="http://schemas.openxmlformats.org/officeDocument/2006/relationships" r:blip="">
          <dgm:adjLst/>
        </dgm:shape>
        <dgm:presOf/>
        <dgm:choose name="Name5">
          <dgm:if name="Name6" func="var" arg="dir" op="equ" val="norm">
            <dgm:constrLst>
              <dgm:constr type="l" for="ch" forName="bgChev"/>
              <dgm:constr type="w" for="ch" forName="bgChev" refType="w" fact="0.9"/>
              <dgm:constr type="t" for="ch" forName="bgChev"/>
              <dgm:constr type="h" for="ch" forName="bgChev" refType="w" refFor="ch" refForName="bgChev" fact="0.386"/>
              <dgm:constr type="l" for="ch" forName="txNode" refType="w" fact="0.24"/>
              <dgm:constr type="w" for="ch" forName="txNode" refType="w" fact="0.76"/>
              <dgm:constr type="t" for="ch" forName="txNode" refType="h" refFor="ch" refForName="bgChev" fact="0.25"/>
              <dgm:constr type="h" for="ch" forName="txNode" refType="h" refFor="ch" refForName="bgChev"/>
            </dgm:constrLst>
          </dgm:if>
          <dgm:else name="Name7">
            <dgm:constrLst>
              <dgm:constr type="l" for="ch" forName="bgChev" refType="w" fact="0.1"/>
              <dgm:constr type="w" for="ch" forName="bgChev" refType="w" fact="0.9"/>
              <dgm:constr type="t" for="ch" forName="bgChev"/>
              <dgm:constr type="h" for="ch" forName="bgChev" refType="w" refFor="ch" refForName="bgChev" fact="0.386"/>
              <dgm:constr type="l" for="ch" forName="txNode"/>
              <dgm:constr type="w" for="ch" forName="txNode" refType="w" fact="0.76"/>
              <dgm:constr type="t" for="ch" forName="txNode" refType="h" refFor="ch" refForName="bgChev" fact="0.25"/>
              <dgm:constr type="h" for="ch" forName="txNode" refType="h" refFor="ch" refForName="bgChev"/>
            </dgm:constrLst>
          </dgm:else>
        </dgm:choose>
        <dgm:ruleLst/>
        <dgm:layoutNode name="bgChev" styleLbl="node1">
          <dgm:alg type="sp"/>
          <dgm:choose name="Name8">
            <dgm:if name="Name9" func="var" arg="dir" op="equ" val="norm">
              <dgm:shape xmlns:r="http://schemas.openxmlformats.org/officeDocument/2006/relationships" type="chevron" r:blip="">
                <dgm:adjLst>
                  <dgm:adj idx="1" val="0.4"/>
                </dgm:adjLst>
              </dgm:shape>
            </dgm:if>
            <dgm:else name="Name10">
              <dgm:shape xmlns:r="http://schemas.openxmlformats.org/officeDocument/2006/relationships" rot="180" type="chevron" r:blip="">
                <dgm:adjLst>
                  <dgm:adj idx="1" val="0.4"/>
                </dgm:adjLst>
              </dgm:shape>
            </dgm:else>
          </dgm:choose>
          <dgm:presOf/>
          <dgm:constrLst/>
        </dgm:layoutNode>
        <dgm:layoutNode name="txNode" styleLbl="fgAcc1">
          <dgm:varLst>
            <dgm:bulletEnabled val="1"/>
          </dgm:varLst>
          <dgm:alg type="tx"/>
          <dgm:shape xmlns:r="http://schemas.openxmlformats.org/officeDocument/2006/relationships" type="roundRect" r:blip="">
            <dgm:adjLst>
              <dgm:adj idx="1" val="0.1"/>
            </dgm:adjLst>
          </dgm:shape>
          <dgm:presOf axis="desOrSelf" ptType="node"/>
          <dgm:ruleLst>
            <dgm:rule type="primFontSz" val="5" fact="NaN" max="NaN"/>
          </dgm:ruleLst>
        </dgm:layoutNode>
      </dgm:layoutNode>
      <dgm:forEach name="Name11" axis="followSib" ptType="sibTrans" cnt="1">
        <dgm:layoutNode name="compositeSpace">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2C5B98-ADA5-4698-8381-CC93076B071C}" type="datetimeFigureOut">
              <a:rPr lang="en-IN" smtClean="0"/>
              <a:t>21-09-2025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D23D48-F3AC-43CF-9777-B1FA3B65EDEB}" type="slidenum">
              <a:rPr lang="en-IN" smtClean="0"/>
              <a:t>‹#›</a:t>
            </a:fld>
            <a:endParaRPr lang="en-IN"/>
          </a:p>
        </p:txBody>
      </p:sp>
    </p:spTree>
    <p:extLst>
      <p:ext uri="{BB962C8B-B14F-4D97-AF65-F5344CB8AC3E}">
        <p14:creationId xmlns:p14="http://schemas.microsoft.com/office/powerpoint/2010/main" val="19660449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google.com/search?rlz=1C1RXQR_enIN1034IN1035&amp;cs=0&amp;sca_esv=759f56e08d27413b&amp;sxsrf=AE3TifO3yTgV-B1UvD7_2b8RrG2Sm3TuNg%3A1757297106647&amp;q=commercial+insurance&amp;sa=X&amp;ved=2ahUKEwilqpDuiciPAxWK1jgGHZXZKBIQxccNegQIBBAB&amp;mstk=AUtExfBLrYZI7jzOsCvR0trbbHrseV4eFSWW-RnMvmv4PoY-bpS455SZw8ZimydI6KeV8IJCfahlrbkoFA_iMRV1wzrcMdMjzfjlZNjkeMly-nXlgUS6TIWGwxwGenRJXGDLX9vi9uKdqPBG2qwkHYY0SKJKFh1V36iq2uu3oZyK1Up5Iy4&amp;csui=3" TargetMode="External"/><Relationship Id="rId2" Type="http://schemas.openxmlformats.org/officeDocument/2006/relationships/slide" Target="../slides/slide7.xml"/><Relationship Id="rId1" Type="http://schemas.openxmlformats.org/officeDocument/2006/relationships/notesMaster" Target="../notesMasters/notesMaster1.xml"/><Relationship Id="rId6" Type="http://schemas.openxmlformats.org/officeDocument/2006/relationships/hyperlink" Target="https://www.google.com/search?rlz=1C1RXQR_enIN1034IN1035&amp;cs=0&amp;sca_esv=759f56e08d27413b&amp;sxsrf=AE3TifO3yTgV-B1UvD7_2b8RrG2Sm3TuNg%3A1757297106647&amp;q=Takaful&amp;sa=X&amp;ved=2ahUKEwilqpDuiciPAxWK1jgGHZXZKBIQxccNegQIBBAE&amp;mstk=AUtExfBLrYZI7jzOsCvR0trbbHrseV4eFSWW-RnMvmv4PoY-bpS455SZw8ZimydI6KeV8IJCfahlrbkoFA_iMRV1wzrcMdMjzfjlZNjkeMly-nXlgUS6TIWGwxwGenRJXGDLX9vi9uKdqPBG2qwkHYY0SKJKFh1V36iq2uu3oZyK1Up5Iy4&amp;csui=3" TargetMode="External"/><Relationship Id="rId5" Type="http://schemas.openxmlformats.org/officeDocument/2006/relationships/hyperlink" Target="https://www.google.com/search?rlz=1C1RXQR_enIN1034IN1035&amp;cs=0&amp;sca_esv=759f56e08d27413b&amp;sxsrf=AE3TifO3yTgV-B1UvD7_2b8RrG2Sm3TuNg%3A1757297106647&amp;q=riba&amp;sa=X&amp;ved=2ahUKEwilqpDuiciPAxWK1jgGHZXZKBIQxccNegQIBBAD&amp;mstk=AUtExfBLrYZI7jzOsCvR0trbbHrseV4eFSWW-RnMvmv4PoY-bpS455SZw8ZimydI6KeV8IJCfahlrbkoFA_iMRV1wzrcMdMjzfjlZNjkeMly-nXlgUS6TIWGwxwGenRJXGDLX9vi9uKdqPBG2qwkHYY0SKJKFh1V36iq2uu3oZyK1Up5Iy4&amp;csui=3" TargetMode="External"/><Relationship Id="rId4" Type="http://schemas.openxmlformats.org/officeDocument/2006/relationships/hyperlink" Target="https://www.google.com/search?rlz=1C1RXQR_enIN1034IN1035&amp;cs=0&amp;sca_esv=759f56e08d27413b&amp;sxsrf=AE3TifO3yTgV-B1UvD7_2b8RrG2Sm3TuNg%3A1757297106647&amp;q=gharar&amp;sa=X&amp;ved=2ahUKEwilqpDuiciPAxWK1jgGHZXZKBIQxccNegQIBBAC&amp;mstk=AUtExfBLrYZI7jzOsCvR0trbbHrseV4eFSWW-RnMvmv4PoY-bpS455SZw8ZimydI6KeV8IJCfahlrbkoFA_iMRV1wzrcMdMjzfjlZNjkeMly-nXlgUS6TIWGwxwGenRJXGDLX9vi9uKdqPBG2qwkHYY0SKJKFh1V36iq2uu3oZyK1Up5Iy4&amp;csui=3"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nsurance</a:t>
            </a:r>
            <a:r>
              <a:rPr lang="en-US" sz="1200" b="0" i="0" kern="1200" dirty="0">
                <a:solidFill>
                  <a:schemeClr val="tx1"/>
                </a:solidFill>
                <a:effectLst/>
                <a:latin typeface="+mn-lt"/>
                <a:ea typeface="+mn-ea"/>
                <a:cs typeface="+mn-cs"/>
              </a:rPr>
              <a:t> acceptability in Islam depends on its compliance with Sharia principles; </a:t>
            </a:r>
            <a:r>
              <a:rPr lang="en-US" sz="1200" b="0" i="0" kern="1200" dirty="0">
                <a:solidFill>
                  <a:schemeClr val="tx1"/>
                </a:solidFill>
                <a:effectLst/>
                <a:latin typeface="+mn-lt"/>
                <a:ea typeface="+mn-ea"/>
                <a:cs typeface="+mn-cs"/>
                <a:hlinkClick r:id="rId3"/>
              </a:rPr>
              <a:t>commercial insurance</a:t>
            </a:r>
            <a:r>
              <a:rPr lang="en-US" sz="1200" b="0" i="0" kern="1200" dirty="0">
                <a:solidFill>
                  <a:schemeClr val="tx1"/>
                </a:solidFill>
                <a:effectLst/>
                <a:latin typeface="+mn-lt"/>
                <a:ea typeface="+mn-ea"/>
                <a:cs typeface="+mn-cs"/>
              </a:rPr>
              <a:t> is generally forbidden due to elements like gambling (</a:t>
            </a:r>
            <a:r>
              <a:rPr lang="en-US" sz="1200" b="0" i="0" kern="1200" dirty="0" err="1">
                <a:solidFill>
                  <a:schemeClr val="tx1"/>
                </a:solidFill>
                <a:effectLst/>
                <a:latin typeface="+mn-lt"/>
                <a:ea typeface="+mn-ea"/>
                <a:cs typeface="+mn-cs"/>
                <a:hlinkClick r:id="rId4"/>
              </a:rPr>
              <a:t>gharar</a:t>
            </a:r>
            <a:r>
              <a:rPr lang="en-US" sz="1200" b="0" i="0" kern="1200" dirty="0">
                <a:solidFill>
                  <a:schemeClr val="tx1"/>
                </a:solidFill>
                <a:effectLst/>
                <a:latin typeface="+mn-lt"/>
                <a:ea typeface="+mn-ea"/>
                <a:cs typeface="+mn-cs"/>
              </a:rPr>
              <a:t>), excessive uncertainty, and interest (</a:t>
            </a:r>
            <a:r>
              <a:rPr lang="en-US" sz="1200" b="0" i="0" kern="1200" dirty="0" err="1">
                <a:solidFill>
                  <a:schemeClr val="tx1"/>
                </a:solidFill>
                <a:effectLst/>
                <a:latin typeface="+mn-lt"/>
                <a:ea typeface="+mn-ea"/>
                <a:cs typeface="+mn-cs"/>
                <a:hlinkClick r:id="rId5"/>
              </a:rPr>
              <a:t>riba</a:t>
            </a:r>
            <a:r>
              <a:rPr lang="en-US" sz="1200" b="0" i="0" kern="1200" dirty="0">
                <a:solidFill>
                  <a:schemeClr val="tx1"/>
                </a:solidFill>
                <a:effectLst/>
                <a:latin typeface="+mn-lt"/>
                <a:ea typeface="+mn-ea"/>
                <a:cs typeface="+mn-cs"/>
              </a:rPr>
              <a:t>), while alternative, Sharia-compliant forms like </a:t>
            </a:r>
            <a:r>
              <a:rPr lang="en-US" sz="1200" b="0" i="0" kern="1200" dirty="0">
                <a:solidFill>
                  <a:schemeClr val="tx1"/>
                </a:solidFill>
                <a:effectLst/>
                <a:latin typeface="+mn-lt"/>
                <a:ea typeface="+mn-ea"/>
                <a:cs typeface="+mn-cs"/>
                <a:hlinkClick r:id="rId6"/>
              </a:rPr>
              <a:t>Takaful</a:t>
            </a:r>
            <a:r>
              <a:rPr lang="en-US" sz="1200" b="0" i="0" kern="1200" dirty="0">
                <a:solidFill>
                  <a:schemeClr val="tx1"/>
                </a:solidFill>
                <a:effectLst/>
                <a:latin typeface="+mn-lt"/>
                <a:ea typeface="+mn-ea"/>
                <a:cs typeface="+mn-cs"/>
              </a:rPr>
              <a:t> are considered permissible. Takaful, or Islamic insurance, operates on principles of mutual cooperation and pooling funds among participants to protect against loss, making it acceptable for Muslims. </a:t>
            </a:r>
            <a:endParaRPr lang="en-IN" dirty="0"/>
          </a:p>
        </p:txBody>
      </p:sp>
      <p:sp>
        <p:nvSpPr>
          <p:cNvPr id="4" name="Slide Number Placeholder 3"/>
          <p:cNvSpPr>
            <a:spLocks noGrp="1"/>
          </p:cNvSpPr>
          <p:nvPr>
            <p:ph type="sldNum" sz="quarter" idx="5"/>
          </p:nvPr>
        </p:nvSpPr>
        <p:spPr/>
        <p:txBody>
          <a:bodyPr/>
          <a:lstStyle/>
          <a:p>
            <a:fld id="{B2D23D48-F3AC-43CF-9777-B1FA3B65EDEB}" type="slidenum">
              <a:rPr lang="en-IN" smtClean="0"/>
              <a:t>7</a:t>
            </a:fld>
            <a:endParaRPr lang="en-IN"/>
          </a:p>
        </p:txBody>
      </p:sp>
    </p:spTree>
    <p:extLst>
      <p:ext uri="{BB962C8B-B14F-4D97-AF65-F5344CB8AC3E}">
        <p14:creationId xmlns:p14="http://schemas.microsoft.com/office/powerpoint/2010/main" val="4285920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9/21/2025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45614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9/21/2025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738905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9/21/2025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62163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9/21/2025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807667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9/21/2025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9813418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9/21/2025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29421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9/21/2025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807836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9/21/2025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62167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9/21/2025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523005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9/21/2025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5318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9/21/2025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57607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9/21/2025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301462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79" r:id="rId6"/>
    <p:sldLayoutId id="2147483675" r:id="rId7"/>
    <p:sldLayoutId id="2147483676" r:id="rId8"/>
    <p:sldLayoutId id="2147483677" r:id="rId9"/>
    <p:sldLayoutId id="2147483678" r:id="rId10"/>
    <p:sldLayoutId id="2147483680"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www.investopedia.com/terms/e/economics.asp"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www.investopedia.com/articles/pf/10/know-your-consumer-protection-laws.asp"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xml"/><Relationship Id="rId3" Type="http://schemas.openxmlformats.org/officeDocument/2006/relationships/diagramLayout" Target="../diagrams/layout1.xml"/><Relationship Id="rId7" Type="http://schemas.openxmlformats.org/officeDocument/2006/relationships/diagramData" Target="../diagrams/data2.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microsoft.com/office/2007/relationships/diagramDrawing" Target="../diagrams/drawing2.xml"/><Relationship Id="rId5" Type="http://schemas.openxmlformats.org/officeDocument/2006/relationships/diagramColors" Target="../diagrams/colors1.xml"/><Relationship Id="rId10" Type="http://schemas.openxmlformats.org/officeDocument/2006/relationships/diagramColors" Target="../diagrams/colors2.xml"/><Relationship Id="rId4" Type="http://schemas.openxmlformats.org/officeDocument/2006/relationships/diagramQuickStyle" Target="../diagrams/quickStyle1.xml"/><Relationship Id="rId9" Type="http://schemas.openxmlformats.org/officeDocument/2006/relationships/diagramQuickStyle" Target="../diagrams/quickStyl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384627-69D6-D047-CD53-661724CD9810}"/>
              </a:ext>
            </a:extLst>
          </p:cNvPr>
          <p:cNvSpPr>
            <a:spLocks noGrp="1"/>
          </p:cNvSpPr>
          <p:nvPr>
            <p:ph type="ctrTitle"/>
          </p:nvPr>
        </p:nvSpPr>
        <p:spPr>
          <a:xfrm>
            <a:off x="5604552" y="871758"/>
            <a:ext cx="5825448" cy="3871143"/>
          </a:xfrm>
        </p:spPr>
        <p:txBody>
          <a:bodyPr>
            <a:normAutofit/>
          </a:bodyPr>
          <a:lstStyle/>
          <a:p>
            <a:r>
              <a:rPr lang="en-US" dirty="0"/>
              <a:t>Internationalization of </a:t>
            </a:r>
            <a:r>
              <a:rPr lang="en-US" dirty="0" err="1"/>
              <a:t>InsurTech</a:t>
            </a:r>
            <a:endParaRPr lang="en-IN" dirty="0"/>
          </a:p>
        </p:txBody>
      </p:sp>
      <p:sp>
        <p:nvSpPr>
          <p:cNvPr id="3" name="Subtitle 2">
            <a:extLst>
              <a:ext uri="{FF2B5EF4-FFF2-40B4-BE49-F238E27FC236}">
                <a16:creationId xmlns:a16="http://schemas.microsoft.com/office/drawing/2014/main" id="{C7E6FB45-97BA-E426-3D42-E7F7454D597E}"/>
              </a:ext>
            </a:extLst>
          </p:cNvPr>
          <p:cNvSpPr>
            <a:spLocks noGrp="1"/>
          </p:cNvSpPr>
          <p:nvPr>
            <p:ph type="subTitle" idx="1"/>
          </p:nvPr>
        </p:nvSpPr>
        <p:spPr>
          <a:xfrm>
            <a:off x="5619964" y="4785543"/>
            <a:ext cx="5322013" cy="1005657"/>
          </a:xfrm>
        </p:spPr>
        <p:txBody>
          <a:bodyPr>
            <a:normAutofit/>
          </a:bodyPr>
          <a:lstStyle/>
          <a:p>
            <a:r>
              <a:rPr lang="en-US" dirty="0" err="1"/>
              <a:t>Dr.SUMUKH</a:t>
            </a:r>
            <a:r>
              <a:rPr lang="en-US" dirty="0"/>
              <a:t> S.HUNGUND</a:t>
            </a:r>
            <a:endParaRPr lang="en-IN" dirty="0"/>
          </a:p>
        </p:txBody>
      </p:sp>
      <p:pic>
        <p:nvPicPr>
          <p:cNvPr id="4" name="Picture 3" descr="Low angle view of a Ferris wheel against a clear blue sky">
            <a:extLst>
              <a:ext uri="{FF2B5EF4-FFF2-40B4-BE49-F238E27FC236}">
                <a16:creationId xmlns:a16="http://schemas.microsoft.com/office/drawing/2014/main" id="{3ED2E8F4-09AF-5A46-A6A4-8177FB711294}"/>
              </a:ext>
            </a:extLst>
          </p:cNvPr>
          <p:cNvPicPr>
            <a:picLocks noChangeAspect="1"/>
          </p:cNvPicPr>
          <p:nvPr/>
        </p:nvPicPr>
        <p:blipFill>
          <a:blip r:embed="rId2"/>
          <a:srcRect l="25657" r="26875" b="-1"/>
          <a:stretch>
            <a:fillRect/>
          </a:stretch>
        </p:blipFill>
        <p:spPr>
          <a:xfrm>
            <a:off x="1" y="10"/>
            <a:ext cx="4876799" cy="6857989"/>
          </a:xfrm>
          <a:prstGeom prst="rect">
            <a:avLst/>
          </a:prstGeom>
        </p:spPr>
      </p:pic>
      <p:cxnSp>
        <p:nvCxnSpPr>
          <p:cNvPr id="11" name="Straight Connector 10">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723900"/>
            <a:ext cx="5706224"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2CF06E40-3ECB-4820-95B5-8A70B07D4B4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723776" y="6134100"/>
            <a:ext cx="5668124"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20645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C81680-F2C3-3979-597F-EC575F7505B0}"/>
              </a:ext>
            </a:extLst>
          </p:cNvPr>
          <p:cNvSpPr>
            <a:spLocks noGrp="1"/>
          </p:cNvSpPr>
          <p:nvPr>
            <p:ph type="title"/>
          </p:nvPr>
        </p:nvSpPr>
        <p:spPr>
          <a:xfrm>
            <a:off x="700635" y="914400"/>
            <a:ext cx="10691265" cy="720090"/>
          </a:xfrm>
        </p:spPr>
        <p:txBody>
          <a:bodyPr/>
          <a:lstStyle/>
          <a:p>
            <a:r>
              <a:rPr lang="en-IN" dirty="0"/>
              <a:t>what is internationalization?</a:t>
            </a:r>
          </a:p>
        </p:txBody>
      </p:sp>
      <p:sp>
        <p:nvSpPr>
          <p:cNvPr id="3" name="Content Placeholder 2">
            <a:extLst>
              <a:ext uri="{FF2B5EF4-FFF2-40B4-BE49-F238E27FC236}">
                <a16:creationId xmlns:a16="http://schemas.microsoft.com/office/drawing/2014/main" id="{0AB7DC38-6170-551E-5690-10F4D06A6AFF}"/>
              </a:ext>
            </a:extLst>
          </p:cNvPr>
          <p:cNvSpPr>
            <a:spLocks noGrp="1"/>
          </p:cNvSpPr>
          <p:nvPr>
            <p:ph idx="1"/>
          </p:nvPr>
        </p:nvSpPr>
        <p:spPr>
          <a:xfrm>
            <a:off x="700635" y="1851660"/>
            <a:ext cx="10691265" cy="4110228"/>
          </a:xfrm>
        </p:spPr>
        <p:txBody>
          <a:bodyPr/>
          <a:lstStyle/>
          <a:p>
            <a:r>
              <a:rPr lang="en-US" dirty="0"/>
              <a:t>Internationalization is the process of designing products, systems, or services to be easily adaptable for various regions, languages, and cultures without engineering changes, often shortened to i18n.</a:t>
            </a:r>
          </a:p>
          <a:p>
            <a:r>
              <a:rPr lang="en-US" dirty="0"/>
              <a:t>It involves building the foundational capabilities so that the product can be localized into specific languages and cultures later on, laying the groundwork for easier and faster adaptation to diverse international markets. </a:t>
            </a:r>
          </a:p>
          <a:p>
            <a:r>
              <a:rPr lang="en-US" dirty="0"/>
              <a:t>In the context of </a:t>
            </a:r>
            <a:r>
              <a:rPr lang="en-US" u="sng" dirty="0">
                <a:hlinkClick r:id="rId2"/>
              </a:rPr>
              <a:t>economics</a:t>
            </a:r>
            <a:r>
              <a:rPr lang="en-US" dirty="0"/>
              <a:t>, internationalization can refer to a company that takes steps to increase its footprint or capture greater market share outside of its country of domicile by branching out into international markets.</a:t>
            </a:r>
            <a:endParaRPr lang="en-IN" dirty="0"/>
          </a:p>
        </p:txBody>
      </p:sp>
    </p:spTree>
    <p:extLst>
      <p:ext uri="{BB962C8B-B14F-4D97-AF65-F5344CB8AC3E}">
        <p14:creationId xmlns:p14="http://schemas.microsoft.com/office/powerpoint/2010/main" val="1077067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2F3D2C-3A24-1284-4643-31DC125EF2C8}"/>
              </a:ext>
            </a:extLst>
          </p:cNvPr>
          <p:cNvSpPr>
            <a:spLocks noGrp="1"/>
          </p:cNvSpPr>
          <p:nvPr>
            <p:ph idx="1"/>
          </p:nvPr>
        </p:nvSpPr>
        <p:spPr>
          <a:xfrm>
            <a:off x="700635" y="1405890"/>
            <a:ext cx="10691265" cy="4555998"/>
          </a:xfrm>
        </p:spPr>
        <p:txBody>
          <a:bodyPr/>
          <a:lstStyle/>
          <a:p>
            <a:r>
              <a:rPr lang="en-US" dirty="0"/>
              <a:t>When a company produces goods for a wide range of customers in different countries, the products that are internationalized often must be localized to fit the needs of a given country's </a:t>
            </a:r>
            <a:r>
              <a:rPr lang="en-US" u="sng" dirty="0">
                <a:hlinkClick r:id="rId2"/>
              </a:rPr>
              <a:t>consumers</a:t>
            </a:r>
            <a:r>
              <a:rPr lang="en-US" dirty="0"/>
              <a:t>.</a:t>
            </a:r>
          </a:p>
          <a:p>
            <a:r>
              <a:rPr lang="en-US" dirty="0"/>
              <a:t>For example, an internationalized software program must be localized so that it displays the date convention as "November 14" in the United States, but as "14 November" in England. </a:t>
            </a:r>
          </a:p>
          <a:p>
            <a:r>
              <a:rPr lang="en-US" dirty="0"/>
              <a:t>Likewise, units in America are measured in feet or miles, while in Europe and Canada they use the metric system. This means that cars sold across these markets must be able to quickly interchange between miles and kilometers.</a:t>
            </a:r>
          </a:p>
          <a:p>
            <a:endParaRPr lang="en-IN" dirty="0"/>
          </a:p>
        </p:txBody>
      </p:sp>
    </p:spTree>
    <p:extLst>
      <p:ext uri="{BB962C8B-B14F-4D97-AF65-F5344CB8AC3E}">
        <p14:creationId xmlns:p14="http://schemas.microsoft.com/office/powerpoint/2010/main" val="3438167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6C42-57EE-CBA7-C587-6602B9EAAE7F}"/>
              </a:ext>
            </a:extLst>
          </p:cNvPr>
          <p:cNvSpPr>
            <a:spLocks noGrp="1"/>
          </p:cNvSpPr>
          <p:nvPr>
            <p:ph type="title"/>
          </p:nvPr>
        </p:nvSpPr>
        <p:spPr/>
        <p:txBody>
          <a:bodyPr/>
          <a:lstStyle/>
          <a:p>
            <a:r>
              <a:rPr lang="en-US" dirty="0"/>
              <a:t>Insurtech</a:t>
            </a:r>
            <a:endParaRPr lang="en-IN" dirty="0"/>
          </a:p>
        </p:txBody>
      </p:sp>
      <p:sp>
        <p:nvSpPr>
          <p:cNvPr id="3" name="Content Placeholder 2">
            <a:extLst>
              <a:ext uri="{FF2B5EF4-FFF2-40B4-BE49-F238E27FC236}">
                <a16:creationId xmlns:a16="http://schemas.microsoft.com/office/drawing/2014/main" id="{4CFD48DC-B8DB-0464-6C20-610E137260EB}"/>
              </a:ext>
            </a:extLst>
          </p:cNvPr>
          <p:cNvSpPr>
            <a:spLocks noGrp="1"/>
          </p:cNvSpPr>
          <p:nvPr>
            <p:ph idx="1"/>
          </p:nvPr>
        </p:nvSpPr>
        <p:spPr/>
        <p:txBody>
          <a:bodyPr/>
          <a:lstStyle/>
          <a:p>
            <a:r>
              <a:rPr lang="en-US" dirty="0"/>
              <a:t>Internationalization of </a:t>
            </a:r>
            <a:r>
              <a:rPr lang="en-US" dirty="0" err="1"/>
              <a:t>InsurTech</a:t>
            </a:r>
            <a:r>
              <a:rPr lang="en-US" dirty="0"/>
              <a:t> refers to the expansion of insurance technology startups beyond their home markets into foreign countries to access new customer bases and drive global growth. </a:t>
            </a:r>
          </a:p>
          <a:p>
            <a:r>
              <a:rPr lang="en-US" dirty="0"/>
              <a:t>This trend is fueled by technological advancements, shifting consumer preferences, and the potential of underserved markets, though it is hindered by regulatory, competitive, and cultural hurdles.</a:t>
            </a:r>
            <a:endParaRPr lang="en-IN" dirty="0"/>
          </a:p>
        </p:txBody>
      </p:sp>
    </p:spTree>
    <p:extLst>
      <p:ext uri="{BB962C8B-B14F-4D97-AF65-F5344CB8AC3E}">
        <p14:creationId xmlns:p14="http://schemas.microsoft.com/office/powerpoint/2010/main" val="699979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BC7F60-60E9-5FE8-FE09-A94FDE220257}"/>
              </a:ext>
            </a:extLst>
          </p:cNvPr>
          <p:cNvSpPr>
            <a:spLocks noGrp="1"/>
          </p:cNvSpPr>
          <p:nvPr>
            <p:ph type="title"/>
          </p:nvPr>
        </p:nvSpPr>
        <p:spPr>
          <a:xfrm>
            <a:off x="700635" y="914400"/>
            <a:ext cx="10691265" cy="811530"/>
          </a:xfrm>
        </p:spPr>
        <p:txBody>
          <a:bodyPr/>
          <a:lstStyle/>
          <a:p>
            <a:r>
              <a:rPr lang="en-IN" dirty="0"/>
              <a:t>Drivers of internationalization</a:t>
            </a:r>
          </a:p>
        </p:txBody>
      </p:sp>
      <p:sp>
        <p:nvSpPr>
          <p:cNvPr id="3" name="Content Placeholder 2">
            <a:extLst>
              <a:ext uri="{FF2B5EF4-FFF2-40B4-BE49-F238E27FC236}">
                <a16:creationId xmlns:a16="http://schemas.microsoft.com/office/drawing/2014/main" id="{EAAB5592-3CEE-421F-F837-ECD2E2F8FA4D}"/>
              </a:ext>
            </a:extLst>
          </p:cNvPr>
          <p:cNvSpPr>
            <a:spLocks noGrp="1"/>
          </p:cNvSpPr>
          <p:nvPr>
            <p:ph idx="1"/>
          </p:nvPr>
        </p:nvSpPr>
        <p:spPr>
          <a:xfrm>
            <a:off x="700635" y="1817370"/>
            <a:ext cx="10691265" cy="4144518"/>
          </a:xfrm>
        </p:spPr>
        <p:txBody>
          <a:bodyPr>
            <a:normAutofit fontScale="85000" lnSpcReduction="10000"/>
          </a:bodyPr>
          <a:lstStyle/>
          <a:p>
            <a:r>
              <a:rPr lang="en-US" b="1" dirty="0"/>
              <a:t>Expansion into high-growth emerging markets</a:t>
            </a:r>
          </a:p>
          <a:p>
            <a:pPr lvl="1"/>
            <a:r>
              <a:rPr lang="en-US" dirty="0"/>
              <a:t>Many emerging economies, especially in the Asia-Pacific (APAC) region, are experiencing rapid growth in their middle-class populations, increasing digital and smartphone adoption, and low historic insurance penetration rates. </a:t>
            </a:r>
          </a:p>
          <a:p>
            <a:pPr lvl="1"/>
            <a:r>
              <a:rPr lang="en-US" dirty="0" err="1"/>
              <a:t>InsurTechs</a:t>
            </a:r>
            <a:r>
              <a:rPr lang="en-US" dirty="0"/>
              <a:t> see these regions as significant opportunities to provide affordable and accessible digital-first solutions tailored to local needs</a:t>
            </a:r>
            <a:endParaRPr lang="en-US" b="1" dirty="0"/>
          </a:p>
          <a:p>
            <a:r>
              <a:rPr lang="en-IN" b="1" dirty="0"/>
              <a:t>Technological innovation</a:t>
            </a:r>
          </a:p>
          <a:p>
            <a:pPr lvl="1"/>
            <a:r>
              <a:rPr lang="en-US" dirty="0"/>
              <a:t>Key innovations such as AI, machine learning (ML), big data, and blockchain are enabling </a:t>
            </a:r>
            <a:r>
              <a:rPr lang="en-US" dirty="0" err="1"/>
              <a:t>InsurTechs</a:t>
            </a:r>
            <a:r>
              <a:rPr lang="en-US" dirty="0"/>
              <a:t> to create scalable, efficient, and personalized products. </a:t>
            </a:r>
          </a:p>
          <a:p>
            <a:pPr lvl="1"/>
            <a:r>
              <a:rPr lang="en-US" dirty="0"/>
              <a:t>These technologies streamline core processes like underwriting and claims management, providing a competitive edge in new markets.</a:t>
            </a:r>
            <a:endParaRPr lang="en-IN" b="1" dirty="0"/>
          </a:p>
          <a:p>
            <a:r>
              <a:rPr lang="en-IN" b="1" dirty="0"/>
              <a:t>Changing consumer expectations</a:t>
            </a:r>
          </a:p>
          <a:p>
            <a:pPr lvl="1"/>
            <a:r>
              <a:rPr lang="en-US" dirty="0"/>
              <a:t>Modern consumers demand convenience, transparency, and personalization in their insurance products. </a:t>
            </a:r>
          </a:p>
          <a:p>
            <a:pPr lvl="1"/>
            <a:r>
              <a:rPr lang="en-US" dirty="0"/>
              <a:t>Digital-native </a:t>
            </a:r>
            <a:r>
              <a:rPr lang="en-US" dirty="0" err="1"/>
              <a:t>InsurTechs</a:t>
            </a:r>
            <a:r>
              <a:rPr lang="en-US" dirty="0"/>
              <a:t>, with their user-friendly platforms and mobile apps, are well-positioned to meet these expectations and attract tech-savvy customers globally.</a:t>
            </a:r>
            <a:endParaRPr lang="en-IN" b="1" dirty="0"/>
          </a:p>
          <a:p>
            <a:endParaRPr lang="en-IN" dirty="0"/>
          </a:p>
        </p:txBody>
      </p:sp>
    </p:spTree>
    <p:extLst>
      <p:ext uri="{BB962C8B-B14F-4D97-AF65-F5344CB8AC3E}">
        <p14:creationId xmlns:p14="http://schemas.microsoft.com/office/powerpoint/2010/main" val="3873671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7E455-911D-53B6-6A62-9DB1715558DB}"/>
              </a:ext>
            </a:extLst>
          </p:cNvPr>
          <p:cNvSpPr>
            <a:spLocks noGrp="1"/>
          </p:cNvSpPr>
          <p:nvPr>
            <p:ph type="title"/>
          </p:nvPr>
        </p:nvSpPr>
        <p:spPr>
          <a:xfrm>
            <a:off x="700635" y="914400"/>
            <a:ext cx="10691265" cy="868680"/>
          </a:xfrm>
        </p:spPr>
        <p:txBody>
          <a:bodyPr/>
          <a:lstStyle/>
          <a:p>
            <a:r>
              <a:rPr lang="en-US" dirty="0"/>
              <a:t>Drivers </a:t>
            </a:r>
            <a:r>
              <a:rPr lang="en-US" dirty="0" err="1"/>
              <a:t>contd</a:t>
            </a:r>
            <a:endParaRPr lang="en-IN" dirty="0"/>
          </a:p>
        </p:txBody>
      </p:sp>
      <p:sp>
        <p:nvSpPr>
          <p:cNvPr id="3" name="Content Placeholder 2">
            <a:extLst>
              <a:ext uri="{FF2B5EF4-FFF2-40B4-BE49-F238E27FC236}">
                <a16:creationId xmlns:a16="http://schemas.microsoft.com/office/drawing/2014/main" id="{75932A01-6614-A66B-F55C-C1373E7E4C53}"/>
              </a:ext>
            </a:extLst>
          </p:cNvPr>
          <p:cNvSpPr>
            <a:spLocks noGrp="1"/>
          </p:cNvSpPr>
          <p:nvPr>
            <p:ph idx="1"/>
          </p:nvPr>
        </p:nvSpPr>
        <p:spPr>
          <a:xfrm>
            <a:off x="700635" y="1863090"/>
            <a:ext cx="10691265" cy="4098798"/>
          </a:xfrm>
        </p:spPr>
        <p:txBody>
          <a:bodyPr/>
          <a:lstStyle/>
          <a:p>
            <a:r>
              <a:rPr lang="en-IN" b="1" dirty="0"/>
              <a:t>Intense domestic competition</a:t>
            </a:r>
          </a:p>
          <a:p>
            <a:pPr lvl="1"/>
            <a:r>
              <a:rPr lang="en-US" dirty="0"/>
              <a:t>As home markets become saturated, </a:t>
            </a:r>
            <a:r>
              <a:rPr lang="en-US" dirty="0" err="1"/>
              <a:t>InsurTech</a:t>
            </a:r>
            <a:r>
              <a:rPr lang="en-US" dirty="0"/>
              <a:t> startups seek international expansion to find larger markets and higher-value transaction sizes. </a:t>
            </a:r>
          </a:p>
          <a:p>
            <a:pPr lvl="1"/>
            <a:r>
              <a:rPr lang="en-US" dirty="0"/>
              <a:t>For instance, Indian </a:t>
            </a:r>
            <a:r>
              <a:rPr lang="en-US" dirty="0" err="1"/>
              <a:t>InsurTechs</a:t>
            </a:r>
            <a:r>
              <a:rPr lang="en-US" dirty="0"/>
              <a:t> are expanding into West Asia, Southeast Asia, and Europe to overcome stiff local competition.</a:t>
            </a:r>
            <a:endParaRPr lang="en-IN" b="1" dirty="0"/>
          </a:p>
          <a:p>
            <a:r>
              <a:rPr lang="en-IN" b="1" dirty="0"/>
              <a:t>Strategic partnerships</a:t>
            </a:r>
          </a:p>
          <a:p>
            <a:pPr lvl="1"/>
            <a:r>
              <a:rPr lang="en-US" dirty="0"/>
              <a:t>Collaboration between </a:t>
            </a:r>
            <a:r>
              <a:rPr lang="en-US" dirty="0" err="1"/>
              <a:t>InsurTechs</a:t>
            </a:r>
            <a:r>
              <a:rPr lang="en-US" dirty="0"/>
              <a:t> and traditional insurers is a common driver for international growth. </a:t>
            </a:r>
          </a:p>
          <a:p>
            <a:pPr lvl="1"/>
            <a:r>
              <a:rPr lang="en-US" dirty="0" err="1"/>
              <a:t>InsurTechs</a:t>
            </a:r>
            <a:r>
              <a:rPr lang="en-US" dirty="0"/>
              <a:t> can leverage the brand recognition and capital of established players to enter foreign markets, while incumbents benefit from the startups' agility and innovation. </a:t>
            </a:r>
            <a:endParaRPr lang="en-IN" b="1" dirty="0"/>
          </a:p>
          <a:p>
            <a:endParaRPr lang="en-IN" dirty="0"/>
          </a:p>
        </p:txBody>
      </p:sp>
    </p:spTree>
    <p:extLst>
      <p:ext uri="{BB962C8B-B14F-4D97-AF65-F5344CB8AC3E}">
        <p14:creationId xmlns:p14="http://schemas.microsoft.com/office/powerpoint/2010/main" val="3692962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CCE55-6330-A2AC-A17C-5649BB719620}"/>
              </a:ext>
            </a:extLst>
          </p:cNvPr>
          <p:cNvSpPr>
            <a:spLocks noGrp="1"/>
          </p:cNvSpPr>
          <p:nvPr>
            <p:ph type="title"/>
          </p:nvPr>
        </p:nvSpPr>
        <p:spPr>
          <a:xfrm>
            <a:off x="700635" y="914400"/>
            <a:ext cx="10691265" cy="834390"/>
          </a:xfrm>
        </p:spPr>
        <p:txBody>
          <a:bodyPr/>
          <a:lstStyle/>
          <a:p>
            <a:r>
              <a:rPr lang="en-IN" dirty="0"/>
              <a:t>Internationalization strategies</a:t>
            </a:r>
          </a:p>
        </p:txBody>
      </p:sp>
      <p:sp>
        <p:nvSpPr>
          <p:cNvPr id="3" name="Content Placeholder 2">
            <a:extLst>
              <a:ext uri="{FF2B5EF4-FFF2-40B4-BE49-F238E27FC236}">
                <a16:creationId xmlns:a16="http://schemas.microsoft.com/office/drawing/2014/main" id="{C238346D-A5EA-B1D9-4428-AC82F32A878A}"/>
              </a:ext>
            </a:extLst>
          </p:cNvPr>
          <p:cNvSpPr>
            <a:spLocks noGrp="1"/>
          </p:cNvSpPr>
          <p:nvPr>
            <p:ph idx="1"/>
          </p:nvPr>
        </p:nvSpPr>
        <p:spPr>
          <a:xfrm>
            <a:off x="700635" y="1748790"/>
            <a:ext cx="10691265" cy="4213098"/>
          </a:xfrm>
        </p:spPr>
        <p:txBody>
          <a:bodyPr>
            <a:normAutofit fontScale="85000" lnSpcReduction="10000"/>
          </a:bodyPr>
          <a:lstStyle/>
          <a:p>
            <a:r>
              <a:rPr lang="en-US" b="1" dirty="0"/>
              <a:t>Market penetration:</a:t>
            </a:r>
            <a:r>
              <a:rPr lang="en-US" dirty="0"/>
              <a:t> </a:t>
            </a:r>
          </a:p>
          <a:p>
            <a:pPr lvl="1"/>
            <a:r>
              <a:rPr lang="en-US" dirty="0"/>
              <a:t>Deploying mobile-first solutions in regions with high smartphone usage, like APAC and the Middle East, is a primary strategy. </a:t>
            </a:r>
          </a:p>
          <a:p>
            <a:pPr lvl="1"/>
            <a:r>
              <a:rPr lang="en-US" dirty="0"/>
              <a:t>This approach is effective in countries with historically low insurance penetration.</a:t>
            </a:r>
          </a:p>
          <a:p>
            <a:r>
              <a:rPr lang="en-US" b="1" dirty="0"/>
              <a:t>Localized solutions:</a:t>
            </a:r>
          </a:p>
          <a:p>
            <a:pPr lvl="1"/>
            <a:r>
              <a:rPr lang="en-US" dirty="0"/>
              <a:t> Successful expansion requires tailoring products to local cultures, needs, and regulatory environments. </a:t>
            </a:r>
          </a:p>
          <a:p>
            <a:pPr lvl="1"/>
            <a:r>
              <a:rPr lang="en-US" dirty="0"/>
              <a:t>For example, some </a:t>
            </a:r>
            <a:r>
              <a:rPr lang="en-US" dirty="0" err="1"/>
              <a:t>InsurTechs</a:t>
            </a:r>
            <a:r>
              <a:rPr lang="en-US" dirty="0"/>
              <a:t> in the Middle East offer Takaful (Islamic insurance) policies, aligning with regional cultural and financial principles.</a:t>
            </a:r>
          </a:p>
          <a:p>
            <a:r>
              <a:rPr lang="en-US" b="1" dirty="0"/>
              <a:t>Partnering with local firms:</a:t>
            </a:r>
            <a:r>
              <a:rPr lang="en-US" dirty="0"/>
              <a:t> </a:t>
            </a:r>
          </a:p>
          <a:p>
            <a:pPr lvl="1"/>
            <a:r>
              <a:rPr lang="en-US" dirty="0"/>
              <a:t>Collaborating with domestic insurers or brokers can provide crucial market insights, navigate regulatory hurdles, and gain access to existing distribution channels and customer bases.</a:t>
            </a:r>
          </a:p>
          <a:p>
            <a:r>
              <a:rPr lang="en-US" b="1" dirty="0"/>
              <a:t>Targeted development:</a:t>
            </a:r>
          </a:p>
          <a:p>
            <a:pPr lvl="1"/>
            <a:r>
              <a:rPr lang="en-US" dirty="0"/>
              <a:t> Focusing on specific product lines, such as micro-insurance for emerging markets or embedded insurance in other services, can allow for specialized entry into new territories.</a:t>
            </a:r>
          </a:p>
          <a:p>
            <a:endParaRPr lang="en-IN" dirty="0"/>
          </a:p>
        </p:txBody>
      </p:sp>
    </p:spTree>
    <p:extLst>
      <p:ext uri="{BB962C8B-B14F-4D97-AF65-F5344CB8AC3E}">
        <p14:creationId xmlns:p14="http://schemas.microsoft.com/office/powerpoint/2010/main" val="25330006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3" presetID="2" presetClass="entr" presetSubtype="4" fill="hold" grpId="0" nodeType="withEffect">
                                  <p:stCondLst>
                                    <p:cond delay="0"/>
                                  </p:stCondLst>
                                  <p:childTnLst>
                                    <p:set>
                                      <p:cBhvr>
                                        <p:cTn id="44" dur="1" fill="hold">
                                          <p:stCondLst>
                                            <p:cond delay="0"/>
                                          </p:stCondLst>
                                        </p:cTn>
                                        <p:tgtEl>
                                          <p:spTgt spid="3">
                                            <p:txEl>
                                              <p:pRg st="7" end="7"/>
                                            </p:txEl>
                                          </p:spTgt>
                                        </p:tgtEl>
                                        <p:attrNameLst>
                                          <p:attrName>style.visibility</p:attrName>
                                        </p:attrNameLst>
                                      </p:cBhvr>
                                      <p:to>
                                        <p:strVal val="visible"/>
                                      </p:to>
                                    </p:set>
                                    <p:anim calcmode="lin" valueType="num">
                                      <p:cBhvr additive="base">
                                        <p:cTn id="4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anim calcmode="lin" valueType="num">
                                      <p:cBhvr additive="base">
                                        <p:cTn id="5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8" end="8"/>
                                            </p:txEl>
                                          </p:spTgt>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3">
                                            <p:txEl>
                                              <p:pRg st="9" end="9"/>
                                            </p:txEl>
                                          </p:spTgt>
                                        </p:tgtEl>
                                        <p:attrNameLst>
                                          <p:attrName>style.visibility</p:attrName>
                                        </p:attrNameLst>
                                      </p:cBhvr>
                                      <p:to>
                                        <p:strVal val="visible"/>
                                      </p:to>
                                    </p:set>
                                    <p:anim calcmode="lin" valueType="num">
                                      <p:cBhvr additive="base">
                                        <p:cTn id="5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FE3BD-3C26-EF36-1026-F8EAB33EF2BB}"/>
              </a:ext>
            </a:extLst>
          </p:cNvPr>
          <p:cNvSpPr>
            <a:spLocks noGrp="1"/>
          </p:cNvSpPr>
          <p:nvPr>
            <p:ph type="title"/>
          </p:nvPr>
        </p:nvSpPr>
        <p:spPr>
          <a:xfrm>
            <a:off x="700635" y="914400"/>
            <a:ext cx="10691265" cy="777240"/>
          </a:xfrm>
        </p:spPr>
        <p:txBody>
          <a:bodyPr/>
          <a:lstStyle/>
          <a:p>
            <a:r>
              <a:rPr lang="en-IN" dirty="0"/>
              <a:t>challenges and risks</a:t>
            </a:r>
          </a:p>
        </p:txBody>
      </p:sp>
      <p:sp>
        <p:nvSpPr>
          <p:cNvPr id="3" name="Content Placeholder 2">
            <a:extLst>
              <a:ext uri="{FF2B5EF4-FFF2-40B4-BE49-F238E27FC236}">
                <a16:creationId xmlns:a16="http://schemas.microsoft.com/office/drawing/2014/main" id="{319A4E40-36AC-5A0B-8431-FA6719F3F5FA}"/>
              </a:ext>
            </a:extLst>
          </p:cNvPr>
          <p:cNvSpPr>
            <a:spLocks noGrp="1"/>
          </p:cNvSpPr>
          <p:nvPr>
            <p:ph idx="1"/>
          </p:nvPr>
        </p:nvSpPr>
        <p:spPr>
          <a:xfrm>
            <a:off x="700635" y="1783080"/>
            <a:ext cx="10691265" cy="4178808"/>
          </a:xfrm>
        </p:spPr>
        <p:txBody>
          <a:bodyPr>
            <a:normAutofit/>
          </a:bodyPr>
          <a:lstStyle/>
          <a:p>
            <a:r>
              <a:rPr lang="en-US" b="1" dirty="0"/>
              <a:t>Complex and fragmented regulations:</a:t>
            </a:r>
            <a:r>
              <a:rPr lang="en-US" dirty="0"/>
              <a:t> </a:t>
            </a:r>
          </a:p>
          <a:p>
            <a:pPr lvl="1"/>
            <a:r>
              <a:rPr lang="en-US" dirty="0"/>
              <a:t>The insurance industry is heavily regulated, and rules vary significantly by country concerning consumer protection, data privacy, and financial solvency.</a:t>
            </a:r>
          </a:p>
          <a:p>
            <a:pPr lvl="1"/>
            <a:r>
              <a:rPr lang="en-US" dirty="0"/>
              <a:t> Navigating these differing legal frameworks is time-consuming and costly, particularly for startups.</a:t>
            </a:r>
          </a:p>
          <a:p>
            <a:r>
              <a:rPr lang="en-US" b="1" dirty="0"/>
              <a:t>Competition from incumbents and local startups:</a:t>
            </a:r>
            <a:r>
              <a:rPr lang="en-US" dirty="0"/>
              <a:t> </a:t>
            </a:r>
          </a:p>
          <a:p>
            <a:pPr lvl="1"/>
            <a:r>
              <a:rPr lang="en-US" dirty="0"/>
              <a:t>In mature markets, </a:t>
            </a:r>
            <a:r>
              <a:rPr lang="en-US" dirty="0" err="1"/>
              <a:t>InsurTechs</a:t>
            </a:r>
            <a:r>
              <a:rPr lang="en-US" dirty="0"/>
              <a:t> face competition from well-established traditional insurers that are rapidly adopting digital solutions. </a:t>
            </a:r>
          </a:p>
          <a:p>
            <a:pPr lvl="1"/>
            <a:r>
              <a:rPr lang="en-US" dirty="0"/>
              <a:t>In emerging markets, they must contend with local startups that possess deeper knowledge of domestic consumer behaviors and needs.</a:t>
            </a:r>
          </a:p>
          <a:p>
            <a:endParaRPr lang="en-IN" dirty="0"/>
          </a:p>
        </p:txBody>
      </p:sp>
    </p:spTree>
    <p:extLst>
      <p:ext uri="{BB962C8B-B14F-4D97-AF65-F5344CB8AC3E}">
        <p14:creationId xmlns:p14="http://schemas.microsoft.com/office/powerpoint/2010/main" val="224388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 calcmode="lin" valueType="num">
                                      <p:cBhvr additive="base">
                                        <p:cTn id="2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E1EB29-7A0F-D0B9-EC7F-A5D2E7ED4836}"/>
              </a:ext>
            </a:extLst>
          </p:cNvPr>
          <p:cNvSpPr>
            <a:spLocks noGrp="1"/>
          </p:cNvSpPr>
          <p:nvPr>
            <p:ph idx="1"/>
          </p:nvPr>
        </p:nvSpPr>
        <p:spPr>
          <a:xfrm>
            <a:off x="700635" y="1211580"/>
            <a:ext cx="10691265" cy="4750308"/>
          </a:xfrm>
        </p:spPr>
        <p:txBody>
          <a:bodyPr>
            <a:normAutofit/>
          </a:bodyPr>
          <a:lstStyle/>
          <a:p>
            <a:r>
              <a:rPr lang="en-US" b="1" dirty="0"/>
              <a:t>Building customer trust and addressing cultural differences:</a:t>
            </a:r>
          </a:p>
          <a:p>
            <a:pPr lvl="1"/>
            <a:r>
              <a:rPr lang="en-US" dirty="0"/>
              <a:t> Insurance is built on trust, which is difficult for new, foreign digital companies to establish. </a:t>
            </a:r>
          </a:p>
          <a:p>
            <a:pPr lvl="1"/>
            <a:r>
              <a:rPr lang="en-US" dirty="0"/>
              <a:t>Overcoming cultural barriers and local preferences requires significant investment in brand-building and demonstrating a clear understanding of the new market.</a:t>
            </a:r>
          </a:p>
          <a:p>
            <a:r>
              <a:rPr lang="en-US" b="1" dirty="0"/>
              <a:t>Profitability and sustainability:</a:t>
            </a:r>
          </a:p>
          <a:p>
            <a:pPr lvl="1"/>
            <a:r>
              <a:rPr lang="en-US" dirty="0"/>
              <a:t> Achieving sustainable profitability remains a challenge for many </a:t>
            </a:r>
            <a:r>
              <a:rPr lang="en-US" dirty="0" err="1"/>
              <a:t>InsurTechs</a:t>
            </a:r>
            <a:r>
              <a:rPr lang="en-US" dirty="0"/>
              <a:t>. </a:t>
            </a:r>
          </a:p>
          <a:p>
            <a:pPr lvl="1"/>
            <a:r>
              <a:rPr lang="en-US" dirty="0"/>
              <a:t>Scaling quickly in new markets comes with high costs for customer acquisition, technology development, and regulatory compliance, and investor sentiment now prioritizes profitability over rapid growth.</a:t>
            </a:r>
          </a:p>
          <a:p>
            <a:r>
              <a:rPr lang="en-US" b="1" dirty="0"/>
              <a:t>Data security and privacy concerns:</a:t>
            </a:r>
            <a:r>
              <a:rPr lang="en-US" dirty="0"/>
              <a:t> </a:t>
            </a:r>
          </a:p>
          <a:p>
            <a:pPr lvl="1"/>
            <a:r>
              <a:rPr lang="en-US" dirty="0"/>
              <a:t>International expansion increases the burden of protecting sensitive customer data across different jurisdictions with varying privacy laws. </a:t>
            </a:r>
          </a:p>
          <a:p>
            <a:pPr lvl="1"/>
            <a:r>
              <a:rPr lang="en-US" dirty="0"/>
              <a:t>Ensuring robust cybersecurity is a major financial and operational challenge. </a:t>
            </a:r>
          </a:p>
          <a:p>
            <a:endParaRPr lang="en-IN" dirty="0"/>
          </a:p>
        </p:txBody>
      </p:sp>
    </p:spTree>
    <p:extLst>
      <p:ext uri="{BB962C8B-B14F-4D97-AF65-F5344CB8AC3E}">
        <p14:creationId xmlns:p14="http://schemas.microsoft.com/office/powerpoint/2010/main" val="2406988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 calcmode="lin" valueType="num">
                                      <p:cBhvr additive="base">
                                        <p:cTn id="1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 calcmode="lin" valueType="num">
                                      <p:cBhvr additive="base">
                                        <p:cTn id="2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 calcmode="lin" valueType="num">
                                      <p:cBhvr additive="base">
                                        <p:cTn id="3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 calcmode="lin" valueType="num">
                                      <p:cBhvr additive="base">
                                        <p:cTn id="3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440D8-CC01-6E1F-65BB-C03F1D9EBAA4}"/>
              </a:ext>
            </a:extLst>
          </p:cNvPr>
          <p:cNvSpPr>
            <a:spLocks noGrp="1"/>
          </p:cNvSpPr>
          <p:nvPr>
            <p:ph type="title"/>
          </p:nvPr>
        </p:nvSpPr>
        <p:spPr>
          <a:xfrm>
            <a:off x="700635" y="914400"/>
            <a:ext cx="10691265" cy="822960"/>
          </a:xfrm>
        </p:spPr>
        <p:txBody>
          <a:bodyPr/>
          <a:lstStyle/>
          <a:p>
            <a:r>
              <a:rPr lang="en-US" dirty="0"/>
              <a:t>Take aways</a:t>
            </a:r>
            <a:endParaRPr lang="en-IN" dirty="0"/>
          </a:p>
        </p:txBody>
      </p:sp>
      <p:sp>
        <p:nvSpPr>
          <p:cNvPr id="3" name="Content Placeholder 2">
            <a:extLst>
              <a:ext uri="{FF2B5EF4-FFF2-40B4-BE49-F238E27FC236}">
                <a16:creationId xmlns:a16="http://schemas.microsoft.com/office/drawing/2014/main" id="{661E2425-487D-010A-6F3E-AC4AB7D2F918}"/>
              </a:ext>
            </a:extLst>
          </p:cNvPr>
          <p:cNvSpPr>
            <a:spLocks noGrp="1"/>
          </p:cNvSpPr>
          <p:nvPr>
            <p:ph idx="1"/>
          </p:nvPr>
        </p:nvSpPr>
        <p:spPr/>
        <p:txBody>
          <a:bodyPr/>
          <a:lstStyle/>
          <a:p>
            <a:r>
              <a:rPr lang="en-US" dirty="0"/>
              <a:t>Internationalization describes designing a product in a way that it may be readily consumed across multiple countries.</a:t>
            </a:r>
          </a:p>
          <a:p>
            <a:r>
              <a:rPr lang="en-US" dirty="0"/>
              <a:t>This process is used by companies looking to expand their global footprint beyond their own domestic market understanding consumers abroad may have different tastes or habits.</a:t>
            </a:r>
          </a:p>
          <a:p>
            <a:r>
              <a:rPr lang="en-US" dirty="0"/>
              <a:t>Internationalization often requires modifying products to conform to the technical or cultural needs of a given country, such as creating plugs suitable for different types of electrical outlets.</a:t>
            </a:r>
          </a:p>
          <a:p>
            <a:endParaRPr lang="en-IN" dirty="0"/>
          </a:p>
        </p:txBody>
      </p:sp>
    </p:spTree>
    <p:extLst>
      <p:ext uri="{BB962C8B-B14F-4D97-AF65-F5344CB8AC3E}">
        <p14:creationId xmlns:p14="http://schemas.microsoft.com/office/powerpoint/2010/main" val="1327532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84037-DB0A-628D-C61F-DE28A30BD488}"/>
              </a:ext>
            </a:extLst>
          </p:cNvPr>
          <p:cNvSpPr>
            <a:spLocks noGrp="1"/>
          </p:cNvSpPr>
          <p:nvPr>
            <p:ph type="title"/>
          </p:nvPr>
        </p:nvSpPr>
        <p:spPr/>
        <p:txBody>
          <a:bodyPr/>
          <a:lstStyle/>
          <a:p>
            <a:r>
              <a:rPr lang="en-US" dirty="0"/>
              <a:t>Global phenomenon in different markets</a:t>
            </a:r>
            <a:endParaRPr lang="en-IN" dirty="0"/>
          </a:p>
        </p:txBody>
      </p:sp>
      <p:sp>
        <p:nvSpPr>
          <p:cNvPr id="3" name="Content Placeholder 2">
            <a:extLst>
              <a:ext uri="{FF2B5EF4-FFF2-40B4-BE49-F238E27FC236}">
                <a16:creationId xmlns:a16="http://schemas.microsoft.com/office/drawing/2014/main" id="{F8C64EE9-C9A5-220C-0353-4E2DC95D6399}"/>
              </a:ext>
            </a:extLst>
          </p:cNvPr>
          <p:cNvSpPr>
            <a:spLocks noGrp="1"/>
          </p:cNvSpPr>
          <p:nvPr>
            <p:ph idx="1"/>
          </p:nvPr>
        </p:nvSpPr>
        <p:spPr/>
        <p:txBody>
          <a:bodyPr/>
          <a:lstStyle/>
          <a:p>
            <a:r>
              <a:rPr lang="en-US" dirty="0"/>
              <a:t>Value chain of Insurance</a:t>
            </a:r>
            <a:endParaRPr lang="en-IN" dirty="0"/>
          </a:p>
        </p:txBody>
      </p:sp>
      <p:graphicFrame>
        <p:nvGraphicFramePr>
          <p:cNvPr id="6" name="Diagram 5">
            <a:extLst>
              <a:ext uri="{FF2B5EF4-FFF2-40B4-BE49-F238E27FC236}">
                <a16:creationId xmlns:a16="http://schemas.microsoft.com/office/drawing/2014/main" id="{F1BE8452-AB2F-DC80-47FD-B203C6F77DA6}"/>
              </a:ext>
            </a:extLst>
          </p:cNvPr>
          <p:cNvGraphicFramePr/>
          <p:nvPr>
            <p:extLst>
              <p:ext uri="{D42A27DB-BD31-4B8C-83A1-F6EECF244321}">
                <p14:modId xmlns:p14="http://schemas.microsoft.com/office/powerpoint/2010/main" val="230060366"/>
              </p:ext>
            </p:extLst>
          </p:nvPr>
        </p:nvGraphicFramePr>
        <p:xfrm>
          <a:off x="582930" y="2743200"/>
          <a:ext cx="5875020" cy="267919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7" name="Diagram 6">
            <a:extLst>
              <a:ext uri="{FF2B5EF4-FFF2-40B4-BE49-F238E27FC236}">
                <a16:creationId xmlns:a16="http://schemas.microsoft.com/office/drawing/2014/main" id="{9B1F89D0-DC42-CFCA-E147-3C50FFE37468}"/>
              </a:ext>
            </a:extLst>
          </p:cNvPr>
          <p:cNvGraphicFramePr/>
          <p:nvPr>
            <p:extLst>
              <p:ext uri="{D42A27DB-BD31-4B8C-83A1-F6EECF244321}">
                <p14:modId xmlns:p14="http://schemas.microsoft.com/office/powerpoint/2010/main" val="1899253510"/>
              </p:ext>
            </p:extLst>
          </p:nvPr>
        </p:nvGraphicFramePr>
        <p:xfrm>
          <a:off x="6575655" y="2491740"/>
          <a:ext cx="5577840" cy="320040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6870187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B444C-9C1F-98AE-6DEF-401D0E730D05}"/>
              </a:ext>
            </a:extLst>
          </p:cNvPr>
          <p:cNvSpPr>
            <a:spLocks noGrp="1"/>
          </p:cNvSpPr>
          <p:nvPr>
            <p:ph type="title"/>
          </p:nvPr>
        </p:nvSpPr>
        <p:spPr/>
        <p:txBody>
          <a:bodyPr>
            <a:normAutofit fontScale="90000"/>
          </a:bodyPr>
          <a:lstStyle/>
          <a:p>
            <a:r>
              <a:rPr lang="en-US" dirty="0"/>
              <a:t>Uncovering opportunities in insurance value chain</a:t>
            </a:r>
            <a:endParaRPr lang="en-IN" dirty="0"/>
          </a:p>
        </p:txBody>
      </p:sp>
      <p:sp>
        <p:nvSpPr>
          <p:cNvPr id="3" name="Content Placeholder 2">
            <a:extLst>
              <a:ext uri="{FF2B5EF4-FFF2-40B4-BE49-F238E27FC236}">
                <a16:creationId xmlns:a16="http://schemas.microsoft.com/office/drawing/2014/main" id="{B56EC765-CFB6-85DB-6B4A-55A91136BE19}"/>
              </a:ext>
            </a:extLst>
          </p:cNvPr>
          <p:cNvSpPr>
            <a:spLocks noGrp="1"/>
          </p:cNvSpPr>
          <p:nvPr>
            <p:ph sz="half" idx="1"/>
          </p:nvPr>
        </p:nvSpPr>
        <p:spPr/>
        <p:txBody>
          <a:bodyPr>
            <a:normAutofit fontScale="92500" lnSpcReduction="20000"/>
          </a:bodyPr>
          <a:lstStyle/>
          <a:p>
            <a:r>
              <a:rPr lang="en-US" dirty="0"/>
              <a:t>Marketing, Sales and distribution</a:t>
            </a:r>
          </a:p>
          <a:p>
            <a:pPr lvl="1"/>
            <a:r>
              <a:rPr lang="en-US" dirty="0"/>
              <a:t>Changing distribution model</a:t>
            </a:r>
          </a:p>
          <a:p>
            <a:pPr lvl="1"/>
            <a:r>
              <a:rPr lang="en-US" dirty="0"/>
              <a:t>Boundaries are blurring</a:t>
            </a:r>
          </a:p>
          <a:p>
            <a:r>
              <a:rPr lang="en-US" dirty="0"/>
              <a:t>New Business Underwriting</a:t>
            </a:r>
          </a:p>
          <a:p>
            <a:pPr lvl="1"/>
            <a:r>
              <a:rPr lang="en-US" dirty="0"/>
              <a:t>New Pricing models based on peer-to-peer sharing</a:t>
            </a:r>
          </a:p>
          <a:p>
            <a:pPr lvl="1"/>
            <a:r>
              <a:rPr lang="en-US" dirty="0"/>
              <a:t>Risk based models leveraging big data, personalized products and innovation</a:t>
            </a:r>
          </a:p>
          <a:p>
            <a:r>
              <a:rPr lang="en-US" dirty="0"/>
              <a:t>Policy and Claims Management</a:t>
            </a:r>
          </a:p>
          <a:p>
            <a:pPr lvl="1"/>
            <a:r>
              <a:rPr lang="en-US" dirty="0"/>
              <a:t>Automated assessments</a:t>
            </a:r>
          </a:p>
          <a:p>
            <a:pPr lvl="1"/>
            <a:r>
              <a:rPr lang="en-US" dirty="0"/>
              <a:t>Fraud Detection</a:t>
            </a:r>
          </a:p>
          <a:p>
            <a:pPr lvl="1"/>
            <a:r>
              <a:rPr lang="en-US" dirty="0"/>
              <a:t>Online servicing of claims</a:t>
            </a:r>
          </a:p>
        </p:txBody>
      </p:sp>
      <p:sp>
        <p:nvSpPr>
          <p:cNvPr id="4" name="Content Placeholder 3">
            <a:extLst>
              <a:ext uri="{FF2B5EF4-FFF2-40B4-BE49-F238E27FC236}">
                <a16:creationId xmlns:a16="http://schemas.microsoft.com/office/drawing/2014/main" id="{271EF47D-BA22-CB8B-234B-D326B1DC2699}"/>
              </a:ext>
            </a:extLst>
          </p:cNvPr>
          <p:cNvSpPr>
            <a:spLocks noGrp="1"/>
          </p:cNvSpPr>
          <p:nvPr>
            <p:ph sz="half" idx="2"/>
          </p:nvPr>
        </p:nvSpPr>
        <p:spPr/>
        <p:txBody>
          <a:bodyPr>
            <a:normAutofit fontScale="92500" lnSpcReduction="20000"/>
          </a:bodyPr>
          <a:lstStyle/>
          <a:p>
            <a:r>
              <a:rPr lang="en-US" dirty="0"/>
              <a:t>Payments</a:t>
            </a:r>
          </a:p>
          <a:p>
            <a:pPr lvl="1"/>
            <a:r>
              <a:rPr lang="en-US" dirty="0" err="1"/>
              <a:t>Paytech</a:t>
            </a:r>
            <a:endParaRPr lang="en-US" dirty="0"/>
          </a:p>
          <a:p>
            <a:pPr lvl="1"/>
            <a:r>
              <a:rPr lang="en-US" dirty="0"/>
              <a:t>Mobile wallets</a:t>
            </a:r>
          </a:p>
          <a:p>
            <a:r>
              <a:rPr lang="en-US" dirty="0"/>
              <a:t>Customer Service</a:t>
            </a:r>
          </a:p>
          <a:p>
            <a:pPr lvl="1"/>
            <a:r>
              <a:rPr lang="en-US" dirty="0"/>
              <a:t>Real time information leads to decision making</a:t>
            </a:r>
          </a:p>
          <a:p>
            <a:pPr lvl="1"/>
            <a:r>
              <a:rPr lang="en-US" dirty="0"/>
              <a:t>Seamless and frictionless experience</a:t>
            </a:r>
          </a:p>
          <a:p>
            <a:r>
              <a:rPr lang="en-US" dirty="0"/>
              <a:t>Product design, development and Management</a:t>
            </a:r>
          </a:p>
          <a:p>
            <a:pPr lvl="1"/>
            <a:endParaRPr lang="en-IN" dirty="0"/>
          </a:p>
          <a:p>
            <a:endParaRPr lang="en-IN" dirty="0"/>
          </a:p>
        </p:txBody>
      </p:sp>
    </p:spTree>
    <p:extLst>
      <p:ext uri="{BB962C8B-B14F-4D97-AF65-F5344CB8AC3E}">
        <p14:creationId xmlns:p14="http://schemas.microsoft.com/office/powerpoint/2010/main" val="1696246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3" end="3"/>
                                            </p:txEl>
                                          </p:spTgt>
                                        </p:tgtEl>
                                        <p:attrNameLst>
                                          <p:attrName>style.visibility</p:attrName>
                                        </p:attrNameLst>
                                      </p:cBhvr>
                                      <p:to>
                                        <p:strVal val="visible"/>
                                      </p:to>
                                    </p:set>
                                    <p:anim calcmode="lin" valueType="num">
                                      <p:cBhvr additive="base">
                                        <p:cTn id="37"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 calcmode="lin" valueType="num">
                                      <p:cBhvr additive="base">
                                        <p:cTn id="43"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3">
                                            <p:txEl>
                                              <p:pRg st="1" end="1"/>
                                            </p:txEl>
                                          </p:spTgt>
                                        </p:tgtEl>
                                        <p:attrNameLst>
                                          <p:attrName>style.visibility</p:attrName>
                                        </p:attrNameLst>
                                      </p:cBhvr>
                                      <p:to>
                                        <p:strVal val="visible"/>
                                      </p:to>
                                    </p:set>
                                    <p:anim calcmode="lin" valueType="num">
                                      <p:cBhvr additive="base">
                                        <p:cTn id="4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nodeType="clickEffect">
                                  <p:stCondLst>
                                    <p:cond delay="0"/>
                                  </p:stCondLst>
                                  <p:childTnLst>
                                    <p:set>
                                      <p:cBhvr>
                                        <p:cTn id="54" dur="1" fill="hold">
                                          <p:stCondLst>
                                            <p:cond delay="0"/>
                                          </p:stCondLst>
                                        </p:cTn>
                                        <p:tgtEl>
                                          <p:spTgt spid="3">
                                            <p:txEl>
                                              <p:pRg st="2" end="2"/>
                                            </p:txEl>
                                          </p:spTgt>
                                        </p:tgtEl>
                                        <p:attrNameLst>
                                          <p:attrName>style.visibility</p:attrName>
                                        </p:attrNameLst>
                                      </p:cBhvr>
                                      <p:to>
                                        <p:strVal val="visible"/>
                                      </p:to>
                                    </p:set>
                                    <p:anim calcmode="lin" valueType="num">
                                      <p:cBhvr additive="base">
                                        <p:cTn id="5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3">
                                            <p:txEl>
                                              <p:pRg st="4" end="4"/>
                                            </p:txEl>
                                          </p:spTgt>
                                        </p:tgtEl>
                                        <p:attrNameLst>
                                          <p:attrName>style.visibility</p:attrName>
                                        </p:attrNameLst>
                                      </p:cBhvr>
                                      <p:to>
                                        <p:strVal val="visible"/>
                                      </p:to>
                                    </p:set>
                                    <p:anim calcmode="lin" valueType="num">
                                      <p:cBhvr additive="base">
                                        <p:cTn id="6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3">
                                            <p:txEl>
                                              <p:pRg st="5" end="5"/>
                                            </p:txEl>
                                          </p:spTgt>
                                        </p:tgtEl>
                                        <p:attrNameLst>
                                          <p:attrName>style.visibility</p:attrName>
                                        </p:attrNameLst>
                                      </p:cBhvr>
                                      <p:to>
                                        <p:strVal val="visible"/>
                                      </p:to>
                                    </p:set>
                                    <p:anim calcmode="lin" valueType="num">
                                      <p:cBhvr additive="base">
                                        <p:cTn id="6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nodeType="clickEffect">
                                  <p:stCondLst>
                                    <p:cond delay="0"/>
                                  </p:stCondLst>
                                  <p:childTnLst>
                                    <p:set>
                                      <p:cBhvr>
                                        <p:cTn id="72" dur="1" fill="hold">
                                          <p:stCondLst>
                                            <p:cond delay="0"/>
                                          </p:stCondLst>
                                        </p:cTn>
                                        <p:tgtEl>
                                          <p:spTgt spid="3">
                                            <p:txEl>
                                              <p:pRg st="7" end="7"/>
                                            </p:txEl>
                                          </p:spTgt>
                                        </p:tgtEl>
                                        <p:attrNameLst>
                                          <p:attrName>style.visibility</p:attrName>
                                        </p:attrNameLst>
                                      </p:cBhvr>
                                      <p:to>
                                        <p:strVal val="visible"/>
                                      </p:to>
                                    </p:set>
                                    <p:anim calcmode="lin" valueType="num">
                                      <p:cBhvr additive="base">
                                        <p:cTn id="7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nodeType="clickEffect">
                                  <p:stCondLst>
                                    <p:cond delay="0"/>
                                  </p:stCondLst>
                                  <p:childTnLst>
                                    <p:set>
                                      <p:cBhvr>
                                        <p:cTn id="78" dur="1" fill="hold">
                                          <p:stCondLst>
                                            <p:cond delay="0"/>
                                          </p:stCondLst>
                                        </p:cTn>
                                        <p:tgtEl>
                                          <p:spTgt spid="3">
                                            <p:txEl>
                                              <p:pRg st="8" end="8"/>
                                            </p:txEl>
                                          </p:spTgt>
                                        </p:tgtEl>
                                        <p:attrNameLst>
                                          <p:attrName>style.visibility</p:attrName>
                                        </p:attrNameLst>
                                      </p:cBhvr>
                                      <p:to>
                                        <p:strVal val="visible"/>
                                      </p:to>
                                    </p:set>
                                    <p:anim calcmode="lin" valueType="num">
                                      <p:cBhvr additive="base">
                                        <p:cTn id="7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nodeType="clickEffect">
                                  <p:stCondLst>
                                    <p:cond delay="0"/>
                                  </p:stCondLst>
                                  <p:childTnLst>
                                    <p:set>
                                      <p:cBhvr>
                                        <p:cTn id="84" dur="1" fill="hold">
                                          <p:stCondLst>
                                            <p:cond delay="0"/>
                                          </p:stCondLst>
                                        </p:cTn>
                                        <p:tgtEl>
                                          <p:spTgt spid="3">
                                            <p:txEl>
                                              <p:pRg st="9" end="9"/>
                                            </p:txEl>
                                          </p:spTgt>
                                        </p:tgtEl>
                                        <p:attrNameLst>
                                          <p:attrName>style.visibility</p:attrName>
                                        </p:attrNameLst>
                                      </p:cBhvr>
                                      <p:to>
                                        <p:strVal val="visible"/>
                                      </p:to>
                                    </p:set>
                                    <p:anim calcmode="lin" valueType="num">
                                      <p:cBhvr additive="base">
                                        <p:cTn id="85"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nodeType="clickEffect">
                                  <p:stCondLst>
                                    <p:cond delay="0"/>
                                  </p:stCondLst>
                                  <p:childTnLst>
                                    <p:set>
                                      <p:cBhvr>
                                        <p:cTn id="90" dur="1" fill="hold">
                                          <p:stCondLst>
                                            <p:cond delay="0"/>
                                          </p:stCondLst>
                                        </p:cTn>
                                        <p:tgtEl>
                                          <p:spTgt spid="4">
                                            <p:txEl>
                                              <p:pRg st="1" end="1"/>
                                            </p:txEl>
                                          </p:spTgt>
                                        </p:tgtEl>
                                        <p:attrNameLst>
                                          <p:attrName>style.visibility</p:attrName>
                                        </p:attrNameLst>
                                      </p:cBhvr>
                                      <p:to>
                                        <p:strVal val="visible"/>
                                      </p:to>
                                    </p:set>
                                    <p:anim calcmode="lin" valueType="num">
                                      <p:cBhvr additive="base">
                                        <p:cTn id="91"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nodeType="clickEffect">
                                  <p:stCondLst>
                                    <p:cond delay="0"/>
                                  </p:stCondLst>
                                  <p:childTnLst>
                                    <p:set>
                                      <p:cBhvr>
                                        <p:cTn id="96" dur="1" fill="hold">
                                          <p:stCondLst>
                                            <p:cond delay="0"/>
                                          </p:stCondLst>
                                        </p:cTn>
                                        <p:tgtEl>
                                          <p:spTgt spid="4">
                                            <p:txEl>
                                              <p:pRg st="2" end="2"/>
                                            </p:txEl>
                                          </p:spTgt>
                                        </p:tgtEl>
                                        <p:attrNameLst>
                                          <p:attrName>style.visibility</p:attrName>
                                        </p:attrNameLst>
                                      </p:cBhvr>
                                      <p:to>
                                        <p:strVal val="visible"/>
                                      </p:to>
                                    </p:set>
                                    <p:anim calcmode="lin" valueType="num">
                                      <p:cBhvr additive="base">
                                        <p:cTn id="97"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98"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nodeType="clickEffect">
                                  <p:stCondLst>
                                    <p:cond delay="0"/>
                                  </p:stCondLst>
                                  <p:childTnLst>
                                    <p:set>
                                      <p:cBhvr>
                                        <p:cTn id="102" dur="1" fill="hold">
                                          <p:stCondLst>
                                            <p:cond delay="0"/>
                                          </p:stCondLst>
                                        </p:cTn>
                                        <p:tgtEl>
                                          <p:spTgt spid="4">
                                            <p:txEl>
                                              <p:pRg st="4" end="4"/>
                                            </p:txEl>
                                          </p:spTgt>
                                        </p:tgtEl>
                                        <p:attrNameLst>
                                          <p:attrName>style.visibility</p:attrName>
                                        </p:attrNameLst>
                                      </p:cBhvr>
                                      <p:to>
                                        <p:strVal val="visible"/>
                                      </p:to>
                                    </p:set>
                                    <p:anim calcmode="lin" valueType="num">
                                      <p:cBhvr additive="base">
                                        <p:cTn id="103"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04"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nodeType="clickEffect">
                                  <p:stCondLst>
                                    <p:cond delay="0"/>
                                  </p:stCondLst>
                                  <p:childTnLst>
                                    <p:set>
                                      <p:cBhvr>
                                        <p:cTn id="108" dur="1" fill="hold">
                                          <p:stCondLst>
                                            <p:cond delay="0"/>
                                          </p:stCondLst>
                                        </p:cTn>
                                        <p:tgtEl>
                                          <p:spTgt spid="4">
                                            <p:txEl>
                                              <p:pRg st="5" end="5"/>
                                            </p:txEl>
                                          </p:spTgt>
                                        </p:tgtEl>
                                        <p:attrNameLst>
                                          <p:attrName>style.visibility</p:attrName>
                                        </p:attrNameLst>
                                      </p:cBhvr>
                                      <p:to>
                                        <p:strVal val="visible"/>
                                      </p:to>
                                    </p:set>
                                    <p:anim calcmode="lin" valueType="num">
                                      <p:cBhvr additive="base">
                                        <p:cTn id="109"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110" dur="500" fill="hold"/>
                                        <p:tgtEl>
                                          <p:spTgt spid="4">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A692-BC52-7707-8315-66A3A3E5DE10}"/>
              </a:ext>
            </a:extLst>
          </p:cNvPr>
          <p:cNvSpPr>
            <a:spLocks noGrp="1"/>
          </p:cNvSpPr>
          <p:nvPr>
            <p:ph type="title"/>
          </p:nvPr>
        </p:nvSpPr>
        <p:spPr/>
        <p:txBody>
          <a:bodyPr/>
          <a:lstStyle/>
          <a:p>
            <a:r>
              <a:rPr lang="en-US" dirty="0"/>
              <a:t>Future application to scale </a:t>
            </a:r>
            <a:r>
              <a:rPr lang="en-US" dirty="0" err="1"/>
              <a:t>insurtech</a:t>
            </a:r>
            <a:r>
              <a:rPr lang="en-US" dirty="0"/>
              <a:t> </a:t>
            </a:r>
            <a:endParaRPr lang="en-IN" dirty="0"/>
          </a:p>
        </p:txBody>
      </p:sp>
      <p:sp>
        <p:nvSpPr>
          <p:cNvPr id="3" name="Content Placeholder 2">
            <a:extLst>
              <a:ext uri="{FF2B5EF4-FFF2-40B4-BE49-F238E27FC236}">
                <a16:creationId xmlns:a16="http://schemas.microsoft.com/office/drawing/2014/main" id="{D2F11823-30E3-E8C9-E050-B09FE5864CD8}"/>
              </a:ext>
            </a:extLst>
          </p:cNvPr>
          <p:cNvSpPr>
            <a:spLocks noGrp="1"/>
          </p:cNvSpPr>
          <p:nvPr>
            <p:ph idx="1"/>
          </p:nvPr>
        </p:nvSpPr>
        <p:spPr/>
        <p:txBody>
          <a:bodyPr/>
          <a:lstStyle/>
          <a:p>
            <a:r>
              <a:rPr lang="en-US" dirty="0"/>
              <a:t>Decentralized Ledger Technology or  </a:t>
            </a:r>
            <a:r>
              <a:rPr lang="en-US" dirty="0" err="1"/>
              <a:t>BlockChain</a:t>
            </a:r>
            <a:endParaRPr lang="en-US" dirty="0"/>
          </a:p>
          <a:p>
            <a:r>
              <a:rPr lang="en-US" dirty="0"/>
              <a:t>Smart Contracts</a:t>
            </a:r>
          </a:p>
          <a:p>
            <a:endParaRPr lang="en-IN" dirty="0"/>
          </a:p>
        </p:txBody>
      </p:sp>
    </p:spTree>
    <p:extLst>
      <p:ext uri="{BB962C8B-B14F-4D97-AF65-F5344CB8AC3E}">
        <p14:creationId xmlns:p14="http://schemas.microsoft.com/office/powerpoint/2010/main" val="212918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244</TotalTime>
  <Words>1162</Words>
  <Application>Microsoft Office PowerPoint</Application>
  <PresentationFormat>Widescreen</PresentationFormat>
  <Paragraphs>91</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Arial</vt:lpstr>
      <vt:lpstr>Calisto MT</vt:lpstr>
      <vt:lpstr>Univers Condensed</vt:lpstr>
      <vt:lpstr>ChronicleVTI</vt:lpstr>
      <vt:lpstr>Internationalization of InsurTech</vt:lpstr>
      <vt:lpstr>what is internationalization?</vt:lpstr>
      <vt:lpstr>PowerPoint Presentation</vt:lpstr>
      <vt:lpstr>Insurtech</vt:lpstr>
      <vt:lpstr>Drivers of internationalization</vt:lpstr>
      <vt:lpstr>Drivers contd</vt:lpstr>
      <vt:lpstr>Internationalization strategies</vt:lpstr>
      <vt:lpstr>challenges and risks</vt:lpstr>
      <vt:lpstr>PowerPoint Presentation</vt:lpstr>
      <vt:lpstr>Take aways</vt:lpstr>
      <vt:lpstr>Global phenomenon in different markets</vt:lpstr>
      <vt:lpstr>Uncovering opportunities in insurance value chain</vt:lpstr>
      <vt:lpstr>Future application to scale insurtech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Sumukh S Hungund [MAHE-MIT]</dc:creator>
  <cp:lastModifiedBy>Sumukh S Hungund [MAHE-MIT]</cp:lastModifiedBy>
  <cp:revision>2</cp:revision>
  <dcterms:created xsi:type="dcterms:W3CDTF">2025-09-08T01:47:13Z</dcterms:created>
  <dcterms:modified xsi:type="dcterms:W3CDTF">2025-09-21T14:02:03Z</dcterms:modified>
</cp:coreProperties>
</file>
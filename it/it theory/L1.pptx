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56" r:id="rId3"/>
    <p:sldId id="257" r:id="rId4"/>
    <p:sldId id="258" r:id="rId5"/>
    <p:sldId id="259"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D783-72AD-4FFD-1128-9883499B3B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D628DCA-5913-F9B1-C2C3-A164092629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C077F3-5B5F-F287-C891-EA99B9813825}"/>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5" name="Footer Placeholder 4">
            <a:extLst>
              <a:ext uri="{FF2B5EF4-FFF2-40B4-BE49-F238E27FC236}">
                <a16:creationId xmlns:a16="http://schemas.microsoft.com/office/drawing/2014/main" id="{3ECA4376-5F23-DADF-6D84-54996341F0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518D5-FDB2-3B94-5A85-58B2BF4C4009}"/>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4066500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F1F7C-BC84-1574-0263-71A12E05EE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142CDA-6F83-6ABA-464F-BC2935FB6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51D95A-FC98-78ED-395D-9E9A7CD619DC}"/>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5" name="Footer Placeholder 4">
            <a:extLst>
              <a:ext uri="{FF2B5EF4-FFF2-40B4-BE49-F238E27FC236}">
                <a16:creationId xmlns:a16="http://schemas.microsoft.com/office/drawing/2014/main" id="{A5BB58AE-3C23-2071-2EDB-007F1F911E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31E686-A6D6-F374-167F-97AFFE4CACF6}"/>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3535192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6D267-3496-FDE0-E39E-10ECD01121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EAF7C0-B10C-4A74-2156-803B4617E4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3F9ADA-0BD5-091E-31D9-62FCD8FF3931}"/>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5" name="Footer Placeholder 4">
            <a:extLst>
              <a:ext uri="{FF2B5EF4-FFF2-40B4-BE49-F238E27FC236}">
                <a16:creationId xmlns:a16="http://schemas.microsoft.com/office/drawing/2014/main" id="{E0B2B06C-9860-5926-BE42-1931AEFB1A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34D833-B698-742D-EB26-83824947F2E7}"/>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1816581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0919F-14E7-8668-D835-73A9168D7F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59E932-169E-F63B-9794-602AA2B48F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3FADD5-430F-42E4-18C9-368AE38403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3D6EFD-C12E-10CC-242B-1F8AC8E04536}"/>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6" name="Footer Placeholder 5">
            <a:extLst>
              <a:ext uri="{FF2B5EF4-FFF2-40B4-BE49-F238E27FC236}">
                <a16:creationId xmlns:a16="http://schemas.microsoft.com/office/drawing/2014/main" id="{5864A650-2DAE-AAE8-4FE8-536D79597F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D76145-B93E-47E9-2804-9E23035A9A28}"/>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2321036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5316A-F49B-626C-489D-65C00971E1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0BD428-DA66-A89A-4FB7-CF0A8DEBF0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05394-7199-0554-3FE5-A1CFD266DD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1814332-648D-8AB0-9B65-35707061D8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662B-9732-7259-D0C0-2F468B876F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62E7F7-0228-13B3-3AC1-BCD4E0B0E5BA}"/>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8" name="Footer Placeholder 7">
            <a:extLst>
              <a:ext uri="{FF2B5EF4-FFF2-40B4-BE49-F238E27FC236}">
                <a16:creationId xmlns:a16="http://schemas.microsoft.com/office/drawing/2014/main" id="{8F004A63-5507-5771-CE72-506FEF56466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BBEC88-9F28-2C18-F3AB-727B1522DA11}"/>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1617203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A8C6-2787-8835-CF3E-EA86B38530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CA3859-19B7-75F8-F10A-8662DBC5E164}"/>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4" name="Footer Placeholder 3">
            <a:extLst>
              <a:ext uri="{FF2B5EF4-FFF2-40B4-BE49-F238E27FC236}">
                <a16:creationId xmlns:a16="http://schemas.microsoft.com/office/drawing/2014/main" id="{C017A737-3F75-97F7-0184-77664C467D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803829-B507-438F-479D-5EA0EECDBBBB}"/>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3055425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F37C00-DA3B-D828-4E8C-259E21D7E5FA}"/>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3" name="Footer Placeholder 2">
            <a:extLst>
              <a:ext uri="{FF2B5EF4-FFF2-40B4-BE49-F238E27FC236}">
                <a16:creationId xmlns:a16="http://schemas.microsoft.com/office/drawing/2014/main" id="{E0B995E1-658F-126C-7C06-205A84E371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26E189-4F3B-B94F-B259-4888F3C6F962}"/>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1009318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D1AA-3127-E45F-B81D-0E1358B262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8085CB-2854-7E45-8C51-A414B05355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2FE32F-9302-ED05-B0CA-39130D959E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063397-575A-45BB-C8ED-93C2A6198195}"/>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6" name="Footer Placeholder 5">
            <a:extLst>
              <a:ext uri="{FF2B5EF4-FFF2-40B4-BE49-F238E27FC236}">
                <a16:creationId xmlns:a16="http://schemas.microsoft.com/office/drawing/2014/main" id="{60D44F60-D91E-BD9A-BA4C-CE02FF6B1D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9B839A-78DB-ADFC-EACA-65E236CB8452}"/>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38099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B5D3-2CCB-36E1-7EA6-49B7D767D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2E423E-C327-91EB-DC0D-FC673BBEEC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188143-FAD6-867B-A25A-DA7E674372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73015B-1442-88CB-BF17-77F20075A52F}"/>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6" name="Footer Placeholder 5">
            <a:extLst>
              <a:ext uri="{FF2B5EF4-FFF2-40B4-BE49-F238E27FC236}">
                <a16:creationId xmlns:a16="http://schemas.microsoft.com/office/drawing/2014/main" id="{5DB5DA92-B862-0712-FE25-5052A25B2B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661CC0-5D17-0BF4-77DE-EAB64303B714}"/>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347770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33A5-307F-4CB4-D480-BD1FCE853B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012DBB-50F9-EBA5-9022-99EBF7015B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3C1EC4-F6C6-84F3-DEC4-AB55565C04B8}"/>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5" name="Footer Placeholder 4">
            <a:extLst>
              <a:ext uri="{FF2B5EF4-FFF2-40B4-BE49-F238E27FC236}">
                <a16:creationId xmlns:a16="http://schemas.microsoft.com/office/drawing/2014/main" id="{9433878F-3C3E-5751-CE9D-100D32025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3B1DA9-A908-403F-4B8C-9960547D7F1F}"/>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2145188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0E4FB-7F53-6E7B-0A41-AA4CE44539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BD5FA8-E76D-F107-C7F0-13496C5B2E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8CD22F-D244-CE4A-3443-9FA06FA0671C}"/>
              </a:ext>
            </a:extLst>
          </p:cNvPr>
          <p:cNvSpPr>
            <a:spLocks noGrp="1"/>
          </p:cNvSpPr>
          <p:nvPr>
            <p:ph type="dt" sz="half" idx="10"/>
          </p:nvPr>
        </p:nvSpPr>
        <p:spPr/>
        <p:txBody>
          <a:bodyPr/>
          <a:lstStyle/>
          <a:p>
            <a:fld id="{44BF9381-16E5-4413-8626-2F5283BA1066}" type="datetimeFigureOut">
              <a:rPr lang="en-IN" smtClean="0"/>
              <a:t>11-08-2025</a:t>
            </a:fld>
            <a:endParaRPr lang="en-IN"/>
          </a:p>
        </p:txBody>
      </p:sp>
      <p:sp>
        <p:nvSpPr>
          <p:cNvPr id="5" name="Footer Placeholder 4">
            <a:extLst>
              <a:ext uri="{FF2B5EF4-FFF2-40B4-BE49-F238E27FC236}">
                <a16:creationId xmlns:a16="http://schemas.microsoft.com/office/drawing/2014/main" id="{095F603D-9850-2699-214C-9865098832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512A4D-CC66-D5D9-40E0-818D1BFE2ADD}"/>
              </a:ext>
            </a:extLst>
          </p:cNvPr>
          <p:cNvSpPr>
            <a:spLocks noGrp="1"/>
          </p:cNvSpPr>
          <p:nvPr>
            <p:ph type="sldNum" sz="quarter" idx="12"/>
          </p:nvPr>
        </p:nvSpPr>
        <p:spPr/>
        <p:txBody>
          <a:bodyPr/>
          <a:lstStyle/>
          <a:p>
            <a:fld id="{A9832CB9-514F-4C1F-8C9A-AB11B4057995}" type="slidenum">
              <a:rPr lang="en-IN" smtClean="0"/>
              <a:t>‹#›</a:t>
            </a:fld>
            <a:endParaRPr lang="en-IN"/>
          </a:p>
        </p:txBody>
      </p:sp>
    </p:spTree>
    <p:extLst>
      <p:ext uri="{BB962C8B-B14F-4D97-AF65-F5344CB8AC3E}">
        <p14:creationId xmlns:p14="http://schemas.microsoft.com/office/powerpoint/2010/main" val="301487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C0B304-2EC0-F2BB-5B74-BED872A8FC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1BB107-50AD-C7EF-E0DD-72BE842704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F428E3-FCA6-4891-1BCD-5C48EAAB14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BF9381-16E5-4413-8626-2F5283BA1066}" type="datetimeFigureOut">
              <a:rPr lang="en-IN" smtClean="0"/>
              <a:t>11-08-2025</a:t>
            </a:fld>
            <a:endParaRPr lang="en-IN"/>
          </a:p>
        </p:txBody>
      </p:sp>
      <p:sp>
        <p:nvSpPr>
          <p:cNvPr id="5" name="Footer Placeholder 4">
            <a:extLst>
              <a:ext uri="{FF2B5EF4-FFF2-40B4-BE49-F238E27FC236}">
                <a16:creationId xmlns:a16="http://schemas.microsoft.com/office/drawing/2014/main" id="{E09437D3-1241-722C-BA9F-D5154EB06E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521F0B-6E37-A6F5-AC23-3B715F1B9C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832CB9-514F-4C1F-8C9A-AB11B4057995}" type="slidenum">
              <a:rPr lang="en-IN" smtClean="0"/>
              <a:t>‹#›</a:t>
            </a:fld>
            <a:endParaRPr lang="en-IN"/>
          </a:p>
        </p:txBody>
      </p:sp>
    </p:spTree>
    <p:extLst>
      <p:ext uri="{BB962C8B-B14F-4D97-AF65-F5344CB8AC3E}">
        <p14:creationId xmlns:p14="http://schemas.microsoft.com/office/powerpoint/2010/main" val="1599307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93602E-AB93-E204-BFAE-51D398171B28}"/>
              </a:ext>
            </a:extLst>
          </p:cNvPr>
          <p:cNvSpPr>
            <a:spLocks noGrp="1"/>
          </p:cNvSpPr>
          <p:nvPr>
            <p:ph type="title"/>
          </p:nvPr>
        </p:nvSpPr>
        <p:spPr/>
        <p:txBody>
          <a:bodyPr/>
          <a:lstStyle/>
          <a:p>
            <a:r>
              <a:rPr lang="en-US" dirty="0"/>
              <a:t>Today’s Agenda</a:t>
            </a:r>
            <a:endParaRPr lang="en-IN" dirty="0"/>
          </a:p>
        </p:txBody>
      </p:sp>
      <p:sp>
        <p:nvSpPr>
          <p:cNvPr id="5" name="Content Placeholder 4">
            <a:extLst>
              <a:ext uri="{FF2B5EF4-FFF2-40B4-BE49-F238E27FC236}">
                <a16:creationId xmlns:a16="http://schemas.microsoft.com/office/drawing/2014/main" id="{9606C6DF-93E0-8E7B-6185-B71CF9D024EA}"/>
              </a:ext>
            </a:extLst>
          </p:cNvPr>
          <p:cNvSpPr>
            <a:spLocks noGrp="1"/>
          </p:cNvSpPr>
          <p:nvPr>
            <p:ph idx="1"/>
          </p:nvPr>
        </p:nvSpPr>
        <p:spPr/>
        <p:txBody>
          <a:bodyPr/>
          <a:lstStyle/>
          <a:p>
            <a:r>
              <a:rPr lang="en-US" dirty="0"/>
              <a:t>Introduction to Insurance</a:t>
            </a:r>
          </a:p>
          <a:p>
            <a:r>
              <a:rPr lang="en-US" dirty="0"/>
              <a:t>Principles of Insurance</a:t>
            </a:r>
            <a:endParaRPr lang="en-IN" dirty="0"/>
          </a:p>
        </p:txBody>
      </p:sp>
    </p:spTree>
    <p:extLst>
      <p:ext uri="{BB962C8B-B14F-4D97-AF65-F5344CB8AC3E}">
        <p14:creationId xmlns:p14="http://schemas.microsoft.com/office/powerpoint/2010/main" val="2455383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74B5E0-5738-ADD7-E69B-7B6EC36415CE}"/>
              </a:ext>
            </a:extLst>
          </p:cNvPr>
          <p:cNvSpPr>
            <a:spLocks noGrp="1"/>
          </p:cNvSpPr>
          <p:nvPr>
            <p:ph type="title"/>
          </p:nvPr>
        </p:nvSpPr>
        <p:spPr/>
        <p:txBody>
          <a:bodyPr/>
          <a:lstStyle/>
          <a:p>
            <a:r>
              <a:rPr lang="en-US" dirty="0"/>
              <a:t>What is Insurance</a:t>
            </a:r>
            <a:endParaRPr lang="en-IN" dirty="0"/>
          </a:p>
        </p:txBody>
      </p:sp>
      <p:sp>
        <p:nvSpPr>
          <p:cNvPr id="5" name="Content Placeholder 4">
            <a:extLst>
              <a:ext uri="{FF2B5EF4-FFF2-40B4-BE49-F238E27FC236}">
                <a16:creationId xmlns:a16="http://schemas.microsoft.com/office/drawing/2014/main" id="{D255208A-8DE9-27FE-1E33-D7F36F8CCFF5}"/>
              </a:ext>
            </a:extLst>
          </p:cNvPr>
          <p:cNvSpPr>
            <a:spLocks noGrp="1"/>
          </p:cNvSpPr>
          <p:nvPr>
            <p:ph idx="1"/>
          </p:nvPr>
        </p:nvSpPr>
        <p:spPr/>
        <p:txBody>
          <a:bodyPr/>
          <a:lstStyle/>
          <a:p>
            <a:r>
              <a:rPr lang="en-US" dirty="0"/>
              <a:t>Insurance is a mechanism of </a:t>
            </a:r>
            <a:r>
              <a:rPr lang="en-US" b="1" dirty="0"/>
              <a:t>risk transfer </a:t>
            </a:r>
            <a:r>
              <a:rPr lang="en-US" dirty="0"/>
              <a:t>and sharing by pooling of risks and funds among a group of individuals who are exposed to similar kinds of risks for the benefit of those who suffer loss on </a:t>
            </a:r>
            <a:r>
              <a:rPr lang="en-US" b="1" dirty="0"/>
              <a:t>account of the risk</a:t>
            </a:r>
            <a:r>
              <a:rPr lang="en-US" dirty="0"/>
              <a:t>.</a:t>
            </a:r>
          </a:p>
          <a:p>
            <a:r>
              <a:rPr lang="en-US" dirty="0"/>
              <a:t>Insurance is, thus, a financial tool specially created to reduce the financial impact of unforeseen events and to create financial security.</a:t>
            </a:r>
          </a:p>
          <a:p>
            <a:r>
              <a:rPr lang="en-US" dirty="0"/>
              <a:t>Insurance is considered one of the tools of social security for formal and informal sectors and is largely carried out in two ways</a:t>
            </a:r>
            <a:endParaRPr lang="en-IN" dirty="0"/>
          </a:p>
        </p:txBody>
      </p:sp>
    </p:spTree>
    <p:extLst>
      <p:ext uri="{BB962C8B-B14F-4D97-AF65-F5344CB8AC3E}">
        <p14:creationId xmlns:p14="http://schemas.microsoft.com/office/powerpoint/2010/main" val="175254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E64BE8-A091-F7B5-BF47-E38FB6DE008A}"/>
              </a:ext>
            </a:extLst>
          </p:cNvPr>
          <p:cNvSpPr>
            <a:spLocks noGrp="1"/>
          </p:cNvSpPr>
          <p:nvPr>
            <p:ph idx="1"/>
          </p:nvPr>
        </p:nvSpPr>
        <p:spPr>
          <a:xfrm>
            <a:off x="838200" y="811530"/>
            <a:ext cx="10515600" cy="5365433"/>
          </a:xfrm>
        </p:spPr>
        <p:txBody>
          <a:bodyPr>
            <a:normAutofit/>
          </a:bodyPr>
          <a:lstStyle/>
          <a:p>
            <a:r>
              <a:rPr lang="en-US" dirty="0"/>
              <a:t>Social Insurance</a:t>
            </a:r>
          </a:p>
          <a:p>
            <a:pPr lvl="1"/>
            <a:r>
              <a:rPr lang="en-US" dirty="0"/>
              <a:t>Here, the State or government takes care of those who are subjected to losses due to some risk event.</a:t>
            </a:r>
          </a:p>
          <a:p>
            <a:pPr lvl="2"/>
            <a:r>
              <a:rPr lang="en-US" dirty="0"/>
              <a:t>Employees’ State Insurance scheme (ESI)</a:t>
            </a:r>
          </a:p>
          <a:p>
            <a:pPr lvl="2"/>
            <a:r>
              <a:rPr lang="en-IN" dirty="0"/>
              <a:t>Employees’ Provident Fund Organization</a:t>
            </a:r>
            <a:endParaRPr lang="en-US" dirty="0"/>
          </a:p>
          <a:p>
            <a:r>
              <a:rPr lang="en-IN" dirty="0"/>
              <a:t>Private Insurance</a:t>
            </a:r>
          </a:p>
          <a:p>
            <a:pPr lvl="1"/>
            <a:r>
              <a:rPr lang="en-US" dirty="0"/>
              <a:t>Individuals and groups can buy insurance from an insurance company by entering into a contract of insurance with the company. </a:t>
            </a:r>
          </a:p>
          <a:p>
            <a:pPr lvl="1"/>
            <a:r>
              <a:rPr lang="en-US" dirty="0"/>
              <a:t>The insurance company enters into a contract (an insurance policy) whereby it (insurer) undertakes, in exchange for a small amount of money (premium), to provide financial protection by agreeing to pay the insuring person (insured) a fixed amount of money (sum assured) on the happening of a certain event (insured peril).</a:t>
            </a:r>
            <a:endParaRPr lang="en-IN" dirty="0"/>
          </a:p>
        </p:txBody>
      </p:sp>
    </p:spTree>
    <p:extLst>
      <p:ext uri="{BB962C8B-B14F-4D97-AF65-F5344CB8AC3E}">
        <p14:creationId xmlns:p14="http://schemas.microsoft.com/office/powerpoint/2010/main" val="158091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1982F3-1E7A-4E00-C6BB-E12335E06A0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Principles of Insurance</a:t>
            </a:r>
          </a:p>
        </p:txBody>
      </p:sp>
      <p:pic>
        <p:nvPicPr>
          <p:cNvPr id="1026" name="Picture 2" descr="principles of insurance with real life examples">
            <a:extLst>
              <a:ext uri="{FF2B5EF4-FFF2-40B4-BE49-F238E27FC236}">
                <a16:creationId xmlns:a16="http://schemas.microsoft.com/office/drawing/2014/main" id="{6E722B5E-6513-6FB0-085F-D27E689720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1452956"/>
            <a:ext cx="6780700" cy="3949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789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619E7-F9C2-AEE9-5E13-2AB53DEDE2FF}"/>
              </a:ext>
            </a:extLst>
          </p:cNvPr>
          <p:cNvSpPr>
            <a:spLocks noGrp="1"/>
          </p:cNvSpPr>
          <p:nvPr>
            <p:ph type="title"/>
          </p:nvPr>
        </p:nvSpPr>
        <p:spPr/>
        <p:txBody>
          <a:bodyPr>
            <a:normAutofit/>
          </a:bodyPr>
          <a:lstStyle/>
          <a:p>
            <a:r>
              <a:rPr lang="en-US" dirty="0"/>
              <a:t>Principle #1 – Principle of Utmost Good Faith (</a:t>
            </a:r>
            <a:r>
              <a:rPr lang="en-US" dirty="0" err="1"/>
              <a:t>Uberrimae</a:t>
            </a:r>
            <a:r>
              <a:rPr lang="en-US" dirty="0"/>
              <a:t> fidei)</a:t>
            </a:r>
            <a:endParaRPr lang="en-IN" dirty="0"/>
          </a:p>
        </p:txBody>
      </p:sp>
      <p:sp>
        <p:nvSpPr>
          <p:cNvPr id="3" name="Content Placeholder 2">
            <a:extLst>
              <a:ext uri="{FF2B5EF4-FFF2-40B4-BE49-F238E27FC236}">
                <a16:creationId xmlns:a16="http://schemas.microsoft.com/office/drawing/2014/main" id="{E2D8CA78-8419-9D55-1177-6257176465A7}"/>
              </a:ext>
            </a:extLst>
          </p:cNvPr>
          <p:cNvSpPr>
            <a:spLocks noGrp="1"/>
          </p:cNvSpPr>
          <p:nvPr>
            <p:ph idx="1"/>
          </p:nvPr>
        </p:nvSpPr>
        <p:spPr/>
        <p:txBody>
          <a:bodyPr>
            <a:normAutofit fontScale="92500" lnSpcReduction="10000"/>
          </a:bodyPr>
          <a:lstStyle/>
          <a:p>
            <a:pPr algn="just"/>
            <a:r>
              <a:rPr lang="en-US" dirty="0"/>
              <a:t>The principle of utmost good faith is the most basic and primary level principle of insurance, and it applies to all kind insurance policies. </a:t>
            </a:r>
          </a:p>
          <a:p>
            <a:pPr algn="just"/>
            <a:r>
              <a:rPr lang="en-US" dirty="0"/>
              <a:t>It simply means that the person who is getting insured must willingly disclose to the insurer, all his complete &amp; true information regarding the subject matter of insurance.</a:t>
            </a:r>
          </a:p>
          <a:p>
            <a:pPr algn="just"/>
            <a:r>
              <a:rPr lang="en-US" dirty="0"/>
              <a:t>The insurer’s liability exists only on the assumption that no material fact is hidden or falsely presented by the person getting insured.</a:t>
            </a:r>
          </a:p>
          <a:p>
            <a:pPr algn="just"/>
            <a:r>
              <a:rPr lang="en-US" dirty="0"/>
              <a:t>There is a process called as “Underwriting” in insurance industry which is the activity of studying the risk and assigning the premium value for the case and it’s very important that the person buying any kind of insurance tells all the facts correctly and does not hide it.</a:t>
            </a:r>
            <a:endParaRPr lang="en-IN" dirty="0"/>
          </a:p>
          <a:p>
            <a:pPr algn="just"/>
            <a:endParaRPr lang="en-US" dirty="0"/>
          </a:p>
          <a:p>
            <a:pPr algn="just"/>
            <a:endParaRPr lang="en-IN" dirty="0"/>
          </a:p>
        </p:txBody>
      </p:sp>
    </p:spTree>
    <p:extLst>
      <p:ext uri="{BB962C8B-B14F-4D97-AF65-F5344CB8AC3E}">
        <p14:creationId xmlns:p14="http://schemas.microsoft.com/office/powerpoint/2010/main" val="275745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71F24-5D7C-4E30-D70A-A05F126838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49550E-AABF-49D1-D565-B4658E2F7AED}"/>
              </a:ext>
            </a:extLst>
          </p:cNvPr>
          <p:cNvSpPr>
            <a:spLocks noGrp="1"/>
          </p:cNvSpPr>
          <p:nvPr>
            <p:ph idx="1"/>
          </p:nvPr>
        </p:nvSpPr>
        <p:spPr/>
        <p:txBody>
          <a:bodyPr>
            <a:normAutofit lnSpcReduction="10000"/>
          </a:bodyPr>
          <a:lstStyle/>
          <a:p>
            <a:r>
              <a:rPr lang="en-US" dirty="0"/>
              <a:t>If you think about term plan or health insurance, you need to correctly mention things like</a:t>
            </a:r>
          </a:p>
          <a:p>
            <a:pPr lvl="1"/>
            <a:r>
              <a:rPr lang="en-US" dirty="0"/>
              <a:t>If you are a smoker or drinker</a:t>
            </a:r>
          </a:p>
          <a:p>
            <a:pPr lvl="1"/>
            <a:r>
              <a:rPr lang="en-US" dirty="0"/>
              <a:t>Your family illness history</a:t>
            </a:r>
          </a:p>
          <a:p>
            <a:pPr lvl="1"/>
            <a:r>
              <a:rPr lang="en-US" dirty="0"/>
              <a:t>The Industry you work for</a:t>
            </a:r>
          </a:p>
          <a:p>
            <a:pPr lvl="1"/>
            <a:r>
              <a:rPr lang="en-US" dirty="0"/>
              <a:t>Your Income</a:t>
            </a:r>
          </a:p>
          <a:p>
            <a:pPr lvl="1"/>
            <a:r>
              <a:rPr lang="en-US" dirty="0"/>
              <a:t>Your Age</a:t>
            </a:r>
          </a:p>
          <a:p>
            <a:pPr lvl="1"/>
            <a:r>
              <a:rPr lang="en-US" dirty="0"/>
              <a:t>Your current illnesses (which you are already aware of)</a:t>
            </a:r>
          </a:p>
          <a:p>
            <a:r>
              <a:rPr lang="en-US" dirty="0"/>
              <a:t>If you do not tell these things correctly, you are violating the “Principle of utmost good faith” here and it can impact your insurance claim process in future.</a:t>
            </a:r>
            <a:endParaRPr lang="en-IN" dirty="0"/>
          </a:p>
        </p:txBody>
      </p:sp>
    </p:spTree>
    <p:extLst>
      <p:ext uri="{BB962C8B-B14F-4D97-AF65-F5344CB8AC3E}">
        <p14:creationId xmlns:p14="http://schemas.microsoft.com/office/powerpoint/2010/main" val="2505103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555A3-6608-B4B8-EE9B-980DEAFCE519}"/>
              </a:ext>
            </a:extLst>
          </p:cNvPr>
          <p:cNvSpPr>
            <a:spLocks noGrp="1"/>
          </p:cNvSpPr>
          <p:nvPr>
            <p:ph type="title"/>
          </p:nvPr>
        </p:nvSpPr>
        <p:spPr/>
        <p:txBody>
          <a:bodyPr/>
          <a:lstStyle/>
          <a:p>
            <a:r>
              <a:rPr lang="en-IN" dirty="0"/>
              <a:t>Principle #2 – Principle of Insurable Interest</a:t>
            </a:r>
          </a:p>
        </p:txBody>
      </p:sp>
      <p:sp>
        <p:nvSpPr>
          <p:cNvPr id="3" name="Content Placeholder 2">
            <a:extLst>
              <a:ext uri="{FF2B5EF4-FFF2-40B4-BE49-F238E27FC236}">
                <a16:creationId xmlns:a16="http://schemas.microsoft.com/office/drawing/2014/main" id="{08F98F21-6998-5221-D2B8-967D162D2CBA}"/>
              </a:ext>
            </a:extLst>
          </p:cNvPr>
          <p:cNvSpPr>
            <a:spLocks noGrp="1"/>
          </p:cNvSpPr>
          <p:nvPr>
            <p:ph idx="1"/>
          </p:nvPr>
        </p:nvSpPr>
        <p:spPr>
          <a:xfrm>
            <a:off x="400050" y="1825625"/>
            <a:ext cx="10953750" cy="4351338"/>
          </a:xfrm>
        </p:spPr>
        <p:txBody>
          <a:bodyPr>
            <a:normAutofit lnSpcReduction="10000"/>
          </a:bodyPr>
          <a:lstStyle/>
          <a:p>
            <a:pPr algn="just"/>
            <a:r>
              <a:rPr lang="en-US" dirty="0"/>
              <a:t>This principle says that the person who is taking insurance should have some insurable interest in that thing which is getting insured. So if there will be financial loss to the person if the insured object gets destroyed. If this is not the case, insurance cannot be taken</a:t>
            </a:r>
          </a:p>
          <a:p>
            <a:pPr algn="just"/>
            <a:r>
              <a:rPr lang="en-US" dirty="0"/>
              <a:t>So when a breadwinner takes life insurance for his life, it makes sense because incase the person dies, there will be financial loss to family .</a:t>
            </a:r>
          </a:p>
          <a:p>
            <a:pPr algn="just"/>
            <a:r>
              <a:rPr lang="en-US" dirty="0"/>
              <a:t>In the same way, you can get your car, bike, home, gold insured because you have insurable interest in that object. You can’t get your neighbor car insured and benefit because you do not have insurable interest in that.</a:t>
            </a:r>
          </a:p>
          <a:p>
            <a:endParaRPr lang="en-IN" dirty="0"/>
          </a:p>
        </p:txBody>
      </p:sp>
    </p:spTree>
    <p:extLst>
      <p:ext uri="{BB962C8B-B14F-4D97-AF65-F5344CB8AC3E}">
        <p14:creationId xmlns:p14="http://schemas.microsoft.com/office/powerpoint/2010/main" val="1579837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9C75-5C6B-8255-287B-172B84D1EA8A}"/>
              </a:ext>
            </a:extLst>
          </p:cNvPr>
          <p:cNvSpPr>
            <a:spLocks noGrp="1"/>
          </p:cNvSpPr>
          <p:nvPr>
            <p:ph type="title"/>
          </p:nvPr>
        </p:nvSpPr>
        <p:spPr>
          <a:xfrm>
            <a:off x="838200" y="365125"/>
            <a:ext cx="10515600" cy="1075055"/>
          </a:xfrm>
        </p:spPr>
        <p:txBody>
          <a:bodyPr/>
          <a:lstStyle/>
          <a:p>
            <a:r>
              <a:rPr lang="en-US" dirty="0"/>
              <a:t>Principle #3 – Principle of Indemnity</a:t>
            </a:r>
            <a:endParaRPr lang="en-IN" dirty="0"/>
          </a:p>
        </p:txBody>
      </p:sp>
      <p:sp>
        <p:nvSpPr>
          <p:cNvPr id="3" name="Content Placeholder 2">
            <a:extLst>
              <a:ext uri="{FF2B5EF4-FFF2-40B4-BE49-F238E27FC236}">
                <a16:creationId xmlns:a16="http://schemas.microsoft.com/office/drawing/2014/main" id="{E9A60612-6AE7-F671-E297-DAFAD6E8D937}"/>
              </a:ext>
            </a:extLst>
          </p:cNvPr>
          <p:cNvSpPr>
            <a:spLocks noGrp="1"/>
          </p:cNvSpPr>
          <p:nvPr>
            <p:ph idx="1"/>
          </p:nvPr>
        </p:nvSpPr>
        <p:spPr>
          <a:xfrm>
            <a:off x="838200" y="1690688"/>
            <a:ext cx="10515600" cy="4486275"/>
          </a:xfrm>
        </p:spPr>
        <p:txBody>
          <a:bodyPr>
            <a:normAutofit fontScale="85000" lnSpcReduction="20000"/>
          </a:bodyPr>
          <a:lstStyle/>
          <a:p>
            <a:pPr algn="just"/>
            <a:r>
              <a:rPr lang="en-US" dirty="0"/>
              <a:t>Principle of Indemnity says that Insurance is not to make profit, but only to compensate you against the losses incurred. It’s an assurance to restore the same position which was there before the loss. So the compensation paid cannot be more than the losses incurred.</a:t>
            </a:r>
          </a:p>
          <a:p>
            <a:r>
              <a:rPr lang="en-US" dirty="0"/>
              <a:t>In term plan, people ask why companies ask for income details. It’s to make sure that a person takes limited insurance which goes with his financial status and is good enough to restore back his family life style which was there in existence.</a:t>
            </a:r>
          </a:p>
          <a:p>
            <a:r>
              <a:rPr lang="en-US" dirty="0"/>
              <a:t>If a person earns Rs 1 lacs per month. Then Rs 2-3 crores is a good enough life insurance for the person and they cannot take Rs 500 crore insurance even if they can pay the premiums, because then the intention is not to cover your financial loss but to benefit/profit from the insurance policy.</a:t>
            </a:r>
          </a:p>
          <a:p>
            <a:r>
              <a:rPr lang="en-US" dirty="0"/>
              <a:t>That’s exactly the reason why house-wife does not get very high insurance, because the motive is to profit from the death of non-earning member and not replace the income which that person was earning.</a:t>
            </a:r>
          </a:p>
          <a:p>
            <a:endParaRPr lang="en-IN" dirty="0"/>
          </a:p>
        </p:txBody>
      </p:sp>
    </p:spTree>
    <p:extLst>
      <p:ext uri="{BB962C8B-B14F-4D97-AF65-F5344CB8AC3E}">
        <p14:creationId xmlns:p14="http://schemas.microsoft.com/office/powerpoint/2010/main" val="420551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641E8-472E-5781-E091-270987D96840}"/>
              </a:ext>
            </a:extLst>
          </p:cNvPr>
          <p:cNvSpPr>
            <a:spLocks noGrp="1"/>
          </p:cNvSpPr>
          <p:nvPr>
            <p:ph type="title"/>
          </p:nvPr>
        </p:nvSpPr>
        <p:spPr/>
        <p:txBody>
          <a:bodyPr/>
          <a:lstStyle/>
          <a:p>
            <a:r>
              <a:rPr lang="en-IN" dirty="0"/>
              <a:t>Principle #4 – Principle of Contribution</a:t>
            </a:r>
          </a:p>
        </p:txBody>
      </p:sp>
      <p:sp>
        <p:nvSpPr>
          <p:cNvPr id="3" name="Content Placeholder 2">
            <a:extLst>
              <a:ext uri="{FF2B5EF4-FFF2-40B4-BE49-F238E27FC236}">
                <a16:creationId xmlns:a16="http://schemas.microsoft.com/office/drawing/2014/main" id="{EE1B97A8-7AB7-1703-B1A5-75BE65FB864B}"/>
              </a:ext>
            </a:extLst>
          </p:cNvPr>
          <p:cNvSpPr>
            <a:spLocks noGrp="1"/>
          </p:cNvSpPr>
          <p:nvPr>
            <p:ph idx="1"/>
          </p:nvPr>
        </p:nvSpPr>
        <p:spPr/>
        <p:txBody>
          <a:bodyPr/>
          <a:lstStyle/>
          <a:p>
            <a:pPr algn="just"/>
            <a:r>
              <a:rPr lang="en-US" dirty="0"/>
              <a:t>This principle is just a corollary of the principle of indemnity. As per this principle, the insured company are liable to pay only their own contribution and they have right to recover back the excess money paid from other insurer.</a:t>
            </a:r>
            <a:endParaRPr lang="en-IN" dirty="0"/>
          </a:p>
        </p:txBody>
      </p:sp>
    </p:spTree>
    <p:extLst>
      <p:ext uri="{BB962C8B-B14F-4D97-AF65-F5344CB8AC3E}">
        <p14:creationId xmlns:p14="http://schemas.microsoft.com/office/powerpoint/2010/main" val="255230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27EE5-2364-E978-80EF-9DC42D08780B}"/>
              </a:ext>
            </a:extLst>
          </p:cNvPr>
          <p:cNvSpPr>
            <a:spLocks noGrp="1"/>
          </p:cNvSpPr>
          <p:nvPr>
            <p:ph type="title"/>
          </p:nvPr>
        </p:nvSpPr>
        <p:spPr>
          <a:xfrm>
            <a:off x="838200" y="365125"/>
            <a:ext cx="10515600" cy="743585"/>
          </a:xfrm>
        </p:spPr>
        <p:txBody>
          <a:bodyPr/>
          <a:lstStyle/>
          <a:p>
            <a:r>
              <a:rPr lang="en-IN" dirty="0"/>
              <a:t>Principle #5 – Principle of Subrogation</a:t>
            </a:r>
          </a:p>
        </p:txBody>
      </p:sp>
      <p:sp>
        <p:nvSpPr>
          <p:cNvPr id="3" name="Content Placeholder 2">
            <a:extLst>
              <a:ext uri="{FF2B5EF4-FFF2-40B4-BE49-F238E27FC236}">
                <a16:creationId xmlns:a16="http://schemas.microsoft.com/office/drawing/2014/main" id="{890F0636-0F60-B4B8-7FDE-6BFD85DD7133}"/>
              </a:ext>
            </a:extLst>
          </p:cNvPr>
          <p:cNvSpPr>
            <a:spLocks noGrp="1"/>
          </p:cNvSpPr>
          <p:nvPr>
            <p:ph idx="1"/>
          </p:nvPr>
        </p:nvSpPr>
        <p:spPr>
          <a:xfrm>
            <a:off x="838200" y="1108710"/>
            <a:ext cx="10515600" cy="5068253"/>
          </a:xfrm>
        </p:spPr>
        <p:txBody>
          <a:bodyPr>
            <a:normAutofit fontScale="85000" lnSpcReduction="20000"/>
          </a:bodyPr>
          <a:lstStyle/>
          <a:p>
            <a:pPr algn="just"/>
            <a:r>
              <a:rPr lang="en-US" dirty="0"/>
              <a:t>As per this principle, once the insured is paid for the losses due to damage to his insured property, then the ownership right of such property shifts to the insurer. </a:t>
            </a:r>
          </a:p>
          <a:p>
            <a:pPr algn="just"/>
            <a:r>
              <a:rPr lang="en-US" dirty="0"/>
              <a:t>So if your car / bike / house / valuables which you have insured is fully damaged and once you get compensation from insurance company, then they get the ownership of the item and now they can sell off the remains to recover their dues by that process</a:t>
            </a:r>
            <a:br>
              <a:rPr lang="en-US" dirty="0"/>
            </a:br>
            <a:r>
              <a:rPr lang="en-US" i="1" dirty="0"/>
              <a:t>You can’t benefit from the remains of that item.</a:t>
            </a:r>
          </a:p>
          <a:p>
            <a:pPr algn="just"/>
            <a:r>
              <a:rPr lang="en-US" dirty="0"/>
              <a:t>Imagine this scenario : You have car insurance and the car is stolen. The insurance company will pay you the full claim amount. </a:t>
            </a:r>
          </a:p>
          <a:p>
            <a:pPr lvl="1" algn="just"/>
            <a:r>
              <a:rPr lang="en-US" dirty="0"/>
              <a:t>However now the ownership rights are transferred to the insurance company and if the car is found in future by Police, it will be owned by insurance company.</a:t>
            </a:r>
          </a:p>
          <a:p>
            <a:pPr algn="just"/>
            <a:r>
              <a:rPr lang="en-US" dirty="0"/>
              <a:t>Also, imagine a scenario where a car is insured and the car is badly damaged beyond the use. In that case the insurance company will pay you the claim fully. </a:t>
            </a:r>
          </a:p>
          <a:p>
            <a:pPr lvl="1" algn="just"/>
            <a:r>
              <a:rPr lang="en-US" dirty="0"/>
              <a:t>Now you can’t say that you will still sell off the car parts by getting it repaired because you lose the rights to property.</a:t>
            </a:r>
            <a:endParaRPr lang="en-IN" dirty="0"/>
          </a:p>
        </p:txBody>
      </p:sp>
    </p:spTree>
    <p:extLst>
      <p:ext uri="{BB962C8B-B14F-4D97-AF65-F5344CB8AC3E}">
        <p14:creationId xmlns:p14="http://schemas.microsoft.com/office/powerpoint/2010/main" val="190163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0E58-2CA2-6002-296D-2D36C5A11D2D}"/>
              </a:ext>
            </a:extLst>
          </p:cNvPr>
          <p:cNvSpPr>
            <a:spLocks noGrp="1"/>
          </p:cNvSpPr>
          <p:nvPr>
            <p:ph type="title"/>
          </p:nvPr>
        </p:nvSpPr>
        <p:spPr/>
        <p:txBody>
          <a:bodyPr/>
          <a:lstStyle/>
          <a:p>
            <a:r>
              <a:rPr lang="en-US" dirty="0"/>
              <a:t>Principle #6 – Principle of Loss minimization</a:t>
            </a:r>
            <a:endParaRPr lang="en-IN" dirty="0"/>
          </a:p>
        </p:txBody>
      </p:sp>
      <p:sp>
        <p:nvSpPr>
          <p:cNvPr id="3" name="Content Placeholder 2">
            <a:extLst>
              <a:ext uri="{FF2B5EF4-FFF2-40B4-BE49-F238E27FC236}">
                <a16:creationId xmlns:a16="http://schemas.microsoft.com/office/drawing/2014/main" id="{B575A536-6450-D723-E5EC-076CE59811E0}"/>
              </a:ext>
            </a:extLst>
          </p:cNvPr>
          <p:cNvSpPr>
            <a:spLocks noGrp="1"/>
          </p:cNvSpPr>
          <p:nvPr>
            <p:ph idx="1"/>
          </p:nvPr>
        </p:nvSpPr>
        <p:spPr/>
        <p:txBody>
          <a:bodyPr/>
          <a:lstStyle/>
          <a:p>
            <a:pPr algn="just"/>
            <a:r>
              <a:rPr lang="en-US" dirty="0"/>
              <a:t>As per this principle, it’s the insured duty &amp; responsibility to take all actions to minimize the losses if it’s in their control. </a:t>
            </a:r>
          </a:p>
          <a:p>
            <a:pPr algn="just"/>
            <a:r>
              <a:rPr lang="en-US" dirty="0"/>
              <a:t>The insured person should take all necessary steps to control and reduce the losses if possible.</a:t>
            </a:r>
          </a:p>
          <a:p>
            <a:pPr algn="just"/>
            <a:r>
              <a:rPr lang="en-US" dirty="0"/>
              <a:t>Imagine there is a small fire in the car for example. If the car is insured, the insured person can’t just sit and relax thinking that the car is insured, he will get the claim for sure.</a:t>
            </a:r>
          </a:p>
          <a:p>
            <a:pPr algn="just"/>
            <a:r>
              <a:rPr lang="en-US" dirty="0"/>
              <a:t>If it’s in his control, he can try to control the fire, call the fire department or take first level steps like throwing water etc. If they don’t do it, it’s the violation of this principle.</a:t>
            </a:r>
            <a:endParaRPr lang="en-IN" dirty="0"/>
          </a:p>
        </p:txBody>
      </p:sp>
    </p:spTree>
    <p:extLst>
      <p:ext uri="{BB962C8B-B14F-4D97-AF65-F5344CB8AC3E}">
        <p14:creationId xmlns:p14="http://schemas.microsoft.com/office/powerpoint/2010/main" val="6310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C39E-8382-E435-0FEE-2C93DAA10622}"/>
              </a:ext>
            </a:extLst>
          </p:cNvPr>
          <p:cNvSpPr>
            <a:spLocks noGrp="1"/>
          </p:cNvSpPr>
          <p:nvPr>
            <p:ph type="title"/>
          </p:nvPr>
        </p:nvSpPr>
        <p:spPr/>
        <p:txBody>
          <a:bodyPr>
            <a:normAutofit/>
          </a:bodyPr>
          <a:lstStyle/>
          <a:p>
            <a:r>
              <a:rPr lang="en-IN" dirty="0"/>
              <a:t>Principle #7 – Principle of Causa Proxima (Nearest Cause)</a:t>
            </a:r>
          </a:p>
        </p:txBody>
      </p:sp>
      <p:sp>
        <p:nvSpPr>
          <p:cNvPr id="3" name="Content Placeholder 2">
            <a:extLst>
              <a:ext uri="{FF2B5EF4-FFF2-40B4-BE49-F238E27FC236}">
                <a16:creationId xmlns:a16="http://schemas.microsoft.com/office/drawing/2014/main" id="{127E6C43-6134-CAB1-DA3A-97E488EEB5B7}"/>
              </a:ext>
            </a:extLst>
          </p:cNvPr>
          <p:cNvSpPr>
            <a:spLocks noGrp="1"/>
          </p:cNvSpPr>
          <p:nvPr>
            <p:ph idx="1"/>
          </p:nvPr>
        </p:nvSpPr>
        <p:spPr/>
        <p:txBody>
          <a:bodyPr/>
          <a:lstStyle/>
          <a:p>
            <a:pPr algn="just"/>
            <a:r>
              <a:rPr lang="en-US" dirty="0"/>
              <a:t>This is a very important principle of insurance which an insured person should be aware about.</a:t>
            </a:r>
          </a:p>
          <a:p>
            <a:pPr algn="just"/>
            <a:r>
              <a:rPr lang="en-US" dirty="0"/>
              <a:t>As per this principle of causa </a:t>
            </a:r>
            <a:r>
              <a:rPr lang="en-US" dirty="0" err="1"/>
              <a:t>proxima</a:t>
            </a:r>
            <a:r>
              <a:rPr lang="en-US" dirty="0"/>
              <a:t>, when a loss if caused by more than one causes, then the nearest or the closest cause should be taken into consideration to decide the liability of the insurer.</a:t>
            </a:r>
          </a:p>
          <a:p>
            <a:pPr algn="just"/>
            <a:r>
              <a:rPr lang="en-US" dirty="0"/>
              <a:t>The nearest cause should be insured by the insurer, only then the insurer liability comes into picture and policy holder will be paid. Insurer will not be liable for the farthest cause.</a:t>
            </a:r>
          </a:p>
          <a:p>
            <a:endParaRPr lang="en-IN" dirty="0"/>
          </a:p>
        </p:txBody>
      </p:sp>
    </p:spTree>
    <p:extLst>
      <p:ext uri="{BB962C8B-B14F-4D97-AF65-F5344CB8AC3E}">
        <p14:creationId xmlns:p14="http://schemas.microsoft.com/office/powerpoint/2010/main" val="390923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76CFE-1EE1-859E-3D9E-3704C9FB4656}"/>
              </a:ext>
            </a:extLst>
          </p:cNvPr>
          <p:cNvSpPr>
            <a:spLocks noGrp="1"/>
          </p:cNvSpPr>
          <p:nvPr>
            <p:ph type="title"/>
          </p:nvPr>
        </p:nvSpPr>
        <p:spPr/>
        <p:txBody>
          <a:bodyPr/>
          <a:lstStyle/>
          <a:p>
            <a:r>
              <a:rPr lang="en-US"/>
              <a:t>example</a:t>
            </a:r>
            <a:endParaRPr lang="en-IN"/>
          </a:p>
        </p:txBody>
      </p:sp>
      <p:sp>
        <p:nvSpPr>
          <p:cNvPr id="3" name="Content Placeholder 2">
            <a:extLst>
              <a:ext uri="{FF2B5EF4-FFF2-40B4-BE49-F238E27FC236}">
                <a16:creationId xmlns:a16="http://schemas.microsoft.com/office/drawing/2014/main" id="{7EE189FD-972F-B9AD-18E3-462F5AB70700}"/>
              </a:ext>
            </a:extLst>
          </p:cNvPr>
          <p:cNvSpPr>
            <a:spLocks noGrp="1"/>
          </p:cNvSpPr>
          <p:nvPr>
            <p:ph idx="1"/>
          </p:nvPr>
        </p:nvSpPr>
        <p:spPr/>
        <p:txBody>
          <a:bodyPr/>
          <a:lstStyle/>
          <a:p>
            <a:pPr algn="just"/>
            <a:r>
              <a:rPr lang="en-US" dirty="0"/>
              <a:t>A cargo ship base was punctured by rats and because of that puncture, sea water entered the ship. If you look at the events, there are two reasons for damage of ship</a:t>
            </a:r>
          </a:p>
          <a:p>
            <a:pPr algn="just"/>
            <a:r>
              <a:rPr lang="en-US" dirty="0"/>
              <a:t>Rats punctured the base of ship (farthest)</a:t>
            </a:r>
          </a:p>
          <a:p>
            <a:pPr algn="just"/>
            <a:r>
              <a:rPr lang="en-US" dirty="0"/>
              <a:t>Sea Water entered the ship (closest)</a:t>
            </a:r>
          </a:p>
          <a:p>
            <a:pPr algn="just"/>
            <a:r>
              <a:rPr lang="en-US" dirty="0"/>
              <a:t>Here as the insurance company will have to pay because the ship was insured against sea water entering the ship and that reason was closest.</a:t>
            </a:r>
          </a:p>
          <a:p>
            <a:endParaRPr lang="en-IN" dirty="0"/>
          </a:p>
        </p:txBody>
      </p:sp>
    </p:spTree>
    <p:extLst>
      <p:ext uri="{BB962C8B-B14F-4D97-AF65-F5344CB8AC3E}">
        <p14:creationId xmlns:p14="http://schemas.microsoft.com/office/powerpoint/2010/main" val="82971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TotalTime>
  <Words>1356</Words>
  <Application>Microsoft Office PowerPoint</Application>
  <PresentationFormat>Widescreen</PresentationFormat>
  <Paragraphs>60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Today’s Agenda</vt:lpstr>
      <vt:lpstr>What is Insurance</vt:lpstr>
      <vt:lpstr>PowerPoint Presentation</vt:lpstr>
      <vt:lpstr>Principles of Insurance</vt:lpstr>
      <vt:lpstr>Principle #1 – Principle of Utmost Good Faith (Uberrimae fidei)</vt:lpstr>
      <vt:lpstr>PowerPoint Presentation</vt:lpstr>
      <vt:lpstr>Principle #2 – Principle of Insurable Interest</vt:lpstr>
      <vt:lpstr>Principle #3 – Principle of Indemnity</vt:lpstr>
      <vt:lpstr>Principle #4 – Principle of Contribution</vt:lpstr>
      <vt:lpstr>Principle #5 – Principle of Subrogation</vt:lpstr>
      <vt:lpstr>Principle #6 – Principle of Loss minimization</vt:lpstr>
      <vt:lpstr>Principle #7 – Principle of Causa Proxima (Nearest Cause)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Sumukh S Hungund [MAHE-MIT]</dc:creator>
  <cp:lastModifiedBy>Sumukh S Hungund [MAHE-MIT]</cp:lastModifiedBy>
  <cp:revision>5</cp:revision>
  <dcterms:created xsi:type="dcterms:W3CDTF">2025-07-24T07:01:30Z</dcterms:created>
  <dcterms:modified xsi:type="dcterms:W3CDTF">2025-08-11T01:20:55Z</dcterms:modified>
</cp:coreProperties>
</file>
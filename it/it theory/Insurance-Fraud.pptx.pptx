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nton" charset="1" panose="00000500000000000000"/>
      <p:regular r:id="rId20"/>
    </p:embeddedFont>
    <p:embeddedFont>
      <p:font typeface="Prompt Semi-Bold" charset="1" panose="00000700000000000000"/>
      <p:regular r:id="rId21"/>
    </p:embeddedFont>
    <p:embeddedFont>
      <p:font typeface="Prompt Bold" charset="1" panose="00000800000000000000"/>
      <p:regular r:id="rId22"/>
    </p:embeddedFont>
    <p:embeddedFont>
      <p:font typeface="Prompt"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2" Target="../notesSlides/notesSlide4.xml" Type="http://schemas.openxmlformats.org/officeDocument/2006/relationships/notesSlid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svg" Type="http://schemas.openxmlformats.org/officeDocument/2006/relationships/image"/><Relationship Id="rId12" Target="../media/image26.pn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2" Target="../notesSlides/notesSlide7.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9.png" Type="http://schemas.openxmlformats.org/officeDocument/2006/relationships/image"/><Relationship Id="rId4" Target="../media/image3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9D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DE9DD"/>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1079747" y="1716435"/>
            <a:ext cx="9270504" cy="1720850"/>
          </a:xfrm>
          <a:prstGeom prst="rect">
            <a:avLst/>
          </a:prstGeom>
        </p:spPr>
        <p:txBody>
          <a:bodyPr anchor="t" rtlCol="false" tIns="0" lIns="0" bIns="0" rIns="0">
            <a:spAutoFit/>
          </a:bodyPr>
          <a:lstStyle/>
          <a:p>
            <a:pPr algn="l">
              <a:lnSpc>
                <a:spcPts val="13750"/>
              </a:lnSpc>
            </a:pPr>
            <a:r>
              <a:rPr lang="en-US" sz="11000">
                <a:solidFill>
                  <a:srgbClr val="544013"/>
                </a:solidFill>
                <a:latin typeface="Anton"/>
                <a:ea typeface="Anton"/>
                <a:cs typeface="Anton"/>
                <a:sym typeface="Anton"/>
              </a:rPr>
              <a:t>Insurance Fraud</a:t>
            </a:r>
          </a:p>
        </p:txBody>
      </p:sp>
      <p:sp>
        <p:nvSpPr>
          <p:cNvPr name="TextBox 11" id="11"/>
          <p:cNvSpPr txBox="true"/>
          <p:nvPr/>
        </p:nvSpPr>
        <p:spPr>
          <a:xfrm rot="0">
            <a:off x="1028700" y="4460875"/>
            <a:ext cx="9270504" cy="682625"/>
          </a:xfrm>
          <a:prstGeom prst="rect">
            <a:avLst/>
          </a:prstGeom>
        </p:spPr>
        <p:txBody>
          <a:bodyPr anchor="t" rtlCol="false" tIns="0" lIns="0" bIns="0" rIns="0">
            <a:spAutoFit/>
          </a:bodyPr>
          <a:lstStyle/>
          <a:p>
            <a:pPr algn="l">
              <a:lnSpc>
                <a:spcPts val="5499"/>
              </a:lnSpc>
            </a:pPr>
            <a:r>
              <a:rPr lang="en-US" b="true" sz="4374" spc="-65">
                <a:solidFill>
                  <a:srgbClr val="544013"/>
                </a:solidFill>
                <a:latin typeface="Prompt Semi-Bold"/>
                <a:ea typeface="Prompt Semi-Bold"/>
                <a:cs typeface="Prompt Semi-Bold"/>
                <a:sym typeface="Prompt Semi-Bold"/>
              </a:rPr>
              <a:t>The Hidden Cost Burdening Us All</a:t>
            </a:r>
          </a:p>
        </p:txBody>
      </p:sp>
      <p:sp>
        <p:nvSpPr>
          <p:cNvPr name="TextBox 12" id="12"/>
          <p:cNvSpPr txBox="true"/>
          <p:nvPr/>
        </p:nvSpPr>
        <p:spPr>
          <a:xfrm rot="0">
            <a:off x="1079748" y="6321212"/>
            <a:ext cx="9270504" cy="1739466"/>
          </a:xfrm>
          <a:prstGeom prst="rect">
            <a:avLst/>
          </a:prstGeom>
        </p:spPr>
        <p:txBody>
          <a:bodyPr anchor="t" rtlCol="false" tIns="0" lIns="0" bIns="0" rIns="0">
            <a:spAutoFit/>
          </a:bodyPr>
          <a:lstStyle/>
          <a:p>
            <a:pPr algn="l">
              <a:lnSpc>
                <a:spcPts val="4693"/>
              </a:lnSpc>
            </a:pPr>
            <a:r>
              <a:rPr lang="en-US" b="true" sz="3074" spc="-46">
                <a:solidFill>
                  <a:srgbClr val="C85A14"/>
                </a:solidFill>
                <a:latin typeface="Prompt Bold"/>
                <a:ea typeface="Prompt Bold"/>
                <a:cs typeface="Prompt Bold"/>
                <a:sym typeface="Prompt Bold"/>
              </a:rPr>
              <a:t>A comprehensive look at how insurance fraud undermines trust, increases costs, and affects every citizen..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9D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DE9DD"/>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754541" y="687586"/>
            <a:ext cx="9636919" cy="1420813"/>
          </a:xfrm>
          <a:prstGeom prst="rect">
            <a:avLst/>
          </a:prstGeom>
        </p:spPr>
        <p:txBody>
          <a:bodyPr anchor="t" rtlCol="false" tIns="0" lIns="0" bIns="0" rIns="0">
            <a:spAutoFit/>
          </a:bodyPr>
          <a:lstStyle/>
          <a:p>
            <a:pPr algn="l">
              <a:lnSpc>
                <a:spcPts val="5687"/>
              </a:lnSpc>
            </a:pPr>
            <a:r>
              <a:rPr lang="en-US" b="true" sz="4562" spc="-68">
                <a:solidFill>
                  <a:srgbClr val="C85A14"/>
                </a:solidFill>
                <a:latin typeface="Prompt Semi-Bold"/>
                <a:ea typeface="Prompt Semi-Bold"/>
                <a:cs typeface="Prompt Semi-Bold"/>
                <a:sym typeface="Prompt Semi-Bold"/>
              </a:rPr>
              <a:t>The Shocking Scale of Insurance Fraud</a:t>
            </a:r>
          </a:p>
        </p:txBody>
      </p:sp>
      <p:sp>
        <p:nvSpPr>
          <p:cNvPr name="TextBox 9" id="9"/>
          <p:cNvSpPr txBox="true"/>
          <p:nvPr/>
        </p:nvSpPr>
        <p:spPr>
          <a:xfrm rot="0">
            <a:off x="7754541" y="2779067"/>
            <a:ext cx="2998886" cy="730297"/>
          </a:xfrm>
          <a:prstGeom prst="rect">
            <a:avLst/>
          </a:prstGeom>
        </p:spPr>
        <p:txBody>
          <a:bodyPr anchor="t" rtlCol="false" tIns="0" lIns="0" bIns="0" rIns="0">
            <a:spAutoFit/>
          </a:bodyPr>
          <a:lstStyle/>
          <a:p>
            <a:pPr algn="ctr">
              <a:lnSpc>
                <a:spcPts val="5501"/>
              </a:lnSpc>
            </a:pPr>
            <a:r>
              <a:rPr lang="en-US" sz="5501">
                <a:solidFill>
                  <a:srgbClr val="544013"/>
                </a:solidFill>
                <a:latin typeface="Anton"/>
                <a:ea typeface="Anton"/>
                <a:cs typeface="Anton"/>
                <a:sym typeface="Anton"/>
              </a:rPr>
              <a:t>$308B</a:t>
            </a:r>
          </a:p>
        </p:txBody>
      </p:sp>
      <p:sp>
        <p:nvSpPr>
          <p:cNvPr name="TextBox 10" id="10"/>
          <p:cNvSpPr txBox="true"/>
          <p:nvPr/>
        </p:nvSpPr>
        <p:spPr>
          <a:xfrm rot="0">
            <a:off x="7798445" y="3820566"/>
            <a:ext cx="2910929" cy="357188"/>
          </a:xfrm>
          <a:prstGeom prst="rect">
            <a:avLst/>
          </a:prstGeom>
        </p:spPr>
        <p:txBody>
          <a:bodyPr anchor="t" rtlCol="false" tIns="0" lIns="0" bIns="0" rIns="0">
            <a:spAutoFit/>
          </a:bodyPr>
          <a:lstStyle/>
          <a:p>
            <a:pPr algn="ctr">
              <a:lnSpc>
                <a:spcPts val="2812"/>
              </a:lnSpc>
            </a:pPr>
            <a:r>
              <a:rPr lang="en-US" sz="2250" spc="-33">
                <a:solidFill>
                  <a:srgbClr val="544013"/>
                </a:solidFill>
                <a:latin typeface="Prompt"/>
                <a:ea typeface="Prompt"/>
                <a:cs typeface="Prompt"/>
                <a:sym typeface="Prompt"/>
              </a:rPr>
              <a:t>Annual Cost</a:t>
            </a:r>
          </a:p>
        </p:txBody>
      </p:sp>
      <p:sp>
        <p:nvSpPr>
          <p:cNvPr name="TextBox 11" id="11"/>
          <p:cNvSpPr txBox="true"/>
          <p:nvPr/>
        </p:nvSpPr>
        <p:spPr>
          <a:xfrm rot="0">
            <a:off x="7754541" y="4309467"/>
            <a:ext cx="2998886" cy="698659"/>
          </a:xfrm>
          <a:prstGeom prst="rect">
            <a:avLst/>
          </a:prstGeom>
        </p:spPr>
        <p:txBody>
          <a:bodyPr anchor="t" rtlCol="false" tIns="0" lIns="0" bIns="0" rIns="0">
            <a:spAutoFit/>
          </a:bodyPr>
          <a:lstStyle/>
          <a:p>
            <a:pPr algn="ctr">
              <a:lnSpc>
                <a:spcPts val="2868"/>
              </a:lnSpc>
            </a:pPr>
            <a:r>
              <a:rPr lang="en-US" sz="1912" spc="-28">
                <a:solidFill>
                  <a:srgbClr val="544013"/>
                </a:solidFill>
                <a:latin typeface="Prompt"/>
                <a:ea typeface="Prompt"/>
                <a:cs typeface="Prompt"/>
                <a:sym typeface="Prompt"/>
              </a:rPr>
              <a:t>Total insurance fraud losses in the U.S. per year</a:t>
            </a:r>
          </a:p>
        </p:txBody>
      </p:sp>
      <p:sp>
        <p:nvSpPr>
          <p:cNvPr name="TextBox 12" id="12"/>
          <p:cNvSpPr txBox="true"/>
          <p:nvPr/>
        </p:nvSpPr>
        <p:spPr>
          <a:xfrm rot="0">
            <a:off x="11073556" y="2779067"/>
            <a:ext cx="2998886" cy="730297"/>
          </a:xfrm>
          <a:prstGeom prst="rect">
            <a:avLst/>
          </a:prstGeom>
        </p:spPr>
        <p:txBody>
          <a:bodyPr anchor="t" rtlCol="false" tIns="0" lIns="0" bIns="0" rIns="0">
            <a:spAutoFit/>
          </a:bodyPr>
          <a:lstStyle/>
          <a:p>
            <a:pPr algn="ctr">
              <a:lnSpc>
                <a:spcPts val="5501"/>
              </a:lnSpc>
            </a:pPr>
            <a:r>
              <a:rPr lang="en-US" sz="5501">
                <a:solidFill>
                  <a:srgbClr val="544013"/>
                </a:solidFill>
                <a:latin typeface="Anton"/>
                <a:ea typeface="Anton"/>
                <a:cs typeface="Anton"/>
                <a:sym typeface="Anton"/>
              </a:rPr>
              <a:t>$950</a:t>
            </a:r>
          </a:p>
        </p:txBody>
      </p:sp>
      <p:sp>
        <p:nvSpPr>
          <p:cNvPr name="TextBox 13" id="13"/>
          <p:cNvSpPr txBox="true"/>
          <p:nvPr/>
        </p:nvSpPr>
        <p:spPr>
          <a:xfrm rot="0">
            <a:off x="11117461" y="3820566"/>
            <a:ext cx="2910929" cy="357188"/>
          </a:xfrm>
          <a:prstGeom prst="rect">
            <a:avLst/>
          </a:prstGeom>
        </p:spPr>
        <p:txBody>
          <a:bodyPr anchor="t" rtlCol="false" tIns="0" lIns="0" bIns="0" rIns="0">
            <a:spAutoFit/>
          </a:bodyPr>
          <a:lstStyle/>
          <a:p>
            <a:pPr algn="ctr">
              <a:lnSpc>
                <a:spcPts val="2812"/>
              </a:lnSpc>
            </a:pPr>
            <a:r>
              <a:rPr lang="en-US" sz="2250" spc="-33">
                <a:solidFill>
                  <a:srgbClr val="544013"/>
                </a:solidFill>
                <a:latin typeface="Prompt"/>
                <a:ea typeface="Prompt"/>
                <a:cs typeface="Prompt"/>
                <a:sym typeface="Prompt"/>
              </a:rPr>
              <a:t>Per Family</a:t>
            </a:r>
          </a:p>
        </p:txBody>
      </p:sp>
      <p:sp>
        <p:nvSpPr>
          <p:cNvPr name="TextBox 14" id="14"/>
          <p:cNvSpPr txBox="true"/>
          <p:nvPr/>
        </p:nvSpPr>
        <p:spPr>
          <a:xfrm rot="0">
            <a:off x="11073556" y="4299942"/>
            <a:ext cx="2998886" cy="1016794"/>
          </a:xfrm>
          <a:prstGeom prst="rect">
            <a:avLst/>
          </a:prstGeom>
        </p:spPr>
        <p:txBody>
          <a:bodyPr anchor="t" rtlCol="false" tIns="0" lIns="0" bIns="0" rIns="0">
            <a:spAutoFit/>
          </a:bodyPr>
          <a:lstStyle/>
          <a:p>
            <a:pPr algn="ctr">
              <a:lnSpc>
                <a:spcPts val="2718"/>
              </a:lnSpc>
            </a:pPr>
            <a:r>
              <a:rPr lang="en-US" sz="1812" spc="-27">
                <a:solidFill>
                  <a:srgbClr val="544013"/>
                </a:solidFill>
                <a:latin typeface="Prompt"/>
                <a:ea typeface="Prompt"/>
                <a:cs typeface="Prompt"/>
                <a:sym typeface="Prompt"/>
              </a:rPr>
              <a:t>Average hidden tax added to American household premiums annually</a:t>
            </a:r>
          </a:p>
        </p:txBody>
      </p:sp>
      <p:sp>
        <p:nvSpPr>
          <p:cNvPr name="TextBox 15" id="15"/>
          <p:cNvSpPr txBox="true"/>
          <p:nvPr/>
        </p:nvSpPr>
        <p:spPr>
          <a:xfrm rot="0">
            <a:off x="14392572" y="2779067"/>
            <a:ext cx="2998886" cy="730297"/>
          </a:xfrm>
          <a:prstGeom prst="rect">
            <a:avLst/>
          </a:prstGeom>
        </p:spPr>
        <p:txBody>
          <a:bodyPr anchor="t" rtlCol="false" tIns="0" lIns="0" bIns="0" rIns="0">
            <a:spAutoFit/>
          </a:bodyPr>
          <a:lstStyle/>
          <a:p>
            <a:pPr algn="ctr">
              <a:lnSpc>
                <a:spcPts val="5501"/>
              </a:lnSpc>
            </a:pPr>
            <a:r>
              <a:rPr lang="en-US" sz="5501">
                <a:solidFill>
                  <a:srgbClr val="544013"/>
                </a:solidFill>
                <a:latin typeface="Anton"/>
                <a:ea typeface="Anton"/>
                <a:cs typeface="Anton"/>
                <a:sym typeface="Anton"/>
              </a:rPr>
              <a:t>$30B</a:t>
            </a:r>
          </a:p>
        </p:txBody>
      </p:sp>
      <p:sp>
        <p:nvSpPr>
          <p:cNvPr name="TextBox 16" id="16"/>
          <p:cNvSpPr txBox="true"/>
          <p:nvPr/>
        </p:nvSpPr>
        <p:spPr>
          <a:xfrm rot="0">
            <a:off x="14436477" y="3820566"/>
            <a:ext cx="2910929" cy="357188"/>
          </a:xfrm>
          <a:prstGeom prst="rect">
            <a:avLst/>
          </a:prstGeom>
        </p:spPr>
        <p:txBody>
          <a:bodyPr anchor="t" rtlCol="false" tIns="0" lIns="0" bIns="0" rIns="0">
            <a:spAutoFit/>
          </a:bodyPr>
          <a:lstStyle/>
          <a:p>
            <a:pPr algn="ctr">
              <a:lnSpc>
                <a:spcPts val="2812"/>
              </a:lnSpc>
            </a:pPr>
            <a:r>
              <a:rPr lang="en-US" sz="2250" spc="-33">
                <a:solidFill>
                  <a:srgbClr val="544013"/>
                </a:solidFill>
                <a:latin typeface="Prompt"/>
                <a:ea typeface="Prompt"/>
                <a:cs typeface="Prompt"/>
                <a:sym typeface="Prompt"/>
              </a:rPr>
              <a:t>Workers' Comp</a:t>
            </a:r>
          </a:p>
        </p:txBody>
      </p:sp>
      <p:sp>
        <p:nvSpPr>
          <p:cNvPr name="TextBox 17" id="17"/>
          <p:cNvSpPr txBox="true"/>
          <p:nvPr/>
        </p:nvSpPr>
        <p:spPr>
          <a:xfrm rot="0">
            <a:off x="14392572" y="4290417"/>
            <a:ext cx="2998886" cy="1133475"/>
          </a:xfrm>
          <a:prstGeom prst="rect">
            <a:avLst/>
          </a:prstGeom>
        </p:spPr>
        <p:txBody>
          <a:bodyPr anchor="t" rtlCol="false" tIns="0" lIns="0" bIns="0" rIns="0">
            <a:spAutoFit/>
          </a:bodyPr>
          <a:lstStyle/>
          <a:p>
            <a:pPr algn="ctr">
              <a:lnSpc>
                <a:spcPts val="3000"/>
              </a:lnSpc>
            </a:pPr>
            <a:r>
              <a:rPr lang="en-US" sz="2000" spc="-30">
                <a:solidFill>
                  <a:srgbClr val="544013"/>
                </a:solidFill>
                <a:latin typeface="Prompt"/>
                <a:ea typeface="Prompt"/>
                <a:cs typeface="Prompt"/>
                <a:sym typeface="Prompt"/>
              </a:rPr>
              <a:t>Dedicated fraud losses in workers' compensation claims</a:t>
            </a:r>
          </a:p>
        </p:txBody>
      </p:sp>
      <p:sp>
        <p:nvSpPr>
          <p:cNvPr name="TextBox 18" id="18"/>
          <p:cNvSpPr txBox="true"/>
          <p:nvPr/>
        </p:nvSpPr>
        <p:spPr>
          <a:xfrm rot="0">
            <a:off x="11073556" y="6254502"/>
            <a:ext cx="2998886" cy="730297"/>
          </a:xfrm>
          <a:prstGeom prst="rect">
            <a:avLst/>
          </a:prstGeom>
        </p:spPr>
        <p:txBody>
          <a:bodyPr anchor="t" rtlCol="false" tIns="0" lIns="0" bIns="0" rIns="0">
            <a:spAutoFit/>
          </a:bodyPr>
          <a:lstStyle/>
          <a:p>
            <a:pPr algn="ctr">
              <a:lnSpc>
                <a:spcPts val="5501"/>
              </a:lnSpc>
            </a:pPr>
            <a:r>
              <a:rPr lang="en-US" sz="5501">
                <a:solidFill>
                  <a:srgbClr val="544013"/>
                </a:solidFill>
                <a:latin typeface="Anton"/>
                <a:ea typeface="Anton"/>
                <a:cs typeface="Anton"/>
                <a:sym typeface="Anton"/>
              </a:rPr>
              <a:t>$29B</a:t>
            </a:r>
          </a:p>
        </p:txBody>
      </p:sp>
      <p:sp>
        <p:nvSpPr>
          <p:cNvPr name="TextBox 19" id="19"/>
          <p:cNvSpPr txBox="true"/>
          <p:nvPr/>
        </p:nvSpPr>
        <p:spPr>
          <a:xfrm rot="0">
            <a:off x="11117461" y="7296001"/>
            <a:ext cx="2910929" cy="357188"/>
          </a:xfrm>
          <a:prstGeom prst="rect">
            <a:avLst/>
          </a:prstGeom>
        </p:spPr>
        <p:txBody>
          <a:bodyPr anchor="t" rtlCol="false" tIns="0" lIns="0" bIns="0" rIns="0">
            <a:spAutoFit/>
          </a:bodyPr>
          <a:lstStyle/>
          <a:p>
            <a:pPr algn="ctr">
              <a:lnSpc>
                <a:spcPts val="2812"/>
              </a:lnSpc>
            </a:pPr>
            <a:r>
              <a:rPr lang="en-US" sz="2250" spc="-33">
                <a:solidFill>
                  <a:srgbClr val="544013"/>
                </a:solidFill>
                <a:latin typeface="Prompt"/>
                <a:ea typeface="Prompt"/>
                <a:cs typeface="Prompt"/>
                <a:sym typeface="Prompt"/>
              </a:rPr>
              <a:t>Auto Insurance</a:t>
            </a:r>
          </a:p>
        </p:txBody>
      </p:sp>
      <p:sp>
        <p:nvSpPr>
          <p:cNvPr name="TextBox 20" id="20"/>
          <p:cNvSpPr txBox="true"/>
          <p:nvPr/>
        </p:nvSpPr>
        <p:spPr>
          <a:xfrm rot="0">
            <a:off x="11073556" y="7765851"/>
            <a:ext cx="2998886" cy="1133475"/>
          </a:xfrm>
          <a:prstGeom prst="rect">
            <a:avLst/>
          </a:prstGeom>
        </p:spPr>
        <p:txBody>
          <a:bodyPr anchor="t" rtlCol="false" tIns="0" lIns="0" bIns="0" rIns="0">
            <a:spAutoFit/>
          </a:bodyPr>
          <a:lstStyle/>
          <a:p>
            <a:pPr algn="ctr">
              <a:lnSpc>
                <a:spcPts val="3000"/>
              </a:lnSpc>
            </a:pPr>
            <a:r>
              <a:rPr lang="en-US" sz="2000" spc="-30">
                <a:solidFill>
                  <a:srgbClr val="544013"/>
                </a:solidFill>
                <a:latin typeface="Prompt"/>
                <a:ea typeface="Prompt"/>
                <a:cs typeface="Prompt"/>
                <a:sym typeface="Prompt"/>
              </a:rPr>
              <a:t>Amount lost specifically to auto insurance fraud schemes</a:t>
            </a:r>
          </a:p>
        </p:txBody>
      </p:sp>
      <p:sp>
        <p:nvSpPr>
          <p:cNvPr name="TextBox 21" id="21"/>
          <p:cNvSpPr txBox="true"/>
          <p:nvPr/>
        </p:nvSpPr>
        <p:spPr>
          <a:xfrm rot="0">
            <a:off x="7754541" y="9423201"/>
            <a:ext cx="9636919" cy="269875"/>
          </a:xfrm>
          <a:prstGeom prst="rect">
            <a:avLst/>
          </a:prstGeom>
        </p:spPr>
        <p:txBody>
          <a:bodyPr anchor="t" rtlCol="false" tIns="0" lIns="0" bIns="0" rIns="0">
            <a:spAutoFit/>
          </a:bodyPr>
          <a:lstStyle/>
          <a:p>
            <a:pPr algn="l">
              <a:lnSpc>
                <a:spcPts val="2374"/>
              </a:lnSpc>
            </a:pPr>
            <a:r>
              <a:rPr lang="en-US" sz="1562" spc="-23">
                <a:solidFill>
                  <a:srgbClr val="544013"/>
                </a:solidFill>
                <a:latin typeface="Prompt"/>
                <a:ea typeface="Prompt"/>
                <a:cs typeface="Prompt"/>
                <a:sym typeface="Prompt"/>
              </a:rPr>
              <a:t>Source: Coalition Against Insurance Fraud, 2024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4401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6" id="6"/>
          <p:cNvGrpSpPr>
            <a:grpSpLocks noChangeAspect="true"/>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8869" y="947589"/>
            <a:ext cx="8688289" cy="790575"/>
          </a:xfrm>
          <a:prstGeom prst="rect">
            <a:avLst/>
          </a:prstGeom>
        </p:spPr>
        <p:txBody>
          <a:bodyPr anchor="t" rtlCol="false" tIns="0" lIns="0" bIns="0" rIns="0">
            <a:spAutoFit/>
          </a:bodyPr>
          <a:lstStyle/>
          <a:p>
            <a:pPr algn="l">
              <a:lnSpc>
                <a:spcPts val="6374"/>
              </a:lnSpc>
            </a:pPr>
            <a:r>
              <a:rPr lang="en-US" sz="5062">
                <a:solidFill>
                  <a:srgbClr val="EDE9DD"/>
                </a:solidFill>
                <a:latin typeface="Anton"/>
                <a:ea typeface="Anton"/>
                <a:cs typeface="Anton"/>
                <a:sym typeface="Anton"/>
              </a:rPr>
              <a:t>What Is Insurance Fraud?</a:t>
            </a:r>
          </a:p>
        </p:txBody>
      </p:sp>
      <p:sp>
        <p:nvSpPr>
          <p:cNvPr name="TextBox 9" id="9"/>
          <p:cNvSpPr txBox="true"/>
          <p:nvPr/>
        </p:nvSpPr>
        <p:spPr>
          <a:xfrm rot="0">
            <a:off x="7858869" y="1883717"/>
            <a:ext cx="3899744" cy="477838"/>
          </a:xfrm>
          <a:prstGeom prst="rect">
            <a:avLst/>
          </a:prstGeom>
        </p:spPr>
        <p:txBody>
          <a:bodyPr anchor="t" rtlCol="false" tIns="0" lIns="0" bIns="0" rIns="0">
            <a:spAutoFit/>
          </a:bodyPr>
          <a:lstStyle/>
          <a:p>
            <a:pPr algn="l">
              <a:lnSpc>
                <a:spcPts val="3812"/>
              </a:lnSpc>
            </a:pPr>
            <a:r>
              <a:rPr lang="en-US" b="true" sz="3062" spc="-45">
                <a:solidFill>
                  <a:srgbClr val="EDE9DD"/>
                </a:solidFill>
                <a:latin typeface="Prompt Semi-Bold"/>
                <a:ea typeface="Prompt Semi-Bold"/>
                <a:cs typeface="Prompt Semi-Bold"/>
                <a:sym typeface="Prompt Semi-Bold"/>
              </a:rPr>
              <a:t>Defining the Crime</a:t>
            </a:r>
          </a:p>
        </p:txBody>
      </p:sp>
      <p:sp>
        <p:nvSpPr>
          <p:cNvPr name="TextBox 10" id="10"/>
          <p:cNvSpPr txBox="true"/>
          <p:nvPr/>
        </p:nvSpPr>
        <p:spPr>
          <a:xfrm rot="0">
            <a:off x="7858869" y="2752427"/>
            <a:ext cx="9428261" cy="1695450"/>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Insurance fraud is deliberate deception against or by insurance companies for unlawful financial gain. It encompasses false claims, inflated damages, fabricated policies, and premium evasion schemes designed to extract money dishonestly.</a:t>
            </a:r>
          </a:p>
        </p:txBody>
      </p:sp>
      <p:grpSp>
        <p:nvGrpSpPr>
          <p:cNvPr name="Group 11" id="11"/>
          <p:cNvGrpSpPr/>
          <p:nvPr/>
        </p:nvGrpSpPr>
        <p:grpSpPr>
          <a:xfrm rot="0">
            <a:off x="7839819" y="4837956"/>
            <a:ext cx="4609208" cy="2551062"/>
            <a:chOff x="0" y="0"/>
            <a:chExt cx="6145610" cy="3401417"/>
          </a:xfrm>
        </p:grpSpPr>
        <p:sp>
          <p:nvSpPr>
            <p:cNvPr name="Freeform 12" id="12"/>
            <p:cNvSpPr/>
            <p:nvPr/>
          </p:nvSpPr>
          <p:spPr>
            <a:xfrm flipH="false" flipV="false" rot="0">
              <a:off x="25400" y="25400"/>
              <a:ext cx="6094730" cy="3350514"/>
            </a:xfrm>
            <a:custGeom>
              <a:avLst/>
              <a:gdLst/>
              <a:ahLst/>
              <a:cxnLst/>
              <a:rect r="r" b="b" t="t" l="l"/>
              <a:pathLst>
                <a:path h="3350514" w="6094730">
                  <a:moveTo>
                    <a:pt x="0" y="57150"/>
                  </a:moveTo>
                  <a:cubicBezTo>
                    <a:pt x="0" y="25654"/>
                    <a:pt x="25781" y="0"/>
                    <a:pt x="57531" y="0"/>
                  </a:cubicBezTo>
                  <a:lnTo>
                    <a:pt x="6037199" y="0"/>
                  </a:lnTo>
                  <a:cubicBezTo>
                    <a:pt x="6068949" y="0"/>
                    <a:pt x="6094730" y="25654"/>
                    <a:pt x="6094730" y="57150"/>
                  </a:cubicBezTo>
                  <a:lnTo>
                    <a:pt x="6094730" y="3293364"/>
                  </a:lnTo>
                  <a:cubicBezTo>
                    <a:pt x="6094730" y="3324987"/>
                    <a:pt x="6068949" y="3350514"/>
                    <a:pt x="6037199" y="3350514"/>
                  </a:cubicBezTo>
                  <a:lnTo>
                    <a:pt x="57531" y="3350514"/>
                  </a:lnTo>
                  <a:cubicBezTo>
                    <a:pt x="25781" y="3350514"/>
                    <a:pt x="0" y="3324860"/>
                    <a:pt x="0" y="3293364"/>
                  </a:cubicBezTo>
                  <a:close/>
                </a:path>
              </a:pathLst>
            </a:custGeom>
            <a:solidFill>
              <a:srgbClr val="D8849E"/>
            </a:solidFill>
          </p:spPr>
        </p:sp>
        <p:sp>
          <p:nvSpPr>
            <p:cNvPr name="Freeform 13" id="13"/>
            <p:cNvSpPr/>
            <p:nvPr/>
          </p:nvSpPr>
          <p:spPr>
            <a:xfrm flipH="false" flipV="false" rot="0">
              <a:off x="0" y="0"/>
              <a:ext cx="6145530" cy="3401314"/>
            </a:xfrm>
            <a:custGeom>
              <a:avLst/>
              <a:gdLst/>
              <a:ahLst/>
              <a:cxnLst/>
              <a:rect r="r" b="b" t="t" l="l"/>
              <a:pathLst>
                <a:path h="3401314" w="6145530">
                  <a:moveTo>
                    <a:pt x="0" y="82550"/>
                  </a:moveTo>
                  <a:cubicBezTo>
                    <a:pt x="0" y="36830"/>
                    <a:pt x="37338" y="0"/>
                    <a:pt x="82931" y="0"/>
                  </a:cubicBezTo>
                  <a:lnTo>
                    <a:pt x="6062599" y="0"/>
                  </a:lnTo>
                  <a:lnTo>
                    <a:pt x="6062599" y="25400"/>
                  </a:lnTo>
                  <a:lnTo>
                    <a:pt x="6062599" y="0"/>
                  </a:lnTo>
                  <a:cubicBezTo>
                    <a:pt x="6108319" y="0"/>
                    <a:pt x="6145530" y="36830"/>
                    <a:pt x="6145530" y="82550"/>
                  </a:cubicBezTo>
                  <a:lnTo>
                    <a:pt x="6120130" y="82550"/>
                  </a:lnTo>
                  <a:lnTo>
                    <a:pt x="6145530" y="82550"/>
                  </a:lnTo>
                  <a:lnTo>
                    <a:pt x="6145530" y="3318764"/>
                  </a:lnTo>
                  <a:lnTo>
                    <a:pt x="6120130" y="3318764"/>
                  </a:lnTo>
                  <a:lnTo>
                    <a:pt x="6145530" y="3318764"/>
                  </a:lnTo>
                  <a:cubicBezTo>
                    <a:pt x="6145530" y="3364484"/>
                    <a:pt x="6108192" y="3401314"/>
                    <a:pt x="6062599" y="3401314"/>
                  </a:cubicBezTo>
                  <a:lnTo>
                    <a:pt x="6062599" y="3375914"/>
                  </a:lnTo>
                  <a:lnTo>
                    <a:pt x="6062599" y="3401314"/>
                  </a:lnTo>
                  <a:lnTo>
                    <a:pt x="82931" y="3401314"/>
                  </a:lnTo>
                  <a:lnTo>
                    <a:pt x="82931" y="3375914"/>
                  </a:lnTo>
                  <a:lnTo>
                    <a:pt x="82931" y="3401314"/>
                  </a:lnTo>
                  <a:cubicBezTo>
                    <a:pt x="37211" y="3401314"/>
                    <a:pt x="0" y="3364484"/>
                    <a:pt x="0" y="3318764"/>
                  </a:cubicBezTo>
                  <a:lnTo>
                    <a:pt x="0" y="82550"/>
                  </a:lnTo>
                  <a:lnTo>
                    <a:pt x="25400" y="82550"/>
                  </a:lnTo>
                  <a:lnTo>
                    <a:pt x="0" y="82550"/>
                  </a:lnTo>
                  <a:moveTo>
                    <a:pt x="50800" y="82550"/>
                  </a:moveTo>
                  <a:lnTo>
                    <a:pt x="50800" y="3318764"/>
                  </a:lnTo>
                  <a:lnTo>
                    <a:pt x="25400" y="3318764"/>
                  </a:lnTo>
                  <a:lnTo>
                    <a:pt x="50800" y="3318764"/>
                  </a:lnTo>
                  <a:cubicBezTo>
                    <a:pt x="50800" y="3336163"/>
                    <a:pt x="65024" y="3350514"/>
                    <a:pt x="82931" y="3350514"/>
                  </a:cubicBezTo>
                  <a:lnTo>
                    <a:pt x="6062599" y="3350514"/>
                  </a:lnTo>
                  <a:cubicBezTo>
                    <a:pt x="6080506" y="3350514"/>
                    <a:pt x="6094730" y="3336163"/>
                    <a:pt x="6094730" y="3318764"/>
                  </a:cubicBezTo>
                  <a:lnTo>
                    <a:pt x="6094730" y="82550"/>
                  </a:lnTo>
                  <a:cubicBezTo>
                    <a:pt x="6094730" y="65151"/>
                    <a:pt x="6080506" y="50800"/>
                    <a:pt x="6062599" y="50800"/>
                  </a:cubicBezTo>
                  <a:lnTo>
                    <a:pt x="82931" y="50800"/>
                  </a:lnTo>
                  <a:lnTo>
                    <a:pt x="82931" y="25400"/>
                  </a:lnTo>
                  <a:lnTo>
                    <a:pt x="82931" y="50800"/>
                  </a:lnTo>
                  <a:cubicBezTo>
                    <a:pt x="65024" y="50800"/>
                    <a:pt x="50800" y="65151"/>
                    <a:pt x="50800" y="82550"/>
                  </a:cubicBezTo>
                  <a:close/>
                </a:path>
              </a:pathLst>
            </a:custGeom>
            <a:solidFill>
              <a:srgbClr val="EDE9DD"/>
            </a:solidFill>
          </p:spPr>
        </p:sp>
      </p:grpSp>
      <p:sp>
        <p:nvSpPr>
          <p:cNvPr name="TextBox 14" id="14"/>
          <p:cNvSpPr txBox="true"/>
          <p:nvPr/>
        </p:nvSpPr>
        <p:spPr>
          <a:xfrm rot="0">
            <a:off x="8182867" y="5171480"/>
            <a:ext cx="3249811"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False Statements</a:t>
            </a:r>
          </a:p>
        </p:txBody>
      </p:sp>
      <p:sp>
        <p:nvSpPr>
          <p:cNvPr name="TextBox 15" id="15"/>
          <p:cNvSpPr txBox="true"/>
          <p:nvPr/>
        </p:nvSpPr>
        <p:spPr>
          <a:xfrm rot="0">
            <a:off x="8182867" y="5692080"/>
            <a:ext cx="3923110" cy="1266825"/>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Knowingly providing inaccurate information on claims or applications</a:t>
            </a:r>
          </a:p>
        </p:txBody>
      </p:sp>
      <p:grpSp>
        <p:nvGrpSpPr>
          <p:cNvPr name="Group 16" id="16"/>
          <p:cNvGrpSpPr/>
          <p:nvPr/>
        </p:nvGrpSpPr>
        <p:grpSpPr>
          <a:xfrm rot="0">
            <a:off x="12696825" y="4837956"/>
            <a:ext cx="4609356" cy="2551062"/>
            <a:chOff x="0" y="0"/>
            <a:chExt cx="6145808" cy="3401417"/>
          </a:xfrm>
        </p:grpSpPr>
        <p:sp>
          <p:nvSpPr>
            <p:cNvPr name="Freeform 17" id="17"/>
            <p:cNvSpPr/>
            <p:nvPr/>
          </p:nvSpPr>
          <p:spPr>
            <a:xfrm flipH="false" flipV="false" rot="0">
              <a:off x="25400" y="25400"/>
              <a:ext cx="6094984" cy="3350514"/>
            </a:xfrm>
            <a:custGeom>
              <a:avLst/>
              <a:gdLst/>
              <a:ahLst/>
              <a:cxnLst/>
              <a:rect r="r" b="b" t="t" l="l"/>
              <a:pathLst>
                <a:path h="3350514" w="6094984">
                  <a:moveTo>
                    <a:pt x="0" y="57150"/>
                  </a:moveTo>
                  <a:cubicBezTo>
                    <a:pt x="0" y="25654"/>
                    <a:pt x="25781" y="0"/>
                    <a:pt x="57531" y="0"/>
                  </a:cubicBezTo>
                  <a:lnTo>
                    <a:pt x="6037453" y="0"/>
                  </a:lnTo>
                  <a:cubicBezTo>
                    <a:pt x="6069203" y="0"/>
                    <a:pt x="6094984" y="25654"/>
                    <a:pt x="6094984" y="57150"/>
                  </a:cubicBezTo>
                  <a:lnTo>
                    <a:pt x="6094984" y="3293364"/>
                  </a:lnTo>
                  <a:cubicBezTo>
                    <a:pt x="6094984" y="3324987"/>
                    <a:pt x="6069203" y="3350514"/>
                    <a:pt x="6037453" y="3350514"/>
                  </a:cubicBezTo>
                  <a:lnTo>
                    <a:pt x="57531" y="3350514"/>
                  </a:lnTo>
                  <a:cubicBezTo>
                    <a:pt x="25781" y="3350514"/>
                    <a:pt x="0" y="3324860"/>
                    <a:pt x="0" y="3293364"/>
                  </a:cubicBezTo>
                  <a:close/>
                </a:path>
              </a:pathLst>
            </a:custGeom>
            <a:solidFill>
              <a:srgbClr val="D8849E"/>
            </a:solidFill>
          </p:spPr>
        </p:sp>
        <p:sp>
          <p:nvSpPr>
            <p:cNvPr name="Freeform 18" id="18"/>
            <p:cNvSpPr/>
            <p:nvPr/>
          </p:nvSpPr>
          <p:spPr>
            <a:xfrm flipH="false" flipV="false" rot="0">
              <a:off x="0" y="0"/>
              <a:ext cx="6145784" cy="3401314"/>
            </a:xfrm>
            <a:custGeom>
              <a:avLst/>
              <a:gdLst/>
              <a:ahLst/>
              <a:cxnLst/>
              <a:rect r="r" b="b" t="t" l="l"/>
              <a:pathLst>
                <a:path h="3401314" w="6145784">
                  <a:moveTo>
                    <a:pt x="0" y="82550"/>
                  </a:moveTo>
                  <a:cubicBezTo>
                    <a:pt x="0" y="36830"/>
                    <a:pt x="37338" y="0"/>
                    <a:pt x="82931" y="0"/>
                  </a:cubicBezTo>
                  <a:lnTo>
                    <a:pt x="6062853" y="0"/>
                  </a:lnTo>
                  <a:lnTo>
                    <a:pt x="6062853" y="25400"/>
                  </a:lnTo>
                  <a:lnTo>
                    <a:pt x="6062853" y="0"/>
                  </a:lnTo>
                  <a:cubicBezTo>
                    <a:pt x="6108573" y="0"/>
                    <a:pt x="6145784" y="36830"/>
                    <a:pt x="6145784" y="82550"/>
                  </a:cubicBezTo>
                  <a:lnTo>
                    <a:pt x="6120384" y="82550"/>
                  </a:lnTo>
                  <a:lnTo>
                    <a:pt x="6145784" y="82550"/>
                  </a:lnTo>
                  <a:lnTo>
                    <a:pt x="6145784" y="3318764"/>
                  </a:lnTo>
                  <a:lnTo>
                    <a:pt x="6120384" y="3318764"/>
                  </a:lnTo>
                  <a:lnTo>
                    <a:pt x="6145784" y="3318764"/>
                  </a:lnTo>
                  <a:cubicBezTo>
                    <a:pt x="6145784" y="3364484"/>
                    <a:pt x="6108446" y="3401314"/>
                    <a:pt x="6062853" y="3401314"/>
                  </a:cubicBezTo>
                  <a:lnTo>
                    <a:pt x="6062853" y="3375914"/>
                  </a:lnTo>
                  <a:lnTo>
                    <a:pt x="6062853" y="3401314"/>
                  </a:lnTo>
                  <a:lnTo>
                    <a:pt x="82931" y="3401314"/>
                  </a:lnTo>
                  <a:lnTo>
                    <a:pt x="82931" y="3375914"/>
                  </a:lnTo>
                  <a:lnTo>
                    <a:pt x="82931" y="3401314"/>
                  </a:lnTo>
                  <a:cubicBezTo>
                    <a:pt x="37211" y="3401314"/>
                    <a:pt x="0" y="3364484"/>
                    <a:pt x="0" y="3318764"/>
                  </a:cubicBezTo>
                  <a:lnTo>
                    <a:pt x="0" y="82550"/>
                  </a:lnTo>
                  <a:lnTo>
                    <a:pt x="25400" y="82550"/>
                  </a:lnTo>
                  <a:lnTo>
                    <a:pt x="0" y="82550"/>
                  </a:lnTo>
                  <a:moveTo>
                    <a:pt x="50800" y="82550"/>
                  </a:moveTo>
                  <a:lnTo>
                    <a:pt x="50800" y="3318764"/>
                  </a:lnTo>
                  <a:lnTo>
                    <a:pt x="25400" y="3318764"/>
                  </a:lnTo>
                  <a:lnTo>
                    <a:pt x="50800" y="3318764"/>
                  </a:lnTo>
                  <a:cubicBezTo>
                    <a:pt x="50800" y="3336163"/>
                    <a:pt x="65024" y="3350514"/>
                    <a:pt x="82931" y="3350514"/>
                  </a:cubicBezTo>
                  <a:lnTo>
                    <a:pt x="6062853" y="3350514"/>
                  </a:lnTo>
                  <a:cubicBezTo>
                    <a:pt x="6080760" y="3350514"/>
                    <a:pt x="6094984" y="3336163"/>
                    <a:pt x="6094984" y="3318764"/>
                  </a:cubicBezTo>
                  <a:lnTo>
                    <a:pt x="6094984" y="82550"/>
                  </a:lnTo>
                  <a:cubicBezTo>
                    <a:pt x="6094984" y="65151"/>
                    <a:pt x="6080760" y="50800"/>
                    <a:pt x="6062853" y="50800"/>
                  </a:cubicBezTo>
                  <a:lnTo>
                    <a:pt x="82931" y="50800"/>
                  </a:lnTo>
                  <a:lnTo>
                    <a:pt x="82931" y="25400"/>
                  </a:lnTo>
                  <a:lnTo>
                    <a:pt x="82931" y="50800"/>
                  </a:lnTo>
                  <a:cubicBezTo>
                    <a:pt x="65024" y="50800"/>
                    <a:pt x="50800" y="65151"/>
                    <a:pt x="50800" y="82550"/>
                  </a:cubicBezTo>
                  <a:close/>
                </a:path>
              </a:pathLst>
            </a:custGeom>
            <a:solidFill>
              <a:srgbClr val="EDE9DD"/>
            </a:solidFill>
          </p:spPr>
        </p:sp>
      </p:grpSp>
      <p:sp>
        <p:nvSpPr>
          <p:cNvPr name="TextBox 19" id="19"/>
          <p:cNvSpPr txBox="true"/>
          <p:nvPr/>
        </p:nvSpPr>
        <p:spPr>
          <a:xfrm rot="0">
            <a:off x="13039874" y="5171480"/>
            <a:ext cx="3249811"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Intent to Deceive</a:t>
            </a:r>
          </a:p>
        </p:txBody>
      </p:sp>
      <p:sp>
        <p:nvSpPr>
          <p:cNvPr name="TextBox 20" id="20"/>
          <p:cNvSpPr txBox="true"/>
          <p:nvPr/>
        </p:nvSpPr>
        <p:spPr>
          <a:xfrm rot="0">
            <a:off x="13039874" y="5692080"/>
            <a:ext cx="3923259" cy="838200"/>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Deliberate action with clear purpose to mislead insurers</a:t>
            </a:r>
          </a:p>
        </p:txBody>
      </p:sp>
      <p:grpSp>
        <p:nvGrpSpPr>
          <p:cNvPr name="Group 21" id="21"/>
          <p:cNvGrpSpPr/>
          <p:nvPr/>
        </p:nvGrpSpPr>
        <p:grpSpPr>
          <a:xfrm rot="0">
            <a:off x="7839819" y="7636818"/>
            <a:ext cx="9466361" cy="1692920"/>
            <a:chOff x="0" y="0"/>
            <a:chExt cx="12621815" cy="2257227"/>
          </a:xfrm>
        </p:grpSpPr>
        <p:sp>
          <p:nvSpPr>
            <p:cNvPr name="Freeform 22" id="22"/>
            <p:cNvSpPr/>
            <p:nvPr/>
          </p:nvSpPr>
          <p:spPr>
            <a:xfrm flipH="false" flipV="false" rot="0">
              <a:off x="25400" y="25400"/>
              <a:ext cx="12571095" cy="2206371"/>
            </a:xfrm>
            <a:custGeom>
              <a:avLst/>
              <a:gdLst/>
              <a:ahLst/>
              <a:cxnLst/>
              <a:rect r="r" b="b" t="t" l="l"/>
              <a:pathLst>
                <a:path h="2206371" w="12571095">
                  <a:moveTo>
                    <a:pt x="0" y="57150"/>
                  </a:moveTo>
                  <a:cubicBezTo>
                    <a:pt x="0" y="25654"/>
                    <a:pt x="26035" y="0"/>
                    <a:pt x="58293" y="0"/>
                  </a:cubicBezTo>
                  <a:lnTo>
                    <a:pt x="12512802" y="0"/>
                  </a:lnTo>
                  <a:cubicBezTo>
                    <a:pt x="12544933" y="0"/>
                    <a:pt x="12571095" y="25654"/>
                    <a:pt x="12571095" y="57150"/>
                  </a:cubicBezTo>
                  <a:lnTo>
                    <a:pt x="12571095" y="2149221"/>
                  </a:lnTo>
                  <a:cubicBezTo>
                    <a:pt x="12571095" y="2180844"/>
                    <a:pt x="12545060" y="2206371"/>
                    <a:pt x="12512802" y="2206371"/>
                  </a:cubicBezTo>
                  <a:lnTo>
                    <a:pt x="58293" y="2206371"/>
                  </a:lnTo>
                  <a:cubicBezTo>
                    <a:pt x="26162" y="2206371"/>
                    <a:pt x="0" y="2180717"/>
                    <a:pt x="0" y="2149221"/>
                  </a:cubicBezTo>
                  <a:close/>
                </a:path>
              </a:pathLst>
            </a:custGeom>
            <a:solidFill>
              <a:srgbClr val="D8849E"/>
            </a:solidFill>
          </p:spPr>
        </p:sp>
        <p:sp>
          <p:nvSpPr>
            <p:cNvPr name="Freeform 23" id="23"/>
            <p:cNvSpPr/>
            <p:nvPr/>
          </p:nvSpPr>
          <p:spPr>
            <a:xfrm flipH="false" flipV="false" rot="0">
              <a:off x="0" y="0"/>
              <a:ext cx="12621895" cy="2257171"/>
            </a:xfrm>
            <a:custGeom>
              <a:avLst/>
              <a:gdLst/>
              <a:ahLst/>
              <a:cxnLst/>
              <a:rect r="r" b="b" t="t" l="l"/>
              <a:pathLst>
                <a:path h="2257171" w="12621895">
                  <a:moveTo>
                    <a:pt x="0" y="82550"/>
                  </a:moveTo>
                  <a:cubicBezTo>
                    <a:pt x="0" y="36576"/>
                    <a:pt x="37973" y="0"/>
                    <a:pt x="83693" y="0"/>
                  </a:cubicBezTo>
                  <a:lnTo>
                    <a:pt x="12538202" y="0"/>
                  </a:lnTo>
                  <a:lnTo>
                    <a:pt x="12538202" y="25400"/>
                  </a:lnTo>
                  <a:lnTo>
                    <a:pt x="12538202" y="0"/>
                  </a:lnTo>
                  <a:cubicBezTo>
                    <a:pt x="12583922" y="0"/>
                    <a:pt x="12621895" y="36576"/>
                    <a:pt x="12621895" y="82550"/>
                  </a:cubicBezTo>
                  <a:lnTo>
                    <a:pt x="12596495" y="82550"/>
                  </a:lnTo>
                  <a:lnTo>
                    <a:pt x="12621895" y="82550"/>
                  </a:lnTo>
                  <a:lnTo>
                    <a:pt x="12621895" y="2174621"/>
                  </a:lnTo>
                  <a:lnTo>
                    <a:pt x="12596495" y="2174621"/>
                  </a:lnTo>
                  <a:lnTo>
                    <a:pt x="12621895" y="2174621"/>
                  </a:lnTo>
                  <a:cubicBezTo>
                    <a:pt x="12621895" y="2220722"/>
                    <a:pt x="12583922" y="2257171"/>
                    <a:pt x="12538202" y="2257171"/>
                  </a:cubicBezTo>
                  <a:lnTo>
                    <a:pt x="12538202" y="2231771"/>
                  </a:lnTo>
                  <a:lnTo>
                    <a:pt x="12538202" y="2257171"/>
                  </a:lnTo>
                  <a:lnTo>
                    <a:pt x="83693" y="2257171"/>
                  </a:lnTo>
                  <a:lnTo>
                    <a:pt x="83693" y="2231771"/>
                  </a:lnTo>
                  <a:lnTo>
                    <a:pt x="83693" y="2257171"/>
                  </a:lnTo>
                  <a:cubicBezTo>
                    <a:pt x="37973" y="2257171"/>
                    <a:pt x="0" y="2220595"/>
                    <a:pt x="0" y="2174621"/>
                  </a:cubicBezTo>
                  <a:lnTo>
                    <a:pt x="0" y="82550"/>
                  </a:lnTo>
                  <a:lnTo>
                    <a:pt x="25400" y="82550"/>
                  </a:lnTo>
                  <a:lnTo>
                    <a:pt x="0" y="82550"/>
                  </a:lnTo>
                  <a:moveTo>
                    <a:pt x="50800" y="82550"/>
                  </a:moveTo>
                  <a:lnTo>
                    <a:pt x="50800" y="2174621"/>
                  </a:lnTo>
                  <a:lnTo>
                    <a:pt x="25400" y="2174621"/>
                  </a:lnTo>
                  <a:lnTo>
                    <a:pt x="50800" y="2174621"/>
                  </a:lnTo>
                  <a:cubicBezTo>
                    <a:pt x="50800" y="2191766"/>
                    <a:pt x="65024" y="2206371"/>
                    <a:pt x="83693" y="2206371"/>
                  </a:cubicBezTo>
                  <a:lnTo>
                    <a:pt x="12538202" y="2206371"/>
                  </a:lnTo>
                  <a:cubicBezTo>
                    <a:pt x="12556744" y="2206371"/>
                    <a:pt x="12571095" y="2191639"/>
                    <a:pt x="12571095" y="2174621"/>
                  </a:cubicBezTo>
                  <a:lnTo>
                    <a:pt x="12571095" y="82550"/>
                  </a:lnTo>
                  <a:cubicBezTo>
                    <a:pt x="12571095" y="65405"/>
                    <a:pt x="12556871" y="50800"/>
                    <a:pt x="12538202" y="50800"/>
                  </a:cubicBezTo>
                  <a:lnTo>
                    <a:pt x="83693" y="50800"/>
                  </a:lnTo>
                  <a:lnTo>
                    <a:pt x="83693" y="25400"/>
                  </a:lnTo>
                  <a:lnTo>
                    <a:pt x="83693" y="50800"/>
                  </a:lnTo>
                  <a:cubicBezTo>
                    <a:pt x="65024" y="50800"/>
                    <a:pt x="50800" y="65532"/>
                    <a:pt x="50800" y="82550"/>
                  </a:cubicBezTo>
                  <a:close/>
                </a:path>
              </a:pathLst>
            </a:custGeom>
            <a:solidFill>
              <a:srgbClr val="EDE9DD"/>
            </a:solidFill>
          </p:spPr>
        </p:sp>
      </p:grpSp>
      <p:sp>
        <p:nvSpPr>
          <p:cNvPr name="TextBox 24" id="24"/>
          <p:cNvSpPr txBox="true"/>
          <p:nvPr/>
        </p:nvSpPr>
        <p:spPr>
          <a:xfrm rot="0">
            <a:off x="8182867" y="7970341"/>
            <a:ext cx="3249811"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Criminal Impact</a:t>
            </a:r>
          </a:p>
        </p:txBody>
      </p:sp>
      <p:sp>
        <p:nvSpPr>
          <p:cNvPr name="TextBox 25" id="25"/>
          <p:cNvSpPr txBox="true"/>
          <p:nvPr/>
        </p:nvSpPr>
        <p:spPr>
          <a:xfrm rot="0">
            <a:off x="8182867" y="8490942"/>
            <a:ext cx="8780264" cy="409575"/>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Direct effect on claims processing or policy eligibility decisions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8B59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sp>
        <p:nvSpPr>
          <p:cNvPr name="TextBox 6" id="6"/>
          <p:cNvSpPr txBox="true"/>
          <p:nvPr/>
        </p:nvSpPr>
        <p:spPr>
          <a:xfrm rot="0">
            <a:off x="1000125" y="757237"/>
            <a:ext cx="8527107" cy="790575"/>
          </a:xfrm>
          <a:prstGeom prst="rect">
            <a:avLst/>
          </a:prstGeom>
        </p:spPr>
        <p:txBody>
          <a:bodyPr anchor="t" rtlCol="false" tIns="0" lIns="0" bIns="0" rIns="0">
            <a:spAutoFit/>
          </a:bodyPr>
          <a:lstStyle/>
          <a:p>
            <a:pPr algn="l">
              <a:lnSpc>
                <a:spcPts val="6374"/>
              </a:lnSpc>
            </a:pPr>
            <a:r>
              <a:rPr lang="en-US" sz="5062">
                <a:solidFill>
                  <a:srgbClr val="EDE9DD"/>
                </a:solidFill>
                <a:latin typeface="Anton"/>
                <a:ea typeface="Anton"/>
                <a:cs typeface="Anton"/>
                <a:sym typeface="Anton"/>
              </a:rPr>
              <a:t>Types of Insurance Fraud</a:t>
            </a:r>
          </a:p>
        </p:txBody>
      </p:sp>
      <p:sp>
        <p:nvSpPr>
          <p:cNvPr name="TextBox 7" id="7"/>
          <p:cNvSpPr txBox="true"/>
          <p:nvPr/>
        </p:nvSpPr>
        <p:spPr>
          <a:xfrm rot="0">
            <a:off x="1000125" y="2102495"/>
            <a:ext cx="16287750" cy="409575"/>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Insurance fraud takes many sophisticated forms, each targeting different vulnerabilities in the system:</a:t>
            </a:r>
          </a:p>
        </p:txBody>
      </p:sp>
      <p:grpSp>
        <p:nvGrpSpPr>
          <p:cNvPr name="Group 8" id="8"/>
          <p:cNvGrpSpPr/>
          <p:nvPr/>
        </p:nvGrpSpPr>
        <p:grpSpPr>
          <a:xfrm rot="0">
            <a:off x="1000125" y="2919264"/>
            <a:ext cx="8001000" cy="3149054"/>
            <a:chOff x="0" y="0"/>
            <a:chExt cx="10668000" cy="4198738"/>
          </a:xfrm>
        </p:grpSpPr>
        <p:sp>
          <p:nvSpPr>
            <p:cNvPr name="Freeform 9" id="9"/>
            <p:cNvSpPr/>
            <p:nvPr/>
          </p:nvSpPr>
          <p:spPr>
            <a:xfrm flipH="false" flipV="false" rot="0">
              <a:off x="0" y="0"/>
              <a:ext cx="10668000" cy="4198747"/>
            </a:xfrm>
            <a:custGeom>
              <a:avLst/>
              <a:gdLst/>
              <a:ahLst/>
              <a:cxnLst/>
              <a:rect r="r" b="b" t="t" l="l"/>
              <a:pathLst>
                <a:path h="4198747" w="10668000">
                  <a:moveTo>
                    <a:pt x="0" y="57150"/>
                  </a:moveTo>
                  <a:cubicBezTo>
                    <a:pt x="0" y="25527"/>
                    <a:pt x="25527" y="0"/>
                    <a:pt x="57150" y="0"/>
                  </a:cubicBezTo>
                  <a:lnTo>
                    <a:pt x="10610850" y="0"/>
                  </a:lnTo>
                  <a:cubicBezTo>
                    <a:pt x="10642473" y="0"/>
                    <a:pt x="10668000" y="25527"/>
                    <a:pt x="10668000" y="57150"/>
                  </a:cubicBezTo>
                  <a:lnTo>
                    <a:pt x="10668000" y="4141597"/>
                  </a:lnTo>
                  <a:cubicBezTo>
                    <a:pt x="10668000" y="4173220"/>
                    <a:pt x="10642473" y="4198747"/>
                    <a:pt x="10610850" y="4198747"/>
                  </a:cubicBezTo>
                  <a:lnTo>
                    <a:pt x="57150" y="4198747"/>
                  </a:lnTo>
                  <a:cubicBezTo>
                    <a:pt x="25527" y="4198747"/>
                    <a:pt x="0" y="4173220"/>
                    <a:pt x="0" y="4141597"/>
                  </a:cubicBezTo>
                  <a:close/>
                </a:path>
              </a:pathLst>
            </a:custGeom>
            <a:solidFill>
              <a:srgbClr val="EDE9DD"/>
            </a:solidFill>
          </p:spPr>
        </p:sp>
      </p:grpSp>
      <p:grpSp>
        <p:nvGrpSpPr>
          <p:cNvPr name="Group 10" id="10"/>
          <p:cNvGrpSpPr/>
          <p:nvPr/>
        </p:nvGrpSpPr>
        <p:grpSpPr>
          <a:xfrm rot="0">
            <a:off x="1285875" y="3205014"/>
            <a:ext cx="857250" cy="857250"/>
            <a:chOff x="0" y="0"/>
            <a:chExt cx="1143000" cy="1143000"/>
          </a:xfrm>
        </p:grpSpPr>
        <p:sp>
          <p:nvSpPr>
            <p:cNvPr name="Freeform 11" id="11"/>
            <p:cNvSpPr/>
            <p:nvPr/>
          </p:nvSpPr>
          <p:spPr>
            <a:xfrm flipH="false" flipV="false" rot="0">
              <a:off x="0" y="0"/>
              <a:ext cx="1143000" cy="1143000"/>
            </a:xfrm>
            <a:custGeom>
              <a:avLst/>
              <a:gdLst/>
              <a:ahLst/>
              <a:cxnLst/>
              <a:rect r="r" b="b" t="t" l="l"/>
              <a:pathLst>
                <a:path h="1143000" w="1143000">
                  <a:moveTo>
                    <a:pt x="0" y="571500"/>
                  </a:moveTo>
                  <a:cubicBezTo>
                    <a:pt x="0" y="255905"/>
                    <a:pt x="255905" y="0"/>
                    <a:pt x="571500" y="0"/>
                  </a:cubicBezTo>
                  <a:cubicBezTo>
                    <a:pt x="887095" y="0"/>
                    <a:pt x="1143000" y="255905"/>
                    <a:pt x="1143000" y="571500"/>
                  </a:cubicBezTo>
                  <a:cubicBezTo>
                    <a:pt x="1143000" y="887095"/>
                    <a:pt x="887095" y="1143000"/>
                    <a:pt x="571500" y="1143000"/>
                  </a:cubicBezTo>
                  <a:cubicBezTo>
                    <a:pt x="255905" y="1143000"/>
                    <a:pt x="0" y="887095"/>
                    <a:pt x="0" y="571500"/>
                  </a:cubicBezTo>
                  <a:close/>
                </a:path>
              </a:pathLst>
            </a:custGeom>
            <a:solidFill>
              <a:srgbClr val="C85A14"/>
            </a:solidFill>
          </p:spPr>
        </p:sp>
      </p:grpSp>
      <p:sp>
        <p:nvSpPr>
          <p:cNvPr name="Freeform 12" id="12" descr="preencoded.png"/>
          <p:cNvSpPr/>
          <p:nvPr/>
        </p:nvSpPr>
        <p:spPr>
          <a:xfrm flipH="false" flipV="false" rot="0">
            <a:off x="1521619" y="3440757"/>
            <a:ext cx="385762" cy="385762"/>
          </a:xfrm>
          <a:custGeom>
            <a:avLst/>
            <a:gdLst/>
            <a:ahLst/>
            <a:cxnLst/>
            <a:rect r="r" b="b" t="t" l="l"/>
            <a:pathLst>
              <a:path h="385762" w="385762">
                <a:moveTo>
                  <a:pt x="0" y="0"/>
                </a:moveTo>
                <a:lnTo>
                  <a:pt x="385762" y="0"/>
                </a:lnTo>
                <a:lnTo>
                  <a:pt x="385762" y="385763"/>
                </a:lnTo>
                <a:lnTo>
                  <a:pt x="0" y="385763"/>
                </a:lnTo>
                <a:lnTo>
                  <a:pt x="0" y="0"/>
                </a:lnTo>
                <a:close/>
              </a:path>
            </a:pathLst>
          </a:custGeom>
          <a:blipFill>
            <a:blip r:embed="rId3">
              <a:extLst>
                <a:ext uri="{96DAC541-7B7A-43D3-8B79-37D633B846F1}">
                  <asvg:svgBlip xmlns:asvg="http://schemas.microsoft.com/office/drawing/2016/SVG/main" r:embed="rId4"/>
                </a:ext>
              </a:extLst>
            </a:blip>
            <a:stretch>
              <a:fillRect l="-56097" t="0" r="-56097" b="0"/>
            </a:stretch>
          </a:blipFill>
        </p:spPr>
      </p:sp>
      <p:sp>
        <p:nvSpPr>
          <p:cNvPr name="TextBox 13" id="13"/>
          <p:cNvSpPr txBox="true"/>
          <p:nvPr/>
        </p:nvSpPr>
        <p:spPr>
          <a:xfrm rot="0">
            <a:off x="1285875" y="4338489"/>
            <a:ext cx="3247430"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Claim Fraud</a:t>
            </a:r>
          </a:p>
        </p:txBody>
      </p:sp>
      <p:sp>
        <p:nvSpPr>
          <p:cNvPr name="TextBox 14" id="14"/>
          <p:cNvSpPr txBox="true"/>
          <p:nvPr/>
        </p:nvSpPr>
        <p:spPr>
          <a:xfrm rot="0">
            <a:off x="1285875" y="4858643"/>
            <a:ext cx="7429500" cy="838200"/>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Exaggerating or fabricating losses, including staged accidents and false damage reports</a:t>
            </a:r>
          </a:p>
        </p:txBody>
      </p:sp>
      <p:grpSp>
        <p:nvGrpSpPr>
          <p:cNvPr name="Group 15" id="15"/>
          <p:cNvGrpSpPr/>
          <p:nvPr/>
        </p:nvGrpSpPr>
        <p:grpSpPr>
          <a:xfrm rot="0">
            <a:off x="9286875" y="2919264"/>
            <a:ext cx="8001000" cy="3149054"/>
            <a:chOff x="0" y="0"/>
            <a:chExt cx="10668000" cy="4198738"/>
          </a:xfrm>
        </p:grpSpPr>
        <p:sp>
          <p:nvSpPr>
            <p:cNvPr name="Freeform 16" id="16"/>
            <p:cNvSpPr/>
            <p:nvPr/>
          </p:nvSpPr>
          <p:spPr>
            <a:xfrm flipH="false" flipV="false" rot="0">
              <a:off x="0" y="0"/>
              <a:ext cx="10668000" cy="4198747"/>
            </a:xfrm>
            <a:custGeom>
              <a:avLst/>
              <a:gdLst/>
              <a:ahLst/>
              <a:cxnLst/>
              <a:rect r="r" b="b" t="t" l="l"/>
              <a:pathLst>
                <a:path h="4198747" w="10668000">
                  <a:moveTo>
                    <a:pt x="0" y="57150"/>
                  </a:moveTo>
                  <a:cubicBezTo>
                    <a:pt x="0" y="25527"/>
                    <a:pt x="25527" y="0"/>
                    <a:pt x="57150" y="0"/>
                  </a:cubicBezTo>
                  <a:lnTo>
                    <a:pt x="10610850" y="0"/>
                  </a:lnTo>
                  <a:cubicBezTo>
                    <a:pt x="10642473" y="0"/>
                    <a:pt x="10668000" y="25527"/>
                    <a:pt x="10668000" y="57150"/>
                  </a:cubicBezTo>
                  <a:lnTo>
                    <a:pt x="10668000" y="4141597"/>
                  </a:lnTo>
                  <a:cubicBezTo>
                    <a:pt x="10668000" y="4173220"/>
                    <a:pt x="10642473" y="4198747"/>
                    <a:pt x="10610850" y="4198747"/>
                  </a:cubicBezTo>
                  <a:lnTo>
                    <a:pt x="57150" y="4198747"/>
                  </a:lnTo>
                  <a:cubicBezTo>
                    <a:pt x="25527" y="4198747"/>
                    <a:pt x="0" y="4173220"/>
                    <a:pt x="0" y="4141597"/>
                  </a:cubicBezTo>
                  <a:close/>
                </a:path>
              </a:pathLst>
            </a:custGeom>
            <a:solidFill>
              <a:srgbClr val="EDE9DD"/>
            </a:solidFill>
          </p:spPr>
        </p:sp>
      </p:grpSp>
      <p:grpSp>
        <p:nvGrpSpPr>
          <p:cNvPr name="Group 17" id="17"/>
          <p:cNvGrpSpPr/>
          <p:nvPr/>
        </p:nvGrpSpPr>
        <p:grpSpPr>
          <a:xfrm rot="0">
            <a:off x="9572625" y="3205014"/>
            <a:ext cx="857250" cy="857250"/>
            <a:chOff x="0" y="0"/>
            <a:chExt cx="1143000" cy="1143000"/>
          </a:xfrm>
        </p:grpSpPr>
        <p:sp>
          <p:nvSpPr>
            <p:cNvPr name="Freeform 18" id="18"/>
            <p:cNvSpPr/>
            <p:nvPr/>
          </p:nvSpPr>
          <p:spPr>
            <a:xfrm flipH="false" flipV="false" rot="0">
              <a:off x="0" y="0"/>
              <a:ext cx="1143000" cy="1143000"/>
            </a:xfrm>
            <a:custGeom>
              <a:avLst/>
              <a:gdLst/>
              <a:ahLst/>
              <a:cxnLst/>
              <a:rect r="r" b="b" t="t" l="l"/>
              <a:pathLst>
                <a:path h="1143000" w="1143000">
                  <a:moveTo>
                    <a:pt x="0" y="571500"/>
                  </a:moveTo>
                  <a:cubicBezTo>
                    <a:pt x="0" y="255905"/>
                    <a:pt x="255905" y="0"/>
                    <a:pt x="571500" y="0"/>
                  </a:cubicBezTo>
                  <a:cubicBezTo>
                    <a:pt x="887095" y="0"/>
                    <a:pt x="1143000" y="255905"/>
                    <a:pt x="1143000" y="571500"/>
                  </a:cubicBezTo>
                  <a:cubicBezTo>
                    <a:pt x="1143000" y="887095"/>
                    <a:pt x="887095" y="1143000"/>
                    <a:pt x="571500" y="1143000"/>
                  </a:cubicBezTo>
                  <a:cubicBezTo>
                    <a:pt x="255905" y="1143000"/>
                    <a:pt x="0" y="887095"/>
                    <a:pt x="0" y="571500"/>
                  </a:cubicBezTo>
                  <a:close/>
                </a:path>
              </a:pathLst>
            </a:custGeom>
            <a:solidFill>
              <a:srgbClr val="C85A14"/>
            </a:solidFill>
          </p:spPr>
        </p:sp>
      </p:grpSp>
      <p:sp>
        <p:nvSpPr>
          <p:cNvPr name="Freeform 19" id="19" descr="preencoded.png"/>
          <p:cNvSpPr/>
          <p:nvPr/>
        </p:nvSpPr>
        <p:spPr>
          <a:xfrm flipH="false" flipV="false" rot="0">
            <a:off x="9808369" y="3440757"/>
            <a:ext cx="385762" cy="385762"/>
          </a:xfrm>
          <a:custGeom>
            <a:avLst/>
            <a:gdLst/>
            <a:ahLst/>
            <a:cxnLst/>
            <a:rect r="r" b="b" t="t" l="l"/>
            <a:pathLst>
              <a:path h="385762" w="385762">
                <a:moveTo>
                  <a:pt x="0" y="0"/>
                </a:moveTo>
                <a:lnTo>
                  <a:pt x="385762" y="0"/>
                </a:lnTo>
                <a:lnTo>
                  <a:pt x="385762" y="385763"/>
                </a:lnTo>
                <a:lnTo>
                  <a:pt x="0" y="385763"/>
                </a:lnTo>
                <a:lnTo>
                  <a:pt x="0" y="0"/>
                </a:lnTo>
                <a:close/>
              </a:path>
            </a:pathLst>
          </a:custGeom>
          <a:blipFill>
            <a:blip r:embed="rId5">
              <a:extLst>
                <a:ext uri="{96DAC541-7B7A-43D3-8B79-37D633B846F1}">
                  <asvg:svgBlip xmlns:asvg="http://schemas.microsoft.com/office/drawing/2016/SVG/main" r:embed="rId6"/>
                </a:ext>
              </a:extLst>
            </a:blip>
            <a:stretch>
              <a:fillRect l="-15853" t="0" r="-15853" b="0"/>
            </a:stretch>
          </a:blipFill>
        </p:spPr>
      </p:sp>
      <p:sp>
        <p:nvSpPr>
          <p:cNvPr name="TextBox 20" id="20"/>
          <p:cNvSpPr txBox="true"/>
          <p:nvPr/>
        </p:nvSpPr>
        <p:spPr>
          <a:xfrm rot="0">
            <a:off x="9572625" y="4338489"/>
            <a:ext cx="3247430"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Premium Fraud</a:t>
            </a:r>
          </a:p>
        </p:txBody>
      </p:sp>
      <p:sp>
        <p:nvSpPr>
          <p:cNvPr name="TextBox 21" id="21"/>
          <p:cNvSpPr txBox="true"/>
          <p:nvPr/>
        </p:nvSpPr>
        <p:spPr>
          <a:xfrm rot="0">
            <a:off x="9572625" y="4858643"/>
            <a:ext cx="7429500" cy="838200"/>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Deliberately understating risk factors to qualify for artificially lower premiums</a:t>
            </a:r>
          </a:p>
        </p:txBody>
      </p:sp>
      <p:grpSp>
        <p:nvGrpSpPr>
          <p:cNvPr name="Group 22" id="22"/>
          <p:cNvGrpSpPr/>
          <p:nvPr/>
        </p:nvGrpSpPr>
        <p:grpSpPr>
          <a:xfrm rot="0">
            <a:off x="1000125" y="6354068"/>
            <a:ext cx="8001000" cy="3149054"/>
            <a:chOff x="0" y="0"/>
            <a:chExt cx="10668000" cy="4198738"/>
          </a:xfrm>
        </p:grpSpPr>
        <p:sp>
          <p:nvSpPr>
            <p:cNvPr name="Freeform 23" id="23"/>
            <p:cNvSpPr/>
            <p:nvPr/>
          </p:nvSpPr>
          <p:spPr>
            <a:xfrm flipH="false" flipV="false" rot="0">
              <a:off x="0" y="0"/>
              <a:ext cx="10668000" cy="4198747"/>
            </a:xfrm>
            <a:custGeom>
              <a:avLst/>
              <a:gdLst/>
              <a:ahLst/>
              <a:cxnLst/>
              <a:rect r="r" b="b" t="t" l="l"/>
              <a:pathLst>
                <a:path h="4198747" w="10668000">
                  <a:moveTo>
                    <a:pt x="0" y="57150"/>
                  </a:moveTo>
                  <a:cubicBezTo>
                    <a:pt x="0" y="25527"/>
                    <a:pt x="25527" y="0"/>
                    <a:pt x="57150" y="0"/>
                  </a:cubicBezTo>
                  <a:lnTo>
                    <a:pt x="10610850" y="0"/>
                  </a:lnTo>
                  <a:cubicBezTo>
                    <a:pt x="10642473" y="0"/>
                    <a:pt x="10668000" y="25527"/>
                    <a:pt x="10668000" y="57150"/>
                  </a:cubicBezTo>
                  <a:lnTo>
                    <a:pt x="10668000" y="4141597"/>
                  </a:lnTo>
                  <a:cubicBezTo>
                    <a:pt x="10668000" y="4173220"/>
                    <a:pt x="10642473" y="4198747"/>
                    <a:pt x="10610850" y="4198747"/>
                  </a:cubicBezTo>
                  <a:lnTo>
                    <a:pt x="57150" y="4198747"/>
                  </a:lnTo>
                  <a:cubicBezTo>
                    <a:pt x="25527" y="4198747"/>
                    <a:pt x="0" y="4173220"/>
                    <a:pt x="0" y="4141597"/>
                  </a:cubicBezTo>
                  <a:close/>
                </a:path>
              </a:pathLst>
            </a:custGeom>
            <a:solidFill>
              <a:srgbClr val="EDE9DD"/>
            </a:solidFill>
          </p:spPr>
        </p:sp>
      </p:grpSp>
      <p:grpSp>
        <p:nvGrpSpPr>
          <p:cNvPr name="Group 24" id="24"/>
          <p:cNvGrpSpPr/>
          <p:nvPr/>
        </p:nvGrpSpPr>
        <p:grpSpPr>
          <a:xfrm rot="0">
            <a:off x="1285875" y="6639817"/>
            <a:ext cx="857250" cy="857250"/>
            <a:chOff x="0" y="0"/>
            <a:chExt cx="1143000" cy="1143000"/>
          </a:xfrm>
        </p:grpSpPr>
        <p:sp>
          <p:nvSpPr>
            <p:cNvPr name="Freeform 25" id="25"/>
            <p:cNvSpPr/>
            <p:nvPr/>
          </p:nvSpPr>
          <p:spPr>
            <a:xfrm flipH="false" flipV="false" rot="0">
              <a:off x="0" y="0"/>
              <a:ext cx="1143000" cy="1143000"/>
            </a:xfrm>
            <a:custGeom>
              <a:avLst/>
              <a:gdLst/>
              <a:ahLst/>
              <a:cxnLst/>
              <a:rect r="r" b="b" t="t" l="l"/>
              <a:pathLst>
                <a:path h="1143000" w="1143000">
                  <a:moveTo>
                    <a:pt x="0" y="571500"/>
                  </a:moveTo>
                  <a:cubicBezTo>
                    <a:pt x="0" y="255905"/>
                    <a:pt x="255905" y="0"/>
                    <a:pt x="571500" y="0"/>
                  </a:cubicBezTo>
                  <a:cubicBezTo>
                    <a:pt x="887095" y="0"/>
                    <a:pt x="1143000" y="255905"/>
                    <a:pt x="1143000" y="571500"/>
                  </a:cubicBezTo>
                  <a:cubicBezTo>
                    <a:pt x="1143000" y="887095"/>
                    <a:pt x="887095" y="1143000"/>
                    <a:pt x="571500" y="1143000"/>
                  </a:cubicBezTo>
                  <a:cubicBezTo>
                    <a:pt x="255905" y="1143000"/>
                    <a:pt x="0" y="887095"/>
                    <a:pt x="0" y="571500"/>
                  </a:cubicBezTo>
                  <a:close/>
                </a:path>
              </a:pathLst>
            </a:custGeom>
            <a:solidFill>
              <a:srgbClr val="C85A14"/>
            </a:solidFill>
          </p:spPr>
        </p:sp>
      </p:grpSp>
      <p:sp>
        <p:nvSpPr>
          <p:cNvPr name="Freeform 26" id="26" descr="preencoded.png"/>
          <p:cNvSpPr/>
          <p:nvPr/>
        </p:nvSpPr>
        <p:spPr>
          <a:xfrm flipH="false" flipV="false" rot="0">
            <a:off x="1521619" y="6875561"/>
            <a:ext cx="385762" cy="385762"/>
          </a:xfrm>
          <a:custGeom>
            <a:avLst/>
            <a:gdLst/>
            <a:ahLst/>
            <a:cxnLst/>
            <a:rect r="r" b="b" t="t" l="l"/>
            <a:pathLst>
              <a:path h="385762" w="385762">
                <a:moveTo>
                  <a:pt x="0" y="0"/>
                </a:moveTo>
                <a:lnTo>
                  <a:pt x="385762" y="0"/>
                </a:lnTo>
                <a:lnTo>
                  <a:pt x="385762" y="385763"/>
                </a:lnTo>
                <a:lnTo>
                  <a:pt x="0" y="385763"/>
                </a:lnTo>
                <a:lnTo>
                  <a:pt x="0" y="0"/>
                </a:lnTo>
                <a:close/>
              </a:path>
            </a:pathLst>
          </a:custGeom>
          <a:blipFill>
            <a:blip r:embed="rId7">
              <a:extLst>
                <a:ext uri="{96DAC541-7B7A-43D3-8B79-37D633B846F1}">
                  <asvg:svgBlip xmlns:asvg="http://schemas.microsoft.com/office/drawing/2016/SVG/main" r:embed="rId8"/>
                </a:ext>
              </a:extLst>
            </a:blip>
            <a:stretch>
              <a:fillRect l="-7317" t="0" r="-7317" b="0"/>
            </a:stretch>
          </a:blipFill>
        </p:spPr>
      </p:sp>
      <p:sp>
        <p:nvSpPr>
          <p:cNvPr name="TextBox 27" id="27"/>
          <p:cNvSpPr txBox="true"/>
          <p:nvPr/>
        </p:nvSpPr>
        <p:spPr>
          <a:xfrm rot="0">
            <a:off x="1285875" y="7773292"/>
            <a:ext cx="3247430"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Third-Party Fraud</a:t>
            </a:r>
          </a:p>
        </p:txBody>
      </p:sp>
      <p:sp>
        <p:nvSpPr>
          <p:cNvPr name="TextBox 28" id="28"/>
          <p:cNvSpPr txBox="true"/>
          <p:nvPr/>
        </p:nvSpPr>
        <p:spPr>
          <a:xfrm rot="0">
            <a:off x="1285875" y="8293448"/>
            <a:ext cx="7429500" cy="838200"/>
          </a:xfrm>
          <a:prstGeom prst="rect">
            <a:avLst/>
          </a:prstGeom>
        </p:spPr>
        <p:txBody>
          <a:bodyPr anchor="t" rtlCol="false" tIns="0" lIns="0" bIns="0" rIns="0">
            <a:spAutoFit/>
          </a:bodyPr>
          <a:lstStyle/>
          <a:p>
            <a:pPr algn="l">
              <a:lnSpc>
                <a:spcPts val="3375"/>
              </a:lnSpc>
            </a:pPr>
            <a:r>
              <a:rPr lang="en-US" sz="2250" spc="-33">
                <a:solidFill>
                  <a:srgbClr val="544013"/>
                </a:solidFill>
                <a:latin typeface="Prompt"/>
                <a:ea typeface="Prompt"/>
                <a:cs typeface="Prompt"/>
                <a:sym typeface="Prompt"/>
              </a:rPr>
              <a:t>Healthcare or service providers billing for unnecessary or completely fabricated services</a:t>
            </a:r>
          </a:p>
        </p:txBody>
      </p:sp>
      <p:grpSp>
        <p:nvGrpSpPr>
          <p:cNvPr name="Group 29" id="29"/>
          <p:cNvGrpSpPr/>
          <p:nvPr/>
        </p:nvGrpSpPr>
        <p:grpSpPr>
          <a:xfrm rot="0">
            <a:off x="9286875" y="6354068"/>
            <a:ext cx="8001000" cy="3149054"/>
            <a:chOff x="0" y="0"/>
            <a:chExt cx="10668000" cy="4198738"/>
          </a:xfrm>
        </p:grpSpPr>
        <p:sp>
          <p:nvSpPr>
            <p:cNvPr name="Freeform 30" id="30"/>
            <p:cNvSpPr/>
            <p:nvPr/>
          </p:nvSpPr>
          <p:spPr>
            <a:xfrm flipH="false" flipV="false" rot="0">
              <a:off x="0" y="0"/>
              <a:ext cx="10668000" cy="4198747"/>
            </a:xfrm>
            <a:custGeom>
              <a:avLst/>
              <a:gdLst/>
              <a:ahLst/>
              <a:cxnLst/>
              <a:rect r="r" b="b" t="t" l="l"/>
              <a:pathLst>
                <a:path h="4198747" w="10668000">
                  <a:moveTo>
                    <a:pt x="0" y="57150"/>
                  </a:moveTo>
                  <a:cubicBezTo>
                    <a:pt x="0" y="25527"/>
                    <a:pt x="25527" y="0"/>
                    <a:pt x="57150" y="0"/>
                  </a:cubicBezTo>
                  <a:lnTo>
                    <a:pt x="10610850" y="0"/>
                  </a:lnTo>
                  <a:cubicBezTo>
                    <a:pt x="10642473" y="0"/>
                    <a:pt x="10668000" y="25527"/>
                    <a:pt x="10668000" y="57150"/>
                  </a:cubicBezTo>
                  <a:lnTo>
                    <a:pt x="10668000" y="4141597"/>
                  </a:lnTo>
                  <a:cubicBezTo>
                    <a:pt x="10668000" y="4173220"/>
                    <a:pt x="10642473" y="4198747"/>
                    <a:pt x="10610850" y="4198747"/>
                  </a:cubicBezTo>
                  <a:lnTo>
                    <a:pt x="57150" y="4198747"/>
                  </a:lnTo>
                  <a:cubicBezTo>
                    <a:pt x="25527" y="4198747"/>
                    <a:pt x="0" y="4173220"/>
                    <a:pt x="0" y="4141597"/>
                  </a:cubicBezTo>
                  <a:close/>
                </a:path>
              </a:pathLst>
            </a:custGeom>
            <a:solidFill>
              <a:srgbClr val="EDE9DD"/>
            </a:solidFill>
          </p:spPr>
        </p:sp>
      </p:grpSp>
      <p:grpSp>
        <p:nvGrpSpPr>
          <p:cNvPr name="Group 31" id="31"/>
          <p:cNvGrpSpPr/>
          <p:nvPr/>
        </p:nvGrpSpPr>
        <p:grpSpPr>
          <a:xfrm rot="0">
            <a:off x="9572625" y="6639817"/>
            <a:ext cx="857250" cy="857250"/>
            <a:chOff x="0" y="0"/>
            <a:chExt cx="1143000" cy="1143000"/>
          </a:xfrm>
        </p:grpSpPr>
        <p:sp>
          <p:nvSpPr>
            <p:cNvPr name="Freeform 32" id="32"/>
            <p:cNvSpPr/>
            <p:nvPr/>
          </p:nvSpPr>
          <p:spPr>
            <a:xfrm flipH="false" flipV="false" rot="0">
              <a:off x="0" y="0"/>
              <a:ext cx="1143000" cy="1143000"/>
            </a:xfrm>
            <a:custGeom>
              <a:avLst/>
              <a:gdLst/>
              <a:ahLst/>
              <a:cxnLst/>
              <a:rect r="r" b="b" t="t" l="l"/>
              <a:pathLst>
                <a:path h="1143000" w="1143000">
                  <a:moveTo>
                    <a:pt x="0" y="571500"/>
                  </a:moveTo>
                  <a:cubicBezTo>
                    <a:pt x="0" y="255905"/>
                    <a:pt x="255905" y="0"/>
                    <a:pt x="571500" y="0"/>
                  </a:cubicBezTo>
                  <a:cubicBezTo>
                    <a:pt x="887095" y="0"/>
                    <a:pt x="1143000" y="255905"/>
                    <a:pt x="1143000" y="571500"/>
                  </a:cubicBezTo>
                  <a:cubicBezTo>
                    <a:pt x="1143000" y="887095"/>
                    <a:pt x="887095" y="1143000"/>
                    <a:pt x="571500" y="1143000"/>
                  </a:cubicBezTo>
                  <a:cubicBezTo>
                    <a:pt x="255905" y="1143000"/>
                    <a:pt x="0" y="887095"/>
                    <a:pt x="0" y="571500"/>
                  </a:cubicBezTo>
                  <a:close/>
                </a:path>
              </a:pathLst>
            </a:custGeom>
            <a:solidFill>
              <a:srgbClr val="C85A14"/>
            </a:solidFill>
          </p:spPr>
        </p:sp>
      </p:grpSp>
      <p:sp>
        <p:nvSpPr>
          <p:cNvPr name="Freeform 33" id="33" descr="preencoded.png"/>
          <p:cNvSpPr/>
          <p:nvPr/>
        </p:nvSpPr>
        <p:spPr>
          <a:xfrm flipH="false" flipV="false" rot="0">
            <a:off x="9808369" y="6875561"/>
            <a:ext cx="385762" cy="385762"/>
          </a:xfrm>
          <a:custGeom>
            <a:avLst/>
            <a:gdLst/>
            <a:ahLst/>
            <a:cxnLst/>
            <a:rect r="r" b="b" t="t" l="l"/>
            <a:pathLst>
              <a:path h="385762" w="385762">
                <a:moveTo>
                  <a:pt x="0" y="0"/>
                </a:moveTo>
                <a:lnTo>
                  <a:pt x="385762" y="0"/>
                </a:lnTo>
                <a:lnTo>
                  <a:pt x="385762" y="385763"/>
                </a:lnTo>
                <a:lnTo>
                  <a:pt x="0" y="385763"/>
                </a:lnTo>
                <a:lnTo>
                  <a:pt x="0" y="0"/>
                </a:lnTo>
                <a:close/>
              </a:path>
            </a:pathLst>
          </a:custGeom>
          <a:blipFill>
            <a:blip r:embed="rId9">
              <a:extLst>
                <a:ext uri="{96DAC541-7B7A-43D3-8B79-37D633B846F1}">
                  <asvg:svgBlip xmlns:asvg="http://schemas.microsoft.com/office/drawing/2016/SVG/main" r:embed="rId10"/>
                </a:ext>
              </a:extLst>
            </a:blip>
            <a:stretch>
              <a:fillRect l="-3658" t="0" r="-3658" b="0"/>
            </a:stretch>
          </a:blipFill>
        </p:spPr>
      </p:sp>
      <p:sp>
        <p:nvSpPr>
          <p:cNvPr name="TextBox 34" id="34"/>
          <p:cNvSpPr txBox="true"/>
          <p:nvPr/>
        </p:nvSpPr>
        <p:spPr>
          <a:xfrm rot="0">
            <a:off x="9572625" y="7773292"/>
            <a:ext cx="3247430" cy="385763"/>
          </a:xfrm>
          <a:prstGeom prst="rect">
            <a:avLst/>
          </a:prstGeom>
        </p:spPr>
        <p:txBody>
          <a:bodyPr anchor="t" rtlCol="false" tIns="0" lIns="0" bIns="0" rIns="0">
            <a:spAutoFit/>
          </a:bodyPr>
          <a:lstStyle/>
          <a:p>
            <a:pPr algn="l">
              <a:lnSpc>
                <a:spcPts val="3187"/>
              </a:lnSpc>
            </a:pPr>
            <a:r>
              <a:rPr lang="en-US" b="true" sz="2499" spc="-37">
                <a:solidFill>
                  <a:srgbClr val="544013"/>
                </a:solidFill>
                <a:latin typeface="Prompt Semi-Bold"/>
                <a:ea typeface="Prompt Semi-Bold"/>
                <a:cs typeface="Prompt Semi-Bold"/>
                <a:sym typeface="Prompt Semi-Bold"/>
              </a:rPr>
              <a:t>Insider Fraud</a:t>
            </a:r>
          </a:p>
        </p:txBody>
      </p:sp>
      <p:sp>
        <p:nvSpPr>
          <p:cNvPr name="TextBox 35" id="35"/>
          <p:cNvSpPr txBox="true"/>
          <p:nvPr/>
        </p:nvSpPr>
        <p:spPr>
          <a:xfrm rot="0">
            <a:off x="9572625" y="8302973"/>
            <a:ext cx="7429500" cy="775811"/>
          </a:xfrm>
          <a:prstGeom prst="rect">
            <a:avLst/>
          </a:prstGeom>
        </p:spPr>
        <p:txBody>
          <a:bodyPr anchor="t" rtlCol="false" tIns="0" lIns="0" bIns="0" rIns="0">
            <a:spAutoFit/>
          </a:bodyPr>
          <a:lstStyle/>
          <a:p>
            <a:pPr algn="l">
              <a:lnSpc>
                <a:spcPts val="3206"/>
              </a:lnSpc>
            </a:pPr>
            <a:r>
              <a:rPr lang="en-US" sz="2137" spc="-32">
                <a:solidFill>
                  <a:srgbClr val="544013"/>
                </a:solidFill>
                <a:latin typeface="Prompt"/>
                <a:ea typeface="Prompt"/>
                <a:cs typeface="Prompt"/>
                <a:sym typeface="Prompt"/>
              </a:rPr>
              <a:t>Agents or employees colluding with customers to defraud insurers (American Academy of Actuaries, 2024)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9DD"/>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C85A1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EDE9DD"/>
            </a:solidFill>
          </p:spPr>
        </p:sp>
      </p:grpSp>
      <p:sp>
        <p:nvSpPr>
          <p:cNvPr name="TextBox 6" id="6"/>
          <p:cNvSpPr txBox="true"/>
          <p:nvPr/>
        </p:nvSpPr>
        <p:spPr>
          <a:xfrm rot="0">
            <a:off x="574476" y="432346"/>
            <a:ext cx="9593759" cy="454025"/>
          </a:xfrm>
          <a:prstGeom prst="rect">
            <a:avLst/>
          </a:prstGeom>
        </p:spPr>
        <p:txBody>
          <a:bodyPr anchor="t" rtlCol="false" tIns="0" lIns="0" bIns="0" rIns="0">
            <a:spAutoFit/>
          </a:bodyPr>
          <a:lstStyle/>
          <a:p>
            <a:pPr algn="l">
              <a:lnSpc>
                <a:spcPts val="3624"/>
              </a:lnSpc>
            </a:pPr>
            <a:r>
              <a:rPr lang="en-US" sz="2874">
                <a:solidFill>
                  <a:srgbClr val="D8849E"/>
                </a:solidFill>
                <a:latin typeface="Anton"/>
                <a:ea typeface="Anton"/>
                <a:cs typeface="Anton"/>
                <a:sym typeface="Anton"/>
              </a:rPr>
              <a:t>Real-World Examples: Fraud Schemes Uncovered</a:t>
            </a:r>
          </a:p>
        </p:txBody>
      </p:sp>
      <p:sp>
        <p:nvSpPr>
          <p:cNvPr name="TextBox 7" id="7"/>
          <p:cNvSpPr txBox="true"/>
          <p:nvPr/>
        </p:nvSpPr>
        <p:spPr>
          <a:xfrm rot="0">
            <a:off x="574476" y="1109439"/>
            <a:ext cx="4184675" cy="417761"/>
          </a:xfrm>
          <a:prstGeom prst="rect">
            <a:avLst/>
          </a:prstGeom>
        </p:spPr>
        <p:txBody>
          <a:bodyPr anchor="t" rtlCol="false" tIns="0" lIns="0" bIns="0" rIns="0">
            <a:spAutoFit/>
          </a:bodyPr>
          <a:lstStyle/>
          <a:p>
            <a:pPr algn="l">
              <a:lnSpc>
                <a:spcPts val="3325"/>
              </a:lnSpc>
            </a:pPr>
            <a:r>
              <a:rPr lang="en-US" b="true" sz="2637" spc="-39">
                <a:solidFill>
                  <a:srgbClr val="544013"/>
                </a:solidFill>
                <a:latin typeface="Prompt Bold"/>
                <a:ea typeface="Prompt Bold"/>
                <a:cs typeface="Prompt Bold"/>
                <a:sym typeface="Prompt Bold"/>
              </a:rPr>
              <a:t>Automotive Fraud</a:t>
            </a:r>
          </a:p>
        </p:txBody>
      </p:sp>
      <p:sp>
        <p:nvSpPr>
          <p:cNvPr name="TextBox 8" id="8"/>
          <p:cNvSpPr txBox="true"/>
          <p:nvPr/>
        </p:nvSpPr>
        <p:spPr>
          <a:xfrm rot="0">
            <a:off x="574476" y="1639193"/>
            <a:ext cx="8369350" cy="1810069"/>
          </a:xfrm>
          <a:prstGeom prst="rect">
            <a:avLst/>
          </a:prstGeom>
        </p:spPr>
        <p:txBody>
          <a:bodyPr anchor="t" rtlCol="false" tIns="0" lIns="0" bIns="0" rIns="0">
            <a:spAutoFit/>
          </a:bodyPr>
          <a:lstStyle/>
          <a:p>
            <a:pPr algn="l">
              <a:lnSpc>
                <a:spcPts val="3642"/>
              </a:lnSpc>
            </a:pPr>
            <a:r>
              <a:rPr lang="en-US" sz="2349" spc="-35">
                <a:solidFill>
                  <a:srgbClr val="544013"/>
                </a:solidFill>
                <a:latin typeface="Prompt"/>
                <a:ea typeface="Prompt"/>
                <a:cs typeface="Prompt"/>
                <a:sym typeface="Prompt"/>
              </a:rPr>
              <a:t>"Salvage fraud" involves flooding-damaged vehicles undergoing "title washing"—fraudsters remove damage history from records, repaint vehicles, and resell them as accident-free, deceiving unsuspecting buyers.</a:t>
            </a:r>
          </a:p>
        </p:txBody>
      </p:sp>
      <p:grpSp>
        <p:nvGrpSpPr>
          <p:cNvPr name="Group 9" id="9"/>
          <p:cNvGrpSpPr>
            <a:grpSpLocks noChangeAspect="true"/>
          </p:cNvGrpSpPr>
          <p:nvPr/>
        </p:nvGrpSpPr>
        <p:grpSpPr>
          <a:xfrm rot="0">
            <a:off x="1507107" y="3876899"/>
            <a:ext cx="5736975" cy="5736975"/>
            <a:chOff x="0" y="0"/>
            <a:chExt cx="11159133" cy="11159133"/>
          </a:xfrm>
        </p:grpSpPr>
        <p:sp>
          <p:nvSpPr>
            <p:cNvPr name="Freeform 10" id="10" descr="preencoded.png"/>
            <p:cNvSpPr/>
            <p:nvPr/>
          </p:nvSpPr>
          <p:spPr>
            <a:xfrm flipH="false" flipV="false" rot="0">
              <a:off x="0" y="0"/>
              <a:ext cx="11159109" cy="11159109"/>
            </a:xfrm>
            <a:custGeom>
              <a:avLst/>
              <a:gdLst/>
              <a:ahLst/>
              <a:cxnLst/>
              <a:rect r="r" b="b" t="t" l="l"/>
              <a:pathLst>
                <a:path h="11159109" w="11159109">
                  <a:moveTo>
                    <a:pt x="0" y="0"/>
                  </a:moveTo>
                  <a:lnTo>
                    <a:pt x="11159109" y="0"/>
                  </a:lnTo>
                  <a:lnTo>
                    <a:pt x="11159109" y="11159109"/>
                  </a:lnTo>
                  <a:lnTo>
                    <a:pt x="0" y="11159109"/>
                  </a:lnTo>
                  <a:lnTo>
                    <a:pt x="0" y="0"/>
                  </a:lnTo>
                  <a:close/>
                </a:path>
              </a:pathLst>
            </a:custGeom>
            <a:blipFill>
              <a:blip r:embed="rId3"/>
              <a:stretch>
                <a:fillRect l="0" t="0" r="0" b="0"/>
              </a:stretch>
            </a:blipFill>
          </p:spPr>
        </p:sp>
      </p:grpSp>
      <p:sp>
        <p:nvSpPr>
          <p:cNvPr name="TextBox 11" id="11"/>
          <p:cNvSpPr txBox="true"/>
          <p:nvPr/>
        </p:nvSpPr>
        <p:spPr>
          <a:xfrm rot="0">
            <a:off x="9353699" y="1087239"/>
            <a:ext cx="3086364" cy="417761"/>
          </a:xfrm>
          <a:prstGeom prst="rect">
            <a:avLst/>
          </a:prstGeom>
        </p:spPr>
        <p:txBody>
          <a:bodyPr anchor="t" rtlCol="false" tIns="0" lIns="0" bIns="0" rIns="0">
            <a:spAutoFit/>
          </a:bodyPr>
          <a:lstStyle/>
          <a:p>
            <a:pPr algn="l" marL="0" indent="0" lvl="0">
              <a:lnSpc>
                <a:spcPts val="3325"/>
              </a:lnSpc>
              <a:spcBef>
                <a:spcPct val="0"/>
              </a:spcBef>
            </a:pPr>
            <a:r>
              <a:rPr lang="en-US" b="true" sz="2637" spc="-39" strike="noStrike" u="none">
                <a:solidFill>
                  <a:srgbClr val="544013"/>
                </a:solidFill>
                <a:latin typeface="Prompt Bold"/>
                <a:ea typeface="Prompt Bold"/>
                <a:cs typeface="Prompt Bold"/>
                <a:sym typeface="Prompt Bold"/>
              </a:rPr>
              <a:t>Healthcare Fraud</a:t>
            </a:r>
          </a:p>
        </p:txBody>
      </p:sp>
      <p:sp>
        <p:nvSpPr>
          <p:cNvPr name="TextBox 12" id="12"/>
          <p:cNvSpPr txBox="true"/>
          <p:nvPr/>
        </p:nvSpPr>
        <p:spPr>
          <a:xfrm rot="0">
            <a:off x="9353699" y="1639192"/>
            <a:ext cx="8369350" cy="1810069"/>
          </a:xfrm>
          <a:prstGeom prst="rect">
            <a:avLst/>
          </a:prstGeom>
        </p:spPr>
        <p:txBody>
          <a:bodyPr anchor="t" rtlCol="false" tIns="0" lIns="0" bIns="0" rIns="0">
            <a:spAutoFit/>
          </a:bodyPr>
          <a:lstStyle/>
          <a:p>
            <a:pPr algn="l" marL="0" indent="0" lvl="0">
              <a:lnSpc>
                <a:spcPts val="3642"/>
              </a:lnSpc>
              <a:spcBef>
                <a:spcPct val="0"/>
              </a:spcBef>
            </a:pPr>
            <a:r>
              <a:rPr lang="en-US" sz="2349" spc="-35" strike="noStrike" u="none">
                <a:solidFill>
                  <a:srgbClr val="544013"/>
                </a:solidFill>
                <a:latin typeface="Prompt"/>
                <a:ea typeface="Prompt"/>
                <a:cs typeface="Prompt"/>
                <a:sym typeface="Prompt"/>
              </a:rPr>
              <a:t>Billing insurance for medical procedures never performed, inflating legitimate treatment costs, or submitting duplicate claims. One scheme involved billing for thousands of unnecessary surgeries.</a:t>
            </a:r>
          </a:p>
        </p:txBody>
      </p:sp>
      <p:grpSp>
        <p:nvGrpSpPr>
          <p:cNvPr name="Group 13" id="13"/>
          <p:cNvGrpSpPr>
            <a:grpSpLocks noChangeAspect="true"/>
          </p:cNvGrpSpPr>
          <p:nvPr/>
        </p:nvGrpSpPr>
        <p:grpSpPr>
          <a:xfrm rot="0">
            <a:off x="10168235" y="3876899"/>
            <a:ext cx="5736975" cy="5736975"/>
            <a:chOff x="0" y="0"/>
            <a:chExt cx="11159133" cy="11159133"/>
          </a:xfrm>
        </p:grpSpPr>
        <p:sp>
          <p:nvSpPr>
            <p:cNvPr name="Freeform 14" id="14" descr="preencoded.png"/>
            <p:cNvSpPr/>
            <p:nvPr/>
          </p:nvSpPr>
          <p:spPr>
            <a:xfrm flipH="false" flipV="false" rot="0">
              <a:off x="0" y="0"/>
              <a:ext cx="11159109" cy="11159109"/>
            </a:xfrm>
            <a:custGeom>
              <a:avLst/>
              <a:gdLst/>
              <a:ahLst/>
              <a:cxnLst/>
              <a:rect r="r" b="b" t="t" l="l"/>
              <a:pathLst>
                <a:path h="11159109" w="11159109">
                  <a:moveTo>
                    <a:pt x="0" y="0"/>
                  </a:moveTo>
                  <a:lnTo>
                    <a:pt x="11159109" y="0"/>
                  </a:lnTo>
                  <a:lnTo>
                    <a:pt x="11159109" y="11159109"/>
                  </a:lnTo>
                  <a:lnTo>
                    <a:pt x="0" y="11159109"/>
                  </a:lnTo>
                  <a:lnTo>
                    <a:pt x="0" y="0"/>
                  </a:lnTo>
                  <a:close/>
                </a:path>
              </a:pathLst>
            </a:custGeom>
            <a:blipFill>
              <a:blip r:embed="rId4"/>
              <a:stretch>
                <a:fillRect l="0" t="0" r="0" b="0"/>
              </a:stretch>
            </a:blipFill>
          </p:spPr>
        </p:sp>
      </p:grpSp>
      <p:grpSp>
        <p:nvGrpSpPr>
          <p:cNvPr name="Group 15" id="15"/>
          <p:cNvGrpSpPr/>
          <p:nvPr/>
        </p:nvGrpSpPr>
        <p:grpSpPr>
          <a:xfrm rot="0">
            <a:off x="574476" y="11140231"/>
            <a:ext cx="17139047" cy="680740"/>
            <a:chOff x="0" y="0"/>
            <a:chExt cx="22852063" cy="907653"/>
          </a:xfrm>
        </p:grpSpPr>
        <p:sp>
          <p:nvSpPr>
            <p:cNvPr name="Freeform 16" id="16"/>
            <p:cNvSpPr/>
            <p:nvPr/>
          </p:nvSpPr>
          <p:spPr>
            <a:xfrm flipH="false" flipV="false" rot="0">
              <a:off x="0" y="0"/>
              <a:ext cx="22852126" cy="907796"/>
            </a:xfrm>
            <a:custGeom>
              <a:avLst/>
              <a:gdLst/>
              <a:ahLst/>
              <a:cxnLst/>
              <a:rect r="r" b="b" t="t" l="l"/>
              <a:pathLst>
                <a:path h="907796" w="22852126">
                  <a:moveTo>
                    <a:pt x="0" y="32893"/>
                  </a:moveTo>
                  <a:cubicBezTo>
                    <a:pt x="0" y="14732"/>
                    <a:pt x="14732" y="0"/>
                    <a:pt x="32893" y="0"/>
                  </a:cubicBezTo>
                  <a:lnTo>
                    <a:pt x="22819232" y="0"/>
                  </a:lnTo>
                  <a:cubicBezTo>
                    <a:pt x="22837394" y="0"/>
                    <a:pt x="22852126" y="14732"/>
                    <a:pt x="22852126" y="32893"/>
                  </a:cubicBezTo>
                  <a:lnTo>
                    <a:pt x="22852126" y="874903"/>
                  </a:lnTo>
                  <a:cubicBezTo>
                    <a:pt x="22852126" y="893064"/>
                    <a:pt x="22837394" y="907796"/>
                    <a:pt x="22819232" y="907796"/>
                  </a:cubicBezTo>
                  <a:lnTo>
                    <a:pt x="32893" y="907796"/>
                  </a:lnTo>
                  <a:cubicBezTo>
                    <a:pt x="14732" y="907669"/>
                    <a:pt x="0" y="892937"/>
                    <a:pt x="0" y="874776"/>
                  </a:cubicBezTo>
                  <a:close/>
                </a:path>
              </a:pathLst>
            </a:custGeom>
            <a:solidFill>
              <a:srgbClr val="EDE9DD"/>
            </a:solidFill>
          </p:spPr>
        </p:sp>
      </p:grpSp>
      <p:grpSp>
        <p:nvGrpSpPr>
          <p:cNvPr name="Group 17" id="17"/>
          <p:cNvGrpSpPr>
            <a:grpSpLocks noChangeAspect="true"/>
          </p:cNvGrpSpPr>
          <p:nvPr/>
        </p:nvGrpSpPr>
        <p:grpSpPr>
          <a:xfrm rot="0">
            <a:off x="738485" y="11372999"/>
            <a:ext cx="205085" cy="164009"/>
            <a:chOff x="0" y="0"/>
            <a:chExt cx="273447" cy="218678"/>
          </a:xfrm>
        </p:grpSpPr>
        <p:sp>
          <p:nvSpPr>
            <p:cNvPr name="Freeform 18" id="18" descr="preencoded.png"/>
            <p:cNvSpPr/>
            <p:nvPr/>
          </p:nvSpPr>
          <p:spPr>
            <a:xfrm flipH="false" flipV="false" rot="0">
              <a:off x="0" y="0"/>
              <a:ext cx="273431" cy="218694"/>
            </a:xfrm>
            <a:custGeom>
              <a:avLst/>
              <a:gdLst/>
              <a:ahLst/>
              <a:cxnLst/>
              <a:rect r="r" b="b" t="t" l="l"/>
              <a:pathLst>
                <a:path h="218694" w="273431">
                  <a:moveTo>
                    <a:pt x="0" y="0"/>
                  </a:moveTo>
                  <a:lnTo>
                    <a:pt x="273431" y="0"/>
                  </a:lnTo>
                  <a:lnTo>
                    <a:pt x="273431" y="218694"/>
                  </a:lnTo>
                  <a:lnTo>
                    <a:pt x="0" y="218694"/>
                  </a:lnTo>
                  <a:lnTo>
                    <a:pt x="0" y="0"/>
                  </a:lnTo>
                  <a:close/>
                </a:path>
              </a:pathLst>
            </a:custGeom>
            <a:blipFill>
              <a:blip r:embed="rId5"/>
              <a:stretch>
                <a:fillRect l="-1746" t="0" r="-1751" b="7"/>
              </a:stretch>
            </a:blipFill>
          </p:spPr>
        </p:sp>
      </p:grpSp>
      <p:sp>
        <p:nvSpPr>
          <p:cNvPr name="TextBox 19" id="19"/>
          <p:cNvSpPr txBox="true"/>
          <p:nvPr/>
        </p:nvSpPr>
        <p:spPr>
          <a:xfrm rot="0">
            <a:off x="1107579" y="11307067"/>
            <a:ext cx="16441936" cy="220662"/>
          </a:xfrm>
          <a:prstGeom prst="rect">
            <a:avLst/>
          </a:prstGeom>
        </p:spPr>
        <p:txBody>
          <a:bodyPr anchor="t" rtlCol="false" tIns="0" lIns="0" bIns="0" rIns="0">
            <a:spAutoFit/>
          </a:bodyPr>
          <a:lstStyle/>
          <a:p>
            <a:pPr algn="l">
              <a:lnSpc>
                <a:spcPts val="1937"/>
              </a:lnSpc>
            </a:pPr>
            <a:r>
              <a:rPr lang="en-US" sz="1250" spc="-18">
                <a:solidFill>
                  <a:srgbClr val="544013"/>
                </a:solidFill>
                <a:latin typeface="Prompt"/>
                <a:ea typeface="Prompt"/>
                <a:cs typeface="Prompt"/>
                <a:sym typeface="Prompt"/>
              </a:rPr>
              <a:t>Agent Fraud: Insurance agents pocketing premium payments while issuing counterfeit policies, leaving customers uninsured and perpetrators vanishing with millions (Nebraska Dept. of Insurance, 2022).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4401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6" id="6"/>
          <p:cNvGrpSpPr>
            <a:grpSpLocks noChangeAspect="true"/>
          </p:cNvGrpSpPr>
          <p:nvPr/>
        </p:nvGrpSpPr>
        <p:grpSpPr>
          <a:xfrm rot="0">
            <a:off x="0" y="0"/>
            <a:ext cx="18288000" cy="2891284"/>
            <a:chOff x="0" y="0"/>
            <a:chExt cx="24384000" cy="3855045"/>
          </a:xfrm>
        </p:grpSpPr>
        <p:sp>
          <p:nvSpPr>
            <p:cNvPr name="Freeform 7" id="7" descr="preencoded.png"/>
            <p:cNvSpPr/>
            <p:nvPr/>
          </p:nvSpPr>
          <p:spPr>
            <a:xfrm flipH="false" flipV="false" rot="0">
              <a:off x="0" y="0"/>
              <a:ext cx="24384000" cy="3855085"/>
            </a:xfrm>
            <a:custGeom>
              <a:avLst/>
              <a:gdLst/>
              <a:ahLst/>
              <a:cxnLst/>
              <a:rect r="r" b="b" t="t" l="l"/>
              <a:pathLst>
                <a:path h="3855085" w="24384000">
                  <a:moveTo>
                    <a:pt x="0" y="0"/>
                  </a:moveTo>
                  <a:lnTo>
                    <a:pt x="24384000" y="0"/>
                  </a:lnTo>
                  <a:lnTo>
                    <a:pt x="24384000" y="3855085"/>
                  </a:lnTo>
                  <a:lnTo>
                    <a:pt x="0" y="3855085"/>
                  </a:lnTo>
                  <a:lnTo>
                    <a:pt x="0" y="0"/>
                  </a:lnTo>
                  <a:close/>
                </a:path>
              </a:pathLst>
            </a:custGeom>
            <a:blipFill>
              <a:blip r:embed="rId3"/>
              <a:stretch>
                <a:fillRect l="0" t="-74" r="0" b="-73"/>
              </a:stretch>
            </a:blipFill>
          </p:spPr>
        </p:sp>
      </p:grpSp>
      <p:sp>
        <p:nvSpPr>
          <p:cNvPr name="TextBox 8" id="8"/>
          <p:cNvSpPr txBox="true"/>
          <p:nvPr/>
        </p:nvSpPr>
        <p:spPr>
          <a:xfrm rot="0">
            <a:off x="809476" y="3498800"/>
            <a:ext cx="10003334" cy="654050"/>
          </a:xfrm>
          <a:prstGeom prst="rect">
            <a:avLst/>
          </a:prstGeom>
        </p:spPr>
        <p:txBody>
          <a:bodyPr anchor="t" rtlCol="false" tIns="0" lIns="0" bIns="0" rIns="0">
            <a:spAutoFit/>
          </a:bodyPr>
          <a:lstStyle/>
          <a:p>
            <a:pPr algn="l">
              <a:lnSpc>
                <a:spcPts val="5125"/>
              </a:lnSpc>
            </a:pPr>
            <a:r>
              <a:rPr lang="en-US" sz="4125">
                <a:solidFill>
                  <a:srgbClr val="EDE9DD"/>
                </a:solidFill>
                <a:latin typeface="Anton"/>
                <a:ea typeface="Anton"/>
                <a:cs typeface="Anton"/>
                <a:sym typeface="Anton"/>
              </a:rPr>
              <a:t>Legal Frameworks and Enforcement</a:t>
            </a:r>
          </a:p>
        </p:txBody>
      </p:sp>
      <p:sp>
        <p:nvSpPr>
          <p:cNvPr name="TextBox 9" id="9"/>
          <p:cNvSpPr txBox="true"/>
          <p:nvPr/>
        </p:nvSpPr>
        <p:spPr>
          <a:xfrm rot="0">
            <a:off x="809476" y="4474220"/>
            <a:ext cx="16669047" cy="371815"/>
          </a:xfrm>
          <a:prstGeom prst="rect">
            <a:avLst/>
          </a:prstGeom>
        </p:spPr>
        <p:txBody>
          <a:bodyPr anchor="t" rtlCol="false" tIns="0" lIns="0" bIns="0" rIns="0">
            <a:spAutoFit/>
          </a:bodyPr>
          <a:lstStyle/>
          <a:p>
            <a:pPr algn="l">
              <a:lnSpc>
                <a:spcPts val="3132"/>
              </a:lnSpc>
            </a:pPr>
            <a:r>
              <a:rPr lang="en-US" sz="2112" spc="-31">
                <a:solidFill>
                  <a:srgbClr val="EDE9DD"/>
                </a:solidFill>
                <a:latin typeface="Prompt"/>
                <a:ea typeface="Prompt"/>
                <a:cs typeface="Prompt"/>
                <a:sym typeface="Prompt"/>
              </a:rPr>
              <a:t>A multi-layered legal system protects insurance integrity through state and federal statutes with serious consequences:</a:t>
            </a:r>
          </a:p>
        </p:txBody>
      </p:sp>
      <p:grpSp>
        <p:nvGrpSpPr>
          <p:cNvPr name="Group 10" id="10"/>
          <p:cNvGrpSpPr/>
          <p:nvPr/>
        </p:nvGrpSpPr>
        <p:grpSpPr>
          <a:xfrm rot="0">
            <a:off x="9129712" y="5138440"/>
            <a:ext cx="28575" cy="4513809"/>
            <a:chOff x="0" y="0"/>
            <a:chExt cx="38100" cy="6018412"/>
          </a:xfrm>
        </p:grpSpPr>
        <p:sp>
          <p:nvSpPr>
            <p:cNvPr name="Freeform 11" id="11"/>
            <p:cNvSpPr/>
            <p:nvPr/>
          </p:nvSpPr>
          <p:spPr>
            <a:xfrm flipH="false" flipV="false" rot="0">
              <a:off x="0" y="0"/>
              <a:ext cx="38100" cy="6018403"/>
            </a:xfrm>
            <a:custGeom>
              <a:avLst/>
              <a:gdLst/>
              <a:ahLst/>
              <a:cxnLst/>
              <a:rect r="r" b="b" t="t" l="l"/>
              <a:pathLst>
                <a:path h="6018403" w="38100">
                  <a:moveTo>
                    <a:pt x="0" y="19050"/>
                  </a:moveTo>
                  <a:cubicBezTo>
                    <a:pt x="0" y="8509"/>
                    <a:pt x="8509" y="0"/>
                    <a:pt x="19050" y="0"/>
                  </a:cubicBezTo>
                  <a:cubicBezTo>
                    <a:pt x="29591" y="0"/>
                    <a:pt x="38100" y="8509"/>
                    <a:pt x="38100" y="19050"/>
                  </a:cubicBezTo>
                  <a:lnTo>
                    <a:pt x="38100" y="5999353"/>
                  </a:lnTo>
                  <a:cubicBezTo>
                    <a:pt x="38100" y="6009894"/>
                    <a:pt x="29591" y="6018403"/>
                    <a:pt x="19050" y="6018403"/>
                  </a:cubicBezTo>
                  <a:cubicBezTo>
                    <a:pt x="8509" y="6018403"/>
                    <a:pt x="0" y="6009894"/>
                    <a:pt x="0" y="5999353"/>
                  </a:cubicBezTo>
                  <a:close/>
                </a:path>
              </a:pathLst>
            </a:custGeom>
            <a:solidFill>
              <a:srgbClr val="544013"/>
            </a:solidFill>
          </p:spPr>
        </p:sp>
      </p:grpSp>
      <p:grpSp>
        <p:nvGrpSpPr>
          <p:cNvPr name="Group 12" id="12"/>
          <p:cNvGrpSpPr/>
          <p:nvPr/>
        </p:nvGrpSpPr>
        <p:grpSpPr>
          <a:xfrm rot="0">
            <a:off x="8218586" y="5384304"/>
            <a:ext cx="693836" cy="28575"/>
            <a:chOff x="0" y="0"/>
            <a:chExt cx="925115" cy="38100"/>
          </a:xfrm>
        </p:grpSpPr>
        <p:sp>
          <p:nvSpPr>
            <p:cNvPr name="Freeform 13" id="13"/>
            <p:cNvSpPr/>
            <p:nvPr/>
          </p:nvSpPr>
          <p:spPr>
            <a:xfrm flipH="false" flipV="false" rot="0">
              <a:off x="0" y="0"/>
              <a:ext cx="925068" cy="38100"/>
            </a:xfrm>
            <a:custGeom>
              <a:avLst/>
              <a:gdLst/>
              <a:ahLst/>
              <a:cxnLst/>
              <a:rect r="r" b="b" t="t" l="l"/>
              <a:pathLst>
                <a:path h="38100" w="925068">
                  <a:moveTo>
                    <a:pt x="0" y="19050"/>
                  </a:moveTo>
                  <a:cubicBezTo>
                    <a:pt x="0" y="8509"/>
                    <a:pt x="8509" y="0"/>
                    <a:pt x="19050" y="0"/>
                  </a:cubicBezTo>
                  <a:lnTo>
                    <a:pt x="906018" y="0"/>
                  </a:lnTo>
                  <a:cubicBezTo>
                    <a:pt x="916559" y="0"/>
                    <a:pt x="925068" y="8509"/>
                    <a:pt x="925068" y="19050"/>
                  </a:cubicBezTo>
                  <a:cubicBezTo>
                    <a:pt x="925068" y="29591"/>
                    <a:pt x="916559" y="38100"/>
                    <a:pt x="906018" y="38100"/>
                  </a:cubicBezTo>
                  <a:lnTo>
                    <a:pt x="19050" y="38100"/>
                  </a:lnTo>
                  <a:cubicBezTo>
                    <a:pt x="8509" y="38100"/>
                    <a:pt x="0" y="29591"/>
                    <a:pt x="0" y="19050"/>
                  </a:cubicBezTo>
                  <a:close/>
                </a:path>
              </a:pathLst>
            </a:custGeom>
            <a:solidFill>
              <a:srgbClr val="544013"/>
            </a:solidFill>
          </p:spPr>
        </p:sp>
      </p:grpSp>
      <p:grpSp>
        <p:nvGrpSpPr>
          <p:cNvPr name="Group 14" id="14"/>
          <p:cNvGrpSpPr/>
          <p:nvPr/>
        </p:nvGrpSpPr>
        <p:grpSpPr>
          <a:xfrm rot="0">
            <a:off x="8883849" y="5138440"/>
            <a:ext cx="520304" cy="520304"/>
            <a:chOff x="0" y="0"/>
            <a:chExt cx="693738" cy="693738"/>
          </a:xfrm>
        </p:grpSpPr>
        <p:sp>
          <p:nvSpPr>
            <p:cNvPr name="Freeform 15" id="15"/>
            <p:cNvSpPr/>
            <p:nvPr/>
          </p:nvSpPr>
          <p:spPr>
            <a:xfrm flipH="false" flipV="false" rot="0">
              <a:off x="0" y="0"/>
              <a:ext cx="693674" cy="693801"/>
            </a:xfrm>
            <a:custGeom>
              <a:avLst/>
              <a:gdLst/>
              <a:ahLst/>
              <a:cxnLst/>
              <a:rect r="r" b="b" t="t" l="l"/>
              <a:pathLst>
                <a:path h="693801" w="693674">
                  <a:moveTo>
                    <a:pt x="0" y="46228"/>
                  </a:moveTo>
                  <a:cubicBezTo>
                    <a:pt x="0" y="20701"/>
                    <a:pt x="20701" y="0"/>
                    <a:pt x="46228" y="0"/>
                  </a:cubicBezTo>
                  <a:lnTo>
                    <a:pt x="647446" y="0"/>
                  </a:lnTo>
                  <a:cubicBezTo>
                    <a:pt x="672973" y="0"/>
                    <a:pt x="693674" y="20701"/>
                    <a:pt x="693674" y="46228"/>
                  </a:cubicBezTo>
                  <a:lnTo>
                    <a:pt x="693674" y="647446"/>
                  </a:lnTo>
                  <a:cubicBezTo>
                    <a:pt x="693674" y="672973"/>
                    <a:pt x="672973" y="693674"/>
                    <a:pt x="647446" y="693674"/>
                  </a:cubicBezTo>
                  <a:lnTo>
                    <a:pt x="46228" y="693674"/>
                  </a:lnTo>
                  <a:cubicBezTo>
                    <a:pt x="20701" y="693801"/>
                    <a:pt x="0" y="672973"/>
                    <a:pt x="0" y="647446"/>
                  </a:cubicBezTo>
                  <a:close/>
                </a:path>
              </a:pathLst>
            </a:custGeom>
            <a:solidFill>
              <a:srgbClr val="EDE9DD"/>
            </a:solidFill>
          </p:spPr>
        </p:sp>
      </p:grpSp>
      <p:sp>
        <p:nvSpPr>
          <p:cNvPr name="TextBox 16" id="16"/>
          <p:cNvSpPr txBox="true"/>
          <p:nvPr/>
        </p:nvSpPr>
        <p:spPr>
          <a:xfrm rot="0">
            <a:off x="8986316" y="5249094"/>
            <a:ext cx="315366" cy="352742"/>
          </a:xfrm>
          <a:prstGeom prst="rect">
            <a:avLst/>
          </a:prstGeom>
        </p:spPr>
        <p:txBody>
          <a:bodyPr anchor="t" rtlCol="false" tIns="0" lIns="0" bIns="0" rIns="0">
            <a:spAutoFit/>
          </a:bodyPr>
          <a:lstStyle/>
          <a:p>
            <a:pPr algn="ctr">
              <a:lnSpc>
                <a:spcPts val="2637"/>
              </a:lnSpc>
            </a:pPr>
            <a:r>
              <a:rPr lang="en-US" b="true" sz="2637" spc="-39">
                <a:solidFill>
                  <a:srgbClr val="544013"/>
                </a:solidFill>
                <a:latin typeface="Prompt Semi-Bold"/>
                <a:ea typeface="Prompt Semi-Bold"/>
                <a:cs typeface="Prompt Semi-Bold"/>
                <a:sym typeface="Prompt Semi-Bold"/>
              </a:rPr>
              <a:t>1</a:t>
            </a:r>
          </a:p>
        </p:txBody>
      </p:sp>
      <p:sp>
        <p:nvSpPr>
          <p:cNvPr name="TextBox 17" id="17"/>
          <p:cNvSpPr txBox="true"/>
          <p:nvPr/>
        </p:nvSpPr>
        <p:spPr>
          <a:xfrm rot="0">
            <a:off x="5359152" y="5198864"/>
            <a:ext cx="2628454" cy="359285"/>
          </a:xfrm>
          <a:prstGeom prst="rect">
            <a:avLst/>
          </a:prstGeom>
        </p:spPr>
        <p:txBody>
          <a:bodyPr anchor="t" rtlCol="false" tIns="0" lIns="0" bIns="0" rIns="0">
            <a:spAutoFit/>
          </a:bodyPr>
          <a:lstStyle/>
          <a:p>
            <a:pPr algn="r">
              <a:lnSpc>
                <a:spcPts val="2810"/>
              </a:lnSpc>
            </a:pPr>
            <a:r>
              <a:rPr lang="en-US" b="true" sz="2262" spc="-33">
                <a:solidFill>
                  <a:srgbClr val="544013"/>
                </a:solidFill>
                <a:latin typeface="Prompt Semi-Bold"/>
                <a:ea typeface="Prompt Semi-Bold"/>
                <a:cs typeface="Prompt Semi-Bold"/>
                <a:sym typeface="Prompt Semi-Bold"/>
              </a:rPr>
              <a:t>State Laws</a:t>
            </a:r>
          </a:p>
        </p:txBody>
      </p:sp>
      <p:sp>
        <p:nvSpPr>
          <p:cNvPr name="TextBox 18" id="18"/>
          <p:cNvSpPr txBox="true"/>
          <p:nvPr/>
        </p:nvSpPr>
        <p:spPr>
          <a:xfrm rot="0">
            <a:off x="809476" y="5627935"/>
            <a:ext cx="7178129" cy="727831"/>
          </a:xfrm>
          <a:prstGeom prst="rect">
            <a:avLst/>
          </a:prstGeom>
        </p:spPr>
        <p:txBody>
          <a:bodyPr anchor="t" rtlCol="false" tIns="0" lIns="0" bIns="0" rIns="0">
            <a:spAutoFit/>
          </a:bodyPr>
          <a:lstStyle/>
          <a:p>
            <a:pPr algn="r">
              <a:lnSpc>
                <a:spcPts val="2984"/>
              </a:lnSpc>
            </a:pPr>
            <a:r>
              <a:rPr lang="en-US" sz="2012" spc="-30">
                <a:solidFill>
                  <a:srgbClr val="EDE9DD"/>
                </a:solidFill>
                <a:latin typeface="Prompt"/>
                <a:ea typeface="Prompt"/>
                <a:cs typeface="Prompt"/>
                <a:sym typeface="Prompt"/>
              </a:rPr>
              <a:t>Nearly all states criminalize insurance fraud with specific statutes (e.g., Nebraska Rev. Stat. §§44-6601 to 44-6608)</a:t>
            </a:r>
          </a:p>
        </p:txBody>
      </p:sp>
      <p:grpSp>
        <p:nvGrpSpPr>
          <p:cNvPr name="Group 19" id="19"/>
          <p:cNvGrpSpPr/>
          <p:nvPr/>
        </p:nvGrpSpPr>
        <p:grpSpPr>
          <a:xfrm rot="0">
            <a:off x="9375576" y="6771977"/>
            <a:ext cx="693836" cy="28575"/>
            <a:chOff x="0" y="0"/>
            <a:chExt cx="925115" cy="38100"/>
          </a:xfrm>
        </p:grpSpPr>
        <p:sp>
          <p:nvSpPr>
            <p:cNvPr name="Freeform 20" id="20"/>
            <p:cNvSpPr/>
            <p:nvPr/>
          </p:nvSpPr>
          <p:spPr>
            <a:xfrm flipH="false" flipV="false" rot="0">
              <a:off x="0" y="0"/>
              <a:ext cx="925068" cy="38100"/>
            </a:xfrm>
            <a:custGeom>
              <a:avLst/>
              <a:gdLst/>
              <a:ahLst/>
              <a:cxnLst/>
              <a:rect r="r" b="b" t="t" l="l"/>
              <a:pathLst>
                <a:path h="38100" w="925068">
                  <a:moveTo>
                    <a:pt x="0" y="19050"/>
                  </a:moveTo>
                  <a:cubicBezTo>
                    <a:pt x="0" y="8509"/>
                    <a:pt x="8509" y="0"/>
                    <a:pt x="19050" y="0"/>
                  </a:cubicBezTo>
                  <a:lnTo>
                    <a:pt x="906018" y="0"/>
                  </a:lnTo>
                  <a:cubicBezTo>
                    <a:pt x="916559" y="0"/>
                    <a:pt x="925068" y="8509"/>
                    <a:pt x="925068" y="19050"/>
                  </a:cubicBezTo>
                  <a:cubicBezTo>
                    <a:pt x="925068" y="29591"/>
                    <a:pt x="916559" y="38100"/>
                    <a:pt x="906018" y="38100"/>
                  </a:cubicBezTo>
                  <a:lnTo>
                    <a:pt x="19050" y="38100"/>
                  </a:lnTo>
                  <a:cubicBezTo>
                    <a:pt x="8509" y="38100"/>
                    <a:pt x="0" y="29591"/>
                    <a:pt x="0" y="19050"/>
                  </a:cubicBezTo>
                  <a:close/>
                </a:path>
              </a:pathLst>
            </a:custGeom>
            <a:solidFill>
              <a:srgbClr val="544013"/>
            </a:solidFill>
          </p:spPr>
        </p:sp>
      </p:grpSp>
      <p:grpSp>
        <p:nvGrpSpPr>
          <p:cNvPr name="Group 21" id="21"/>
          <p:cNvGrpSpPr/>
          <p:nvPr/>
        </p:nvGrpSpPr>
        <p:grpSpPr>
          <a:xfrm rot="0">
            <a:off x="8883849" y="6526114"/>
            <a:ext cx="520304" cy="520304"/>
            <a:chOff x="0" y="0"/>
            <a:chExt cx="693738" cy="693738"/>
          </a:xfrm>
        </p:grpSpPr>
        <p:sp>
          <p:nvSpPr>
            <p:cNvPr name="Freeform 22" id="22"/>
            <p:cNvSpPr/>
            <p:nvPr/>
          </p:nvSpPr>
          <p:spPr>
            <a:xfrm flipH="false" flipV="false" rot="0">
              <a:off x="0" y="0"/>
              <a:ext cx="693674" cy="693801"/>
            </a:xfrm>
            <a:custGeom>
              <a:avLst/>
              <a:gdLst/>
              <a:ahLst/>
              <a:cxnLst/>
              <a:rect r="r" b="b" t="t" l="l"/>
              <a:pathLst>
                <a:path h="693801" w="693674">
                  <a:moveTo>
                    <a:pt x="0" y="46228"/>
                  </a:moveTo>
                  <a:cubicBezTo>
                    <a:pt x="0" y="20701"/>
                    <a:pt x="20701" y="0"/>
                    <a:pt x="46228" y="0"/>
                  </a:cubicBezTo>
                  <a:lnTo>
                    <a:pt x="647446" y="0"/>
                  </a:lnTo>
                  <a:cubicBezTo>
                    <a:pt x="672973" y="0"/>
                    <a:pt x="693674" y="20701"/>
                    <a:pt x="693674" y="46228"/>
                  </a:cubicBezTo>
                  <a:lnTo>
                    <a:pt x="693674" y="647446"/>
                  </a:lnTo>
                  <a:cubicBezTo>
                    <a:pt x="693674" y="672973"/>
                    <a:pt x="672973" y="693674"/>
                    <a:pt x="647446" y="693674"/>
                  </a:cubicBezTo>
                  <a:lnTo>
                    <a:pt x="46228" y="693674"/>
                  </a:lnTo>
                  <a:cubicBezTo>
                    <a:pt x="20701" y="693801"/>
                    <a:pt x="0" y="672973"/>
                    <a:pt x="0" y="647446"/>
                  </a:cubicBezTo>
                  <a:close/>
                </a:path>
              </a:pathLst>
            </a:custGeom>
            <a:solidFill>
              <a:srgbClr val="EDE9DD"/>
            </a:solidFill>
          </p:spPr>
        </p:sp>
      </p:grpSp>
      <p:sp>
        <p:nvSpPr>
          <p:cNvPr name="TextBox 23" id="23"/>
          <p:cNvSpPr txBox="true"/>
          <p:nvPr/>
        </p:nvSpPr>
        <p:spPr>
          <a:xfrm rot="0">
            <a:off x="8986316" y="6636767"/>
            <a:ext cx="315366" cy="352742"/>
          </a:xfrm>
          <a:prstGeom prst="rect">
            <a:avLst/>
          </a:prstGeom>
        </p:spPr>
        <p:txBody>
          <a:bodyPr anchor="t" rtlCol="false" tIns="0" lIns="0" bIns="0" rIns="0">
            <a:spAutoFit/>
          </a:bodyPr>
          <a:lstStyle/>
          <a:p>
            <a:pPr algn="ctr">
              <a:lnSpc>
                <a:spcPts val="2637"/>
              </a:lnSpc>
            </a:pPr>
            <a:r>
              <a:rPr lang="en-US" b="true" sz="2637" spc="-39">
                <a:solidFill>
                  <a:srgbClr val="544013"/>
                </a:solidFill>
                <a:latin typeface="Prompt Semi-Bold"/>
                <a:ea typeface="Prompt Semi-Bold"/>
                <a:cs typeface="Prompt Semi-Bold"/>
                <a:sym typeface="Prompt Semi-Bold"/>
              </a:rPr>
              <a:t>2</a:t>
            </a:r>
          </a:p>
        </p:txBody>
      </p:sp>
      <p:sp>
        <p:nvSpPr>
          <p:cNvPr name="TextBox 24" id="24"/>
          <p:cNvSpPr txBox="true"/>
          <p:nvPr/>
        </p:nvSpPr>
        <p:spPr>
          <a:xfrm rot="0">
            <a:off x="10300395" y="6586538"/>
            <a:ext cx="2628454" cy="359285"/>
          </a:xfrm>
          <a:prstGeom prst="rect">
            <a:avLst/>
          </a:prstGeom>
        </p:spPr>
        <p:txBody>
          <a:bodyPr anchor="t" rtlCol="false" tIns="0" lIns="0" bIns="0" rIns="0">
            <a:spAutoFit/>
          </a:bodyPr>
          <a:lstStyle/>
          <a:p>
            <a:pPr algn="l">
              <a:lnSpc>
                <a:spcPts val="2810"/>
              </a:lnSpc>
            </a:pPr>
            <a:r>
              <a:rPr lang="en-US" b="true" sz="2262" spc="-33">
                <a:solidFill>
                  <a:srgbClr val="544013"/>
                </a:solidFill>
                <a:latin typeface="Prompt Semi-Bold"/>
                <a:ea typeface="Prompt Semi-Bold"/>
                <a:cs typeface="Prompt Semi-Bold"/>
                <a:sym typeface="Prompt Semi-Bold"/>
              </a:rPr>
              <a:t>Federal Oversight</a:t>
            </a:r>
          </a:p>
        </p:txBody>
      </p:sp>
      <p:sp>
        <p:nvSpPr>
          <p:cNvPr name="TextBox 25" id="25"/>
          <p:cNvSpPr txBox="true"/>
          <p:nvPr/>
        </p:nvSpPr>
        <p:spPr>
          <a:xfrm rot="0">
            <a:off x="10300395" y="7015609"/>
            <a:ext cx="7178129" cy="727831"/>
          </a:xfrm>
          <a:prstGeom prst="rect">
            <a:avLst/>
          </a:prstGeom>
        </p:spPr>
        <p:txBody>
          <a:bodyPr anchor="t" rtlCol="false" tIns="0" lIns="0" bIns="0" rIns="0">
            <a:spAutoFit/>
          </a:bodyPr>
          <a:lstStyle/>
          <a:p>
            <a:pPr algn="l">
              <a:lnSpc>
                <a:spcPts val="2984"/>
              </a:lnSpc>
            </a:pPr>
            <a:r>
              <a:rPr lang="en-US" sz="2012" spc="-30">
                <a:solidFill>
                  <a:srgbClr val="EDE9DD"/>
                </a:solidFill>
                <a:latin typeface="Prompt"/>
                <a:ea typeface="Prompt"/>
                <a:cs typeface="Prompt"/>
                <a:sym typeface="Prompt"/>
              </a:rPr>
              <a:t>18 U.S. Code §1033 targets interstate fraud and false statements by insurance officers</a:t>
            </a:r>
          </a:p>
        </p:txBody>
      </p:sp>
      <p:grpSp>
        <p:nvGrpSpPr>
          <p:cNvPr name="Group 26" id="26"/>
          <p:cNvGrpSpPr/>
          <p:nvPr/>
        </p:nvGrpSpPr>
        <p:grpSpPr>
          <a:xfrm rot="0">
            <a:off x="8218586" y="7968109"/>
            <a:ext cx="693836" cy="28575"/>
            <a:chOff x="0" y="0"/>
            <a:chExt cx="925115" cy="38100"/>
          </a:xfrm>
        </p:grpSpPr>
        <p:sp>
          <p:nvSpPr>
            <p:cNvPr name="Freeform 27" id="27"/>
            <p:cNvSpPr/>
            <p:nvPr/>
          </p:nvSpPr>
          <p:spPr>
            <a:xfrm flipH="false" flipV="false" rot="0">
              <a:off x="0" y="0"/>
              <a:ext cx="925068" cy="38100"/>
            </a:xfrm>
            <a:custGeom>
              <a:avLst/>
              <a:gdLst/>
              <a:ahLst/>
              <a:cxnLst/>
              <a:rect r="r" b="b" t="t" l="l"/>
              <a:pathLst>
                <a:path h="38100" w="925068">
                  <a:moveTo>
                    <a:pt x="0" y="19050"/>
                  </a:moveTo>
                  <a:cubicBezTo>
                    <a:pt x="0" y="8509"/>
                    <a:pt x="8509" y="0"/>
                    <a:pt x="19050" y="0"/>
                  </a:cubicBezTo>
                  <a:lnTo>
                    <a:pt x="906018" y="0"/>
                  </a:lnTo>
                  <a:cubicBezTo>
                    <a:pt x="916559" y="0"/>
                    <a:pt x="925068" y="8509"/>
                    <a:pt x="925068" y="19050"/>
                  </a:cubicBezTo>
                  <a:cubicBezTo>
                    <a:pt x="925068" y="29591"/>
                    <a:pt x="916559" y="38100"/>
                    <a:pt x="906018" y="38100"/>
                  </a:cubicBezTo>
                  <a:lnTo>
                    <a:pt x="19050" y="38100"/>
                  </a:lnTo>
                  <a:cubicBezTo>
                    <a:pt x="8509" y="38100"/>
                    <a:pt x="0" y="29591"/>
                    <a:pt x="0" y="19050"/>
                  </a:cubicBezTo>
                  <a:close/>
                </a:path>
              </a:pathLst>
            </a:custGeom>
            <a:solidFill>
              <a:srgbClr val="544013"/>
            </a:solidFill>
          </p:spPr>
        </p:sp>
      </p:grpSp>
      <p:grpSp>
        <p:nvGrpSpPr>
          <p:cNvPr name="Group 28" id="28"/>
          <p:cNvGrpSpPr/>
          <p:nvPr/>
        </p:nvGrpSpPr>
        <p:grpSpPr>
          <a:xfrm rot="0">
            <a:off x="8883849" y="7722245"/>
            <a:ext cx="520304" cy="520304"/>
            <a:chOff x="0" y="0"/>
            <a:chExt cx="693738" cy="693738"/>
          </a:xfrm>
        </p:grpSpPr>
        <p:sp>
          <p:nvSpPr>
            <p:cNvPr name="Freeform 29" id="29"/>
            <p:cNvSpPr/>
            <p:nvPr/>
          </p:nvSpPr>
          <p:spPr>
            <a:xfrm flipH="false" flipV="false" rot="0">
              <a:off x="0" y="0"/>
              <a:ext cx="693674" cy="693801"/>
            </a:xfrm>
            <a:custGeom>
              <a:avLst/>
              <a:gdLst/>
              <a:ahLst/>
              <a:cxnLst/>
              <a:rect r="r" b="b" t="t" l="l"/>
              <a:pathLst>
                <a:path h="693801" w="693674">
                  <a:moveTo>
                    <a:pt x="0" y="46228"/>
                  </a:moveTo>
                  <a:cubicBezTo>
                    <a:pt x="0" y="20701"/>
                    <a:pt x="20701" y="0"/>
                    <a:pt x="46228" y="0"/>
                  </a:cubicBezTo>
                  <a:lnTo>
                    <a:pt x="647446" y="0"/>
                  </a:lnTo>
                  <a:cubicBezTo>
                    <a:pt x="672973" y="0"/>
                    <a:pt x="693674" y="20701"/>
                    <a:pt x="693674" y="46228"/>
                  </a:cubicBezTo>
                  <a:lnTo>
                    <a:pt x="693674" y="647446"/>
                  </a:lnTo>
                  <a:cubicBezTo>
                    <a:pt x="693674" y="672973"/>
                    <a:pt x="672973" y="693674"/>
                    <a:pt x="647446" y="693674"/>
                  </a:cubicBezTo>
                  <a:lnTo>
                    <a:pt x="46228" y="693674"/>
                  </a:lnTo>
                  <a:cubicBezTo>
                    <a:pt x="20701" y="693801"/>
                    <a:pt x="0" y="672973"/>
                    <a:pt x="0" y="647446"/>
                  </a:cubicBezTo>
                  <a:close/>
                </a:path>
              </a:pathLst>
            </a:custGeom>
            <a:solidFill>
              <a:srgbClr val="EDE9DD"/>
            </a:solidFill>
          </p:spPr>
        </p:sp>
      </p:grpSp>
      <p:sp>
        <p:nvSpPr>
          <p:cNvPr name="TextBox 30" id="30"/>
          <p:cNvSpPr txBox="true"/>
          <p:nvPr/>
        </p:nvSpPr>
        <p:spPr>
          <a:xfrm rot="0">
            <a:off x="8986316" y="7832899"/>
            <a:ext cx="315366" cy="352742"/>
          </a:xfrm>
          <a:prstGeom prst="rect">
            <a:avLst/>
          </a:prstGeom>
        </p:spPr>
        <p:txBody>
          <a:bodyPr anchor="t" rtlCol="false" tIns="0" lIns="0" bIns="0" rIns="0">
            <a:spAutoFit/>
          </a:bodyPr>
          <a:lstStyle/>
          <a:p>
            <a:pPr algn="ctr">
              <a:lnSpc>
                <a:spcPts val="2637"/>
              </a:lnSpc>
            </a:pPr>
            <a:r>
              <a:rPr lang="en-US" b="true" sz="2637" spc="-39">
                <a:solidFill>
                  <a:srgbClr val="544013"/>
                </a:solidFill>
                <a:latin typeface="Prompt Semi-Bold"/>
                <a:ea typeface="Prompt Semi-Bold"/>
                <a:cs typeface="Prompt Semi-Bold"/>
                <a:sym typeface="Prompt Semi-Bold"/>
              </a:rPr>
              <a:t>3</a:t>
            </a:r>
          </a:p>
        </p:txBody>
      </p:sp>
      <p:sp>
        <p:nvSpPr>
          <p:cNvPr name="TextBox 31" id="31"/>
          <p:cNvSpPr txBox="true"/>
          <p:nvPr/>
        </p:nvSpPr>
        <p:spPr>
          <a:xfrm rot="0">
            <a:off x="5359152" y="7782669"/>
            <a:ext cx="2628454" cy="359285"/>
          </a:xfrm>
          <a:prstGeom prst="rect">
            <a:avLst/>
          </a:prstGeom>
        </p:spPr>
        <p:txBody>
          <a:bodyPr anchor="t" rtlCol="false" tIns="0" lIns="0" bIns="0" rIns="0">
            <a:spAutoFit/>
          </a:bodyPr>
          <a:lstStyle/>
          <a:p>
            <a:pPr algn="r">
              <a:lnSpc>
                <a:spcPts val="2810"/>
              </a:lnSpc>
            </a:pPr>
            <a:r>
              <a:rPr lang="en-US" b="true" sz="2262" spc="-33">
                <a:solidFill>
                  <a:srgbClr val="544013"/>
                </a:solidFill>
                <a:latin typeface="Prompt Semi-Bold"/>
                <a:ea typeface="Prompt Semi-Bold"/>
                <a:cs typeface="Prompt Semi-Bold"/>
                <a:sym typeface="Prompt Semi-Bold"/>
              </a:rPr>
              <a:t>Penalties</a:t>
            </a:r>
          </a:p>
        </p:txBody>
      </p:sp>
      <p:sp>
        <p:nvSpPr>
          <p:cNvPr name="TextBox 32" id="32"/>
          <p:cNvSpPr txBox="true"/>
          <p:nvPr/>
        </p:nvSpPr>
        <p:spPr>
          <a:xfrm rot="0">
            <a:off x="809476" y="8211741"/>
            <a:ext cx="7178129" cy="727831"/>
          </a:xfrm>
          <a:prstGeom prst="rect">
            <a:avLst/>
          </a:prstGeom>
        </p:spPr>
        <p:txBody>
          <a:bodyPr anchor="t" rtlCol="false" tIns="0" lIns="0" bIns="0" rIns="0">
            <a:spAutoFit/>
          </a:bodyPr>
          <a:lstStyle/>
          <a:p>
            <a:pPr algn="r">
              <a:lnSpc>
                <a:spcPts val="2984"/>
              </a:lnSpc>
            </a:pPr>
            <a:r>
              <a:rPr lang="en-US" sz="2012" spc="-30">
                <a:solidFill>
                  <a:srgbClr val="EDE9DD"/>
                </a:solidFill>
                <a:latin typeface="Prompt"/>
                <a:ea typeface="Prompt"/>
                <a:cs typeface="Prompt"/>
                <a:sym typeface="Prompt"/>
              </a:rPr>
              <a:t>Fines up to $50,000 or double the fraud amount, plus imprisonment of 1-5 years (California Penal Code, 2025)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C85A14"/>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sp>
        <p:nvSpPr>
          <p:cNvPr name="TextBox 6" id="6"/>
          <p:cNvSpPr txBox="true"/>
          <p:nvPr/>
        </p:nvSpPr>
        <p:spPr>
          <a:xfrm rot="0">
            <a:off x="1079747" y="1150292"/>
            <a:ext cx="12509599" cy="850900"/>
          </a:xfrm>
          <a:prstGeom prst="rect">
            <a:avLst/>
          </a:prstGeom>
        </p:spPr>
        <p:txBody>
          <a:bodyPr anchor="t" rtlCol="false" tIns="0" lIns="0" bIns="0" rIns="0">
            <a:spAutoFit/>
          </a:bodyPr>
          <a:lstStyle/>
          <a:p>
            <a:pPr algn="l">
              <a:lnSpc>
                <a:spcPts val="6874"/>
              </a:lnSpc>
            </a:pPr>
            <a:r>
              <a:rPr lang="en-US" sz="5499">
                <a:solidFill>
                  <a:srgbClr val="544013"/>
                </a:solidFill>
                <a:latin typeface="Anton"/>
                <a:ea typeface="Anton"/>
                <a:cs typeface="Anton"/>
                <a:sym typeface="Anton"/>
              </a:rPr>
              <a:t>The Human and Economic Impact</a:t>
            </a:r>
          </a:p>
        </p:txBody>
      </p:sp>
      <p:sp>
        <p:nvSpPr>
          <p:cNvPr name="TextBox 7" id="7"/>
          <p:cNvSpPr txBox="true"/>
          <p:nvPr/>
        </p:nvSpPr>
        <p:spPr>
          <a:xfrm rot="0">
            <a:off x="1079747" y="2586781"/>
            <a:ext cx="16128504" cy="449881"/>
          </a:xfrm>
          <a:prstGeom prst="rect">
            <a:avLst/>
          </a:prstGeom>
        </p:spPr>
        <p:txBody>
          <a:bodyPr anchor="t" rtlCol="false" tIns="0" lIns="0" bIns="0" rIns="0">
            <a:spAutoFit/>
          </a:bodyPr>
          <a:lstStyle/>
          <a:p>
            <a:pPr algn="l">
              <a:lnSpc>
                <a:spcPts val="3777"/>
              </a:lnSpc>
            </a:pPr>
            <a:r>
              <a:rPr lang="en-US" sz="2475" spc="-37">
                <a:solidFill>
                  <a:srgbClr val="EDE9DD"/>
                </a:solidFill>
                <a:latin typeface="Prompt"/>
                <a:ea typeface="Prompt"/>
                <a:cs typeface="Prompt"/>
                <a:sym typeface="Prompt"/>
              </a:rPr>
              <a:t>Insurance fraud extends far beyond numbers—it harms real people and destabilizes communities:</a:t>
            </a:r>
          </a:p>
        </p:txBody>
      </p:sp>
      <p:sp>
        <p:nvSpPr>
          <p:cNvPr name="TextBox 8" id="8"/>
          <p:cNvSpPr txBox="true"/>
          <p:nvPr/>
        </p:nvSpPr>
        <p:spPr>
          <a:xfrm rot="0">
            <a:off x="2815381" y="4109591"/>
            <a:ext cx="3506092" cy="429578"/>
          </a:xfrm>
          <a:prstGeom prst="rect">
            <a:avLst/>
          </a:prstGeom>
        </p:spPr>
        <p:txBody>
          <a:bodyPr anchor="t" rtlCol="false" tIns="0" lIns="0" bIns="0" rIns="0">
            <a:spAutoFit/>
          </a:bodyPr>
          <a:lstStyle/>
          <a:p>
            <a:pPr algn="r">
              <a:lnSpc>
                <a:spcPts val="3562"/>
              </a:lnSpc>
            </a:pPr>
            <a:r>
              <a:rPr lang="en-US" b="true" sz="2850" spc="-42">
                <a:solidFill>
                  <a:srgbClr val="EDE9DD"/>
                </a:solidFill>
                <a:latin typeface="Prompt Semi-Bold"/>
                <a:ea typeface="Prompt Semi-Bold"/>
                <a:cs typeface="Prompt Semi-Bold"/>
                <a:sym typeface="Prompt Semi-Bold"/>
              </a:rPr>
              <a:t>Rising Premiums</a:t>
            </a:r>
          </a:p>
        </p:txBody>
      </p:sp>
      <p:sp>
        <p:nvSpPr>
          <p:cNvPr name="TextBox 9" id="9"/>
          <p:cNvSpPr txBox="true"/>
          <p:nvPr/>
        </p:nvSpPr>
        <p:spPr>
          <a:xfrm rot="0">
            <a:off x="1079747" y="4675734"/>
            <a:ext cx="5241726" cy="1223092"/>
          </a:xfrm>
          <a:prstGeom prst="rect">
            <a:avLst/>
          </a:prstGeom>
        </p:spPr>
        <p:txBody>
          <a:bodyPr anchor="t" rtlCol="false" tIns="0" lIns="0" bIns="0" rIns="0">
            <a:spAutoFit/>
          </a:bodyPr>
          <a:lstStyle/>
          <a:p>
            <a:pPr algn="r">
              <a:lnSpc>
                <a:spcPts val="3364"/>
              </a:lnSpc>
            </a:pPr>
            <a:r>
              <a:rPr lang="en-US" sz="2204" spc="-33">
                <a:solidFill>
                  <a:srgbClr val="EDE9DD"/>
                </a:solidFill>
                <a:latin typeface="Prompt"/>
                <a:ea typeface="Prompt"/>
                <a:cs typeface="Prompt"/>
                <a:sym typeface="Prompt"/>
              </a:rPr>
              <a:t>Fraud inflates costs, making insurance less affordable and accessible to families</a:t>
            </a:r>
          </a:p>
        </p:txBody>
      </p:sp>
      <p:grpSp>
        <p:nvGrpSpPr>
          <p:cNvPr name="Group 10" id="10"/>
          <p:cNvGrpSpPr>
            <a:grpSpLocks noChangeAspect="true"/>
          </p:cNvGrpSpPr>
          <p:nvPr/>
        </p:nvGrpSpPr>
        <p:grpSpPr>
          <a:xfrm rot="0">
            <a:off x="6321475" y="3472755"/>
            <a:ext cx="5644903" cy="5644902"/>
            <a:chOff x="0" y="0"/>
            <a:chExt cx="7526537" cy="7526537"/>
          </a:xfrm>
        </p:grpSpPr>
        <p:sp>
          <p:nvSpPr>
            <p:cNvPr name="Freeform 11" id="11" descr="preencoded.png"/>
            <p:cNvSpPr/>
            <p:nvPr/>
          </p:nvSpPr>
          <p:spPr>
            <a:xfrm flipH="false" flipV="false" rot="0">
              <a:off x="0" y="0"/>
              <a:ext cx="7526528" cy="7526528"/>
            </a:xfrm>
            <a:custGeom>
              <a:avLst/>
              <a:gdLst/>
              <a:ahLst/>
              <a:cxnLst/>
              <a:rect r="r" b="b" t="t" l="l"/>
              <a:pathLst>
                <a:path h="7526528" w="7526528">
                  <a:moveTo>
                    <a:pt x="0" y="0"/>
                  </a:moveTo>
                  <a:lnTo>
                    <a:pt x="7526528" y="0"/>
                  </a:lnTo>
                  <a:lnTo>
                    <a:pt x="7526528" y="7526528"/>
                  </a:lnTo>
                  <a:lnTo>
                    <a:pt x="0" y="7526528"/>
                  </a:lnTo>
                  <a:lnTo>
                    <a:pt x="0" y="0"/>
                  </a:lnTo>
                  <a:close/>
                </a:path>
              </a:pathLst>
            </a:custGeom>
            <a:blipFill>
              <a:blip r:embed="rId3"/>
              <a:stretch>
                <a:fillRect l="0" t="0" r="0" b="0"/>
              </a:stretch>
            </a:blipFill>
          </p:spPr>
        </p:sp>
      </p:grpSp>
      <p:sp>
        <p:nvSpPr>
          <p:cNvPr name="Freeform 12" id="12" descr="preencoded.png"/>
          <p:cNvSpPr/>
          <p:nvPr/>
        </p:nvSpPr>
        <p:spPr>
          <a:xfrm flipH="false" flipV="false" rot="0">
            <a:off x="7899052" y="5050334"/>
            <a:ext cx="433834" cy="433834"/>
          </a:xfrm>
          <a:custGeom>
            <a:avLst/>
            <a:gdLst/>
            <a:ahLst/>
            <a:cxnLst/>
            <a:rect r="r" b="b" t="t" l="l"/>
            <a:pathLst>
              <a:path h="433834" w="433834">
                <a:moveTo>
                  <a:pt x="0" y="0"/>
                </a:moveTo>
                <a:lnTo>
                  <a:pt x="433834" y="0"/>
                </a:lnTo>
                <a:lnTo>
                  <a:pt x="433834" y="433833"/>
                </a:lnTo>
                <a:lnTo>
                  <a:pt x="0" y="4338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11966376" y="3646884"/>
            <a:ext cx="4284761" cy="429578"/>
          </a:xfrm>
          <a:prstGeom prst="rect">
            <a:avLst/>
          </a:prstGeom>
        </p:spPr>
        <p:txBody>
          <a:bodyPr anchor="t" rtlCol="false" tIns="0" lIns="0" bIns="0" rIns="0">
            <a:spAutoFit/>
          </a:bodyPr>
          <a:lstStyle/>
          <a:p>
            <a:pPr algn="l">
              <a:lnSpc>
                <a:spcPts val="3562"/>
              </a:lnSpc>
            </a:pPr>
            <a:r>
              <a:rPr lang="en-US" b="true" sz="2850" spc="-42">
                <a:solidFill>
                  <a:srgbClr val="EDE9DD"/>
                </a:solidFill>
                <a:latin typeface="Prompt Semi-Bold"/>
                <a:ea typeface="Prompt Semi-Bold"/>
                <a:cs typeface="Prompt Semi-Bold"/>
                <a:sym typeface="Prompt Semi-Bold"/>
              </a:rPr>
              <a:t>Vulnerable Populations</a:t>
            </a:r>
          </a:p>
        </p:txBody>
      </p:sp>
      <p:sp>
        <p:nvSpPr>
          <p:cNvPr name="TextBox 14" id="14"/>
          <p:cNvSpPr txBox="true"/>
          <p:nvPr/>
        </p:nvSpPr>
        <p:spPr>
          <a:xfrm rot="0">
            <a:off x="11966376" y="4193976"/>
            <a:ext cx="5241875" cy="1878631"/>
          </a:xfrm>
          <a:prstGeom prst="rect">
            <a:avLst/>
          </a:prstGeom>
        </p:spPr>
        <p:txBody>
          <a:bodyPr anchor="t" rtlCol="false" tIns="0" lIns="0" bIns="0" rIns="0">
            <a:spAutoFit/>
          </a:bodyPr>
          <a:lstStyle/>
          <a:p>
            <a:pPr algn="l">
              <a:lnSpc>
                <a:spcPts val="3777"/>
              </a:lnSpc>
            </a:pPr>
            <a:r>
              <a:rPr lang="en-US" sz="2475" spc="-37">
                <a:solidFill>
                  <a:srgbClr val="EDE9DD"/>
                </a:solidFill>
                <a:latin typeface="Prompt"/>
                <a:ea typeface="Prompt"/>
                <a:cs typeface="Prompt"/>
                <a:sym typeface="Prompt"/>
              </a:rPr>
              <a:t>Language, cultural, and economic barriers leave disadvantaged communities disproportionately affected</a:t>
            </a:r>
          </a:p>
        </p:txBody>
      </p:sp>
      <p:grpSp>
        <p:nvGrpSpPr>
          <p:cNvPr name="Group 15" id="15"/>
          <p:cNvGrpSpPr>
            <a:grpSpLocks noChangeAspect="true"/>
          </p:cNvGrpSpPr>
          <p:nvPr/>
        </p:nvGrpSpPr>
        <p:grpSpPr>
          <a:xfrm rot="0">
            <a:off x="6321475" y="3472755"/>
            <a:ext cx="5644903" cy="5644902"/>
            <a:chOff x="0" y="0"/>
            <a:chExt cx="7526537" cy="7526537"/>
          </a:xfrm>
        </p:grpSpPr>
        <p:sp>
          <p:nvSpPr>
            <p:cNvPr name="Freeform 16" id="16" descr="preencoded.png"/>
            <p:cNvSpPr/>
            <p:nvPr/>
          </p:nvSpPr>
          <p:spPr>
            <a:xfrm flipH="false" flipV="false" rot="0">
              <a:off x="0" y="0"/>
              <a:ext cx="7526528" cy="7526528"/>
            </a:xfrm>
            <a:custGeom>
              <a:avLst/>
              <a:gdLst/>
              <a:ahLst/>
              <a:cxnLst/>
              <a:rect r="r" b="b" t="t" l="l"/>
              <a:pathLst>
                <a:path h="7526528" w="7526528">
                  <a:moveTo>
                    <a:pt x="0" y="0"/>
                  </a:moveTo>
                  <a:lnTo>
                    <a:pt x="7526528" y="0"/>
                  </a:lnTo>
                  <a:lnTo>
                    <a:pt x="7526528" y="7526528"/>
                  </a:lnTo>
                  <a:lnTo>
                    <a:pt x="0" y="7526528"/>
                  </a:lnTo>
                  <a:lnTo>
                    <a:pt x="0" y="0"/>
                  </a:lnTo>
                  <a:close/>
                </a:path>
              </a:pathLst>
            </a:custGeom>
            <a:blipFill>
              <a:blip r:embed="rId6"/>
              <a:stretch>
                <a:fillRect l="0" t="0" r="0" b="0"/>
              </a:stretch>
            </a:blipFill>
          </p:spPr>
        </p:sp>
      </p:grpSp>
      <p:sp>
        <p:nvSpPr>
          <p:cNvPr name="Freeform 17" id="17" descr="preencoded.png"/>
          <p:cNvSpPr/>
          <p:nvPr/>
        </p:nvSpPr>
        <p:spPr>
          <a:xfrm flipH="false" flipV="false" rot="0">
            <a:off x="9954666" y="5050334"/>
            <a:ext cx="433834" cy="433834"/>
          </a:xfrm>
          <a:custGeom>
            <a:avLst/>
            <a:gdLst/>
            <a:ahLst/>
            <a:cxnLst/>
            <a:rect r="r" b="b" t="t" l="l"/>
            <a:pathLst>
              <a:path h="433834" w="433834">
                <a:moveTo>
                  <a:pt x="0" y="0"/>
                </a:moveTo>
                <a:lnTo>
                  <a:pt x="433834" y="0"/>
                </a:lnTo>
                <a:lnTo>
                  <a:pt x="433834" y="433833"/>
                </a:lnTo>
                <a:lnTo>
                  <a:pt x="0" y="433833"/>
                </a:lnTo>
                <a:lnTo>
                  <a:pt x="0" y="0"/>
                </a:lnTo>
                <a:close/>
              </a:path>
            </a:pathLst>
          </a:custGeom>
          <a:blipFill>
            <a:blip r:embed="rId7">
              <a:extLst>
                <a:ext uri="{96DAC541-7B7A-43D3-8B79-37D633B846F1}">
                  <asvg:svgBlip xmlns:asvg="http://schemas.microsoft.com/office/drawing/2016/SVG/main" r:embed="rId8"/>
                </a:ext>
              </a:extLst>
            </a:blip>
            <a:stretch>
              <a:fillRect l="0" t="-15217" r="0" b="-15217"/>
            </a:stretch>
          </a:blipFill>
        </p:spPr>
      </p:sp>
      <p:sp>
        <p:nvSpPr>
          <p:cNvPr name="TextBox 18" id="18"/>
          <p:cNvSpPr txBox="true"/>
          <p:nvPr/>
        </p:nvSpPr>
        <p:spPr>
          <a:xfrm rot="0">
            <a:off x="11966376" y="6931967"/>
            <a:ext cx="3506092" cy="429578"/>
          </a:xfrm>
          <a:prstGeom prst="rect">
            <a:avLst/>
          </a:prstGeom>
        </p:spPr>
        <p:txBody>
          <a:bodyPr anchor="t" rtlCol="false" tIns="0" lIns="0" bIns="0" rIns="0">
            <a:spAutoFit/>
          </a:bodyPr>
          <a:lstStyle/>
          <a:p>
            <a:pPr algn="l">
              <a:lnSpc>
                <a:spcPts val="3562"/>
              </a:lnSpc>
            </a:pPr>
            <a:r>
              <a:rPr lang="en-US" b="true" sz="2850" spc="-42">
                <a:solidFill>
                  <a:srgbClr val="EDE9DD"/>
                </a:solidFill>
                <a:latin typeface="Prompt Semi-Bold"/>
                <a:ea typeface="Prompt Semi-Bold"/>
                <a:cs typeface="Prompt Semi-Bold"/>
                <a:sym typeface="Prompt Semi-Bold"/>
              </a:rPr>
              <a:t>Legitimate Claims</a:t>
            </a:r>
          </a:p>
        </p:txBody>
      </p:sp>
      <p:sp>
        <p:nvSpPr>
          <p:cNvPr name="TextBox 19" id="19"/>
          <p:cNvSpPr txBox="true"/>
          <p:nvPr/>
        </p:nvSpPr>
        <p:spPr>
          <a:xfrm rot="0">
            <a:off x="11966376" y="7479060"/>
            <a:ext cx="5241875" cy="1402381"/>
          </a:xfrm>
          <a:prstGeom prst="rect">
            <a:avLst/>
          </a:prstGeom>
        </p:spPr>
        <p:txBody>
          <a:bodyPr anchor="t" rtlCol="false" tIns="0" lIns="0" bIns="0" rIns="0">
            <a:spAutoFit/>
          </a:bodyPr>
          <a:lstStyle/>
          <a:p>
            <a:pPr algn="l">
              <a:lnSpc>
                <a:spcPts val="3777"/>
              </a:lnSpc>
            </a:pPr>
            <a:r>
              <a:rPr lang="en-US" sz="2475" spc="-37">
                <a:solidFill>
                  <a:srgbClr val="EDE9DD"/>
                </a:solidFill>
                <a:latin typeface="Prompt"/>
                <a:ea typeface="Prompt"/>
                <a:cs typeface="Prompt"/>
                <a:sym typeface="Prompt"/>
              </a:rPr>
              <a:t>Resources diverted from honest policyholders, delaying their claims and recovery</a:t>
            </a:r>
          </a:p>
        </p:txBody>
      </p:sp>
      <p:grpSp>
        <p:nvGrpSpPr>
          <p:cNvPr name="Group 20" id="20"/>
          <p:cNvGrpSpPr>
            <a:grpSpLocks noChangeAspect="true"/>
          </p:cNvGrpSpPr>
          <p:nvPr/>
        </p:nvGrpSpPr>
        <p:grpSpPr>
          <a:xfrm rot="0">
            <a:off x="6321475" y="3472755"/>
            <a:ext cx="5644903" cy="5644902"/>
            <a:chOff x="0" y="0"/>
            <a:chExt cx="7526537" cy="7526537"/>
          </a:xfrm>
        </p:grpSpPr>
        <p:sp>
          <p:nvSpPr>
            <p:cNvPr name="Freeform 21" id="21" descr="preencoded.png"/>
            <p:cNvSpPr/>
            <p:nvPr/>
          </p:nvSpPr>
          <p:spPr>
            <a:xfrm flipH="false" flipV="false" rot="0">
              <a:off x="0" y="0"/>
              <a:ext cx="7526528" cy="7526528"/>
            </a:xfrm>
            <a:custGeom>
              <a:avLst/>
              <a:gdLst/>
              <a:ahLst/>
              <a:cxnLst/>
              <a:rect r="r" b="b" t="t" l="l"/>
              <a:pathLst>
                <a:path h="7526528" w="7526528">
                  <a:moveTo>
                    <a:pt x="0" y="0"/>
                  </a:moveTo>
                  <a:lnTo>
                    <a:pt x="7526528" y="0"/>
                  </a:lnTo>
                  <a:lnTo>
                    <a:pt x="7526528" y="7526528"/>
                  </a:lnTo>
                  <a:lnTo>
                    <a:pt x="0" y="7526528"/>
                  </a:lnTo>
                  <a:lnTo>
                    <a:pt x="0" y="0"/>
                  </a:lnTo>
                  <a:close/>
                </a:path>
              </a:pathLst>
            </a:custGeom>
            <a:blipFill>
              <a:blip r:embed="rId9"/>
              <a:stretch>
                <a:fillRect l="0" t="0" r="0" b="0"/>
              </a:stretch>
            </a:blipFill>
          </p:spPr>
        </p:sp>
      </p:grpSp>
      <p:sp>
        <p:nvSpPr>
          <p:cNvPr name="Freeform 22" id="22" descr="preencoded.png"/>
          <p:cNvSpPr/>
          <p:nvPr/>
        </p:nvSpPr>
        <p:spPr>
          <a:xfrm flipH="false" flipV="false" rot="0">
            <a:off x="9954666" y="7105947"/>
            <a:ext cx="433834" cy="433834"/>
          </a:xfrm>
          <a:custGeom>
            <a:avLst/>
            <a:gdLst/>
            <a:ahLst/>
            <a:cxnLst/>
            <a:rect r="r" b="b" t="t" l="l"/>
            <a:pathLst>
              <a:path h="433834" w="433834">
                <a:moveTo>
                  <a:pt x="0" y="0"/>
                </a:moveTo>
                <a:lnTo>
                  <a:pt x="433834" y="0"/>
                </a:lnTo>
                <a:lnTo>
                  <a:pt x="433834" y="433834"/>
                </a:lnTo>
                <a:lnTo>
                  <a:pt x="0" y="433834"/>
                </a:lnTo>
                <a:lnTo>
                  <a:pt x="0" y="0"/>
                </a:lnTo>
                <a:close/>
              </a:path>
            </a:pathLst>
          </a:custGeom>
          <a:blipFill>
            <a:blip r:embed="rId10">
              <a:extLst>
                <a:ext uri="{96DAC541-7B7A-43D3-8B79-37D633B846F1}">
                  <asvg:svgBlip xmlns:asvg="http://schemas.microsoft.com/office/drawing/2016/SVG/main" r:embed="rId11"/>
                </a:ext>
              </a:extLst>
            </a:blip>
            <a:stretch>
              <a:fillRect l="0" t="-17391" r="0" b="-17391"/>
            </a:stretch>
          </a:blipFill>
        </p:spPr>
      </p:sp>
      <p:sp>
        <p:nvSpPr>
          <p:cNvPr name="TextBox 23" id="23"/>
          <p:cNvSpPr txBox="true"/>
          <p:nvPr/>
        </p:nvSpPr>
        <p:spPr>
          <a:xfrm rot="0">
            <a:off x="2815381" y="6931967"/>
            <a:ext cx="3506092" cy="429578"/>
          </a:xfrm>
          <a:prstGeom prst="rect">
            <a:avLst/>
          </a:prstGeom>
        </p:spPr>
        <p:txBody>
          <a:bodyPr anchor="t" rtlCol="false" tIns="0" lIns="0" bIns="0" rIns="0">
            <a:spAutoFit/>
          </a:bodyPr>
          <a:lstStyle/>
          <a:p>
            <a:pPr algn="r">
              <a:lnSpc>
                <a:spcPts val="3562"/>
              </a:lnSpc>
            </a:pPr>
            <a:r>
              <a:rPr lang="en-US" b="true" sz="2850" spc="-42">
                <a:solidFill>
                  <a:srgbClr val="EDE9DD"/>
                </a:solidFill>
                <a:latin typeface="Prompt Semi-Bold"/>
                <a:ea typeface="Prompt Semi-Bold"/>
                <a:cs typeface="Prompt Semi-Bold"/>
                <a:sym typeface="Prompt Semi-Bold"/>
              </a:rPr>
              <a:t>Economic Strain</a:t>
            </a:r>
          </a:p>
        </p:txBody>
      </p:sp>
      <p:sp>
        <p:nvSpPr>
          <p:cNvPr name="TextBox 24" id="24"/>
          <p:cNvSpPr txBox="true"/>
          <p:nvPr/>
        </p:nvSpPr>
        <p:spPr>
          <a:xfrm rot="0">
            <a:off x="1079747" y="7479060"/>
            <a:ext cx="5241726" cy="1402381"/>
          </a:xfrm>
          <a:prstGeom prst="rect">
            <a:avLst/>
          </a:prstGeom>
        </p:spPr>
        <p:txBody>
          <a:bodyPr anchor="t" rtlCol="false" tIns="0" lIns="0" bIns="0" rIns="0">
            <a:spAutoFit/>
          </a:bodyPr>
          <a:lstStyle/>
          <a:p>
            <a:pPr algn="r">
              <a:lnSpc>
                <a:spcPts val="3777"/>
              </a:lnSpc>
            </a:pPr>
            <a:r>
              <a:rPr lang="en-US" sz="2475" spc="-37">
                <a:solidFill>
                  <a:srgbClr val="EDE9DD"/>
                </a:solidFill>
                <a:latin typeface="Prompt"/>
                <a:ea typeface="Prompt"/>
                <a:cs typeface="Prompt"/>
                <a:sym typeface="Prompt"/>
              </a:rPr>
              <a:t>Small businesses and individuals bear the burden through higher costs and limited coverage</a:t>
            </a:r>
          </a:p>
        </p:txBody>
      </p:sp>
      <p:grpSp>
        <p:nvGrpSpPr>
          <p:cNvPr name="Group 25" id="25"/>
          <p:cNvGrpSpPr>
            <a:grpSpLocks noChangeAspect="true"/>
          </p:cNvGrpSpPr>
          <p:nvPr/>
        </p:nvGrpSpPr>
        <p:grpSpPr>
          <a:xfrm rot="0">
            <a:off x="6321475" y="3472755"/>
            <a:ext cx="5644903" cy="5644902"/>
            <a:chOff x="0" y="0"/>
            <a:chExt cx="7526537" cy="7526537"/>
          </a:xfrm>
        </p:grpSpPr>
        <p:sp>
          <p:nvSpPr>
            <p:cNvPr name="Freeform 26" id="26" descr="preencoded.png"/>
            <p:cNvSpPr/>
            <p:nvPr/>
          </p:nvSpPr>
          <p:spPr>
            <a:xfrm flipH="false" flipV="false" rot="0">
              <a:off x="0" y="0"/>
              <a:ext cx="7526528" cy="7526528"/>
            </a:xfrm>
            <a:custGeom>
              <a:avLst/>
              <a:gdLst/>
              <a:ahLst/>
              <a:cxnLst/>
              <a:rect r="r" b="b" t="t" l="l"/>
              <a:pathLst>
                <a:path h="7526528" w="7526528">
                  <a:moveTo>
                    <a:pt x="0" y="0"/>
                  </a:moveTo>
                  <a:lnTo>
                    <a:pt x="7526528" y="0"/>
                  </a:lnTo>
                  <a:lnTo>
                    <a:pt x="7526528" y="7526528"/>
                  </a:lnTo>
                  <a:lnTo>
                    <a:pt x="0" y="7526528"/>
                  </a:lnTo>
                  <a:lnTo>
                    <a:pt x="0" y="0"/>
                  </a:lnTo>
                  <a:close/>
                </a:path>
              </a:pathLst>
            </a:custGeom>
            <a:blipFill>
              <a:blip r:embed="rId12"/>
              <a:stretch>
                <a:fillRect l="0" t="0" r="0" b="0"/>
              </a:stretch>
            </a:blipFill>
          </p:spPr>
        </p:sp>
      </p:grpSp>
      <p:sp>
        <p:nvSpPr>
          <p:cNvPr name="Freeform 27" id="27" descr="preencoded.png"/>
          <p:cNvSpPr/>
          <p:nvPr/>
        </p:nvSpPr>
        <p:spPr>
          <a:xfrm flipH="false" flipV="false" rot="0">
            <a:off x="7899052" y="7105947"/>
            <a:ext cx="433834" cy="433834"/>
          </a:xfrm>
          <a:custGeom>
            <a:avLst/>
            <a:gdLst/>
            <a:ahLst/>
            <a:cxnLst/>
            <a:rect r="r" b="b" t="t" l="l"/>
            <a:pathLst>
              <a:path h="433834" w="433834">
                <a:moveTo>
                  <a:pt x="0" y="0"/>
                </a:moveTo>
                <a:lnTo>
                  <a:pt x="433834" y="0"/>
                </a:lnTo>
                <a:lnTo>
                  <a:pt x="433834" y="433834"/>
                </a:lnTo>
                <a:lnTo>
                  <a:pt x="0" y="43383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4401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6" id="6"/>
          <p:cNvGrpSpPr>
            <a:grpSpLocks noChangeAspect="true"/>
          </p:cNvGrpSpPr>
          <p:nvPr/>
        </p:nvGrpSpPr>
        <p:grpSpPr>
          <a:xfrm rot="0">
            <a:off x="0" y="0"/>
            <a:ext cx="18288000" cy="3255912"/>
            <a:chOff x="0" y="0"/>
            <a:chExt cx="24384000" cy="4341217"/>
          </a:xfrm>
        </p:grpSpPr>
        <p:sp>
          <p:nvSpPr>
            <p:cNvPr name="Freeform 7" id="7" descr="preencoded.png"/>
            <p:cNvSpPr/>
            <p:nvPr/>
          </p:nvSpPr>
          <p:spPr>
            <a:xfrm flipH="false" flipV="false" rot="0">
              <a:off x="0" y="0"/>
              <a:ext cx="24384000" cy="4341241"/>
            </a:xfrm>
            <a:custGeom>
              <a:avLst/>
              <a:gdLst/>
              <a:ahLst/>
              <a:cxnLst/>
              <a:rect r="r" b="b" t="t" l="l"/>
              <a:pathLst>
                <a:path h="4341241" w="24384000">
                  <a:moveTo>
                    <a:pt x="0" y="0"/>
                  </a:moveTo>
                  <a:lnTo>
                    <a:pt x="24384000" y="0"/>
                  </a:lnTo>
                  <a:lnTo>
                    <a:pt x="24384000" y="4341241"/>
                  </a:lnTo>
                  <a:lnTo>
                    <a:pt x="0" y="4341241"/>
                  </a:lnTo>
                  <a:lnTo>
                    <a:pt x="0" y="0"/>
                  </a:lnTo>
                  <a:close/>
                </a:path>
              </a:pathLst>
            </a:custGeom>
            <a:blipFill>
              <a:blip r:embed="rId3"/>
              <a:stretch>
                <a:fillRect l="0" t="-25" r="0" b="-24"/>
              </a:stretch>
            </a:blipFill>
          </p:spPr>
        </p:sp>
      </p:grpSp>
      <p:sp>
        <p:nvSpPr>
          <p:cNvPr name="TextBox 8" id="8"/>
          <p:cNvSpPr txBox="true"/>
          <p:nvPr/>
        </p:nvSpPr>
        <p:spPr>
          <a:xfrm rot="0">
            <a:off x="911573" y="3944839"/>
            <a:ext cx="12682537" cy="728662"/>
          </a:xfrm>
          <a:prstGeom prst="rect">
            <a:avLst/>
          </a:prstGeom>
        </p:spPr>
        <p:txBody>
          <a:bodyPr anchor="t" rtlCol="false" tIns="0" lIns="0" bIns="0" rIns="0">
            <a:spAutoFit/>
          </a:bodyPr>
          <a:lstStyle/>
          <a:p>
            <a:pPr algn="l">
              <a:lnSpc>
                <a:spcPts val="5812"/>
              </a:lnSpc>
            </a:pPr>
            <a:r>
              <a:rPr lang="en-US" sz="4625">
                <a:solidFill>
                  <a:srgbClr val="EDE9DD"/>
                </a:solidFill>
                <a:latin typeface="Anton"/>
                <a:ea typeface="Anton"/>
                <a:cs typeface="Anton"/>
                <a:sym typeface="Anton"/>
              </a:rPr>
              <a:t>Fighting Back: Prevention and Detection</a:t>
            </a:r>
          </a:p>
        </p:txBody>
      </p:sp>
      <p:sp>
        <p:nvSpPr>
          <p:cNvPr name="TextBox 9" id="9"/>
          <p:cNvSpPr txBox="true"/>
          <p:nvPr/>
        </p:nvSpPr>
        <p:spPr>
          <a:xfrm rot="0">
            <a:off x="911573" y="5027860"/>
            <a:ext cx="16464855" cy="387906"/>
          </a:xfrm>
          <a:prstGeom prst="rect">
            <a:avLst/>
          </a:prstGeom>
        </p:spPr>
        <p:txBody>
          <a:bodyPr anchor="t" rtlCol="false" tIns="0" lIns="0" bIns="0" rIns="0">
            <a:spAutoFit/>
          </a:bodyPr>
          <a:lstStyle/>
          <a:p>
            <a:pPr algn="l">
              <a:lnSpc>
                <a:spcPts val="3215"/>
              </a:lnSpc>
            </a:pPr>
            <a:r>
              <a:rPr lang="en-US" sz="2100" spc="-31">
                <a:solidFill>
                  <a:srgbClr val="544013"/>
                </a:solidFill>
                <a:latin typeface="Prompt"/>
                <a:ea typeface="Prompt"/>
                <a:cs typeface="Prompt"/>
                <a:sym typeface="Prompt"/>
              </a:rPr>
              <a:t>Advanced technology, specialized units, and public engagement form the frontline defense against fraud:</a:t>
            </a:r>
          </a:p>
        </p:txBody>
      </p:sp>
      <p:grpSp>
        <p:nvGrpSpPr>
          <p:cNvPr name="Group 10" id="10"/>
          <p:cNvGrpSpPr>
            <a:grpSpLocks noChangeAspect="true"/>
          </p:cNvGrpSpPr>
          <p:nvPr/>
        </p:nvGrpSpPr>
        <p:grpSpPr>
          <a:xfrm rot="0">
            <a:off x="911572" y="6568976"/>
            <a:ext cx="5314652" cy="1428750"/>
            <a:chOff x="0" y="0"/>
            <a:chExt cx="7086203" cy="1905000"/>
          </a:xfrm>
        </p:grpSpPr>
        <p:sp>
          <p:nvSpPr>
            <p:cNvPr name="Freeform 11" id="11" descr="preencoded.png"/>
            <p:cNvSpPr/>
            <p:nvPr/>
          </p:nvSpPr>
          <p:spPr>
            <a:xfrm flipH="false" flipV="false" rot="0">
              <a:off x="0" y="0"/>
              <a:ext cx="7086219" cy="1905000"/>
            </a:xfrm>
            <a:custGeom>
              <a:avLst/>
              <a:gdLst/>
              <a:ahLst/>
              <a:cxnLst/>
              <a:rect r="r" b="b" t="t" l="l"/>
              <a:pathLst>
                <a:path h="1905000" w="7086219">
                  <a:moveTo>
                    <a:pt x="0" y="0"/>
                  </a:moveTo>
                  <a:lnTo>
                    <a:pt x="7086219" y="0"/>
                  </a:lnTo>
                  <a:lnTo>
                    <a:pt x="7086219" y="1905000"/>
                  </a:lnTo>
                  <a:lnTo>
                    <a:pt x="0" y="1905000"/>
                  </a:lnTo>
                  <a:lnTo>
                    <a:pt x="0" y="0"/>
                  </a:lnTo>
                  <a:close/>
                </a:path>
              </a:pathLst>
            </a:custGeom>
            <a:blipFill>
              <a:blip r:embed="rId4"/>
              <a:stretch>
                <a:fillRect l="-2" t="0" r="-2" b="0"/>
              </a:stretch>
            </a:blipFill>
          </p:spPr>
        </p:sp>
      </p:grpSp>
      <p:sp>
        <p:nvSpPr>
          <p:cNvPr name="TextBox 12" id="12"/>
          <p:cNvSpPr txBox="true"/>
          <p:nvPr/>
        </p:nvSpPr>
        <p:spPr>
          <a:xfrm rot="0">
            <a:off x="1172021" y="7610772"/>
            <a:ext cx="2959894" cy="358226"/>
          </a:xfrm>
          <a:prstGeom prst="rect">
            <a:avLst/>
          </a:prstGeom>
        </p:spPr>
        <p:txBody>
          <a:bodyPr anchor="t" rtlCol="false" tIns="0" lIns="0" bIns="0" rIns="0">
            <a:spAutoFit/>
          </a:bodyPr>
          <a:lstStyle/>
          <a:p>
            <a:pPr algn="l">
              <a:lnSpc>
                <a:spcPts val="2999"/>
              </a:lnSpc>
            </a:pPr>
            <a:r>
              <a:rPr lang="en-US" b="true" sz="2412" spc="-36">
                <a:solidFill>
                  <a:srgbClr val="544013"/>
                </a:solidFill>
                <a:latin typeface="Prompt Semi-Bold"/>
                <a:ea typeface="Prompt Semi-Bold"/>
                <a:cs typeface="Prompt Semi-Bold"/>
                <a:sym typeface="Prompt Semi-Bold"/>
              </a:rPr>
              <a:t>Specialized Units</a:t>
            </a:r>
          </a:p>
        </p:txBody>
      </p:sp>
      <p:sp>
        <p:nvSpPr>
          <p:cNvPr name="TextBox 13" id="13"/>
          <p:cNvSpPr txBox="true"/>
          <p:nvPr/>
        </p:nvSpPr>
        <p:spPr>
          <a:xfrm rot="0">
            <a:off x="1172021" y="8060829"/>
            <a:ext cx="4793754" cy="1588056"/>
          </a:xfrm>
          <a:prstGeom prst="rect">
            <a:avLst/>
          </a:prstGeom>
        </p:spPr>
        <p:txBody>
          <a:bodyPr anchor="t" rtlCol="false" tIns="0" lIns="0" bIns="0" rIns="0">
            <a:spAutoFit/>
          </a:bodyPr>
          <a:lstStyle/>
          <a:p>
            <a:pPr algn="l">
              <a:lnSpc>
                <a:spcPts val="3215"/>
              </a:lnSpc>
            </a:pPr>
            <a:r>
              <a:rPr lang="en-US" sz="2100" spc="-31">
                <a:solidFill>
                  <a:srgbClr val="544013"/>
                </a:solidFill>
                <a:latin typeface="Prompt"/>
                <a:ea typeface="Prompt"/>
                <a:cs typeface="Prompt"/>
                <a:sym typeface="Prompt"/>
              </a:rPr>
              <a:t>Dedicated Insurance Fraud Prevention Divisions and Special Investigation Units (e.g., Nebraska's IFPD)</a:t>
            </a:r>
          </a:p>
        </p:txBody>
      </p:sp>
      <p:grpSp>
        <p:nvGrpSpPr>
          <p:cNvPr name="Group 14" id="14"/>
          <p:cNvGrpSpPr>
            <a:grpSpLocks noChangeAspect="true"/>
          </p:cNvGrpSpPr>
          <p:nvPr/>
        </p:nvGrpSpPr>
        <p:grpSpPr>
          <a:xfrm rot="0">
            <a:off x="6486674" y="6178302"/>
            <a:ext cx="5314653" cy="1428750"/>
            <a:chOff x="0" y="0"/>
            <a:chExt cx="7086203" cy="1905000"/>
          </a:xfrm>
        </p:grpSpPr>
        <p:sp>
          <p:nvSpPr>
            <p:cNvPr name="Freeform 15" id="15" descr="preencoded.png"/>
            <p:cNvSpPr/>
            <p:nvPr/>
          </p:nvSpPr>
          <p:spPr>
            <a:xfrm flipH="false" flipV="false" rot="0">
              <a:off x="0" y="0"/>
              <a:ext cx="7086219" cy="1905000"/>
            </a:xfrm>
            <a:custGeom>
              <a:avLst/>
              <a:gdLst/>
              <a:ahLst/>
              <a:cxnLst/>
              <a:rect r="r" b="b" t="t" l="l"/>
              <a:pathLst>
                <a:path h="1905000" w="7086219">
                  <a:moveTo>
                    <a:pt x="0" y="0"/>
                  </a:moveTo>
                  <a:lnTo>
                    <a:pt x="7086219" y="0"/>
                  </a:lnTo>
                  <a:lnTo>
                    <a:pt x="7086219" y="1905000"/>
                  </a:lnTo>
                  <a:lnTo>
                    <a:pt x="0" y="1905000"/>
                  </a:lnTo>
                  <a:lnTo>
                    <a:pt x="0" y="0"/>
                  </a:lnTo>
                  <a:close/>
                </a:path>
              </a:pathLst>
            </a:custGeom>
            <a:blipFill>
              <a:blip r:embed="rId4"/>
              <a:stretch>
                <a:fillRect l="-2" t="0" r="-2" b="0"/>
              </a:stretch>
            </a:blipFill>
          </p:spPr>
        </p:sp>
      </p:grpSp>
      <p:sp>
        <p:nvSpPr>
          <p:cNvPr name="TextBox 16" id="16"/>
          <p:cNvSpPr txBox="true"/>
          <p:nvPr/>
        </p:nvSpPr>
        <p:spPr>
          <a:xfrm rot="0">
            <a:off x="6747122" y="7220099"/>
            <a:ext cx="2959894" cy="358226"/>
          </a:xfrm>
          <a:prstGeom prst="rect">
            <a:avLst/>
          </a:prstGeom>
        </p:spPr>
        <p:txBody>
          <a:bodyPr anchor="t" rtlCol="false" tIns="0" lIns="0" bIns="0" rIns="0">
            <a:spAutoFit/>
          </a:bodyPr>
          <a:lstStyle/>
          <a:p>
            <a:pPr algn="l">
              <a:lnSpc>
                <a:spcPts val="2999"/>
              </a:lnSpc>
            </a:pPr>
            <a:r>
              <a:rPr lang="en-US" b="true" sz="2412" spc="-36">
                <a:solidFill>
                  <a:srgbClr val="544013"/>
                </a:solidFill>
                <a:latin typeface="Prompt Semi-Bold"/>
                <a:ea typeface="Prompt Semi-Bold"/>
                <a:cs typeface="Prompt Semi-Bold"/>
                <a:sym typeface="Prompt Semi-Bold"/>
              </a:rPr>
              <a:t>Data Analytics</a:t>
            </a:r>
          </a:p>
        </p:txBody>
      </p:sp>
      <p:sp>
        <p:nvSpPr>
          <p:cNvPr name="TextBox 17" id="17"/>
          <p:cNvSpPr txBox="true"/>
          <p:nvPr/>
        </p:nvSpPr>
        <p:spPr>
          <a:xfrm rot="0">
            <a:off x="6747122" y="7670155"/>
            <a:ext cx="4793754" cy="1188006"/>
          </a:xfrm>
          <a:prstGeom prst="rect">
            <a:avLst/>
          </a:prstGeom>
        </p:spPr>
        <p:txBody>
          <a:bodyPr anchor="t" rtlCol="false" tIns="0" lIns="0" bIns="0" rIns="0">
            <a:spAutoFit/>
          </a:bodyPr>
          <a:lstStyle/>
          <a:p>
            <a:pPr algn="l">
              <a:lnSpc>
                <a:spcPts val="3215"/>
              </a:lnSpc>
            </a:pPr>
            <a:r>
              <a:rPr lang="en-US" sz="2100" spc="-31">
                <a:solidFill>
                  <a:srgbClr val="544013"/>
                </a:solidFill>
                <a:latin typeface="Prompt"/>
                <a:ea typeface="Prompt"/>
                <a:cs typeface="Prompt"/>
                <a:sym typeface="Prompt"/>
              </a:rPr>
              <a:t>Predictive modeling and cross-agency collaboration identify suspicious patterns before payouts</a:t>
            </a:r>
          </a:p>
        </p:txBody>
      </p:sp>
      <p:grpSp>
        <p:nvGrpSpPr>
          <p:cNvPr name="Group 18" id="18"/>
          <p:cNvGrpSpPr>
            <a:grpSpLocks noChangeAspect="true"/>
          </p:cNvGrpSpPr>
          <p:nvPr/>
        </p:nvGrpSpPr>
        <p:grpSpPr>
          <a:xfrm rot="0">
            <a:off x="12061775" y="5787629"/>
            <a:ext cx="5314652" cy="1428750"/>
            <a:chOff x="0" y="0"/>
            <a:chExt cx="7086203" cy="1905000"/>
          </a:xfrm>
        </p:grpSpPr>
        <p:sp>
          <p:nvSpPr>
            <p:cNvPr name="Freeform 19" id="19" descr="preencoded.png"/>
            <p:cNvSpPr/>
            <p:nvPr/>
          </p:nvSpPr>
          <p:spPr>
            <a:xfrm flipH="false" flipV="false" rot="0">
              <a:off x="0" y="0"/>
              <a:ext cx="7086219" cy="1905000"/>
            </a:xfrm>
            <a:custGeom>
              <a:avLst/>
              <a:gdLst/>
              <a:ahLst/>
              <a:cxnLst/>
              <a:rect r="r" b="b" t="t" l="l"/>
              <a:pathLst>
                <a:path h="1905000" w="7086219">
                  <a:moveTo>
                    <a:pt x="0" y="0"/>
                  </a:moveTo>
                  <a:lnTo>
                    <a:pt x="7086219" y="0"/>
                  </a:lnTo>
                  <a:lnTo>
                    <a:pt x="7086219" y="1905000"/>
                  </a:lnTo>
                  <a:lnTo>
                    <a:pt x="0" y="1905000"/>
                  </a:lnTo>
                  <a:lnTo>
                    <a:pt x="0" y="0"/>
                  </a:lnTo>
                  <a:close/>
                </a:path>
              </a:pathLst>
            </a:custGeom>
            <a:blipFill>
              <a:blip r:embed="rId4"/>
              <a:stretch>
                <a:fillRect l="-2" t="0" r="-2" b="0"/>
              </a:stretch>
            </a:blipFill>
          </p:spPr>
        </p:sp>
      </p:grpSp>
      <p:sp>
        <p:nvSpPr>
          <p:cNvPr name="TextBox 20" id="20"/>
          <p:cNvSpPr txBox="true"/>
          <p:nvPr/>
        </p:nvSpPr>
        <p:spPr>
          <a:xfrm rot="0">
            <a:off x="12322225" y="6829425"/>
            <a:ext cx="2959894" cy="358226"/>
          </a:xfrm>
          <a:prstGeom prst="rect">
            <a:avLst/>
          </a:prstGeom>
        </p:spPr>
        <p:txBody>
          <a:bodyPr anchor="t" rtlCol="false" tIns="0" lIns="0" bIns="0" rIns="0">
            <a:spAutoFit/>
          </a:bodyPr>
          <a:lstStyle/>
          <a:p>
            <a:pPr algn="l">
              <a:lnSpc>
                <a:spcPts val="2999"/>
              </a:lnSpc>
            </a:pPr>
            <a:r>
              <a:rPr lang="en-US" b="true" sz="2412" spc="-36">
                <a:solidFill>
                  <a:srgbClr val="544013"/>
                </a:solidFill>
                <a:latin typeface="Prompt Semi-Bold"/>
                <a:ea typeface="Prompt Semi-Bold"/>
                <a:cs typeface="Prompt Semi-Bold"/>
                <a:sym typeface="Prompt Semi-Bold"/>
              </a:rPr>
              <a:t>Public Awareness</a:t>
            </a:r>
          </a:p>
        </p:txBody>
      </p:sp>
      <p:sp>
        <p:nvSpPr>
          <p:cNvPr name="TextBox 21" id="21"/>
          <p:cNvSpPr txBox="true"/>
          <p:nvPr/>
        </p:nvSpPr>
        <p:spPr>
          <a:xfrm rot="0">
            <a:off x="12322225" y="7279481"/>
            <a:ext cx="4793754" cy="1188006"/>
          </a:xfrm>
          <a:prstGeom prst="rect">
            <a:avLst/>
          </a:prstGeom>
        </p:spPr>
        <p:txBody>
          <a:bodyPr anchor="t" rtlCol="false" tIns="0" lIns="0" bIns="0" rIns="0">
            <a:spAutoFit/>
          </a:bodyPr>
          <a:lstStyle/>
          <a:p>
            <a:pPr algn="l">
              <a:lnSpc>
                <a:spcPts val="3215"/>
              </a:lnSpc>
            </a:pPr>
            <a:r>
              <a:rPr lang="en-US" sz="2100" spc="-31">
                <a:solidFill>
                  <a:srgbClr val="544013"/>
                </a:solidFill>
                <a:latin typeface="Prompt"/>
                <a:ea typeface="Prompt"/>
                <a:cs typeface="Prompt"/>
                <a:sym typeface="Prompt"/>
              </a:rPr>
              <a:t>Mandatory antifraud plans and education campaigns empower consumers to recognize schemes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544013"/>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6" id="6"/>
          <p:cNvGrpSpPr>
            <a:grpSpLocks noChangeAspect="true"/>
          </p:cNvGrpSpPr>
          <p:nvPr/>
        </p:nvGrpSpPr>
        <p:grpSpPr>
          <a:xfrm rot="0">
            <a:off x="16049019" y="9686925"/>
            <a:ext cx="2153256" cy="514350"/>
            <a:chOff x="0" y="0"/>
            <a:chExt cx="2871008"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a:grpSpLocks noChangeAspect="true"/>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27646" y="1128415"/>
            <a:ext cx="9574709" cy="1473200"/>
          </a:xfrm>
          <a:prstGeom prst="rect">
            <a:avLst/>
          </a:prstGeom>
        </p:spPr>
        <p:txBody>
          <a:bodyPr anchor="t" rtlCol="false" tIns="0" lIns="0" bIns="0" rIns="0">
            <a:spAutoFit/>
          </a:bodyPr>
          <a:lstStyle/>
          <a:p>
            <a:pPr algn="l">
              <a:lnSpc>
                <a:spcPts val="5875"/>
              </a:lnSpc>
            </a:pPr>
            <a:r>
              <a:rPr lang="en-US" sz="4687">
                <a:solidFill>
                  <a:srgbClr val="EDE9DD"/>
                </a:solidFill>
                <a:latin typeface="Anton"/>
                <a:ea typeface="Anton"/>
                <a:cs typeface="Anton"/>
                <a:sym typeface="Anton"/>
              </a:rPr>
              <a:t>Challenges in Combating Insurance Fraud</a:t>
            </a:r>
          </a:p>
        </p:txBody>
      </p:sp>
      <p:grpSp>
        <p:nvGrpSpPr>
          <p:cNvPr name="Group 11" id="11"/>
          <p:cNvGrpSpPr/>
          <p:nvPr/>
        </p:nvGrpSpPr>
        <p:grpSpPr>
          <a:xfrm rot="0">
            <a:off x="913359" y="3036838"/>
            <a:ext cx="4683324" cy="3138934"/>
            <a:chOff x="0" y="0"/>
            <a:chExt cx="6244432" cy="4185245"/>
          </a:xfrm>
        </p:grpSpPr>
        <p:sp>
          <p:nvSpPr>
            <p:cNvPr name="Freeform 12" id="12"/>
            <p:cNvSpPr/>
            <p:nvPr/>
          </p:nvSpPr>
          <p:spPr>
            <a:xfrm flipH="false" flipV="false" rot="0">
              <a:off x="19050" y="19050"/>
              <a:ext cx="6206236" cy="4147185"/>
            </a:xfrm>
            <a:custGeom>
              <a:avLst/>
              <a:gdLst/>
              <a:ahLst/>
              <a:cxnLst/>
              <a:rect r="r" b="b" t="t" l="l"/>
              <a:pathLst>
                <a:path h="4147185" w="6206236">
                  <a:moveTo>
                    <a:pt x="0" y="182880"/>
                  </a:moveTo>
                  <a:cubicBezTo>
                    <a:pt x="0" y="81915"/>
                    <a:pt x="82169" y="0"/>
                    <a:pt x="183388" y="0"/>
                  </a:cubicBezTo>
                  <a:lnTo>
                    <a:pt x="6022848" y="0"/>
                  </a:lnTo>
                  <a:cubicBezTo>
                    <a:pt x="6124194" y="0"/>
                    <a:pt x="6206236" y="81915"/>
                    <a:pt x="6206236" y="182880"/>
                  </a:cubicBezTo>
                  <a:lnTo>
                    <a:pt x="6206236" y="3964305"/>
                  </a:lnTo>
                  <a:cubicBezTo>
                    <a:pt x="6206236" y="4065270"/>
                    <a:pt x="6124067" y="4147185"/>
                    <a:pt x="6022848" y="4147185"/>
                  </a:cubicBezTo>
                  <a:lnTo>
                    <a:pt x="183388" y="4147185"/>
                  </a:lnTo>
                  <a:cubicBezTo>
                    <a:pt x="82042" y="4147185"/>
                    <a:pt x="0" y="4065270"/>
                    <a:pt x="0" y="3964305"/>
                  </a:cubicBezTo>
                  <a:close/>
                </a:path>
              </a:pathLst>
            </a:custGeom>
            <a:solidFill>
              <a:srgbClr val="D8849E"/>
            </a:solidFill>
          </p:spPr>
        </p:sp>
        <p:sp>
          <p:nvSpPr>
            <p:cNvPr name="Freeform 13" id="13"/>
            <p:cNvSpPr/>
            <p:nvPr/>
          </p:nvSpPr>
          <p:spPr>
            <a:xfrm flipH="false" flipV="false" rot="0">
              <a:off x="0" y="0"/>
              <a:ext cx="6244336" cy="4185285"/>
            </a:xfrm>
            <a:custGeom>
              <a:avLst/>
              <a:gdLst/>
              <a:ahLst/>
              <a:cxnLst/>
              <a:rect r="r" b="b" t="t" l="l"/>
              <a:pathLst>
                <a:path h="4185285" w="6244336">
                  <a:moveTo>
                    <a:pt x="0" y="201930"/>
                  </a:moveTo>
                  <a:cubicBezTo>
                    <a:pt x="0" y="90297"/>
                    <a:pt x="90678" y="0"/>
                    <a:pt x="202438" y="0"/>
                  </a:cubicBezTo>
                  <a:lnTo>
                    <a:pt x="6041898" y="0"/>
                  </a:lnTo>
                  <a:lnTo>
                    <a:pt x="6041898" y="19050"/>
                  </a:lnTo>
                  <a:lnTo>
                    <a:pt x="6041898" y="0"/>
                  </a:lnTo>
                  <a:cubicBezTo>
                    <a:pt x="6153658" y="0"/>
                    <a:pt x="6244336" y="90297"/>
                    <a:pt x="6244336" y="201930"/>
                  </a:cubicBezTo>
                  <a:lnTo>
                    <a:pt x="6225286" y="201930"/>
                  </a:lnTo>
                  <a:lnTo>
                    <a:pt x="6244336" y="201930"/>
                  </a:lnTo>
                  <a:lnTo>
                    <a:pt x="6244336" y="3983355"/>
                  </a:lnTo>
                  <a:lnTo>
                    <a:pt x="6225286" y="3983355"/>
                  </a:lnTo>
                  <a:lnTo>
                    <a:pt x="6244336" y="3983355"/>
                  </a:lnTo>
                  <a:cubicBezTo>
                    <a:pt x="6244336" y="4094988"/>
                    <a:pt x="6153658" y="4185285"/>
                    <a:pt x="6041898" y="4185285"/>
                  </a:cubicBezTo>
                  <a:lnTo>
                    <a:pt x="6041898" y="4166235"/>
                  </a:lnTo>
                  <a:lnTo>
                    <a:pt x="6041898" y="4185285"/>
                  </a:lnTo>
                  <a:lnTo>
                    <a:pt x="202438" y="4185285"/>
                  </a:lnTo>
                  <a:lnTo>
                    <a:pt x="202438" y="4166235"/>
                  </a:lnTo>
                  <a:lnTo>
                    <a:pt x="202438" y="4185285"/>
                  </a:lnTo>
                  <a:cubicBezTo>
                    <a:pt x="90678" y="4185285"/>
                    <a:pt x="0" y="4094988"/>
                    <a:pt x="0" y="3983355"/>
                  </a:cubicBezTo>
                  <a:lnTo>
                    <a:pt x="0" y="201930"/>
                  </a:lnTo>
                  <a:lnTo>
                    <a:pt x="19050" y="201930"/>
                  </a:lnTo>
                  <a:lnTo>
                    <a:pt x="0" y="201930"/>
                  </a:lnTo>
                  <a:moveTo>
                    <a:pt x="38100" y="201930"/>
                  </a:moveTo>
                  <a:lnTo>
                    <a:pt x="38100" y="3983355"/>
                  </a:lnTo>
                  <a:lnTo>
                    <a:pt x="19050" y="3983355"/>
                  </a:lnTo>
                  <a:lnTo>
                    <a:pt x="38100" y="3983355"/>
                  </a:lnTo>
                  <a:cubicBezTo>
                    <a:pt x="38100" y="4073779"/>
                    <a:pt x="111633" y="4147185"/>
                    <a:pt x="202438" y="4147185"/>
                  </a:cubicBezTo>
                  <a:lnTo>
                    <a:pt x="6041898" y="4147185"/>
                  </a:lnTo>
                  <a:cubicBezTo>
                    <a:pt x="6132703" y="4147185"/>
                    <a:pt x="6206236" y="4073779"/>
                    <a:pt x="6206236" y="3983355"/>
                  </a:cubicBezTo>
                  <a:lnTo>
                    <a:pt x="6206236" y="201930"/>
                  </a:lnTo>
                  <a:cubicBezTo>
                    <a:pt x="6206236" y="111506"/>
                    <a:pt x="6132703" y="38100"/>
                    <a:pt x="6041898" y="38100"/>
                  </a:cubicBezTo>
                  <a:lnTo>
                    <a:pt x="202438" y="38100"/>
                  </a:lnTo>
                  <a:lnTo>
                    <a:pt x="202438" y="19050"/>
                  </a:lnTo>
                  <a:lnTo>
                    <a:pt x="202438" y="38100"/>
                  </a:lnTo>
                  <a:cubicBezTo>
                    <a:pt x="111633" y="38100"/>
                    <a:pt x="38100" y="111506"/>
                    <a:pt x="38100" y="201930"/>
                  </a:cubicBezTo>
                  <a:close/>
                </a:path>
              </a:pathLst>
            </a:custGeom>
            <a:solidFill>
              <a:srgbClr val="544013"/>
            </a:solidFill>
          </p:spPr>
        </p:sp>
      </p:grpSp>
      <p:grpSp>
        <p:nvGrpSpPr>
          <p:cNvPr name="Group 14" id="14"/>
          <p:cNvGrpSpPr/>
          <p:nvPr/>
        </p:nvGrpSpPr>
        <p:grpSpPr>
          <a:xfrm rot="0">
            <a:off x="899071" y="3051125"/>
            <a:ext cx="114300" cy="3110359"/>
            <a:chOff x="0" y="0"/>
            <a:chExt cx="152400" cy="4147145"/>
          </a:xfrm>
        </p:grpSpPr>
        <p:sp>
          <p:nvSpPr>
            <p:cNvPr name="Freeform 15" id="15"/>
            <p:cNvSpPr/>
            <p:nvPr/>
          </p:nvSpPr>
          <p:spPr>
            <a:xfrm flipH="false" flipV="false" rot="0">
              <a:off x="0" y="0"/>
              <a:ext cx="152400" cy="4147058"/>
            </a:xfrm>
            <a:custGeom>
              <a:avLst/>
              <a:gdLst/>
              <a:ahLst/>
              <a:cxnLst/>
              <a:rect r="r" b="b" t="t" l="l"/>
              <a:pathLst>
                <a:path h="4147058" w="152400">
                  <a:moveTo>
                    <a:pt x="0" y="52959"/>
                  </a:moveTo>
                  <a:cubicBezTo>
                    <a:pt x="0" y="23749"/>
                    <a:pt x="23749" y="0"/>
                    <a:pt x="52959" y="0"/>
                  </a:cubicBezTo>
                  <a:lnTo>
                    <a:pt x="99441" y="0"/>
                  </a:lnTo>
                  <a:cubicBezTo>
                    <a:pt x="128651" y="0"/>
                    <a:pt x="152400" y="23749"/>
                    <a:pt x="152400" y="52959"/>
                  </a:cubicBezTo>
                  <a:lnTo>
                    <a:pt x="152400" y="4094099"/>
                  </a:lnTo>
                  <a:cubicBezTo>
                    <a:pt x="152400" y="4123436"/>
                    <a:pt x="128651" y="4147058"/>
                    <a:pt x="99441" y="4147058"/>
                  </a:cubicBezTo>
                  <a:lnTo>
                    <a:pt x="52959" y="4147058"/>
                  </a:lnTo>
                  <a:cubicBezTo>
                    <a:pt x="23622" y="4147058"/>
                    <a:pt x="0" y="4123309"/>
                    <a:pt x="0" y="4094099"/>
                  </a:cubicBezTo>
                  <a:close/>
                </a:path>
              </a:pathLst>
            </a:custGeom>
            <a:solidFill>
              <a:srgbClr val="544013"/>
            </a:solidFill>
          </p:spPr>
        </p:sp>
      </p:grpSp>
      <p:sp>
        <p:nvSpPr>
          <p:cNvPr name="TextBox 16" id="16"/>
          <p:cNvSpPr txBox="true"/>
          <p:nvPr/>
        </p:nvSpPr>
        <p:spPr>
          <a:xfrm rot="0">
            <a:off x="1307009" y="3335239"/>
            <a:ext cx="3601641" cy="368995"/>
          </a:xfrm>
          <a:prstGeom prst="rect">
            <a:avLst/>
          </a:prstGeom>
        </p:spPr>
        <p:txBody>
          <a:bodyPr anchor="t" rtlCol="false" tIns="0" lIns="0" bIns="0" rIns="0">
            <a:spAutoFit/>
          </a:bodyPr>
          <a:lstStyle/>
          <a:p>
            <a:pPr algn="l">
              <a:lnSpc>
                <a:spcPts val="3064"/>
              </a:lnSpc>
            </a:pPr>
            <a:r>
              <a:rPr lang="en-US" b="true" sz="2412" spc="-36">
                <a:solidFill>
                  <a:srgbClr val="EDE9DD"/>
                </a:solidFill>
                <a:latin typeface="Prompt Semi-Bold"/>
                <a:ea typeface="Prompt Semi-Bold"/>
                <a:cs typeface="Prompt Semi-Bold"/>
                <a:sym typeface="Prompt Semi-Bold"/>
              </a:rPr>
              <a:t>Sophistication &amp; Crime</a:t>
            </a:r>
          </a:p>
        </p:txBody>
      </p:sp>
      <p:sp>
        <p:nvSpPr>
          <p:cNvPr name="TextBox 17" id="17"/>
          <p:cNvSpPr txBox="true"/>
          <p:nvPr/>
        </p:nvSpPr>
        <p:spPr>
          <a:xfrm rot="0">
            <a:off x="1307009" y="3823098"/>
            <a:ext cx="3981748" cy="2151701"/>
          </a:xfrm>
          <a:prstGeom prst="rect">
            <a:avLst/>
          </a:prstGeom>
        </p:spPr>
        <p:txBody>
          <a:bodyPr anchor="t" rtlCol="false" tIns="0" lIns="0" bIns="0" rIns="0">
            <a:spAutoFit/>
          </a:bodyPr>
          <a:lstStyle/>
          <a:p>
            <a:pPr algn="l">
              <a:lnSpc>
                <a:spcPts val="2920"/>
              </a:lnSpc>
            </a:pPr>
            <a:r>
              <a:rPr lang="en-US" sz="1927" spc="-28">
                <a:solidFill>
                  <a:srgbClr val="EDE9DD"/>
                </a:solidFill>
                <a:latin typeface="Prompt"/>
                <a:ea typeface="Prompt"/>
                <a:cs typeface="Prompt"/>
                <a:sym typeface="Prompt"/>
              </a:rPr>
              <a:t>Organized crime networks employ elaborate schemes that evolve faster than detection methods, utilizing technology to mask origins and coordinating across regions</a:t>
            </a:r>
          </a:p>
        </p:txBody>
      </p:sp>
      <p:grpSp>
        <p:nvGrpSpPr>
          <p:cNvPr name="Group 18" id="18"/>
          <p:cNvGrpSpPr/>
          <p:nvPr/>
        </p:nvGrpSpPr>
        <p:grpSpPr>
          <a:xfrm rot="0">
            <a:off x="5833170" y="3036838"/>
            <a:ext cx="4683473" cy="3138934"/>
            <a:chOff x="0" y="0"/>
            <a:chExt cx="6244630" cy="4185245"/>
          </a:xfrm>
        </p:grpSpPr>
        <p:sp>
          <p:nvSpPr>
            <p:cNvPr name="Freeform 19" id="19"/>
            <p:cNvSpPr/>
            <p:nvPr/>
          </p:nvSpPr>
          <p:spPr>
            <a:xfrm flipH="false" flipV="false" rot="0">
              <a:off x="19050" y="19050"/>
              <a:ext cx="6206490" cy="4147185"/>
            </a:xfrm>
            <a:custGeom>
              <a:avLst/>
              <a:gdLst/>
              <a:ahLst/>
              <a:cxnLst/>
              <a:rect r="r" b="b" t="t" l="l"/>
              <a:pathLst>
                <a:path h="4147185" w="6206490">
                  <a:moveTo>
                    <a:pt x="0" y="182880"/>
                  </a:moveTo>
                  <a:cubicBezTo>
                    <a:pt x="0" y="81915"/>
                    <a:pt x="82169" y="0"/>
                    <a:pt x="183388" y="0"/>
                  </a:cubicBezTo>
                  <a:lnTo>
                    <a:pt x="6023102" y="0"/>
                  </a:lnTo>
                  <a:cubicBezTo>
                    <a:pt x="6124448" y="0"/>
                    <a:pt x="6206490" y="81915"/>
                    <a:pt x="6206490" y="182880"/>
                  </a:cubicBezTo>
                  <a:lnTo>
                    <a:pt x="6206490" y="3964305"/>
                  </a:lnTo>
                  <a:cubicBezTo>
                    <a:pt x="6206490" y="4065270"/>
                    <a:pt x="6124321" y="4147185"/>
                    <a:pt x="6023102" y="4147185"/>
                  </a:cubicBezTo>
                  <a:lnTo>
                    <a:pt x="183388" y="4147185"/>
                  </a:lnTo>
                  <a:cubicBezTo>
                    <a:pt x="82042" y="4147185"/>
                    <a:pt x="0" y="4065270"/>
                    <a:pt x="0" y="3964305"/>
                  </a:cubicBezTo>
                  <a:close/>
                </a:path>
              </a:pathLst>
            </a:custGeom>
            <a:solidFill>
              <a:srgbClr val="D8849E"/>
            </a:solidFill>
          </p:spPr>
        </p:sp>
        <p:sp>
          <p:nvSpPr>
            <p:cNvPr name="Freeform 20" id="20"/>
            <p:cNvSpPr/>
            <p:nvPr/>
          </p:nvSpPr>
          <p:spPr>
            <a:xfrm flipH="false" flipV="false" rot="0">
              <a:off x="0" y="0"/>
              <a:ext cx="6244590" cy="4185285"/>
            </a:xfrm>
            <a:custGeom>
              <a:avLst/>
              <a:gdLst/>
              <a:ahLst/>
              <a:cxnLst/>
              <a:rect r="r" b="b" t="t" l="l"/>
              <a:pathLst>
                <a:path h="4185285" w="6244590">
                  <a:moveTo>
                    <a:pt x="0" y="201930"/>
                  </a:moveTo>
                  <a:cubicBezTo>
                    <a:pt x="0" y="90297"/>
                    <a:pt x="90678" y="0"/>
                    <a:pt x="202438" y="0"/>
                  </a:cubicBezTo>
                  <a:lnTo>
                    <a:pt x="6042152" y="0"/>
                  </a:lnTo>
                  <a:lnTo>
                    <a:pt x="6042152" y="19050"/>
                  </a:lnTo>
                  <a:lnTo>
                    <a:pt x="6042152" y="0"/>
                  </a:lnTo>
                  <a:cubicBezTo>
                    <a:pt x="6153912" y="0"/>
                    <a:pt x="6244590" y="90297"/>
                    <a:pt x="6244590" y="201930"/>
                  </a:cubicBezTo>
                  <a:lnTo>
                    <a:pt x="6225540" y="201930"/>
                  </a:lnTo>
                  <a:lnTo>
                    <a:pt x="6244590" y="201930"/>
                  </a:lnTo>
                  <a:lnTo>
                    <a:pt x="6244590" y="3983355"/>
                  </a:lnTo>
                  <a:lnTo>
                    <a:pt x="6225540" y="3983355"/>
                  </a:lnTo>
                  <a:lnTo>
                    <a:pt x="6244590" y="3983355"/>
                  </a:lnTo>
                  <a:cubicBezTo>
                    <a:pt x="6244590" y="4094988"/>
                    <a:pt x="6153912" y="4185285"/>
                    <a:pt x="6042152" y="4185285"/>
                  </a:cubicBezTo>
                  <a:lnTo>
                    <a:pt x="6042152" y="4166235"/>
                  </a:lnTo>
                  <a:lnTo>
                    <a:pt x="6042152" y="4185285"/>
                  </a:lnTo>
                  <a:lnTo>
                    <a:pt x="202438" y="4185285"/>
                  </a:lnTo>
                  <a:lnTo>
                    <a:pt x="202438" y="4166235"/>
                  </a:lnTo>
                  <a:lnTo>
                    <a:pt x="202438" y="4185285"/>
                  </a:lnTo>
                  <a:cubicBezTo>
                    <a:pt x="90678" y="4185285"/>
                    <a:pt x="0" y="4094988"/>
                    <a:pt x="0" y="3983355"/>
                  </a:cubicBezTo>
                  <a:lnTo>
                    <a:pt x="0" y="201930"/>
                  </a:lnTo>
                  <a:lnTo>
                    <a:pt x="19050" y="201930"/>
                  </a:lnTo>
                  <a:lnTo>
                    <a:pt x="0" y="201930"/>
                  </a:lnTo>
                  <a:moveTo>
                    <a:pt x="38100" y="201930"/>
                  </a:moveTo>
                  <a:lnTo>
                    <a:pt x="38100" y="3983355"/>
                  </a:lnTo>
                  <a:lnTo>
                    <a:pt x="19050" y="3983355"/>
                  </a:lnTo>
                  <a:lnTo>
                    <a:pt x="38100" y="3983355"/>
                  </a:lnTo>
                  <a:cubicBezTo>
                    <a:pt x="38100" y="4073779"/>
                    <a:pt x="111633" y="4147185"/>
                    <a:pt x="202438" y="4147185"/>
                  </a:cubicBezTo>
                  <a:lnTo>
                    <a:pt x="6042152" y="4147185"/>
                  </a:lnTo>
                  <a:cubicBezTo>
                    <a:pt x="6132957" y="4147185"/>
                    <a:pt x="6206490" y="4073779"/>
                    <a:pt x="6206490" y="3983355"/>
                  </a:cubicBezTo>
                  <a:lnTo>
                    <a:pt x="6206490" y="201930"/>
                  </a:lnTo>
                  <a:cubicBezTo>
                    <a:pt x="6206490" y="111506"/>
                    <a:pt x="6132957" y="38100"/>
                    <a:pt x="6042152" y="38100"/>
                  </a:cubicBezTo>
                  <a:lnTo>
                    <a:pt x="202438" y="38100"/>
                  </a:lnTo>
                  <a:lnTo>
                    <a:pt x="202438" y="19050"/>
                  </a:lnTo>
                  <a:lnTo>
                    <a:pt x="202438" y="38100"/>
                  </a:lnTo>
                  <a:cubicBezTo>
                    <a:pt x="111633" y="38100"/>
                    <a:pt x="38100" y="111506"/>
                    <a:pt x="38100" y="201930"/>
                  </a:cubicBezTo>
                  <a:close/>
                </a:path>
              </a:pathLst>
            </a:custGeom>
            <a:solidFill>
              <a:srgbClr val="544013"/>
            </a:solidFill>
          </p:spPr>
        </p:sp>
      </p:grpSp>
      <p:grpSp>
        <p:nvGrpSpPr>
          <p:cNvPr name="Group 21" id="21"/>
          <p:cNvGrpSpPr/>
          <p:nvPr/>
        </p:nvGrpSpPr>
        <p:grpSpPr>
          <a:xfrm rot="0">
            <a:off x="5818882" y="3051125"/>
            <a:ext cx="114300" cy="3110359"/>
            <a:chOff x="0" y="0"/>
            <a:chExt cx="152400" cy="4147145"/>
          </a:xfrm>
        </p:grpSpPr>
        <p:sp>
          <p:nvSpPr>
            <p:cNvPr name="Freeform 22" id="22"/>
            <p:cNvSpPr/>
            <p:nvPr/>
          </p:nvSpPr>
          <p:spPr>
            <a:xfrm flipH="false" flipV="false" rot="0">
              <a:off x="0" y="0"/>
              <a:ext cx="152400" cy="4147058"/>
            </a:xfrm>
            <a:custGeom>
              <a:avLst/>
              <a:gdLst/>
              <a:ahLst/>
              <a:cxnLst/>
              <a:rect r="r" b="b" t="t" l="l"/>
              <a:pathLst>
                <a:path h="4147058" w="152400">
                  <a:moveTo>
                    <a:pt x="0" y="52959"/>
                  </a:moveTo>
                  <a:cubicBezTo>
                    <a:pt x="0" y="23749"/>
                    <a:pt x="23749" y="0"/>
                    <a:pt x="52959" y="0"/>
                  </a:cubicBezTo>
                  <a:lnTo>
                    <a:pt x="99441" y="0"/>
                  </a:lnTo>
                  <a:cubicBezTo>
                    <a:pt x="128651" y="0"/>
                    <a:pt x="152400" y="23749"/>
                    <a:pt x="152400" y="52959"/>
                  </a:cubicBezTo>
                  <a:lnTo>
                    <a:pt x="152400" y="4094099"/>
                  </a:lnTo>
                  <a:cubicBezTo>
                    <a:pt x="152400" y="4123436"/>
                    <a:pt x="128651" y="4147058"/>
                    <a:pt x="99441" y="4147058"/>
                  </a:cubicBezTo>
                  <a:lnTo>
                    <a:pt x="52959" y="4147058"/>
                  </a:lnTo>
                  <a:cubicBezTo>
                    <a:pt x="23622" y="4147058"/>
                    <a:pt x="0" y="4123309"/>
                    <a:pt x="0" y="4094099"/>
                  </a:cubicBezTo>
                  <a:close/>
                </a:path>
              </a:pathLst>
            </a:custGeom>
            <a:solidFill>
              <a:srgbClr val="544013"/>
            </a:solidFill>
          </p:spPr>
        </p:sp>
      </p:grpSp>
      <p:sp>
        <p:nvSpPr>
          <p:cNvPr name="TextBox 23" id="23"/>
          <p:cNvSpPr txBox="true"/>
          <p:nvPr/>
        </p:nvSpPr>
        <p:spPr>
          <a:xfrm rot="0">
            <a:off x="6226820" y="3335239"/>
            <a:ext cx="3012132" cy="368995"/>
          </a:xfrm>
          <a:prstGeom prst="rect">
            <a:avLst/>
          </a:prstGeom>
        </p:spPr>
        <p:txBody>
          <a:bodyPr anchor="t" rtlCol="false" tIns="0" lIns="0" bIns="0" rIns="0">
            <a:spAutoFit/>
          </a:bodyPr>
          <a:lstStyle/>
          <a:p>
            <a:pPr algn="l">
              <a:lnSpc>
                <a:spcPts val="3064"/>
              </a:lnSpc>
            </a:pPr>
            <a:r>
              <a:rPr lang="en-US" b="true" sz="2412" spc="-36">
                <a:solidFill>
                  <a:srgbClr val="EDE9DD"/>
                </a:solidFill>
                <a:latin typeface="Prompt Semi-Bold"/>
                <a:ea typeface="Prompt Semi-Bold"/>
                <a:cs typeface="Prompt Semi-Bold"/>
                <a:sym typeface="Prompt Semi-Bold"/>
              </a:rPr>
              <a:t>Jurisdictional Gaps</a:t>
            </a:r>
          </a:p>
        </p:txBody>
      </p:sp>
      <p:sp>
        <p:nvSpPr>
          <p:cNvPr name="TextBox 24" id="24"/>
          <p:cNvSpPr txBox="true"/>
          <p:nvPr/>
        </p:nvSpPr>
        <p:spPr>
          <a:xfrm rot="0">
            <a:off x="6226820" y="3813572"/>
            <a:ext cx="3981896" cy="2326884"/>
          </a:xfrm>
          <a:prstGeom prst="rect">
            <a:avLst/>
          </a:prstGeom>
        </p:spPr>
        <p:txBody>
          <a:bodyPr anchor="t" rtlCol="false" tIns="0" lIns="0" bIns="0" rIns="0">
            <a:spAutoFit/>
          </a:bodyPr>
          <a:lstStyle/>
          <a:p>
            <a:pPr algn="l">
              <a:lnSpc>
                <a:spcPts val="3139"/>
              </a:lnSpc>
            </a:pPr>
            <a:r>
              <a:rPr lang="en-US" sz="2072" spc="-31">
                <a:solidFill>
                  <a:srgbClr val="EDE9DD"/>
                </a:solidFill>
                <a:latin typeface="Prompt"/>
                <a:ea typeface="Prompt"/>
                <a:cs typeface="Prompt"/>
                <a:sym typeface="Prompt"/>
              </a:rPr>
              <a:t>Interstate fraud and "title washing" create enforcement blind spots where state agencies lack authority to pursue perpetrators across borders</a:t>
            </a:r>
          </a:p>
        </p:txBody>
      </p:sp>
      <p:grpSp>
        <p:nvGrpSpPr>
          <p:cNvPr name="Group 25" id="25"/>
          <p:cNvGrpSpPr/>
          <p:nvPr/>
        </p:nvGrpSpPr>
        <p:grpSpPr>
          <a:xfrm rot="0">
            <a:off x="913359" y="6412260"/>
            <a:ext cx="4683324" cy="2741414"/>
            <a:chOff x="0" y="0"/>
            <a:chExt cx="6244432" cy="3655218"/>
          </a:xfrm>
        </p:grpSpPr>
        <p:sp>
          <p:nvSpPr>
            <p:cNvPr name="Freeform 26" id="26"/>
            <p:cNvSpPr/>
            <p:nvPr/>
          </p:nvSpPr>
          <p:spPr>
            <a:xfrm flipH="false" flipV="false" rot="0">
              <a:off x="19050" y="19050"/>
              <a:ext cx="6206236" cy="3617087"/>
            </a:xfrm>
            <a:custGeom>
              <a:avLst/>
              <a:gdLst/>
              <a:ahLst/>
              <a:cxnLst/>
              <a:rect r="r" b="b" t="t" l="l"/>
              <a:pathLst>
                <a:path h="3617087" w="6206236">
                  <a:moveTo>
                    <a:pt x="0" y="182880"/>
                  </a:moveTo>
                  <a:cubicBezTo>
                    <a:pt x="0" y="81915"/>
                    <a:pt x="82296" y="0"/>
                    <a:pt x="183642" y="0"/>
                  </a:cubicBezTo>
                  <a:lnTo>
                    <a:pt x="6022594" y="0"/>
                  </a:lnTo>
                  <a:cubicBezTo>
                    <a:pt x="6124067" y="0"/>
                    <a:pt x="6206236" y="81915"/>
                    <a:pt x="6206236" y="182880"/>
                  </a:cubicBezTo>
                  <a:lnTo>
                    <a:pt x="6206236" y="3434207"/>
                  </a:lnTo>
                  <a:cubicBezTo>
                    <a:pt x="6206236" y="3535172"/>
                    <a:pt x="6123940" y="3617087"/>
                    <a:pt x="6022594" y="3617087"/>
                  </a:cubicBezTo>
                  <a:lnTo>
                    <a:pt x="183642" y="3617087"/>
                  </a:lnTo>
                  <a:cubicBezTo>
                    <a:pt x="82169" y="3617087"/>
                    <a:pt x="0" y="3535172"/>
                    <a:pt x="0" y="3434207"/>
                  </a:cubicBezTo>
                  <a:close/>
                </a:path>
              </a:pathLst>
            </a:custGeom>
            <a:solidFill>
              <a:srgbClr val="D8849E"/>
            </a:solidFill>
          </p:spPr>
        </p:sp>
        <p:sp>
          <p:nvSpPr>
            <p:cNvPr name="Freeform 27" id="27"/>
            <p:cNvSpPr/>
            <p:nvPr/>
          </p:nvSpPr>
          <p:spPr>
            <a:xfrm flipH="false" flipV="false" rot="0">
              <a:off x="0" y="0"/>
              <a:ext cx="6244336" cy="3655187"/>
            </a:xfrm>
            <a:custGeom>
              <a:avLst/>
              <a:gdLst/>
              <a:ahLst/>
              <a:cxnLst/>
              <a:rect r="r" b="b" t="t" l="l"/>
              <a:pathLst>
                <a:path h="3655187" w="6244336">
                  <a:moveTo>
                    <a:pt x="0" y="201930"/>
                  </a:moveTo>
                  <a:cubicBezTo>
                    <a:pt x="0" y="90297"/>
                    <a:pt x="90805" y="0"/>
                    <a:pt x="202692" y="0"/>
                  </a:cubicBezTo>
                  <a:lnTo>
                    <a:pt x="6041644" y="0"/>
                  </a:lnTo>
                  <a:lnTo>
                    <a:pt x="6041644" y="19050"/>
                  </a:lnTo>
                  <a:lnTo>
                    <a:pt x="6041644" y="0"/>
                  </a:lnTo>
                  <a:cubicBezTo>
                    <a:pt x="6153531" y="0"/>
                    <a:pt x="6244336" y="90297"/>
                    <a:pt x="6244336" y="201930"/>
                  </a:cubicBezTo>
                  <a:lnTo>
                    <a:pt x="6225286" y="201930"/>
                  </a:lnTo>
                  <a:lnTo>
                    <a:pt x="6244336" y="201930"/>
                  </a:lnTo>
                  <a:lnTo>
                    <a:pt x="6244336" y="3453257"/>
                  </a:lnTo>
                  <a:lnTo>
                    <a:pt x="6225286" y="3453257"/>
                  </a:lnTo>
                  <a:lnTo>
                    <a:pt x="6244336" y="3453257"/>
                  </a:lnTo>
                  <a:cubicBezTo>
                    <a:pt x="6244336" y="3564890"/>
                    <a:pt x="6153531" y="3655187"/>
                    <a:pt x="6041644" y="3655187"/>
                  </a:cubicBezTo>
                  <a:lnTo>
                    <a:pt x="6041644" y="3636137"/>
                  </a:lnTo>
                  <a:lnTo>
                    <a:pt x="6041644" y="3655187"/>
                  </a:lnTo>
                  <a:lnTo>
                    <a:pt x="202692" y="3655187"/>
                  </a:lnTo>
                  <a:lnTo>
                    <a:pt x="202692" y="3636137"/>
                  </a:lnTo>
                  <a:lnTo>
                    <a:pt x="202692" y="3655187"/>
                  </a:lnTo>
                  <a:cubicBezTo>
                    <a:pt x="90805" y="3655187"/>
                    <a:pt x="0" y="3564890"/>
                    <a:pt x="0" y="3453257"/>
                  </a:cubicBezTo>
                  <a:lnTo>
                    <a:pt x="0" y="201930"/>
                  </a:lnTo>
                  <a:lnTo>
                    <a:pt x="19050" y="201930"/>
                  </a:lnTo>
                  <a:lnTo>
                    <a:pt x="0" y="201930"/>
                  </a:lnTo>
                  <a:moveTo>
                    <a:pt x="38100" y="201930"/>
                  </a:moveTo>
                  <a:lnTo>
                    <a:pt x="38100" y="3453257"/>
                  </a:lnTo>
                  <a:lnTo>
                    <a:pt x="19050" y="3453257"/>
                  </a:lnTo>
                  <a:lnTo>
                    <a:pt x="38100" y="3453257"/>
                  </a:lnTo>
                  <a:cubicBezTo>
                    <a:pt x="38100" y="3543681"/>
                    <a:pt x="111760" y="3617087"/>
                    <a:pt x="202692" y="3617087"/>
                  </a:cubicBezTo>
                  <a:lnTo>
                    <a:pt x="6041644" y="3617087"/>
                  </a:lnTo>
                  <a:cubicBezTo>
                    <a:pt x="6132703" y="3617087"/>
                    <a:pt x="6206236" y="3543681"/>
                    <a:pt x="6206236" y="3453257"/>
                  </a:cubicBezTo>
                  <a:lnTo>
                    <a:pt x="6206236" y="201930"/>
                  </a:lnTo>
                  <a:cubicBezTo>
                    <a:pt x="6206236" y="111506"/>
                    <a:pt x="6132576" y="38100"/>
                    <a:pt x="6041644" y="38100"/>
                  </a:cubicBezTo>
                  <a:lnTo>
                    <a:pt x="202692" y="38100"/>
                  </a:lnTo>
                  <a:lnTo>
                    <a:pt x="202692" y="19050"/>
                  </a:lnTo>
                  <a:lnTo>
                    <a:pt x="202692" y="38100"/>
                  </a:lnTo>
                  <a:cubicBezTo>
                    <a:pt x="111760" y="38100"/>
                    <a:pt x="38100" y="111506"/>
                    <a:pt x="38100" y="201930"/>
                  </a:cubicBezTo>
                  <a:close/>
                </a:path>
              </a:pathLst>
            </a:custGeom>
            <a:solidFill>
              <a:srgbClr val="544013"/>
            </a:solidFill>
          </p:spPr>
        </p:sp>
      </p:grpSp>
      <p:grpSp>
        <p:nvGrpSpPr>
          <p:cNvPr name="Group 28" id="28"/>
          <p:cNvGrpSpPr/>
          <p:nvPr/>
        </p:nvGrpSpPr>
        <p:grpSpPr>
          <a:xfrm rot="0">
            <a:off x="899071" y="6426548"/>
            <a:ext cx="114300" cy="2712839"/>
            <a:chOff x="0" y="0"/>
            <a:chExt cx="152400" cy="3617118"/>
          </a:xfrm>
        </p:grpSpPr>
        <p:sp>
          <p:nvSpPr>
            <p:cNvPr name="Freeform 29" id="29"/>
            <p:cNvSpPr/>
            <p:nvPr/>
          </p:nvSpPr>
          <p:spPr>
            <a:xfrm flipH="false" flipV="false" rot="0">
              <a:off x="0" y="0"/>
              <a:ext cx="152400" cy="3617087"/>
            </a:xfrm>
            <a:custGeom>
              <a:avLst/>
              <a:gdLst/>
              <a:ahLst/>
              <a:cxnLst/>
              <a:rect r="r" b="b" t="t" l="l"/>
              <a:pathLst>
                <a:path h="3617087" w="152400">
                  <a:moveTo>
                    <a:pt x="0" y="52959"/>
                  </a:moveTo>
                  <a:cubicBezTo>
                    <a:pt x="0" y="23749"/>
                    <a:pt x="23749" y="0"/>
                    <a:pt x="52959" y="0"/>
                  </a:cubicBezTo>
                  <a:lnTo>
                    <a:pt x="99441" y="0"/>
                  </a:lnTo>
                  <a:cubicBezTo>
                    <a:pt x="128651" y="0"/>
                    <a:pt x="152400" y="23749"/>
                    <a:pt x="152400" y="52959"/>
                  </a:cubicBezTo>
                  <a:lnTo>
                    <a:pt x="152400" y="3564128"/>
                  </a:lnTo>
                  <a:cubicBezTo>
                    <a:pt x="152400" y="3593465"/>
                    <a:pt x="128651" y="3617087"/>
                    <a:pt x="99441" y="3617087"/>
                  </a:cubicBezTo>
                  <a:lnTo>
                    <a:pt x="52959" y="3617087"/>
                  </a:lnTo>
                  <a:cubicBezTo>
                    <a:pt x="23622" y="3617087"/>
                    <a:pt x="0" y="3593338"/>
                    <a:pt x="0" y="3564128"/>
                  </a:cubicBezTo>
                  <a:close/>
                </a:path>
              </a:pathLst>
            </a:custGeom>
            <a:solidFill>
              <a:srgbClr val="544013"/>
            </a:solidFill>
          </p:spPr>
        </p:sp>
      </p:grpSp>
      <p:sp>
        <p:nvSpPr>
          <p:cNvPr name="TextBox 30" id="30"/>
          <p:cNvSpPr txBox="true"/>
          <p:nvPr/>
        </p:nvSpPr>
        <p:spPr>
          <a:xfrm rot="0">
            <a:off x="1307009" y="6710660"/>
            <a:ext cx="3012132" cy="368995"/>
          </a:xfrm>
          <a:prstGeom prst="rect">
            <a:avLst/>
          </a:prstGeom>
        </p:spPr>
        <p:txBody>
          <a:bodyPr anchor="t" rtlCol="false" tIns="0" lIns="0" bIns="0" rIns="0">
            <a:spAutoFit/>
          </a:bodyPr>
          <a:lstStyle/>
          <a:p>
            <a:pPr algn="l">
              <a:lnSpc>
                <a:spcPts val="3064"/>
              </a:lnSpc>
            </a:pPr>
            <a:r>
              <a:rPr lang="en-US" b="true" sz="2412" spc="-36">
                <a:solidFill>
                  <a:srgbClr val="EDE9DD"/>
                </a:solidFill>
                <a:latin typeface="Prompt Semi-Bold"/>
                <a:ea typeface="Prompt Semi-Bold"/>
                <a:cs typeface="Prompt Semi-Bold"/>
                <a:sym typeface="Prompt Semi-Bold"/>
              </a:rPr>
              <a:t>Balancing Act</a:t>
            </a:r>
          </a:p>
        </p:txBody>
      </p:sp>
      <p:sp>
        <p:nvSpPr>
          <p:cNvPr name="TextBox 31" id="31"/>
          <p:cNvSpPr txBox="true"/>
          <p:nvPr/>
        </p:nvSpPr>
        <p:spPr>
          <a:xfrm rot="0">
            <a:off x="1307009" y="7188994"/>
            <a:ext cx="3981748" cy="1892346"/>
          </a:xfrm>
          <a:prstGeom prst="rect">
            <a:avLst/>
          </a:prstGeom>
        </p:spPr>
        <p:txBody>
          <a:bodyPr anchor="t" rtlCol="false" tIns="0" lIns="0" bIns="0" rIns="0">
            <a:spAutoFit/>
          </a:bodyPr>
          <a:lstStyle/>
          <a:p>
            <a:pPr algn="l">
              <a:lnSpc>
                <a:spcPts val="3003"/>
              </a:lnSpc>
            </a:pPr>
            <a:r>
              <a:rPr lang="en-US" sz="1982" spc="-29">
                <a:solidFill>
                  <a:srgbClr val="EDE9DD"/>
                </a:solidFill>
                <a:latin typeface="Prompt"/>
                <a:ea typeface="Prompt"/>
                <a:cs typeface="Prompt"/>
                <a:sym typeface="Prompt"/>
              </a:rPr>
              <a:t>Aggressive fraud detection risks wrongfully denying legitimate claims, requiring careful calibration to protect honest policyholders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8849E"/>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423000"/>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8849E"/>
            </a:solidFill>
          </p:spPr>
        </p:sp>
      </p:grpSp>
      <p:grpSp>
        <p:nvGrpSpPr>
          <p:cNvPr name="Group 6" id="6"/>
          <p:cNvGrpSpPr>
            <a:grpSpLocks noChangeAspect="true"/>
          </p:cNvGrpSpPr>
          <p:nvPr/>
        </p:nvGrpSpPr>
        <p:grpSpPr>
          <a:xfrm rot="0">
            <a:off x="0" y="0"/>
            <a:ext cx="18288000" cy="3526780"/>
            <a:chOff x="0" y="0"/>
            <a:chExt cx="24384000" cy="4702373"/>
          </a:xfrm>
        </p:grpSpPr>
        <p:sp>
          <p:nvSpPr>
            <p:cNvPr name="Freeform 7" id="7" descr="preencoded.png"/>
            <p:cNvSpPr/>
            <p:nvPr/>
          </p:nvSpPr>
          <p:spPr>
            <a:xfrm flipH="false" flipV="false" rot="0">
              <a:off x="0" y="0"/>
              <a:ext cx="24384000" cy="4702429"/>
            </a:xfrm>
            <a:custGeom>
              <a:avLst/>
              <a:gdLst/>
              <a:ahLst/>
              <a:cxnLst/>
              <a:rect r="r" b="b" t="t" l="l"/>
              <a:pathLst>
                <a:path h="4702429" w="24384000">
                  <a:moveTo>
                    <a:pt x="0" y="0"/>
                  </a:moveTo>
                  <a:lnTo>
                    <a:pt x="24384000" y="0"/>
                  </a:lnTo>
                  <a:lnTo>
                    <a:pt x="24384000" y="4702429"/>
                  </a:lnTo>
                  <a:lnTo>
                    <a:pt x="0" y="4702429"/>
                  </a:lnTo>
                  <a:lnTo>
                    <a:pt x="0" y="0"/>
                  </a:lnTo>
                  <a:close/>
                </a:path>
              </a:pathLst>
            </a:custGeom>
            <a:blipFill>
              <a:blip r:embed="rId3"/>
              <a:stretch>
                <a:fillRect l="-35" t="0" r="-35" b="1"/>
              </a:stretch>
            </a:blipFill>
          </p:spPr>
        </p:sp>
      </p:grpSp>
      <p:sp>
        <p:nvSpPr>
          <p:cNvPr name="TextBox 8" id="8"/>
          <p:cNvSpPr txBox="true"/>
          <p:nvPr/>
        </p:nvSpPr>
        <p:spPr>
          <a:xfrm rot="0">
            <a:off x="987475" y="4442371"/>
            <a:ext cx="10204698" cy="787400"/>
          </a:xfrm>
          <a:prstGeom prst="rect">
            <a:avLst/>
          </a:prstGeom>
        </p:spPr>
        <p:txBody>
          <a:bodyPr anchor="t" rtlCol="false" tIns="0" lIns="0" bIns="0" rIns="0">
            <a:spAutoFit/>
          </a:bodyPr>
          <a:lstStyle/>
          <a:p>
            <a:pPr algn="l">
              <a:lnSpc>
                <a:spcPts val="6250"/>
              </a:lnSpc>
            </a:pPr>
            <a:r>
              <a:rPr lang="en-US" sz="5000">
                <a:solidFill>
                  <a:srgbClr val="544013"/>
                </a:solidFill>
                <a:latin typeface="Anton"/>
                <a:ea typeface="Anton"/>
                <a:cs typeface="Anton"/>
                <a:sym typeface="Anton"/>
              </a:rPr>
              <a:t>Why We Must All Stay Vigilant</a:t>
            </a:r>
          </a:p>
        </p:txBody>
      </p:sp>
      <p:grpSp>
        <p:nvGrpSpPr>
          <p:cNvPr name="Group 9" id="9"/>
          <p:cNvGrpSpPr/>
          <p:nvPr/>
        </p:nvGrpSpPr>
        <p:grpSpPr>
          <a:xfrm rot="0">
            <a:off x="987475" y="5695652"/>
            <a:ext cx="16313051" cy="1980456"/>
            <a:chOff x="0" y="0"/>
            <a:chExt cx="21750735" cy="2640608"/>
          </a:xfrm>
        </p:grpSpPr>
        <p:sp>
          <p:nvSpPr>
            <p:cNvPr name="Freeform 10" id="10"/>
            <p:cNvSpPr/>
            <p:nvPr/>
          </p:nvSpPr>
          <p:spPr>
            <a:xfrm flipH="false" flipV="false" rot="0">
              <a:off x="0" y="0"/>
              <a:ext cx="21750655" cy="2640584"/>
            </a:xfrm>
            <a:custGeom>
              <a:avLst/>
              <a:gdLst/>
              <a:ahLst/>
              <a:cxnLst/>
              <a:rect r="r" b="b" t="t" l="l"/>
              <a:pathLst>
                <a:path h="2640584" w="21750655">
                  <a:moveTo>
                    <a:pt x="0" y="56388"/>
                  </a:moveTo>
                  <a:cubicBezTo>
                    <a:pt x="0" y="25273"/>
                    <a:pt x="25273" y="0"/>
                    <a:pt x="56388" y="0"/>
                  </a:cubicBezTo>
                  <a:lnTo>
                    <a:pt x="21694267" y="0"/>
                  </a:lnTo>
                  <a:cubicBezTo>
                    <a:pt x="21725381" y="0"/>
                    <a:pt x="21750655" y="25273"/>
                    <a:pt x="21750655" y="56388"/>
                  </a:cubicBezTo>
                  <a:lnTo>
                    <a:pt x="21750655" y="2584196"/>
                  </a:lnTo>
                  <a:cubicBezTo>
                    <a:pt x="21750655" y="2615311"/>
                    <a:pt x="21725381" y="2640584"/>
                    <a:pt x="21694267" y="2640584"/>
                  </a:cubicBezTo>
                  <a:lnTo>
                    <a:pt x="56388" y="2640584"/>
                  </a:lnTo>
                  <a:cubicBezTo>
                    <a:pt x="25273" y="2640584"/>
                    <a:pt x="0" y="2615311"/>
                    <a:pt x="0" y="2584196"/>
                  </a:cubicBezTo>
                  <a:close/>
                </a:path>
              </a:pathLst>
            </a:custGeom>
            <a:solidFill>
              <a:srgbClr val="EDE9DD"/>
            </a:solidFill>
          </p:spPr>
        </p:sp>
      </p:grpSp>
      <p:grpSp>
        <p:nvGrpSpPr>
          <p:cNvPr name="Group 11" id="11"/>
          <p:cNvGrpSpPr/>
          <p:nvPr/>
        </p:nvGrpSpPr>
        <p:grpSpPr>
          <a:xfrm rot="0">
            <a:off x="987475" y="5695652"/>
            <a:ext cx="5437585" cy="1980456"/>
            <a:chOff x="0" y="0"/>
            <a:chExt cx="7250113" cy="2640608"/>
          </a:xfrm>
        </p:grpSpPr>
        <p:sp>
          <p:nvSpPr>
            <p:cNvPr name="Freeform 12" id="12"/>
            <p:cNvSpPr/>
            <p:nvPr/>
          </p:nvSpPr>
          <p:spPr>
            <a:xfrm flipH="false" flipV="false" rot="0">
              <a:off x="0" y="0"/>
              <a:ext cx="7250049" cy="2640584"/>
            </a:xfrm>
            <a:custGeom>
              <a:avLst/>
              <a:gdLst/>
              <a:ahLst/>
              <a:cxnLst/>
              <a:rect r="r" b="b" t="t" l="l"/>
              <a:pathLst>
                <a:path h="2640584" w="7250049">
                  <a:moveTo>
                    <a:pt x="0" y="56388"/>
                  </a:moveTo>
                  <a:cubicBezTo>
                    <a:pt x="0" y="25273"/>
                    <a:pt x="25273" y="0"/>
                    <a:pt x="56388" y="0"/>
                  </a:cubicBezTo>
                  <a:lnTo>
                    <a:pt x="7193661" y="0"/>
                  </a:lnTo>
                  <a:cubicBezTo>
                    <a:pt x="7224776" y="0"/>
                    <a:pt x="7250049" y="25273"/>
                    <a:pt x="7250049" y="56388"/>
                  </a:cubicBezTo>
                  <a:lnTo>
                    <a:pt x="7250049" y="2584196"/>
                  </a:lnTo>
                  <a:cubicBezTo>
                    <a:pt x="7250049" y="2615311"/>
                    <a:pt x="7224776" y="2640584"/>
                    <a:pt x="7193661" y="2640584"/>
                  </a:cubicBezTo>
                  <a:lnTo>
                    <a:pt x="56388" y="2640584"/>
                  </a:lnTo>
                  <a:cubicBezTo>
                    <a:pt x="25273" y="2640584"/>
                    <a:pt x="0" y="2615311"/>
                    <a:pt x="0" y="2584196"/>
                  </a:cubicBezTo>
                  <a:close/>
                </a:path>
              </a:pathLst>
            </a:custGeom>
            <a:solidFill>
              <a:srgbClr val="EDE9DD"/>
            </a:solidFill>
          </p:spPr>
        </p:sp>
      </p:grpSp>
      <p:sp>
        <p:nvSpPr>
          <p:cNvPr name="TextBox 13" id="13"/>
          <p:cNvSpPr txBox="true"/>
          <p:nvPr/>
        </p:nvSpPr>
        <p:spPr>
          <a:xfrm rot="0">
            <a:off x="1269504" y="5968156"/>
            <a:ext cx="3206055" cy="384175"/>
          </a:xfrm>
          <a:prstGeom prst="rect">
            <a:avLst/>
          </a:prstGeom>
        </p:spPr>
        <p:txBody>
          <a:bodyPr anchor="t" rtlCol="false" tIns="0" lIns="0" bIns="0" rIns="0">
            <a:spAutoFit/>
          </a:bodyPr>
          <a:lstStyle/>
          <a:p>
            <a:pPr algn="l">
              <a:lnSpc>
                <a:spcPts val="3124"/>
              </a:lnSpc>
            </a:pPr>
            <a:r>
              <a:rPr lang="en-US" b="true" sz="2499" spc="-37">
                <a:solidFill>
                  <a:srgbClr val="544013"/>
                </a:solidFill>
                <a:latin typeface="Prompt Semi-Bold"/>
                <a:ea typeface="Prompt Semi-Bold"/>
                <a:cs typeface="Prompt Semi-Bold"/>
                <a:sym typeface="Prompt Semi-Bold"/>
              </a:rPr>
              <a:t>Awareness</a:t>
            </a:r>
          </a:p>
        </p:txBody>
      </p:sp>
      <p:sp>
        <p:nvSpPr>
          <p:cNvPr name="TextBox 14" id="14"/>
          <p:cNvSpPr txBox="true"/>
          <p:nvPr/>
        </p:nvSpPr>
        <p:spPr>
          <a:xfrm rot="0">
            <a:off x="1269504" y="6490395"/>
            <a:ext cx="4873526" cy="738386"/>
          </a:xfrm>
          <a:prstGeom prst="rect">
            <a:avLst/>
          </a:prstGeom>
        </p:spPr>
        <p:txBody>
          <a:bodyPr anchor="t" rtlCol="false" tIns="0" lIns="0" bIns="0" rIns="0">
            <a:spAutoFit/>
          </a:bodyPr>
          <a:lstStyle/>
          <a:p>
            <a:pPr algn="l">
              <a:lnSpc>
                <a:spcPts val="3064"/>
              </a:lnSpc>
            </a:pPr>
            <a:r>
              <a:rPr lang="en-US" sz="2023" spc="-30">
                <a:solidFill>
                  <a:srgbClr val="544013"/>
                </a:solidFill>
                <a:latin typeface="Prompt"/>
                <a:ea typeface="Prompt"/>
                <a:cs typeface="Prompt"/>
                <a:sym typeface="Prompt"/>
              </a:rPr>
              <a:t>Consumers, insurers, and regulators must recognize fraud's pervasive threat</a:t>
            </a:r>
          </a:p>
        </p:txBody>
      </p:sp>
      <p:grpSp>
        <p:nvGrpSpPr>
          <p:cNvPr name="Group 15" id="15"/>
          <p:cNvGrpSpPr/>
          <p:nvPr/>
        </p:nvGrpSpPr>
        <p:grpSpPr>
          <a:xfrm rot="0">
            <a:off x="6425059" y="5695652"/>
            <a:ext cx="5437734" cy="1980456"/>
            <a:chOff x="0" y="0"/>
            <a:chExt cx="7250312" cy="2640608"/>
          </a:xfrm>
        </p:grpSpPr>
        <p:sp>
          <p:nvSpPr>
            <p:cNvPr name="Freeform 16" id="16"/>
            <p:cNvSpPr/>
            <p:nvPr/>
          </p:nvSpPr>
          <p:spPr>
            <a:xfrm flipH="false" flipV="false" rot="0">
              <a:off x="0" y="0"/>
              <a:ext cx="7250303" cy="2640584"/>
            </a:xfrm>
            <a:custGeom>
              <a:avLst/>
              <a:gdLst/>
              <a:ahLst/>
              <a:cxnLst/>
              <a:rect r="r" b="b" t="t" l="l"/>
              <a:pathLst>
                <a:path h="2640584" w="7250303">
                  <a:moveTo>
                    <a:pt x="0" y="0"/>
                  </a:moveTo>
                  <a:lnTo>
                    <a:pt x="7250303" y="0"/>
                  </a:lnTo>
                  <a:lnTo>
                    <a:pt x="7250303" y="2640584"/>
                  </a:lnTo>
                  <a:lnTo>
                    <a:pt x="0" y="2640584"/>
                  </a:lnTo>
                  <a:close/>
                </a:path>
              </a:pathLst>
            </a:custGeom>
            <a:solidFill>
              <a:srgbClr val="EDE9DD"/>
            </a:solidFill>
          </p:spPr>
        </p:sp>
      </p:grpSp>
      <p:grpSp>
        <p:nvGrpSpPr>
          <p:cNvPr name="Group 17" id="17"/>
          <p:cNvGrpSpPr/>
          <p:nvPr/>
        </p:nvGrpSpPr>
        <p:grpSpPr>
          <a:xfrm rot="0">
            <a:off x="6425059" y="5695652"/>
            <a:ext cx="38100" cy="1980456"/>
            <a:chOff x="0" y="0"/>
            <a:chExt cx="50800" cy="2640608"/>
          </a:xfrm>
        </p:grpSpPr>
        <p:sp>
          <p:nvSpPr>
            <p:cNvPr name="Freeform 18" id="18"/>
            <p:cNvSpPr/>
            <p:nvPr/>
          </p:nvSpPr>
          <p:spPr>
            <a:xfrm flipH="false" flipV="false" rot="0">
              <a:off x="0" y="0"/>
              <a:ext cx="50800" cy="2640584"/>
            </a:xfrm>
            <a:custGeom>
              <a:avLst/>
              <a:gdLst/>
              <a:ahLst/>
              <a:cxnLst/>
              <a:rect r="r" b="b" t="t" l="l"/>
              <a:pathLst>
                <a:path h="2640584" w="50800">
                  <a:moveTo>
                    <a:pt x="0" y="25400"/>
                  </a:moveTo>
                  <a:cubicBezTo>
                    <a:pt x="0" y="11430"/>
                    <a:pt x="11430" y="0"/>
                    <a:pt x="25400" y="0"/>
                  </a:cubicBezTo>
                  <a:cubicBezTo>
                    <a:pt x="39370" y="0"/>
                    <a:pt x="50800" y="11430"/>
                    <a:pt x="50800" y="25400"/>
                  </a:cubicBezTo>
                  <a:lnTo>
                    <a:pt x="50800" y="2615184"/>
                  </a:lnTo>
                  <a:cubicBezTo>
                    <a:pt x="50800" y="2629154"/>
                    <a:pt x="39370" y="2640584"/>
                    <a:pt x="25400" y="2640584"/>
                  </a:cubicBezTo>
                  <a:cubicBezTo>
                    <a:pt x="11430" y="2640584"/>
                    <a:pt x="0" y="2629154"/>
                    <a:pt x="0" y="2615184"/>
                  </a:cubicBezTo>
                  <a:close/>
                </a:path>
              </a:pathLst>
            </a:custGeom>
            <a:solidFill>
              <a:srgbClr val="C85A14"/>
            </a:solidFill>
          </p:spPr>
        </p:sp>
      </p:grpSp>
      <p:sp>
        <p:nvSpPr>
          <p:cNvPr name="TextBox 19" id="19"/>
          <p:cNvSpPr txBox="true"/>
          <p:nvPr/>
        </p:nvSpPr>
        <p:spPr>
          <a:xfrm rot="0">
            <a:off x="6707089" y="5968156"/>
            <a:ext cx="3206055" cy="384175"/>
          </a:xfrm>
          <a:prstGeom prst="rect">
            <a:avLst/>
          </a:prstGeom>
        </p:spPr>
        <p:txBody>
          <a:bodyPr anchor="t" rtlCol="false" tIns="0" lIns="0" bIns="0" rIns="0">
            <a:spAutoFit/>
          </a:bodyPr>
          <a:lstStyle/>
          <a:p>
            <a:pPr algn="l">
              <a:lnSpc>
                <a:spcPts val="3124"/>
              </a:lnSpc>
            </a:pPr>
            <a:r>
              <a:rPr lang="en-US" b="true" sz="2499" spc="-37">
                <a:solidFill>
                  <a:srgbClr val="544013"/>
                </a:solidFill>
                <a:latin typeface="Prompt Semi-Bold"/>
                <a:ea typeface="Prompt Semi-Bold"/>
                <a:cs typeface="Prompt Semi-Bold"/>
                <a:sym typeface="Prompt Semi-Bold"/>
              </a:rPr>
              <a:t>Strong Laws</a:t>
            </a:r>
          </a:p>
        </p:txBody>
      </p:sp>
      <p:sp>
        <p:nvSpPr>
          <p:cNvPr name="TextBox 20" id="20"/>
          <p:cNvSpPr txBox="true"/>
          <p:nvPr/>
        </p:nvSpPr>
        <p:spPr>
          <a:xfrm rot="0">
            <a:off x="6707089" y="6480870"/>
            <a:ext cx="4873675" cy="817562"/>
          </a:xfrm>
          <a:prstGeom prst="rect">
            <a:avLst/>
          </a:prstGeom>
        </p:spPr>
        <p:txBody>
          <a:bodyPr anchor="t" rtlCol="false" tIns="0" lIns="0" bIns="0" rIns="0">
            <a:spAutoFit/>
          </a:bodyPr>
          <a:lstStyle/>
          <a:p>
            <a:pPr algn="l">
              <a:lnSpc>
                <a:spcPts val="3312"/>
              </a:lnSpc>
            </a:pPr>
            <a:r>
              <a:rPr lang="en-US" sz="2187" spc="-32">
                <a:solidFill>
                  <a:srgbClr val="544013"/>
                </a:solidFill>
                <a:latin typeface="Prompt"/>
                <a:ea typeface="Prompt"/>
                <a:cs typeface="Prompt"/>
                <a:sym typeface="Prompt"/>
              </a:rPr>
              <a:t>Enforcement and penalties deter fraud at every level</a:t>
            </a:r>
          </a:p>
        </p:txBody>
      </p:sp>
      <p:grpSp>
        <p:nvGrpSpPr>
          <p:cNvPr name="Group 21" id="21"/>
          <p:cNvGrpSpPr/>
          <p:nvPr/>
        </p:nvGrpSpPr>
        <p:grpSpPr>
          <a:xfrm rot="0">
            <a:off x="11862792" y="5695652"/>
            <a:ext cx="5437585" cy="1980456"/>
            <a:chOff x="0" y="0"/>
            <a:chExt cx="7250113" cy="2640608"/>
          </a:xfrm>
        </p:grpSpPr>
        <p:sp>
          <p:nvSpPr>
            <p:cNvPr name="Freeform 22" id="22"/>
            <p:cNvSpPr/>
            <p:nvPr/>
          </p:nvSpPr>
          <p:spPr>
            <a:xfrm flipH="false" flipV="false" rot="0">
              <a:off x="0" y="0"/>
              <a:ext cx="7250176" cy="2640584"/>
            </a:xfrm>
            <a:custGeom>
              <a:avLst/>
              <a:gdLst/>
              <a:ahLst/>
              <a:cxnLst/>
              <a:rect r="r" b="b" t="t" l="l"/>
              <a:pathLst>
                <a:path h="2640584" w="7250176">
                  <a:moveTo>
                    <a:pt x="0" y="0"/>
                  </a:moveTo>
                  <a:lnTo>
                    <a:pt x="7250176" y="0"/>
                  </a:lnTo>
                  <a:lnTo>
                    <a:pt x="7250176" y="2640584"/>
                  </a:lnTo>
                  <a:lnTo>
                    <a:pt x="0" y="2640584"/>
                  </a:lnTo>
                  <a:close/>
                </a:path>
              </a:pathLst>
            </a:custGeom>
            <a:solidFill>
              <a:srgbClr val="EDE9DD"/>
            </a:solidFill>
          </p:spPr>
        </p:sp>
      </p:grpSp>
      <p:grpSp>
        <p:nvGrpSpPr>
          <p:cNvPr name="Group 23" id="23"/>
          <p:cNvGrpSpPr/>
          <p:nvPr/>
        </p:nvGrpSpPr>
        <p:grpSpPr>
          <a:xfrm rot="0">
            <a:off x="11862792" y="5695652"/>
            <a:ext cx="38100" cy="1980456"/>
            <a:chOff x="0" y="0"/>
            <a:chExt cx="50800" cy="2640608"/>
          </a:xfrm>
        </p:grpSpPr>
        <p:sp>
          <p:nvSpPr>
            <p:cNvPr name="Freeform 24" id="24"/>
            <p:cNvSpPr/>
            <p:nvPr/>
          </p:nvSpPr>
          <p:spPr>
            <a:xfrm flipH="false" flipV="false" rot="0">
              <a:off x="0" y="0"/>
              <a:ext cx="50800" cy="2640584"/>
            </a:xfrm>
            <a:custGeom>
              <a:avLst/>
              <a:gdLst/>
              <a:ahLst/>
              <a:cxnLst/>
              <a:rect r="r" b="b" t="t" l="l"/>
              <a:pathLst>
                <a:path h="2640584" w="50800">
                  <a:moveTo>
                    <a:pt x="0" y="25400"/>
                  </a:moveTo>
                  <a:cubicBezTo>
                    <a:pt x="0" y="11430"/>
                    <a:pt x="11430" y="0"/>
                    <a:pt x="25400" y="0"/>
                  </a:cubicBezTo>
                  <a:cubicBezTo>
                    <a:pt x="39370" y="0"/>
                    <a:pt x="50800" y="11430"/>
                    <a:pt x="50800" y="25400"/>
                  </a:cubicBezTo>
                  <a:lnTo>
                    <a:pt x="50800" y="2615184"/>
                  </a:lnTo>
                  <a:cubicBezTo>
                    <a:pt x="50800" y="2629154"/>
                    <a:pt x="39370" y="2640584"/>
                    <a:pt x="25400" y="2640584"/>
                  </a:cubicBezTo>
                  <a:cubicBezTo>
                    <a:pt x="11430" y="2640584"/>
                    <a:pt x="0" y="2629154"/>
                    <a:pt x="0" y="2615184"/>
                  </a:cubicBezTo>
                  <a:close/>
                </a:path>
              </a:pathLst>
            </a:custGeom>
            <a:solidFill>
              <a:srgbClr val="C85A14"/>
            </a:solidFill>
          </p:spPr>
        </p:sp>
      </p:grpSp>
      <p:sp>
        <p:nvSpPr>
          <p:cNvPr name="TextBox 25" id="25"/>
          <p:cNvSpPr txBox="true"/>
          <p:nvPr/>
        </p:nvSpPr>
        <p:spPr>
          <a:xfrm rot="0">
            <a:off x="12144821" y="5968156"/>
            <a:ext cx="3206055" cy="384175"/>
          </a:xfrm>
          <a:prstGeom prst="rect">
            <a:avLst/>
          </a:prstGeom>
        </p:spPr>
        <p:txBody>
          <a:bodyPr anchor="t" rtlCol="false" tIns="0" lIns="0" bIns="0" rIns="0">
            <a:spAutoFit/>
          </a:bodyPr>
          <a:lstStyle/>
          <a:p>
            <a:pPr algn="l">
              <a:lnSpc>
                <a:spcPts val="3124"/>
              </a:lnSpc>
            </a:pPr>
            <a:r>
              <a:rPr lang="en-US" b="true" sz="2499" spc="-37">
                <a:solidFill>
                  <a:srgbClr val="544013"/>
                </a:solidFill>
                <a:latin typeface="Prompt Semi-Bold"/>
                <a:ea typeface="Prompt Semi-Bold"/>
                <a:cs typeface="Prompt Semi-Bold"/>
                <a:sym typeface="Prompt Semi-Bold"/>
              </a:rPr>
              <a:t>Advanced Tools</a:t>
            </a:r>
          </a:p>
        </p:txBody>
      </p:sp>
      <p:sp>
        <p:nvSpPr>
          <p:cNvPr name="TextBox 26" id="26"/>
          <p:cNvSpPr txBox="true"/>
          <p:nvPr/>
        </p:nvSpPr>
        <p:spPr>
          <a:xfrm rot="0">
            <a:off x="12144821" y="6480870"/>
            <a:ext cx="4873526" cy="817562"/>
          </a:xfrm>
          <a:prstGeom prst="rect">
            <a:avLst/>
          </a:prstGeom>
        </p:spPr>
        <p:txBody>
          <a:bodyPr anchor="t" rtlCol="false" tIns="0" lIns="0" bIns="0" rIns="0">
            <a:spAutoFit/>
          </a:bodyPr>
          <a:lstStyle/>
          <a:p>
            <a:pPr algn="l">
              <a:lnSpc>
                <a:spcPts val="3312"/>
              </a:lnSpc>
            </a:pPr>
            <a:r>
              <a:rPr lang="en-US" sz="2187" spc="-32">
                <a:solidFill>
                  <a:srgbClr val="544013"/>
                </a:solidFill>
                <a:latin typeface="Prompt"/>
                <a:ea typeface="Prompt"/>
                <a:cs typeface="Prompt"/>
                <a:sym typeface="Prompt"/>
              </a:rPr>
              <a:t>Technology and collaboration reduce fraud successfully</a:t>
            </a:r>
          </a:p>
        </p:txBody>
      </p:sp>
      <p:grpSp>
        <p:nvGrpSpPr>
          <p:cNvPr name="Group 27" id="27"/>
          <p:cNvGrpSpPr/>
          <p:nvPr/>
        </p:nvGrpSpPr>
        <p:grpSpPr>
          <a:xfrm rot="0">
            <a:off x="987475" y="8134341"/>
            <a:ext cx="16313051" cy="44649"/>
            <a:chOff x="0" y="0"/>
            <a:chExt cx="21750735" cy="59532"/>
          </a:xfrm>
        </p:grpSpPr>
        <p:sp>
          <p:nvSpPr>
            <p:cNvPr name="Freeform 28" id="28"/>
            <p:cNvSpPr/>
            <p:nvPr/>
          </p:nvSpPr>
          <p:spPr>
            <a:xfrm flipH="false" flipV="false" rot="0">
              <a:off x="0" y="0"/>
              <a:ext cx="21750782" cy="59563"/>
            </a:xfrm>
            <a:custGeom>
              <a:avLst/>
              <a:gdLst/>
              <a:ahLst/>
              <a:cxnLst/>
              <a:rect r="r" b="b" t="t" l="l"/>
              <a:pathLst>
                <a:path h="59563" w="21750782">
                  <a:moveTo>
                    <a:pt x="0" y="0"/>
                  </a:moveTo>
                  <a:lnTo>
                    <a:pt x="21750782" y="0"/>
                  </a:lnTo>
                  <a:lnTo>
                    <a:pt x="21750782" y="59563"/>
                  </a:lnTo>
                  <a:lnTo>
                    <a:pt x="0" y="59563"/>
                  </a:lnTo>
                  <a:close/>
                </a:path>
              </a:pathLst>
            </a:custGeom>
            <a:solidFill>
              <a:srgbClr val="544013">
                <a:alpha val="24706"/>
              </a:srgbClr>
            </a:solidFill>
          </p:spPr>
        </p:sp>
      </p:grpSp>
      <p:sp>
        <p:nvSpPr>
          <p:cNvPr name="TextBox 29" id="29"/>
          <p:cNvSpPr txBox="true"/>
          <p:nvPr/>
        </p:nvSpPr>
        <p:spPr>
          <a:xfrm rot="0">
            <a:off x="987475" y="8439001"/>
            <a:ext cx="16313051" cy="790079"/>
          </a:xfrm>
          <a:prstGeom prst="rect">
            <a:avLst/>
          </a:prstGeom>
        </p:spPr>
        <p:txBody>
          <a:bodyPr anchor="t" rtlCol="false" tIns="0" lIns="0" bIns="0" rIns="0">
            <a:spAutoFit/>
          </a:bodyPr>
          <a:lstStyle/>
          <a:p>
            <a:pPr algn="l">
              <a:lnSpc>
                <a:spcPts val="3271"/>
              </a:lnSpc>
            </a:pPr>
            <a:r>
              <a:rPr lang="en-US" sz="2160" spc="-32">
                <a:solidFill>
                  <a:srgbClr val="544013"/>
                </a:solidFill>
                <a:latin typeface="Prompt"/>
                <a:ea typeface="Prompt"/>
                <a:cs typeface="Prompt"/>
                <a:sym typeface="Prompt"/>
              </a:rPr>
              <a:t>Insurance fraud is costly, pervasive, and affects everyone. Together—consumers, insurers, regulators, and law enforcement—we can protect the integrity of insurance systems and keep premiums affordable for honest families and businesses.</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D8849E"/>
        </a:solidFill>
      </p:bgPr>
    </p:bg>
    <p:spTree>
      <p:nvGrpSpPr>
        <p:cNvPr id="1" name=""/>
        <p:cNvGrpSpPr/>
        <p:nvPr/>
      </p:nvGrpSpPr>
      <p:grpSpPr>
        <a:xfrm>
          <a:off x="0" y="0"/>
          <a:ext cx="0" cy="0"/>
          <a:chOff x="0" y="0"/>
          <a:chExt cx="0" cy="0"/>
        </a:xfrm>
      </p:grpSpPr>
      <p:sp>
        <p:nvSpPr>
          <p:cNvPr name="TextBox 2" id="2"/>
          <p:cNvSpPr txBox="true"/>
          <p:nvPr/>
        </p:nvSpPr>
        <p:spPr>
          <a:xfrm rot="0">
            <a:off x="6904732" y="4900136"/>
            <a:ext cx="4478536" cy="1079818"/>
          </a:xfrm>
          <a:prstGeom prst="rect">
            <a:avLst/>
          </a:prstGeom>
        </p:spPr>
        <p:txBody>
          <a:bodyPr anchor="t" rtlCol="false" tIns="0" lIns="0" bIns="0" rIns="0">
            <a:spAutoFit/>
          </a:bodyPr>
          <a:lstStyle/>
          <a:p>
            <a:pPr algn="ctr">
              <a:lnSpc>
                <a:spcPts val="8687"/>
              </a:lnSpc>
              <a:spcBef>
                <a:spcPct val="0"/>
              </a:spcBef>
            </a:pPr>
            <a:r>
              <a:rPr lang="en-US" b="true" sz="6949" spc="-104">
                <a:solidFill>
                  <a:srgbClr val="000000"/>
                </a:solidFill>
                <a:latin typeface="Prompt Semi-Bold"/>
                <a:ea typeface="Prompt Semi-Bold"/>
                <a:cs typeface="Prompt Semi-Bold"/>
                <a:sym typeface="Prompt Semi-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DAG2Qc-OAsQ</dc:identifier>
  <dcterms:modified xsi:type="dcterms:W3CDTF">2011-08-01T06:04:30Z</dcterms:modified>
  <cp:revision>1</cp:revision>
  <dc:title>Insurance-Fraud.pptx</dc:title>
</cp:coreProperties>
</file>
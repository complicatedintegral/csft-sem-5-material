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4" r:id="rId5"/>
    <p:sldId id="257" r:id="rId6"/>
    <p:sldId id="258" r:id="rId7"/>
    <p:sldId id="259" r:id="rId8"/>
    <p:sldId id="260" r:id="rId9"/>
    <p:sldId id="265" r:id="rId10"/>
    <p:sldId id="266" r:id="rId11"/>
    <p:sldId id="261"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65A2F-2D1C-7D27-1354-971E306013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B4E6EB-5A82-9F71-7278-AAC4D80B9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924953-A97F-960C-C7DD-8E9DF49192C0}"/>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5" name="Footer Placeholder 4">
            <a:extLst>
              <a:ext uri="{FF2B5EF4-FFF2-40B4-BE49-F238E27FC236}">
                <a16:creationId xmlns:a16="http://schemas.microsoft.com/office/drawing/2014/main" id="{3658E2C1-A9FC-BA28-0EDE-28780EB4E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B7A3A-A520-2952-1E60-62C085F26959}"/>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2354599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E564-7EDE-245E-467F-786FD2E6BE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BBF6BD-66F1-DB99-3012-EEFBD676B3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7311BA-2A27-A956-404C-60F610E02234}"/>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5" name="Footer Placeholder 4">
            <a:extLst>
              <a:ext uri="{FF2B5EF4-FFF2-40B4-BE49-F238E27FC236}">
                <a16:creationId xmlns:a16="http://schemas.microsoft.com/office/drawing/2014/main" id="{7184A529-46F1-3D9D-B352-6959B3BC53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C747B0-8CE5-3ADB-4414-866813DB7F15}"/>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594209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6728D-DFE1-3A23-7DA7-0755961758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D11E5F-0A5E-1FA9-E9C6-F63F72A164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F996B5-D64F-F63B-0856-9EE71513751C}"/>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5" name="Footer Placeholder 4">
            <a:extLst>
              <a:ext uri="{FF2B5EF4-FFF2-40B4-BE49-F238E27FC236}">
                <a16:creationId xmlns:a16="http://schemas.microsoft.com/office/drawing/2014/main" id="{D3B07E22-0EA6-FD8E-C6DA-200B3450E3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968078-422A-5A18-01AB-938155CE0BD0}"/>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1290847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33B14-BA3A-B1B6-D8A1-ADFF830ACA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6225C1-B7D6-BA5E-1E67-A43BBACC32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68B203-9284-250F-E6CB-C9E900C2C9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BFF661-0334-8369-879C-1B4175C70C4B}"/>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6" name="Footer Placeholder 5">
            <a:extLst>
              <a:ext uri="{FF2B5EF4-FFF2-40B4-BE49-F238E27FC236}">
                <a16:creationId xmlns:a16="http://schemas.microsoft.com/office/drawing/2014/main" id="{92652C5F-362A-8018-7ACA-09BCE6C9BF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5E86FD-B5B4-2F62-7EAC-4DCE0FC91397}"/>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1605431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6376-CFD0-DAD0-6F2B-D4835E313EF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6638CE-C68D-03FA-6060-92FEC3A07C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AFDBF3-B69A-AE84-501C-3570408B42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AD1519-C4A1-D700-8D10-09D89AFC95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0CC62D-E5C2-5F1F-4730-89CED700A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0D6C9B-BB33-0E50-1D03-AB787573B0FE}"/>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8" name="Footer Placeholder 7">
            <a:extLst>
              <a:ext uri="{FF2B5EF4-FFF2-40B4-BE49-F238E27FC236}">
                <a16:creationId xmlns:a16="http://schemas.microsoft.com/office/drawing/2014/main" id="{3C91DC72-D92D-F951-A139-23BF685581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BD42D4-F532-4C4E-A572-034AC840CF82}"/>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1333509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56322-B543-3BEC-BC45-9CCF908015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A22629-004A-8693-34A2-5C16A4B66350}"/>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4" name="Footer Placeholder 3">
            <a:extLst>
              <a:ext uri="{FF2B5EF4-FFF2-40B4-BE49-F238E27FC236}">
                <a16:creationId xmlns:a16="http://schemas.microsoft.com/office/drawing/2014/main" id="{D70B5916-AF35-487A-21C8-68DB49FFFF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651607-6DA6-1730-2F75-BA99F5FFDC3B}"/>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962418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46275-BAA8-FEC7-26AB-0FA75A2F43F7}"/>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3" name="Footer Placeholder 2">
            <a:extLst>
              <a:ext uri="{FF2B5EF4-FFF2-40B4-BE49-F238E27FC236}">
                <a16:creationId xmlns:a16="http://schemas.microsoft.com/office/drawing/2014/main" id="{A1558DC4-9A80-B22C-E89B-00DA443EBC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FE8F99-6CFD-4A98-8840-EF51E35306DD}"/>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2437664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DDB5B-B777-B9AE-179B-318FE7234E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80E61E-BBA6-640E-EE68-8E1C5C6B3C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EE1E63-E788-6ADF-DC53-33D2138CD0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80819-3AFF-0C4E-9628-CC0B523C1F34}"/>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6" name="Footer Placeholder 5">
            <a:extLst>
              <a:ext uri="{FF2B5EF4-FFF2-40B4-BE49-F238E27FC236}">
                <a16:creationId xmlns:a16="http://schemas.microsoft.com/office/drawing/2014/main" id="{4FCA495D-D5D5-5234-A45B-8340FE209B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CAE81-FC2E-CE2F-4194-86A3C832AFC2}"/>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3050757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10EFA-4550-51C2-1374-E300C753B6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0DE0C1-BC17-A016-B51A-EBA1C3A87E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9D1989-ED32-FFFE-77B3-0A4CF33B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656EA-1775-192C-CACB-DDACCAE0B9E6}"/>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6" name="Footer Placeholder 5">
            <a:extLst>
              <a:ext uri="{FF2B5EF4-FFF2-40B4-BE49-F238E27FC236}">
                <a16:creationId xmlns:a16="http://schemas.microsoft.com/office/drawing/2014/main" id="{32C4FABE-2232-0B85-36FE-6A8A1D95E1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FD7FFD-497F-1DAD-AABD-749D4E46CA86}"/>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2027297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C60AE-8AFE-0D78-BE94-167E5BA8AC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40E923-B9DC-EC2B-CE22-1B5D383E40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07CC0A-7FD4-189D-1511-C2B0C9C68322}"/>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5" name="Footer Placeholder 4">
            <a:extLst>
              <a:ext uri="{FF2B5EF4-FFF2-40B4-BE49-F238E27FC236}">
                <a16:creationId xmlns:a16="http://schemas.microsoft.com/office/drawing/2014/main" id="{3041EAED-C00D-029F-D1E9-98B9379B96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B43957-079E-18FE-FCE8-5A4E64F8B3B7}"/>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214194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096CF1-8BBD-E1CE-C240-EAD9456491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77E984-8227-2CA1-69A0-150708FE89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71051D-0FEE-5EE0-FAE7-B54E0F3541EE}"/>
              </a:ext>
            </a:extLst>
          </p:cNvPr>
          <p:cNvSpPr>
            <a:spLocks noGrp="1"/>
          </p:cNvSpPr>
          <p:nvPr>
            <p:ph type="dt" sz="half" idx="10"/>
          </p:nvPr>
        </p:nvSpPr>
        <p:spPr/>
        <p:txBody>
          <a:bodyPr/>
          <a:lstStyle/>
          <a:p>
            <a:fld id="{55A427C4-7D2C-4283-B754-7DF3D40B9689}" type="datetimeFigureOut">
              <a:rPr lang="en-IN" smtClean="0"/>
              <a:t>21-10-2025</a:t>
            </a:fld>
            <a:endParaRPr lang="en-IN"/>
          </a:p>
        </p:txBody>
      </p:sp>
      <p:sp>
        <p:nvSpPr>
          <p:cNvPr id="5" name="Footer Placeholder 4">
            <a:extLst>
              <a:ext uri="{FF2B5EF4-FFF2-40B4-BE49-F238E27FC236}">
                <a16:creationId xmlns:a16="http://schemas.microsoft.com/office/drawing/2014/main" id="{2F0CB0B9-8B6D-4D35-2575-86AEEE2EF1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A71DB7-7B92-A422-C8AB-1C1C7E269068}"/>
              </a:ext>
            </a:extLst>
          </p:cNvPr>
          <p:cNvSpPr>
            <a:spLocks noGrp="1"/>
          </p:cNvSpPr>
          <p:nvPr>
            <p:ph type="sldNum" sz="quarter" idx="12"/>
          </p:nvPr>
        </p:nvSpPr>
        <p:spPr/>
        <p:txBody>
          <a:bodyPr/>
          <a:lstStyle/>
          <a:p>
            <a:fld id="{65B08105-4A3E-4048-B698-DA043BFC7916}" type="slidenum">
              <a:rPr lang="en-IN" smtClean="0"/>
              <a:t>‹#›</a:t>
            </a:fld>
            <a:endParaRPr lang="en-IN"/>
          </a:p>
        </p:txBody>
      </p:sp>
    </p:spTree>
    <p:extLst>
      <p:ext uri="{BB962C8B-B14F-4D97-AF65-F5344CB8AC3E}">
        <p14:creationId xmlns:p14="http://schemas.microsoft.com/office/powerpoint/2010/main" val="4103922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3E47F6-7809-B643-3813-2BE3065274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51349B-525C-0675-0F23-9140412C58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B437D4-B1FB-9012-FF3C-CA7FF9EB25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A427C4-7D2C-4283-B754-7DF3D40B9689}" type="datetimeFigureOut">
              <a:rPr lang="en-IN" smtClean="0"/>
              <a:t>21-10-2025</a:t>
            </a:fld>
            <a:endParaRPr lang="en-IN"/>
          </a:p>
        </p:txBody>
      </p:sp>
      <p:sp>
        <p:nvSpPr>
          <p:cNvPr id="5" name="Footer Placeholder 4">
            <a:extLst>
              <a:ext uri="{FF2B5EF4-FFF2-40B4-BE49-F238E27FC236}">
                <a16:creationId xmlns:a16="http://schemas.microsoft.com/office/drawing/2014/main" id="{D288D000-19CD-8262-A105-89116DC692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B2523A5-88A2-EF4E-B89F-F4950CFED2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B08105-4A3E-4048-B698-DA043BFC7916}" type="slidenum">
              <a:rPr lang="en-IN" smtClean="0"/>
              <a:t>‹#›</a:t>
            </a:fld>
            <a:endParaRPr lang="en-IN"/>
          </a:p>
        </p:txBody>
      </p:sp>
    </p:spTree>
    <p:extLst>
      <p:ext uri="{BB962C8B-B14F-4D97-AF65-F5344CB8AC3E}">
        <p14:creationId xmlns:p14="http://schemas.microsoft.com/office/powerpoint/2010/main" val="4202071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m/search?sca_esv=da27cfff2af433e7&amp;rlz=1C1RXQR_enIN1034IN1035&amp;cs=0&amp;sxsrf=AE3TifNR8uUY4w0NZH047fYVmUNScolwAw%3A1761030039334&amp;q=Consumer+innovativeness&amp;sa=X&amp;ved=2ahUKEwirufKO3LSQAxXL-jgGHYjKLsoQxccNegQIMRAB&amp;mstk=AUtExfAvmTpWNTN4Qs0v-UyXkxI9SkGdzcfRmknp8CL1QraTBxzSCPGKo-tHVjyGqocO5D4UCjCYdPyCvXxH_tjhaeCfT8Xk6US3EHrs85YlMYhj3NhLTjKYNgylSZOOnIC0edhbc_2dazcyu52rZB3oaIev0q2FDPJjD-FYwNf4tnLclgWHRWD03LYw8CzUIajaRet0JD-aZciImZslBi7H900zJa9ChwliXVrhbuTO9O8L9hd90DJqfuvzS_GMxkZhy_dsCspNEBuvPZQVmWTm4bi4&amp;csui=3" TargetMode="External"/><Relationship Id="rId2" Type="http://schemas.openxmlformats.org/officeDocument/2006/relationships/hyperlink" Target="https://www.google.com/search?sca_esv=da27cfff2af433e7&amp;rlz=1C1RXQR_enIN1034IN1035&amp;cs=0&amp;sxsrf=AE3TifNR8uUY4w0NZH047fYVmUNScolwAw%3A1761030039334&amp;q=Price+consciousness&amp;sa=X&amp;ved=2ahUKEwirufKO3LSQAxXL-jgGHYjKLsoQxccNegQIMBAB&amp;mstk=AUtExfAvmTpWNTN4Qs0v-UyXkxI9SkGdzcfRmknp8CL1QraTBxzSCPGKo-tHVjyGqocO5D4UCjCYdPyCvXxH_tjhaeCfT8Xk6US3EHrs85YlMYhj3NhLTjKYNgylSZOOnIC0edhbc_2dazcyu52rZB3oaIev0q2FDPJjD-FYwNf4tnLclgWHRWD03LYw8CzUIajaRet0JD-aZciImZslBi7H900zJa9ChwliXVrhbuTO9O8L9hd90DJqfuvzS_GMxkZhy_dsCspNEBuvPZQVmWTm4bi4&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da27cfff2af433e7&amp;rlz=1C1RXQR_enIN1034IN1035&amp;cs=0&amp;sxsrf=AE3TifNR8uUY4w0NZH047fYVmUNScolwAw%3A1761030039334&amp;q=Financial+self-efficacy&amp;sa=X&amp;ved=2ahUKEwirufKO3LSQAxXL-jgGHYjKLsoQxccNegQIMxAB&amp;mstk=AUtExfAvmTpWNTN4Qs0v-UyXkxI9SkGdzcfRmknp8CL1QraTBxzSCPGKo-tHVjyGqocO5D4UCjCYdPyCvXxH_tjhaeCfT8Xk6US3EHrs85YlMYhj3NhLTjKYNgylSZOOnIC0edhbc_2dazcyu52rZB3oaIev0q2FDPJjD-FYwNf4tnLclgWHRWD03LYw8CzUIajaRet0JD-aZciImZslBi7H900zJa9ChwliXVrhbuTO9O8L9hd90DJqfuvzS_GMxkZhy_dsCspNEBuvPZQVmWTm4bi4&amp;csui=3" TargetMode="External"/><Relationship Id="rId5" Type="http://schemas.openxmlformats.org/officeDocument/2006/relationships/hyperlink" Target="https://www.google.com/search?sca_esv=da27cfff2af433e7&amp;rlz=1C1RXQR_enIN1034IN1035&amp;cs=0&amp;sxsrf=AE3TifNR8uUY4w0NZH047fYVmUNScolwAw%3A1761030039334&amp;q=Lifestyle+and+values&amp;sa=X&amp;ved=2ahUKEwirufKO3LSQAxXL-jgGHYjKLsoQxccNegQINBAB&amp;mstk=AUtExfAvmTpWNTN4Qs0v-UyXkxI9SkGdzcfRmknp8CL1QraTBxzSCPGKo-tHVjyGqocO5D4UCjCYdPyCvXxH_tjhaeCfT8Xk6US3EHrs85YlMYhj3NhLTjKYNgylSZOOnIC0edhbc_2dazcyu52rZB3oaIev0q2FDPJjD-FYwNf4tnLclgWHRWD03LYw8CzUIajaRet0JD-aZciImZslBi7H900zJa9ChwliXVrhbuTO9O8L9hd90DJqfuvzS_GMxkZhy_dsCspNEBuvPZQVmWTm4bi4&amp;csui=3" TargetMode="External"/><Relationship Id="rId4" Type="http://schemas.openxmlformats.org/officeDocument/2006/relationships/hyperlink" Target="https://www.google.com/search?sca_esv=da27cfff2af433e7&amp;rlz=1C1RXQR_enIN1034IN1035&amp;cs=0&amp;sxsrf=AE3TifNR8uUY4w0NZH047fYVmUNScolwAw%3A1761030039334&amp;q=Risk+aversion&amp;sa=X&amp;ved=2ahUKEwirufKO3LSQAxXL-jgGHYjKLsoQxccNegQIMhAB&amp;mstk=AUtExfAvmTpWNTN4Qs0v-UyXkxI9SkGdzcfRmknp8CL1QraTBxzSCPGKo-tHVjyGqocO5D4UCjCYdPyCvXxH_tjhaeCfT8Xk6US3EHrs85YlMYhj3NhLTjKYNgylSZOOnIC0edhbc_2dazcyu52rZB3oaIev0q2FDPJjD-FYwNf4tnLclgWHRWD03LYw8CzUIajaRet0JD-aZciImZslBi7H900zJa9ChwliXVrhbuTO9O8L9hd90DJqfuvzS_GMxkZhy_dsCspNEBuvPZQVmWTm4bi4&amp;csui=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CEE84-BB19-629E-2E9F-7ED36DB1CF12}"/>
              </a:ext>
            </a:extLst>
          </p:cNvPr>
          <p:cNvSpPr>
            <a:spLocks noGrp="1"/>
          </p:cNvSpPr>
          <p:nvPr>
            <p:ph type="ctrTitle"/>
          </p:nvPr>
        </p:nvSpPr>
        <p:spPr/>
        <p:txBody>
          <a:bodyPr>
            <a:normAutofit fontScale="90000"/>
          </a:bodyPr>
          <a:lstStyle/>
          <a:p>
            <a:r>
              <a:rPr lang="en-US" dirty="0"/>
              <a:t>Practical Guide to Build </a:t>
            </a:r>
            <a:r>
              <a:rPr lang="en-US" dirty="0" err="1"/>
              <a:t>InsurTech</a:t>
            </a:r>
            <a:r>
              <a:rPr lang="en-US" dirty="0"/>
              <a:t> Value Chain Ecosystems</a:t>
            </a:r>
            <a:endParaRPr lang="en-IN" dirty="0"/>
          </a:p>
        </p:txBody>
      </p:sp>
      <p:sp>
        <p:nvSpPr>
          <p:cNvPr id="3" name="Subtitle 2">
            <a:extLst>
              <a:ext uri="{FF2B5EF4-FFF2-40B4-BE49-F238E27FC236}">
                <a16:creationId xmlns:a16="http://schemas.microsoft.com/office/drawing/2014/main" id="{CF1E834A-EBA2-49A8-8F33-98C18CA3CAF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69491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075FD-5E91-3AB8-A9D6-E88262CB04EF}"/>
              </a:ext>
            </a:extLst>
          </p:cNvPr>
          <p:cNvSpPr>
            <a:spLocks noGrp="1"/>
          </p:cNvSpPr>
          <p:nvPr>
            <p:ph type="title"/>
          </p:nvPr>
        </p:nvSpPr>
        <p:spPr/>
        <p:txBody>
          <a:bodyPr/>
          <a:lstStyle/>
          <a:p>
            <a:r>
              <a:rPr lang="en-US" dirty="0" err="1"/>
              <a:t>InsureTech</a:t>
            </a:r>
            <a:r>
              <a:rPr lang="en-US" dirty="0"/>
              <a:t> Value Chain Ecosystem</a:t>
            </a:r>
            <a:endParaRPr lang="en-IN" dirty="0"/>
          </a:p>
        </p:txBody>
      </p:sp>
      <p:sp>
        <p:nvSpPr>
          <p:cNvPr id="3" name="Content Placeholder 2">
            <a:extLst>
              <a:ext uri="{FF2B5EF4-FFF2-40B4-BE49-F238E27FC236}">
                <a16:creationId xmlns:a16="http://schemas.microsoft.com/office/drawing/2014/main" id="{18A4C2D6-D2FE-5335-EF59-384BEB11E804}"/>
              </a:ext>
            </a:extLst>
          </p:cNvPr>
          <p:cNvSpPr>
            <a:spLocks noGrp="1"/>
          </p:cNvSpPr>
          <p:nvPr>
            <p:ph idx="1"/>
          </p:nvPr>
        </p:nvSpPr>
        <p:spPr/>
        <p:txBody>
          <a:bodyPr/>
          <a:lstStyle/>
          <a:p>
            <a:r>
              <a:rPr lang="en-US" dirty="0"/>
              <a:t>The </a:t>
            </a:r>
            <a:r>
              <a:rPr lang="en-US" dirty="0" err="1"/>
              <a:t>InsurTech</a:t>
            </a:r>
            <a:r>
              <a:rPr lang="en-US" dirty="0"/>
              <a:t> value chain ecosystem has evolved from a linear model to a complex network of interdependent players that integrate technology to create and deliver value.</a:t>
            </a:r>
          </a:p>
          <a:p>
            <a:r>
              <a:rPr lang="en-US" dirty="0"/>
              <a:t>Rather than solely seeking to disrupt, most </a:t>
            </a:r>
            <a:r>
              <a:rPr lang="en-US" dirty="0" err="1"/>
              <a:t>InsurTechs</a:t>
            </a:r>
            <a:r>
              <a:rPr lang="en-US" dirty="0"/>
              <a:t> now focus on enabling and improving specific aspects of the traditional insurance value chain. </a:t>
            </a:r>
            <a:endParaRPr lang="en-IN" dirty="0"/>
          </a:p>
        </p:txBody>
      </p:sp>
    </p:spTree>
    <p:extLst>
      <p:ext uri="{BB962C8B-B14F-4D97-AF65-F5344CB8AC3E}">
        <p14:creationId xmlns:p14="http://schemas.microsoft.com/office/powerpoint/2010/main" val="2285585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7D931-93F5-8D42-A53B-F58B1F950C5F}"/>
              </a:ext>
            </a:extLst>
          </p:cNvPr>
          <p:cNvSpPr>
            <a:spLocks noGrp="1"/>
          </p:cNvSpPr>
          <p:nvPr>
            <p:ph idx="1"/>
          </p:nvPr>
        </p:nvSpPr>
        <p:spPr>
          <a:xfrm>
            <a:off x="838200" y="754380"/>
            <a:ext cx="10515600" cy="5422583"/>
          </a:xfrm>
        </p:spPr>
        <p:txBody>
          <a:bodyPr>
            <a:normAutofit fontScale="92500" lnSpcReduction="20000"/>
          </a:bodyPr>
          <a:lstStyle/>
          <a:p>
            <a:r>
              <a:rPr lang="en-US" dirty="0"/>
              <a:t>The modern </a:t>
            </a:r>
            <a:r>
              <a:rPr lang="en-US" dirty="0" err="1"/>
              <a:t>InsurTech</a:t>
            </a:r>
            <a:r>
              <a:rPr lang="en-US" dirty="0"/>
              <a:t> ecosystem includes the following key components and players: </a:t>
            </a:r>
          </a:p>
          <a:p>
            <a:r>
              <a:rPr lang="en-US" b="1" dirty="0"/>
              <a:t>Creative carriers:</a:t>
            </a:r>
            <a:r>
              <a:rPr lang="en-US" dirty="0"/>
              <a:t> Full-stack insurers like Lemonade that handle everything from quoting to claims using technology. Many are reinsured or underwritten by traditional companies.</a:t>
            </a:r>
          </a:p>
          <a:p>
            <a:r>
              <a:rPr lang="en-US" b="1" dirty="0"/>
              <a:t>Enablers and integrators:</a:t>
            </a:r>
            <a:r>
              <a:rPr lang="en-US" dirty="0"/>
              <a:t> These companies provide the core technological infrastructure, such as cloud-based platforms and APIs, that allow other players to operate efficiently.</a:t>
            </a:r>
          </a:p>
          <a:p>
            <a:r>
              <a:rPr lang="en-US" b="1" dirty="0"/>
              <a:t>Connectors and digital distributors:</a:t>
            </a:r>
            <a:r>
              <a:rPr lang="en-US" dirty="0"/>
              <a:t> Platforms and digital brokers that link customers with insurers, such as comparison portals and online marketplaces.</a:t>
            </a:r>
          </a:p>
          <a:p>
            <a:r>
              <a:rPr lang="en-US" b="1" dirty="0"/>
              <a:t>Data and analytics suppliers:</a:t>
            </a:r>
            <a:r>
              <a:rPr lang="en-US" dirty="0"/>
              <a:t> Firms that provide advanced data analytics, AI, and machine learning tools for risk assessment, fraud detection, and personalized pricing.</a:t>
            </a:r>
          </a:p>
          <a:p>
            <a:r>
              <a:rPr lang="en-US" b="1" dirty="0"/>
              <a:t>Protectors:</a:t>
            </a:r>
            <a:r>
              <a:rPr lang="en-US" dirty="0"/>
              <a:t> Companies that provide risk prevention and management solutions to reduce claims and improve policyholder safety. </a:t>
            </a:r>
          </a:p>
          <a:p>
            <a:endParaRPr lang="en-IN" dirty="0"/>
          </a:p>
        </p:txBody>
      </p:sp>
    </p:spTree>
    <p:extLst>
      <p:ext uri="{BB962C8B-B14F-4D97-AF65-F5344CB8AC3E}">
        <p14:creationId xmlns:p14="http://schemas.microsoft.com/office/powerpoint/2010/main" val="3148858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B72111-B0B7-9F2A-CE83-3445609384BF}"/>
              </a:ext>
            </a:extLst>
          </p:cNvPr>
          <p:cNvSpPr>
            <a:spLocks noGrp="1"/>
          </p:cNvSpPr>
          <p:nvPr>
            <p:ph idx="1"/>
          </p:nvPr>
        </p:nvSpPr>
        <p:spPr>
          <a:xfrm>
            <a:off x="838200" y="594360"/>
            <a:ext cx="10515600" cy="5582603"/>
          </a:xfrm>
        </p:spPr>
        <p:txBody>
          <a:bodyPr>
            <a:normAutofit fontScale="70000" lnSpcReduction="20000"/>
          </a:bodyPr>
          <a:lstStyle/>
          <a:p>
            <a:r>
              <a:rPr lang="en-US" dirty="0"/>
              <a:t>The core components of the </a:t>
            </a:r>
            <a:r>
              <a:rPr lang="en-US" dirty="0" err="1"/>
              <a:t>InsurTech</a:t>
            </a:r>
            <a:r>
              <a:rPr lang="en-US" dirty="0"/>
              <a:t> value chain are:</a:t>
            </a:r>
          </a:p>
          <a:p>
            <a:r>
              <a:rPr lang="en-IN" dirty="0"/>
              <a:t>Product development</a:t>
            </a:r>
          </a:p>
          <a:p>
            <a:pPr lvl="1"/>
            <a:r>
              <a:rPr lang="en-US" b="1" dirty="0"/>
              <a:t>Traditional:</a:t>
            </a:r>
            <a:r>
              <a:rPr lang="en-US" dirty="0"/>
              <a:t> Based on historical data, demographics, and actuarial analysis.</a:t>
            </a:r>
          </a:p>
          <a:p>
            <a:pPr lvl="1"/>
            <a:r>
              <a:rPr lang="en-US" b="1" dirty="0" err="1"/>
              <a:t>InsurTech</a:t>
            </a:r>
            <a:r>
              <a:rPr lang="en-US" b="1" dirty="0"/>
              <a:t>:</a:t>
            </a:r>
            <a:r>
              <a:rPr lang="en-US" dirty="0"/>
              <a:t> Uses big data, AI, and telematics to identify new risks and opportunities. Products are more personalized and innovative, such as on-demand, usage-based (UBI), and parametric insurance. </a:t>
            </a:r>
            <a:endParaRPr lang="en-IN" dirty="0"/>
          </a:p>
          <a:p>
            <a:r>
              <a:rPr lang="en-IN" dirty="0"/>
              <a:t>Marketing and sales</a:t>
            </a:r>
          </a:p>
          <a:p>
            <a:pPr lvl="1"/>
            <a:r>
              <a:rPr lang="en-US" b="1" dirty="0"/>
              <a:t>Traditional:</a:t>
            </a:r>
            <a:r>
              <a:rPr lang="en-US" dirty="0"/>
              <a:t> Heavily reliant on agents, brokers, and physical branches.</a:t>
            </a:r>
          </a:p>
          <a:p>
            <a:pPr lvl="1"/>
            <a:r>
              <a:rPr lang="en-US" b="1" dirty="0" err="1"/>
              <a:t>InsurTech</a:t>
            </a:r>
            <a:r>
              <a:rPr lang="en-US" b="1" dirty="0"/>
              <a:t>:</a:t>
            </a:r>
            <a:r>
              <a:rPr lang="en-US" dirty="0"/>
              <a:t> Shifts to digital-first, direct-to-consumer (D2C) channels. Uses digital marketplaces, online portals, mobile apps, and embedded insurance to reach customers. </a:t>
            </a:r>
          </a:p>
          <a:p>
            <a:r>
              <a:rPr lang="en-IN" dirty="0"/>
              <a:t>Underwriting and risk assessment</a:t>
            </a:r>
          </a:p>
          <a:p>
            <a:pPr lvl="1"/>
            <a:r>
              <a:rPr lang="en-US" b="1" dirty="0"/>
              <a:t>Traditional:</a:t>
            </a:r>
            <a:r>
              <a:rPr lang="en-US" dirty="0"/>
              <a:t> Manual, rule-based, and time-consuming.</a:t>
            </a:r>
          </a:p>
          <a:p>
            <a:pPr lvl="1"/>
            <a:r>
              <a:rPr lang="en-US" b="1" dirty="0" err="1"/>
              <a:t>InsurTech</a:t>
            </a:r>
            <a:r>
              <a:rPr lang="en-US" b="1" dirty="0"/>
              <a:t>:</a:t>
            </a:r>
            <a:r>
              <a:rPr lang="en-US" dirty="0"/>
              <a:t> Automates and accelerates the process using AI/ML algorithms that analyze vast datasets in real-time. This leads to more accurate pricing and faster policy issuance. </a:t>
            </a:r>
          </a:p>
          <a:p>
            <a:r>
              <a:rPr lang="en-IN" dirty="0"/>
              <a:t>Policy administration and servicing</a:t>
            </a:r>
          </a:p>
          <a:p>
            <a:pPr lvl="1"/>
            <a:r>
              <a:rPr lang="en-US" b="1" dirty="0"/>
              <a:t>Traditional:</a:t>
            </a:r>
            <a:r>
              <a:rPr lang="en-US" dirty="0"/>
              <a:t> Inefficient, paper-heavy, and based on legacy systems.</a:t>
            </a:r>
          </a:p>
          <a:p>
            <a:pPr lvl="1"/>
            <a:r>
              <a:rPr lang="en-US" b="1" dirty="0" err="1"/>
              <a:t>InsurTech</a:t>
            </a:r>
            <a:r>
              <a:rPr lang="en-US" b="1" dirty="0"/>
              <a:t>:</a:t>
            </a:r>
            <a:r>
              <a:rPr lang="en-US" dirty="0"/>
              <a:t> Modernizes processes with cloud-native platforms, automation, and APIs for improved agility. Customers can access self-service portals and receive 24/7 support via chatbots. </a:t>
            </a:r>
          </a:p>
          <a:p>
            <a:r>
              <a:rPr lang="en-IN" dirty="0"/>
              <a:t>Claims processing</a:t>
            </a:r>
          </a:p>
          <a:p>
            <a:pPr lvl="1"/>
            <a:r>
              <a:rPr lang="en-US" b="1" dirty="0"/>
              <a:t>Traditional:</a:t>
            </a:r>
            <a:r>
              <a:rPr lang="en-US" dirty="0"/>
              <a:t> A lengthy, manual process involving significant paperwork.</a:t>
            </a:r>
          </a:p>
          <a:p>
            <a:pPr lvl="1"/>
            <a:r>
              <a:rPr lang="en-US" b="1" dirty="0" err="1"/>
              <a:t>InsurTech</a:t>
            </a:r>
            <a:r>
              <a:rPr lang="en-US" b="1" dirty="0"/>
              <a:t>:</a:t>
            </a:r>
            <a:r>
              <a:rPr lang="en-US" dirty="0"/>
              <a:t> Expedites and automates the process from first notice of loss (FNOL) to settlement using AI, computer vision (for damage assessment), and blockchain for transparency and fraud detection. </a:t>
            </a:r>
          </a:p>
          <a:p>
            <a:endParaRPr lang="en-IN" dirty="0"/>
          </a:p>
        </p:txBody>
      </p:sp>
    </p:spTree>
    <p:extLst>
      <p:ext uri="{BB962C8B-B14F-4D97-AF65-F5344CB8AC3E}">
        <p14:creationId xmlns:p14="http://schemas.microsoft.com/office/powerpoint/2010/main" val="1850411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01A14-9EC6-C660-9B31-1DFC603C5BFC}"/>
              </a:ext>
            </a:extLst>
          </p:cNvPr>
          <p:cNvSpPr>
            <a:spLocks noGrp="1"/>
          </p:cNvSpPr>
          <p:nvPr>
            <p:ph type="title"/>
          </p:nvPr>
        </p:nvSpPr>
        <p:spPr/>
        <p:txBody>
          <a:bodyPr/>
          <a:lstStyle/>
          <a:p>
            <a:r>
              <a:rPr lang="en-US" dirty="0"/>
              <a:t>Steps to build </a:t>
            </a:r>
            <a:r>
              <a:rPr lang="en-US" dirty="0" err="1"/>
              <a:t>InsurTech</a:t>
            </a:r>
            <a:r>
              <a:rPr lang="en-US" dirty="0"/>
              <a:t> Value Chain Ecosystems</a:t>
            </a:r>
            <a:endParaRPr lang="en-IN" dirty="0"/>
          </a:p>
        </p:txBody>
      </p:sp>
      <p:sp>
        <p:nvSpPr>
          <p:cNvPr id="3" name="Content Placeholder 2">
            <a:extLst>
              <a:ext uri="{FF2B5EF4-FFF2-40B4-BE49-F238E27FC236}">
                <a16:creationId xmlns:a16="http://schemas.microsoft.com/office/drawing/2014/main" id="{D94F6551-EC14-099F-F7D2-F978C2DA03D3}"/>
              </a:ext>
            </a:extLst>
          </p:cNvPr>
          <p:cNvSpPr>
            <a:spLocks noGrp="1"/>
          </p:cNvSpPr>
          <p:nvPr>
            <p:ph idx="1"/>
          </p:nvPr>
        </p:nvSpPr>
        <p:spPr/>
        <p:txBody>
          <a:bodyPr/>
          <a:lstStyle/>
          <a:p>
            <a:pPr marL="514350" indent="-514350">
              <a:buFont typeface="+mj-lt"/>
              <a:buAutoNum type="arabicPeriod"/>
            </a:pPr>
            <a:r>
              <a:rPr lang="en-US" dirty="0"/>
              <a:t>Conduct startup-storming</a:t>
            </a:r>
          </a:p>
          <a:p>
            <a:pPr marL="514350" indent="-514350">
              <a:buFont typeface="+mj-lt"/>
              <a:buAutoNum type="arabicPeriod"/>
            </a:pPr>
            <a:r>
              <a:rPr lang="en-US" dirty="0"/>
              <a:t>Organize startups themes using the Kawakita Jiro Method</a:t>
            </a:r>
          </a:p>
          <a:p>
            <a:pPr marL="514350" indent="-514350">
              <a:buFont typeface="+mj-lt"/>
              <a:buAutoNum type="arabicPeriod"/>
            </a:pPr>
            <a:r>
              <a:rPr lang="en-US" dirty="0"/>
              <a:t>Scout for relevant solutions using Quality Function Development matrix</a:t>
            </a:r>
          </a:p>
          <a:p>
            <a:pPr marL="514350" indent="-514350">
              <a:buFont typeface="+mj-lt"/>
              <a:buAutoNum type="arabicPeriod"/>
            </a:pPr>
            <a:r>
              <a:rPr lang="en-US" dirty="0"/>
              <a:t>Select the right solution</a:t>
            </a:r>
            <a:endParaRPr lang="en-IN" dirty="0"/>
          </a:p>
        </p:txBody>
      </p:sp>
    </p:spTree>
    <p:extLst>
      <p:ext uri="{BB962C8B-B14F-4D97-AF65-F5344CB8AC3E}">
        <p14:creationId xmlns:p14="http://schemas.microsoft.com/office/powerpoint/2010/main" val="2006018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24152-9C0B-290D-42E8-63D0876E0B07}"/>
              </a:ext>
            </a:extLst>
          </p:cNvPr>
          <p:cNvSpPr>
            <a:spLocks noGrp="1"/>
          </p:cNvSpPr>
          <p:nvPr>
            <p:ph type="title"/>
          </p:nvPr>
        </p:nvSpPr>
        <p:spPr/>
        <p:txBody>
          <a:bodyPr/>
          <a:lstStyle/>
          <a:p>
            <a:r>
              <a:rPr lang="en-US" dirty="0"/>
              <a:t>Conduct startup-storming</a:t>
            </a:r>
            <a:endParaRPr lang="en-IN" dirty="0"/>
          </a:p>
        </p:txBody>
      </p:sp>
      <p:sp>
        <p:nvSpPr>
          <p:cNvPr id="3" name="Content Placeholder 2">
            <a:extLst>
              <a:ext uri="{FF2B5EF4-FFF2-40B4-BE49-F238E27FC236}">
                <a16:creationId xmlns:a16="http://schemas.microsoft.com/office/drawing/2014/main" id="{439E882C-C3C8-5079-F826-914DE242F378}"/>
              </a:ext>
            </a:extLst>
          </p:cNvPr>
          <p:cNvSpPr>
            <a:spLocks noGrp="1"/>
          </p:cNvSpPr>
          <p:nvPr>
            <p:ph idx="1"/>
          </p:nvPr>
        </p:nvSpPr>
        <p:spPr/>
        <p:txBody>
          <a:bodyPr/>
          <a:lstStyle/>
          <a:p>
            <a:r>
              <a:rPr lang="en-US" dirty="0"/>
              <a:t>Startup –storming is a process under which an organization will research and identify startups that are emerging with </a:t>
            </a:r>
            <a:r>
              <a:rPr lang="en-US" dirty="0" err="1"/>
              <a:t>InsureTech</a:t>
            </a:r>
            <a:r>
              <a:rPr lang="en-US" dirty="0"/>
              <a:t> Landscape</a:t>
            </a:r>
          </a:p>
          <a:p>
            <a:r>
              <a:rPr lang="en-US" dirty="0"/>
              <a:t>Highlight what startups are about and Which issues they want to fix</a:t>
            </a:r>
          </a:p>
          <a:p>
            <a:endParaRPr lang="en-IN" dirty="0"/>
          </a:p>
        </p:txBody>
      </p:sp>
    </p:spTree>
    <p:extLst>
      <p:ext uri="{BB962C8B-B14F-4D97-AF65-F5344CB8AC3E}">
        <p14:creationId xmlns:p14="http://schemas.microsoft.com/office/powerpoint/2010/main" val="310626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E62D0-D4D1-7A85-0D69-2713241056D4}"/>
              </a:ext>
            </a:extLst>
          </p:cNvPr>
          <p:cNvSpPr>
            <a:spLocks noGrp="1"/>
          </p:cNvSpPr>
          <p:nvPr>
            <p:ph type="title"/>
          </p:nvPr>
        </p:nvSpPr>
        <p:spPr/>
        <p:txBody>
          <a:bodyPr>
            <a:normAutofit/>
          </a:bodyPr>
          <a:lstStyle/>
          <a:p>
            <a:r>
              <a:rPr lang="en-US" dirty="0"/>
              <a:t>Organize startups themes using the Kawakita Jiro Method</a:t>
            </a:r>
            <a:endParaRPr lang="en-IN" dirty="0"/>
          </a:p>
        </p:txBody>
      </p:sp>
      <p:sp>
        <p:nvSpPr>
          <p:cNvPr id="3" name="Content Placeholder 2">
            <a:extLst>
              <a:ext uri="{FF2B5EF4-FFF2-40B4-BE49-F238E27FC236}">
                <a16:creationId xmlns:a16="http://schemas.microsoft.com/office/drawing/2014/main" id="{E6B9FD0D-EBF8-37AE-3E0C-02B9241F09CA}"/>
              </a:ext>
            </a:extLst>
          </p:cNvPr>
          <p:cNvSpPr>
            <a:spLocks noGrp="1"/>
          </p:cNvSpPr>
          <p:nvPr>
            <p:ph idx="1"/>
          </p:nvPr>
        </p:nvSpPr>
        <p:spPr/>
        <p:txBody>
          <a:bodyPr/>
          <a:lstStyle/>
          <a:p>
            <a:r>
              <a:rPr lang="en-US" dirty="0"/>
              <a:t>The Kawakita Jiro method, or KJ method, is a brainstorming and idea organization technique developed by Japanese anthropologist Jiro Kawakita to help groups sort a large amount of qualitative data into logical categories or themes. </a:t>
            </a:r>
          </a:p>
          <a:p>
            <a:r>
              <a:rPr lang="en-US" dirty="0"/>
              <a:t>Also known as an affinity diagram, it uses intuitive, non-logical thinking to externalize and make sense of complex, unstructured data, fostering group consensus and providing insights into patterns and relationships. </a:t>
            </a:r>
            <a:endParaRPr lang="en-IN" dirty="0"/>
          </a:p>
        </p:txBody>
      </p:sp>
    </p:spTree>
    <p:extLst>
      <p:ext uri="{BB962C8B-B14F-4D97-AF65-F5344CB8AC3E}">
        <p14:creationId xmlns:p14="http://schemas.microsoft.com/office/powerpoint/2010/main" val="295784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4535-383B-8E6C-998F-B3390E66E743}"/>
              </a:ext>
            </a:extLst>
          </p:cNvPr>
          <p:cNvSpPr>
            <a:spLocks noGrp="1"/>
          </p:cNvSpPr>
          <p:nvPr>
            <p:ph type="title"/>
          </p:nvPr>
        </p:nvSpPr>
        <p:spPr/>
        <p:txBody>
          <a:bodyPr>
            <a:normAutofit/>
          </a:bodyPr>
          <a:lstStyle/>
          <a:p>
            <a:r>
              <a:rPr lang="en-US" dirty="0"/>
              <a:t>Scout for relevant solutions using Quality Function Development matrix</a:t>
            </a:r>
            <a:endParaRPr lang="en-IN" dirty="0"/>
          </a:p>
        </p:txBody>
      </p:sp>
      <p:sp>
        <p:nvSpPr>
          <p:cNvPr id="3" name="Content Placeholder 2">
            <a:extLst>
              <a:ext uri="{FF2B5EF4-FFF2-40B4-BE49-F238E27FC236}">
                <a16:creationId xmlns:a16="http://schemas.microsoft.com/office/drawing/2014/main" id="{C2CA22A0-7E1C-2B8E-B2A0-E9C6AFFB3254}"/>
              </a:ext>
            </a:extLst>
          </p:cNvPr>
          <p:cNvSpPr>
            <a:spLocks noGrp="1"/>
          </p:cNvSpPr>
          <p:nvPr>
            <p:ph idx="1"/>
          </p:nvPr>
        </p:nvSpPr>
        <p:spPr/>
        <p:txBody>
          <a:bodyPr/>
          <a:lstStyle/>
          <a:p>
            <a:r>
              <a:rPr lang="en-US" dirty="0"/>
              <a:t>What is QFD or Quality Function Development</a:t>
            </a:r>
          </a:p>
          <a:p>
            <a:r>
              <a:rPr lang="en-US" dirty="0"/>
              <a:t>Quality Function Deployment (QFD) is a structured method for translating customer needs into specific design and technical requirements to ensure products and services meet customer expectations. </a:t>
            </a:r>
          </a:p>
          <a:p>
            <a:r>
              <a:rPr lang="en-US" dirty="0"/>
              <a:t>Developed in Japan in the late 1960s, QFD uses tools like the "House of Quality" matrix to organize customer demands, prioritize them, and map them to engineering specifications across various levels of product development and manufacturing.</a:t>
            </a:r>
            <a:endParaRPr lang="en-IN" dirty="0"/>
          </a:p>
        </p:txBody>
      </p:sp>
    </p:spTree>
    <p:extLst>
      <p:ext uri="{BB962C8B-B14F-4D97-AF65-F5344CB8AC3E}">
        <p14:creationId xmlns:p14="http://schemas.microsoft.com/office/powerpoint/2010/main" val="1093203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CB68-2BE7-F0E3-57BA-9BABA6A50C76}"/>
              </a:ext>
            </a:extLst>
          </p:cNvPr>
          <p:cNvSpPr>
            <a:spLocks noGrp="1"/>
          </p:cNvSpPr>
          <p:nvPr>
            <p:ph type="title"/>
          </p:nvPr>
        </p:nvSpPr>
        <p:spPr/>
        <p:txBody>
          <a:bodyPr/>
          <a:lstStyle/>
          <a:p>
            <a:r>
              <a:rPr lang="en-US" dirty="0"/>
              <a:t>How does QFD works</a:t>
            </a:r>
            <a:endParaRPr lang="en-IN" dirty="0"/>
          </a:p>
        </p:txBody>
      </p:sp>
      <p:sp>
        <p:nvSpPr>
          <p:cNvPr id="5" name="Content Placeholder 4">
            <a:extLst>
              <a:ext uri="{FF2B5EF4-FFF2-40B4-BE49-F238E27FC236}">
                <a16:creationId xmlns:a16="http://schemas.microsoft.com/office/drawing/2014/main" id="{ECB72740-5433-7611-E8F3-3EF6BDEE40F8}"/>
              </a:ext>
            </a:extLst>
          </p:cNvPr>
          <p:cNvSpPr>
            <a:spLocks noGrp="1"/>
          </p:cNvSpPr>
          <p:nvPr>
            <p:ph idx="1"/>
          </p:nvPr>
        </p:nvSpPr>
        <p:spPr/>
        <p:txBody>
          <a:bodyPr>
            <a:normAutofit fontScale="92500" lnSpcReduction="20000"/>
          </a:bodyPr>
          <a:lstStyle/>
          <a:p>
            <a:r>
              <a:rPr lang="en-US" dirty="0"/>
              <a:t>The core of QFD is a series of matrices, most notably the House of Quality (</a:t>
            </a:r>
            <a:r>
              <a:rPr lang="en-US" dirty="0" err="1"/>
              <a:t>HoQ</a:t>
            </a:r>
            <a:r>
              <a:rPr lang="en-US" dirty="0"/>
              <a:t>), which visually links customer needs with technical characteristics. This allows teams to: </a:t>
            </a:r>
          </a:p>
          <a:p>
            <a:r>
              <a:rPr lang="en-US" dirty="0"/>
              <a:t>Capture the "Voice of the Customer" (VOC): by documenting what customers want and value</a:t>
            </a:r>
          </a:p>
          <a:p>
            <a:r>
              <a:rPr lang="en-US" dirty="0"/>
              <a:t>Prioritize needs: by identifying which customer attributes are most critical. </a:t>
            </a:r>
          </a:p>
          <a:p>
            <a:r>
              <a:rPr lang="en-US" b="1" dirty="0"/>
              <a:t>Translate qualitative needs into quantitative parameters</a:t>
            </a:r>
            <a:r>
              <a:rPr lang="en-US" dirty="0"/>
              <a:t>: by defining technical characteristics and setting measurable targets for them.</a:t>
            </a:r>
          </a:p>
          <a:p>
            <a:r>
              <a:rPr lang="en-US" b="1" dirty="0"/>
              <a:t>Link customer needs to technical requirements</a:t>
            </a:r>
            <a:r>
              <a:rPr lang="en-US" dirty="0"/>
              <a:t>: and then deploy these down to component and process levels.</a:t>
            </a:r>
          </a:p>
          <a:p>
            <a:r>
              <a:rPr lang="en-US" b="1" dirty="0"/>
              <a:t>Benchmark against competitors</a:t>
            </a:r>
            <a:r>
              <a:rPr lang="en-US" dirty="0"/>
              <a:t>: to understand market positioning and identify opportunities.</a:t>
            </a:r>
          </a:p>
          <a:p>
            <a:endParaRPr lang="en-IN" dirty="0"/>
          </a:p>
        </p:txBody>
      </p:sp>
    </p:spTree>
    <p:extLst>
      <p:ext uri="{BB962C8B-B14F-4D97-AF65-F5344CB8AC3E}">
        <p14:creationId xmlns:p14="http://schemas.microsoft.com/office/powerpoint/2010/main" val="1118081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use of Quality">
            <a:extLst>
              <a:ext uri="{FF2B5EF4-FFF2-40B4-BE49-F238E27FC236}">
                <a16:creationId xmlns:a16="http://schemas.microsoft.com/office/drawing/2014/main" id="{1E7FA851-5D14-C339-5265-018544968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820" y="291299"/>
            <a:ext cx="7166610" cy="5675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981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A7748-8318-C6F2-D30C-D732049916E5}"/>
              </a:ext>
            </a:extLst>
          </p:cNvPr>
          <p:cNvSpPr>
            <a:spLocks noGrp="1"/>
          </p:cNvSpPr>
          <p:nvPr>
            <p:ph type="title"/>
          </p:nvPr>
        </p:nvSpPr>
        <p:spPr/>
        <p:txBody>
          <a:bodyPr/>
          <a:lstStyle/>
          <a:p>
            <a:r>
              <a:rPr lang="en-US" dirty="0"/>
              <a:t>Select the right solution</a:t>
            </a:r>
            <a:endParaRPr lang="en-IN" dirty="0"/>
          </a:p>
        </p:txBody>
      </p:sp>
      <p:sp>
        <p:nvSpPr>
          <p:cNvPr id="3" name="Content Placeholder 2">
            <a:extLst>
              <a:ext uri="{FF2B5EF4-FFF2-40B4-BE49-F238E27FC236}">
                <a16:creationId xmlns:a16="http://schemas.microsoft.com/office/drawing/2014/main" id="{2C97E701-E382-B92B-BA43-D6C967DFDF64}"/>
              </a:ext>
            </a:extLst>
          </p:cNvPr>
          <p:cNvSpPr>
            <a:spLocks noGrp="1"/>
          </p:cNvSpPr>
          <p:nvPr>
            <p:ph idx="1"/>
          </p:nvPr>
        </p:nvSpPr>
        <p:spPr/>
        <p:txBody>
          <a:bodyPr/>
          <a:lstStyle/>
          <a:p>
            <a:r>
              <a:rPr lang="en-US" dirty="0"/>
              <a:t>Select the right solution using Pugh Matrix</a:t>
            </a:r>
          </a:p>
          <a:p>
            <a:r>
              <a:rPr lang="en-US" dirty="0"/>
              <a:t>A Pugh Matrix (or Decision Matrix Method) is a structured tool for comparing multiple concepts or solutions against a reference option (datum) using predefined, qualitative criteria, helping teams select the best alternative by systematically scoring them against set criteria. </a:t>
            </a:r>
            <a:endParaRPr lang="en-IN" dirty="0"/>
          </a:p>
        </p:txBody>
      </p:sp>
    </p:spTree>
    <p:extLst>
      <p:ext uri="{BB962C8B-B14F-4D97-AF65-F5344CB8AC3E}">
        <p14:creationId xmlns:p14="http://schemas.microsoft.com/office/powerpoint/2010/main" val="1373886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3FF46-250F-D577-FD2B-2AD9E86E73FA}"/>
              </a:ext>
            </a:extLst>
          </p:cNvPr>
          <p:cNvSpPr>
            <a:spLocks noGrp="1"/>
          </p:cNvSpPr>
          <p:nvPr>
            <p:ph type="title"/>
          </p:nvPr>
        </p:nvSpPr>
        <p:spPr/>
        <p:txBody>
          <a:bodyPr/>
          <a:lstStyle/>
          <a:p>
            <a:r>
              <a:rPr lang="en-IN" dirty="0"/>
              <a:t>How it Works</a:t>
            </a:r>
          </a:p>
        </p:txBody>
      </p:sp>
      <p:sp>
        <p:nvSpPr>
          <p:cNvPr id="3" name="Content Placeholder 2">
            <a:extLst>
              <a:ext uri="{FF2B5EF4-FFF2-40B4-BE49-F238E27FC236}">
                <a16:creationId xmlns:a16="http://schemas.microsoft.com/office/drawing/2014/main" id="{5E81E138-2020-E794-8970-F531174EB273}"/>
              </a:ext>
            </a:extLst>
          </p:cNvPr>
          <p:cNvSpPr>
            <a:spLocks noGrp="1"/>
          </p:cNvSpPr>
          <p:nvPr>
            <p:ph idx="1"/>
          </p:nvPr>
        </p:nvSpPr>
        <p:spPr/>
        <p:txBody>
          <a:bodyPr>
            <a:normAutofit fontScale="85000" lnSpcReduction="20000"/>
          </a:bodyPr>
          <a:lstStyle/>
          <a:p>
            <a:r>
              <a:rPr lang="en-US" b="1" dirty="0"/>
              <a:t>Establish Criteria:</a:t>
            </a:r>
            <a:r>
              <a:rPr lang="en-US" dirty="0"/>
              <a:t> </a:t>
            </a:r>
          </a:p>
          <a:p>
            <a:pPr lvl="1"/>
            <a:r>
              <a:rPr lang="en-US" dirty="0"/>
              <a:t>Identify and list all relevant decision-making criteria and select a baseline concept or solution to serve as a reference point. </a:t>
            </a:r>
          </a:p>
          <a:p>
            <a:r>
              <a:rPr lang="en-US" b="1" dirty="0"/>
              <a:t>Score Each Option:</a:t>
            </a:r>
            <a:r>
              <a:rPr lang="en-US" dirty="0"/>
              <a:t> </a:t>
            </a:r>
          </a:p>
          <a:p>
            <a:pPr lvl="1"/>
            <a:r>
              <a:rPr lang="en-US" dirty="0"/>
              <a:t>For each alternative, score its performance against each criterion relative to the baseline:</a:t>
            </a:r>
          </a:p>
          <a:p>
            <a:pPr lvl="1"/>
            <a:r>
              <a:rPr lang="en-US" dirty="0"/>
              <a:t>(+) Plus (+): The option is significantly better than the baseline. </a:t>
            </a:r>
          </a:p>
          <a:p>
            <a:pPr lvl="1"/>
            <a:r>
              <a:rPr lang="en-US" b="1" dirty="0"/>
              <a:t>(-) Minus (-):</a:t>
            </a:r>
            <a:r>
              <a:rPr lang="en-US" dirty="0"/>
              <a:t> The option is significantly worse than the baseline.</a:t>
            </a:r>
          </a:p>
          <a:p>
            <a:pPr lvl="1"/>
            <a:r>
              <a:rPr lang="en-US" b="1" dirty="0"/>
              <a:t>(=) Equal:</a:t>
            </a:r>
            <a:r>
              <a:rPr lang="en-US" dirty="0"/>
              <a:t> The option performs about the same as the baseline.</a:t>
            </a:r>
          </a:p>
          <a:p>
            <a:r>
              <a:rPr lang="en-US" b="1" dirty="0"/>
              <a:t>Sum Scores:</a:t>
            </a:r>
            <a:r>
              <a:rPr lang="en-US" dirty="0"/>
              <a:t> </a:t>
            </a:r>
          </a:p>
          <a:p>
            <a:pPr lvl="1"/>
            <a:r>
              <a:rPr lang="en-US" dirty="0"/>
              <a:t>Tally the pluses and minuses for each alternative.</a:t>
            </a:r>
          </a:p>
          <a:p>
            <a:r>
              <a:rPr lang="en-US" b="1" dirty="0"/>
              <a:t>Analyze Results:</a:t>
            </a:r>
            <a:r>
              <a:rPr lang="en-US" dirty="0"/>
              <a:t> </a:t>
            </a:r>
          </a:p>
          <a:p>
            <a:pPr lvl="1"/>
            <a:r>
              <a:rPr lang="en-US" dirty="0"/>
              <a:t>Compare the total scores to identify the best-performing concepts. The option with the highest score (most pluses) is generally the preferred choice. </a:t>
            </a:r>
          </a:p>
          <a:p>
            <a:endParaRPr lang="en-US" dirty="0"/>
          </a:p>
          <a:p>
            <a:endParaRPr lang="en-US" dirty="0"/>
          </a:p>
          <a:p>
            <a:endParaRPr lang="en-IN" dirty="0"/>
          </a:p>
        </p:txBody>
      </p:sp>
    </p:spTree>
    <p:extLst>
      <p:ext uri="{BB962C8B-B14F-4D97-AF65-F5344CB8AC3E}">
        <p14:creationId xmlns:p14="http://schemas.microsoft.com/office/powerpoint/2010/main" val="110941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E0EF-7816-ABA1-BE70-FDC12E6DBC38}"/>
              </a:ext>
            </a:extLst>
          </p:cNvPr>
          <p:cNvSpPr>
            <a:spLocks noGrp="1"/>
          </p:cNvSpPr>
          <p:nvPr>
            <p:ph type="title"/>
          </p:nvPr>
        </p:nvSpPr>
        <p:spPr/>
        <p:txBody>
          <a:bodyPr/>
          <a:lstStyle/>
          <a:p>
            <a:r>
              <a:rPr lang="en-US" dirty="0"/>
              <a:t>Behavioral Design and Price Optimization in </a:t>
            </a:r>
            <a:r>
              <a:rPr lang="en-US" dirty="0" err="1"/>
              <a:t>InsurTech</a:t>
            </a:r>
            <a:endParaRPr lang="en-IN" dirty="0"/>
          </a:p>
        </p:txBody>
      </p:sp>
      <p:sp>
        <p:nvSpPr>
          <p:cNvPr id="3" name="Content Placeholder 2">
            <a:extLst>
              <a:ext uri="{FF2B5EF4-FFF2-40B4-BE49-F238E27FC236}">
                <a16:creationId xmlns:a16="http://schemas.microsoft.com/office/drawing/2014/main" id="{A1F6ECC3-B2E3-87F9-03A3-121EA934FAEA}"/>
              </a:ext>
            </a:extLst>
          </p:cNvPr>
          <p:cNvSpPr>
            <a:spLocks noGrp="1"/>
          </p:cNvSpPr>
          <p:nvPr>
            <p:ph idx="1"/>
          </p:nvPr>
        </p:nvSpPr>
        <p:spPr/>
        <p:txBody>
          <a:bodyPr/>
          <a:lstStyle/>
          <a:p>
            <a:r>
              <a:rPr lang="en-US" dirty="0"/>
              <a:t>Delivering effective pricing is still today a core challenge for many insurers.</a:t>
            </a:r>
          </a:p>
          <a:p>
            <a:r>
              <a:rPr lang="en-US" dirty="0"/>
              <a:t>The main reasons are due to :</a:t>
            </a:r>
          </a:p>
          <a:p>
            <a:r>
              <a:rPr lang="en-US" dirty="0"/>
              <a:t>Asymmetry of information</a:t>
            </a:r>
          </a:p>
          <a:p>
            <a:r>
              <a:rPr lang="en-US" dirty="0"/>
              <a:t>Pre and Post Sales risk profiling</a:t>
            </a:r>
            <a:endParaRPr lang="en-IN" dirty="0"/>
          </a:p>
        </p:txBody>
      </p:sp>
    </p:spTree>
    <p:extLst>
      <p:ext uri="{BB962C8B-B14F-4D97-AF65-F5344CB8AC3E}">
        <p14:creationId xmlns:p14="http://schemas.microsoft.com/office/powerpoint/2010/main" val="337256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FC1E-3AC2-55EE-7E0D-5D2C09A12382}"/>
              </a:ext>
            </a:extLst>
          </p:cNvPr>
          <p:cNvSpPr>
            <a:spLocks noGrp="1"/>
          </p:cNvSpPr>
          <p:nvPr>
            <p:ph type="title"/>
          </p:nvPr>
        </p:nvSpPr>
        <p:spPr/>
        <p:txBody>
          <a:bodyPr/>
          <a:lstStyle/>
          <a:p>
            <a:r>
              <a:rPr lang="en-US" dirty="0" err="1"/>
              <a:t>InsurTech</a:t>
            </a:r>
            <a:r>
              <a:rPr lang="en-US" dirty="0"/>
              <a:t> and Role of Psychographics</a:t>
            </a:r>
            <a:endParaRPr lang="en-IN" dirty="0"/>
          </a:p>
        </p:txBody>
      </p:sp>
      <p:sp>
        <p:nvSpPr>
          <p:cNvPr id="3" name="Content Placeholder 2">
            <a:extLst>
              <a:ext uri="{FF2B5EF4-FFF2-40B4-BE49-F238E27FC236}">
                <a16:creationId xmlns:a16="http://schemas.microsoft.com/office/drawing/2014/main" id="{9C007AEB-3C2C-3653-5A77-6447BEE40E75}"/>
              </a:ext>
            </a:extLst>
          </p:cNvPr>
          <p:cNvSpPr>
            <a:spLocks noGrp="1"/>
          </p:cNvSpPr>
          <p:nvPr>
            <p:ph idx="1"/>
          </p:nvPr>
        </p:nvSpPr>
        <p:spPr/>
        <p:txBody>
          <a:bodyPr/>
          <a:lstStyle/>
          <a:p>
            <a:pPr algn="just"/>
            <a:r>
              <a:rPr lang="en-US" dirty="0" err="1"/>
              <a:t>InsurTech</a:t>
            </a:r>
            <a:r>
              <a:rPr lang="en-US" dirty="0"/>
              <a:t> uses technology to enhance insurance, and psychographics play a crucial role by providing insights into a customer's attitudes, interests, values, and lifestyle.</a:t>
            </a:r>
          </a:p>
          <a:p>
            <a:pPr algn="just"/>
            <a:r>
              <a:rPr lang="en-US" dirty="0"/>
              <a:t>This allows </a:t>
            </a:r>
            <a:r>
              <a:rPr lang="en-US" dirty="0" err="1"/>
              <a:t>InsurTech</a:t>
            </a:r>
            <a:r>
              <a:rPr lang="en-US" dirty="0"/>
              <a:t> companies to move beyond basic demographics and create hyper-personalized products, more effective marketing campaigns, and deeper customer connections by understanding the "why" behind a person's choices. </a:t>
            </a:r>
            <a:endParaRPr lang="en-IN" dirty="0"/>
          </a:p>
        </p:txBody>
      </p:sp>
    </p:spTree>
    <p:extLst>
      <p:ext uri="{BB962C8B-B14F-4D97-AF65-F5344CB8AC3E}">
        <p14:creationId xmlns:p14="http://schemas.microsoft.com/office/powerpoint/2010/main" val="405372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C2ED4-86D9-2752-5C37-756E89BD7CE8}"/>
              </a:ext>
            </a:extLst>
          </p:cNvPr>
          <p:cNvSpPr>
            <a:spLocks noGrp="1"/>
          </p:cNvSpPr>
          <p:nvPr>
            <p:ph type="title"/>
          </p:nvPr>
        </p:nvSpPr>
        <p:spPr/>
        <p:txBody>
          <a:bodyPr/>
          <a:lstStyle/>
          <a:p>
            <a:r>
              <a:rPr lang="en-IN" dirty="0"/>
              <a:t>How </a:t>
            </a:r>
            <a:r>
              <a:rPr lang="en-IN" dirty="0" err="1"/>
              <a:t>InsurTech</a:t>
            </a:r>
            <a:r>
              <a:rPr lang="en-IN" dirty="0"/>
              <a:t> uses psychographics</a:t>
            </a:r>
          </a:p>
        </p:txBody>
      </p:sp>
      <p:sp>
        <p:nvSpPr>
          <p:cNvPr id="3" name="Content Placeholder 2">
            <a:extLst>
              <a:ext uri="{FF2B5EF4-FFF2-40B4-BE49-F238E27FC236}">
                <a16:creationId xmlns:a16="http://schemas.microsoft.com/office/drawing/2014/main" id="{7B0CEE40-244F-4822-E9B2-33D849F17F76}"/>
              </a:ext>
            </a:extLst>
          </p:cNvPr>
          <p:cNvSpPr>
            <a:spLocks noGrp="1"/>
          </p:cNvSpPr>
          <p:nvPr>
            <p:ph idx="1"/>
          </p:nvPr>
        </p:nvSpPr>
        <p:spPr/>
        <p:txBody>
          <a:bodyPr/>
          <a:lstStyle/>
          <a:p>
            <a:r>
              <a:rPr lang="en-US" b="1" dirty="0"/>
              <a:t>Hyper-personalization:</a:t>
            </a:r>
            <a:r>
              <a:rPr lang="en-US" dirty="0"/>
              <a:t> </a:t>
            </a:r>
          </a:p>
          <a:p>
            <a:r>
              <a:rPr lang="en-US" dirty="0"/>
              <a:t>By combining psychographic data with other data like behavior and demographics, </a:t>
            </a:r>
            <a:r>
              <a:rPr lang="en-US" dirty="0" err="1"/>
              <a:t>InsurTech</a:t>
            </a:r>
            <a:r>
              <a:rPr lang="en-US" dirty="0"/>
              <a:t> can tailor policies to an individual's specific needs and risk profile. For example, a life insurance policy might be personalized based on a customer's health and wellness activities, which are linked to their lifestyle and values. </a:t>
            </a:r>
          </a:p>
          <a:p>
            <a:endParaRPr lang="en-IN" dirty="0"/>
          </a:p>
        </p:txBody>
      </p:sp>
    </p:spTree>
    <p:extLst>
      <p:ext uri="{BB962C8B-B14F-4D97-AF65-F5344CB8AC3E}">
        <p14:creationId xmlns:p14="http://schemas.microsoft.com/office/powerpoint/2010/main" val="1945632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A339-B535-8E7A-7538-316FD458C5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00081C8-153F-6D98-2901-A548BB779B6E}"/>
              </a:ext>
            </a:extLst>
          </p:cNvPr>
          <p:cNvSpPr>
            <a:spLocks noGrp="1"/>
          </p:cNvSpPr>
          <p:nvPr>
            <p:ph idx="1"/>
          </p:nvPr>
        </p:nvSpPr>
        <p:spPr/>
        <p:txBody>
          <a:bodyPr/>
          <a:lstStyle/>
          <a:p>
            <a:r>
              <a:rPr lang="en-US" b="1" dirty="0"/>
              <a:t>Enhanced customer experience:</a:t>
            </a:r>
            <a:r>
              <a:rPr lang="en-US" dirty="0"/>
              <a:t> </a:t>
            </a:r>
          </a:p>
          <a:p>
            <a:r>
              <a:rPr lang="en-US" dirty="0"/>
              <a:t>Understanding psychographics helps insurers create more meaningful and resonant customer journeys. This can involve using insights from values, interests, and lifestyles to build a deeper, non-transactional connection between the customer and the provider. </a:t>
            </a:r>
          </a:p>
          <a:p>
            <a:br>
              <a:rPr lang="en-US" dirty="0"/>
            </a:br>
            <a:endParaRPr lang="en-IN" dirty="0"/>
          </a:p>
        </p:txBody>
      </p:sp>
    </p:spTree>
    <p:extLst>
      <p:ext uri="{BB962C8B-B14F-4D97-AF65-F5344CB8AC3E}">
        <p14:creationId xmlns:p14="http://schemas.microsoft.com/office/powerpoint/2010/main" val="869421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7AAE-14A3-042F-78C2-A4E7AF8D14A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174686-3108-D68A-7414-0EF0841C0279}"/>
              </a:ext>
            </a:extLst>
          </p:cNvPr>
          <p:cNvSpPr>
            <a:spLocks noGrp="1"/>
          </p:cNvSpPr>
          <p:nvPr>
            <p:ph idx="1"/>
          </p:nvPr>
        </p:nvSpPr>
        <p:spPr/>
        <p:txBody>
          <a:bodyPr/>
          <a:lstStyle/>
          <a:p>
            <a:r>
              <a:rPr lang="en-US" b="1" dirty="0"/>
              <a:t>Improved marketing and communication:</a:t>
            </a:r>
            <a:r>
              <a:rPr lang="en-US" dirty="0"/>
              <a:t> </a:t>
            </a:r>
          </a:p>
          <a:p>
            <a:r>
              <a:rPr lang="en-US" dirty="0"/>
              <a:t>Insurers can create more effective marketing messages that speak directly to a customer's unique desires and motivations, moving beyond generic messaging to foster genuine connections based on shared values. This allows for precise audience segmentation</a:t>
            </a:r>
          </a:p>
          <a:p>
            <a:endParaRPr lang="en-IN" dirty="0"/>
          </a:p>
        </p:txBody>
      </p:sp>
    </p:spTree>
    <p:extLst>
      <p:ext uri="{BB962C8B-B14F-4D97-AF65-F5344CB8AC3E}">
        <p14:creationId xmlns:p14="http://schemas.microsoft.com/office/powerpoint/2010/main" val="2265416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9060E-2839-3D1B-9ADE-CD789FF515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3404638-8ECF-76FB-CEA5-79ADF06145F9}"/>
              </a:ext>
            </a:extLst>
          </p:cNvPr>
          <p:cNvSpPr>
            <a:spLocks noGrp="1"/>
          </p:cNvSpPr>
          <p:nvPr>
            <p:ph idx="1"/>
          </p:nvPr>
        </p:nvSpPr>
        <p:spPr/>
        <p:txBody>
          <a:bodyPr/>
          <a:lstStyle/>
          <a:p>
            <a:r>
              <a:rPr lang="en-US" b="1" dirty="0"/>
              <a:t>Behavioral insights and risk modeling:</a:t>
            </a:r>
            <a:r>
              <a:rPr lang="en-US" dirty="0"/>
              <a:t> </a:t>
            </a:r>
          </a:p>
          <a:p>
            <a:r>
              <a:rPr lang="en-US" dirty="0"/>
              <a:t>Psychographic data, combined with other data points like telematics, provides a comprehensive view of a customer's behavior, allowing for more accurate risk modeling and real-time, tailored offers like usage-based insurance (UBI). </a:t>
            </a:r>
          </a:p>
          <a:p>
            <a:r>
              <a:rPr lang="en-US" b="1" dirty="0"/>
              <a:t>Predictive analytics:</a:t>
            </a:r>
            <a:r>
              <a:rPr lang="en-US" dirty="0"/>
              <a:t> </a:t>
            </a:r>
          </a:p>
          <a:p>
            <a:r>
              <a:rPr lang="en-US" dirty="0"/>
              <a:t>Machine learning models can use psychographic data, along with other factors, to predict future consumer preferences and help insurers stay ahead of market trends.</a:t>
            </a:r>
          </a:p>
          <a:p>
            <a:endParaRPr lang="en-IN" dirty="0"/>
          </a:p>
        </p:txBody>
      </p:sp>
    </p:spTree>
    <p:extLst>
      <p:ext uri="{BB962C8B-B14F-4D97-AF65-F5344CB8AC3E}">
        <p14:creationId xmlns:p14="http://schemas.microsoft.com/office/powerpoint/2010/main" val="1181973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145F-62B0-7673-0ACA-2EA6CD1368D9}"/>
              </a:ext>
            </a:extLst>
          </p:cNvPr>
          <p:cNvSpPr>
            <a:spLocks noGrp="1"/>
          </p:cNvSpPr>
          <p:nvPr>
            <p:ph type="title"/>
          </p:nvPr>
        </p:nvSpPr>
        <p:spPr/>
        <p:txBody>
          <a:bodyPr/>
          <a:lstStyle/>
          <a:p>
            <a:r>
              <a:rPr lang="en-IN" dirty="0"/>
              <a:t>psychographic factors in insurance</a:t>
            </a:r>
          </a:p>
        </p:txBody>
      </p:sp>
      <p:sp>
        <p:nvSpPr>
          <p:cNvPr id="3" name="Content Placeholder 2">
            <a:extLst>
              <a:ext uri="{FF2B5EF4-FFF2-40B4-BE49-F238E27FC236}">
                <a16:creationId xmlns:a16="http://schemas.microsoft.com/office/drawing/2014/main" id="{98797E28-0A39-88EC-F6D5-BCE5DF3FE5F5}"/>
              </a:ext>
            </a:extLst>
          </p:cNvPr>
          <p:cNvSpPr>
            <a:spLocks noGrp="1"/>
          </p:cNvSpPr>
          <p:nvPr>
            <p:ph idx="1"/>
          </p:nvPr>
        </p:nvSpPr>
        <p:spPr/>
        <p:txBody>
          <a:bodyPr>
            <a:normAutofit fontScale="92500" lnSpcReduction="20000"/>
          </a:bodyPr>
          <a:lstStyle/>
          <a:p>
            <a:r>
              <a:rPr lang="en-US" b="1" dirty="0">
                <a:hlinkClick r:id="rId2"/>
              </a:rPr>
              <a:t>Price consciousness</a:t>
            </a:r>
            <a:r>
              <a:rPr lang="en-US" b="1" dirty="0"/>
              <a:t>:</a:t>
            </a:r>
            <a:r>
              <a:rPr lang="en-US" dirty="0"/>
              <a:t> How much a customer prioritizes price when making decisions. </a:t>
            </a:r>
          </a:p>
          <a:p>
            <a:r>
              <a:rPr lang="en-US" b="1" dirty="0">
                <a:hlinkClick r:id="rId3"/>
              </a:rPr>
              <a:t>Consumer innovativeness</a:t>
            </a:r>
            <a:r>
              <a:rPr lang="en-US" b="1" dirty="0"/>
              <a:t>:</a:t>
            </a:r>
            <a:r>
              <a:rPr lang="en-US" dirty="0"/>
              <a:t> A customer's openness to new products and technologies, which can be crucial for adopting </a:t>
            </a:r>
            <a:r>
              <a:rPr lang="en-US" dirty="0" err="1"/>
              <a:t>InsurTech</a:t>
            </a:r>
            <a:r>
              <a:rPr lang="en-US" dirty="0"/>
              <a:t> solutions. </a:t>
            </a:r>
          </a:p>
          <a:p>
            <a:r>
              <a:rPr lang="en-US" b="1" dirty="0">
                <a:hlinkClick r:id="rId4"/>
              </a:rPr>
              <a:t>Risk aversion</a:t>
            </a:r>
            <a:r>
              <a:rPr lang="en-US" b="1" dirty="0"/>
              <a:t>:</a:t>
            </a:r>
            <a:r>
              <a:rPr lang="en-US" dirty="0"/>
              <a:t> The degree to which a customer is willing to take on risk.</a:t>
            </a:r>
          </a:p>
          <a:p>
            <a:r>
              <a:rPr lang="en-US" b="1" dirty="0">
                <a:hlinkClick r:id="rId5"/>
              </a:rPr>
              <a:t>Lifestyle and values</a:t>
            </a:r>
            <a:r>
              <a:rPr lang="en-US" b="1" dirty="0"/>
              <a:t>:</a:t>
            </a:r>
            <a:r>
              <a:rPr lang="en-US" dirty="0"/>
              <a:t> Understanding a customer's lifestyle, such as being health-conscious or adventurous, can inform the types of products and rewards that would be appealing. </a:t>
            </a:r>
          </a:p>
          <a:p>
            <a:r>
              <a:rPr lang="en-US" b="1" dirty="0">
                <a:hlinkClick r:id="rId6"/>
              </a:rPr>
              <a:t>Financial self-efficacy</a:t>
            </a:r>
            <a:r>
              <a:rPr lang="en-US" b="1" dirty="0"/>
              <a:t>:</a:t>
            </a:r>
            <a:r>
              <a:rPr lang="en-US" dirty="0"/>
              <a:t> An individual's confidence in their ability to manage financial matters, which can influence their decision to purchase insurance products.</a:t>
            </a:r>
          </a:p>
          <a:p>
            <a:endParaRPr lang="en-IN" dirty="0"/>
          </a:p>
        </p:txBody>
      </p:sp>
    </p:spTree>
    <p:extLst>
      <p:ext uri="{BB962C8B-B14F-4D97-AF65-F5344CB8AC3E}">
        <p14:creationId xmlns:p14="http://schemas.microsoft.com/office/powerpoint/2010/main" val="1405150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1642-7A7F-93CE-69E0-A0225B041A39}"/>
              </a:ext>
            </a:extLst>
          </p:cNvPr>
          <p:cNvSpPr>
            <a:spLocks noGrp="1"/>
          </p:cNvSpPr>
          <p:nvPr>
            <p:ph type="title"/>
          </p:nvPr>
        </p:nvSpPr>
        <p:spPr/>
        <p:txBody>
          <a:bodyPr/>
          <a:lstStyle/>
          <a:p>
            <a:r>
              <a:rPr lang="en-IN" dirty="0"/>
              <a:t>cyber risk in insurance</a:t>
            </a:r>
          </a:p>
        </p:txBody>
      </p:sp>
      <p:sp>
        <p:nvSpPr>
          <p:cNvPr id="3" name="Content Placeholder 2">
            <a:extLst>
              <a:ext uri="{FF2B5EF4-FFF2-40B4-BE49-F238E27FC236}">
                <a16:creationId xmlns:a16="http://schemas.microsoft.com/office/drawing/2014/main" id="{A8E6EF1F-A1F5-6674-2C38-2B1186D80EB0}"/>
              </a:ext>
            </a:extLst>
          </p:cNvPr>
          <p:cNvSpPr>
            <a:spLocks noGrp="1"/>
          </p:cNvSpPr>
          <p:nvPr>
            <p:ph idx="1"/>
          </p:nvPr>
        </p:nvSpPr>
        <p:spPr/>
        <p:txBody>
          <a:bodyPr/>
          <a:lstStyle/>
          <a:p>
            <a:r>
              <a:rPr lang="en-US" dirty="0"/>
              <a:t>Cyber risk refers to the potential financial and operational losses from digital threats like data breaches and ransomware attacks, while cyber insurance is a policy designed to mitigate these risks by covering the costs associated with such incidents. </a:t>
            </a:r>
          </a:p>
          <a:p>
            <a:r>
              <a:rPr lang="en-US" dirty="0"/>
              <a:t>Cyber insurance can cover expenses for remediation, legal fees, lost income, and other liabilities, but it should complement, not replace, strong cybersecurity measures.</a:t>
            </a:r>
          </a:p>
          <a:p>
            <a:endParaRPr lang="en-IN" dirty="0"/>
          </a:p>
        </p:txBody>
      </p:sp>
    </p:spTree>
    <p:extLst>
      <p:ext uri="{BB962C8B-B14F-4D97-AF65-F5344CB8AC3E}">
        <p14:creationId xmlns:p14="http://schemas.microsoft.com/office/powerpoint/2010/main" val="1204783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294ED1DA-4E19-9EF6-6B32-A6187142C34A}"/>
              </a:ext>
            </a:extLst>
          </p:cNvPr>
          <p:cNvSpPr>
            <a:spLocks noGrp="1" noChangeArrowheads="1"/>
          </p:cNvSpPr>
          <p:nvPr>
            <p:ph idx="1"/>
          </p:nvPr>
        </p:nvSpPr>
        <p:spPr bwMode="auto">
          <a:xfrm>
            <a:off x="746760" y="615437"/>
            <a:ext cx="10431780" cy="56271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Definition:</a:t>
            </a: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The potential for financial loss or operational disruption resulting from cyberattacks, data breaches, or other cybersecurity incidents.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Examples:</a:t>
            </a:r>
            <a:endPar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Ransomware attacks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Malware and viruses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Denial-of-service (DDoS) attacks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Social engineering and fraudulent wire transfers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Impact:</a:t>
            </a: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These risks can lead to direct costs from an attack and indirect costs from business interruption and reputational damage.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1D35"/>
                </a:solidFill>
                <a:effectLst/>
                <a:latin typeface="Google Sans"/>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8582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CD03A-AE22-D081-F136-4BB29F0C3903}"/>
              </a:ext>
            </a:extLst>
          </p:cNvPr>
          <p:cNvSpPr>
            <a:spLocks noGrp="1"/>
          </p:cNvSpPr>
          <p:nvPr>
            <p:ph type="title"/>
          </p:nvPr>
        </p:nvSpPr>
        <p:spPr>
          <a:xfrm>
            <a:off x="838200" y="365126"/>
            <a:ext cx="10515600" cy="822606"/>
          </a:xfrm>
        </p:spPr>
        <p:txBody>
          <a:bodyPr/>
          <a:lstStyle/>
          <a:p>
            <a:r>
              <a:rPr lang="en-IN" dirty="0"/>
              <a:t>Cyber insurance</a:t>
            </a:r>
          </a:p>
        </p:txBody>
      </p:sp>
      <p:sp>
        <p:nvSpPr>
          <p:cNvPr id="4" name="Rectangle 1">
            <a:extLst>
              <a:ext uri="{FF2B5EF4-FFF2-40B4-BE49-F238E27FC236}">
                <a16:creationId xmlns:a16="http://schemas.microsoft.com/office/drawing/2014/main" id="{18F0794F-4740-02AD-3AE4-C32278C8E97B}"/>
              </a:ext>
            </a:extLst>
          </p:cNvPr>
          <p:cNvSpPr>
            <a:spLocks noGrp="1" noChangeArrowheads="1"/>
          </p:cNvSpPr>
          <p:nvPr>
            <p:ph idx="1"/>
          </p:nvPr>
        </p:nvSpPr>
        <p:spPr bwMode="auto">
          <a:xfrm>
            <a:off x="838200" y="1187731"/>
            <a:ext cx="10278979" cy="56271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Definition:</a:t>
            </a: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A contract that transfers some of the financial risk of cyber incidents to an insurer in exchange for a premium.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What it covers:</a:t>
            </a:r>
            <a:endPar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First-party costs:</a:t>
            </a: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 Expenses the business incurs directly, such as ransomware payments and business interruption losses.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Third-party costs:</a:t>
            </a: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 Liabilities and legal expenses arising from a data breach, such as notifying affected customers and defending against lawsuits.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Remediation costs:</a:t>
            </a: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 Payments for forensic investigations, crisis management, and legal services.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8841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DE4B-E409-E587-59E8-55472D8D5943}"/>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8A38617A-35FE-9B3C-984F-7C3C7A3DB175}"/>
              </a:ext>
            </a:extLst>
          </p:cNvPr>
          <p:cNvSpPr>
            <a:spLocks noGrp="1" noChangeArrowheads="1"/>
          </p:cNvSpPr>
          <p:nvPr>
            <p:ph idx="1"/>
          </p:nvPr>
        </p:nvSpPr>
        <p:spPr bwMode="auto">
          <a:xfrm>
            <a:off x="838201" y="2341894"/>
            <a:ext cx="10515600" cy="33188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Key features:</a:t>
            </a:r>
            <a:endPar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Provides a financial safety net to recover from a cyber incident.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Can offer access to pre-approved vendors for response services, like legal counsel and crisis communication firms.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Provides resources and expertise, sometimes via a hotline, to help businesses navigate an incident.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5844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C60E7-A0F4-952D-3951-C9C8679B4A30}"/>
              </a:ext>
            </a:extLst>
          </p:cNvPr>
          <p:cNvSpPr>
            <a:spLocks noGrp="1"/>
          </p:cNvSpPr>
          <p:nvPr>
            <p:ph type="title"/>
          </p:nvPr>
        </p:nvSpPr>
        <p:spPr/>
        <p:txBody>
          <a:bodyPr/>
          <a:lstStyle/>
          <a:p>
            <a:r>
              <a:rPr lang="en-US" dirty="0"/>
              <a:t>Relationship between cyber risk and insurance</a:t>
            </a:r>
            <a:endParaRPr lang="en-IN" dirty="0"/>
          </a:p>
        </p:txBody>
      </p:sp>
      <p:sp>
        <p:nvSpPr>
          <p:cNvPr id="4" name="Rectangle 1">
            <a:extLst>
              <a:ext uri="{FF2B5EF4-FFF2-40B4-BE49-F238E27FC236}">
                <a16:creationId xmlns:a16="http://schemas.microsoft.com/office/drawing/2014/main" id="{957C0544-5615-C3D2-DB08-0261EFC99E4F}"/>
              </a:ext>
            </a:extLst>
          </p:cNvPr>
          <p:cNvSpPr>
            <a:spLocks noGrp="1" noChangeArrowheads="1"/>
          </p:cNvSpPr>
          <p:nvPr>
            <p:ph idx="1"/>
          </p:nvPr>
        </p:nvSpPr>
        <p:spPr bwMode="auto">
          <a:xfrm>
            <a:off x="838200" y="2399436"/>
            <a:ext cx="10740390" cy="33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Cyber insurance is a tool for risk management, used in conjunction with other security practices.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It is not a substitute for strong cybersecurity defenses, but rather a way to manage the financial impact when prevention measures fail.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The increasing frequency and cost of cyberattacks have made cyber insurance a vital component of overall business risk management.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5793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1538</TotalTime>
  <Words>1734</Words>
  <Application>Microsoft Office PowerPoint</Application>
  <PresentationFormat>Widescreen</PresentationFormat>
  <Paragraphs>122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Google Sans</vt:lpstr>
      <vt:lpstr>Times New Roman</vt:lpstr>
      <vt:lpstr>Office Theme</vt:lpstr>
      <vt:lpstr>Practical Guide to Build InsurTech Value Chain Ecosystems</vt:lpstr>
      <vt:lpstr>InsureTech Value Chain Ecosystem</vt:lpstr>
      <vt:lpstr>PowerPoint Presentation</vt:lpstr>
      <vt:lpstr>PowerPoint Presentation</vt:lpstr>
      <vt:lpstr>Steps to build InsurTech Value Chain Ecosystems</vt:lpstr>
      <vt:lpstr>Conduct startup-storming</vt:lpstr>
      <vt:lpstr>Organize startups themes using the Kawakita Jiro Method</vt:lpstr>
      <vt:lpstr>Scout for relevant solutions using Quality Function Development matrix</vt:lpstr>
      <vt:lpstr>How does QFD works</vt:lpstr>
      <vt:lpstr>PowerPoint Presentation</vt:lpstr>
      <vt:lpstr>Select the right solution</vt:lpstr>
      <vt:lpstr>How it Works</vt:lpstr>
      <vt:lpstr>Behavioral Design and Price Optimization in InsurTech</vt:lpstr>
      <vt:lpstr>InsurTech and Role of Psychographics</vt:lpstr>
      <vt:lpstr>How InsurTech uses psychographics</vt:lpstr>
      <vt:lpstr>PowerPoint Presentation</vt:lpstr>
      <vt:lpstr>PowerPoint Presentation</vt:lpstr>
      <vt:lpstr>PowerPoint Presentation</vt:lpstr>
      <vt:lpstr>psychographic factors in insurance</vt:lpstr>
      <vt:lpstr>cyber risk in insurance</vt:lpstr>
      <vt:lpstr>PowerPoint Presentation</vt:lpstr>
      <vt:lpstr>Cyber insurance</vt:lpstr>
      <vt:lpstr>PowerPoint Presentation</vt:lpstr>
      <vt:lpstr>Relationship between cyber risk and insurance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Sumukh S Hungund [MAHE-MIT]</dc:creator>
  <cp:lastModifiedBy>Sumukh S Hungund [MAHE-MIT]</cp:lastModifiedBy>
  <cp:revision>4</cp:revision>
  <dcterms:created xsi:type="dcterms:W3CDTF">2025-10-05T14:38:13Z</dcterms:created>
  <dcterms:modified xsi:type="dcterms:W3CDTF">2025-10-22T04:01:12Z</dcterms:modified>
</cp:coreProperties>
</file>
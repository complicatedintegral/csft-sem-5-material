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9F0B-1A7D-8FD6-DA14-3DF79EA82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D97A7-6FDA-B8C9-3742-FB068331B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1D29F-BE02-5F31-E47E-7E031A43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385F-C775-B5CE-AF3E-C097EC83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B20FE-3E91-7C9D-E429-797ADAFF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2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1A5D-1469-5B7A-F1DE-977C59B2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347F8-1230-DDF6-CFE2-B954DD73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06457-738A-D979-FF3F-F820C800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A4EB5-F7BA-9FB6-FF21-7A05373B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9EA99-932D-E3C5-684A-F656F160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64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BCFE-7532-3028-66CD-08AC86D1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CDD6F-22F2-9973-48CA-562A8E7E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D08A-0FE7-4F67-7C48-FCA53538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D2E2A-670A-D52D-8A64-CC5AB524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58DFE-171B-E6BD-BF28-D22E5A85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3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564F-DD5D-20BA-E48E-13B0F263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9D5E5-3FE4-542B-1CBA-7EA8EDA13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50316-8B81-6F32-89D4-69DE38B25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7C9CA-3B32-A7C7-E191-EB84A1D4F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03AC1-C8E4-B3E5-AFAF-B29435B9C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F42E4-82F5-5751-A6DC-00FBF171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51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AE35-CE37-0ABA-246E-65C986F5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BB3A6-D4B3-3556-7816-16451F692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26752-972A-493F-4637-5086E7CE5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D23E9-761E-3970-4EC9-F76855B35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DC293-D119-765A-9900-2D34D213B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E83F9-1275-8A21-6508-5C6DDD13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89AA9-3519-165C-E04D-98413601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94975-8811-ADAE-2FA5-E2CD2048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7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02F9-8FB5-ED18-F952-6FEC5589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4192F-321B-A9AF-12F3-15C43006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8FACD-B5DC-760B-605C-05273FA6B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69477-ADB4-A6D7-6A72-28DC64AF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26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51B992-0A17-8E7B-0D2F-26FE5C78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78AC6-C6CA-F76C-1D3B-D402387D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F0F64-BDCD-39E2-0914-88D42F0FB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3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8373-BE3E-6DD1-3181-F4C354A1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AC007-F826-B06F-113D-72B99BC95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8D01D-7E7D-5383-5147-C0F0BC2F3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FA208-36EE-00DC-AFDE-B3E5DB77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B7FDB-407F-7568-11A7-BD1123C3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3529C-A712-D6BF-B66A-81DB39B8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1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A218-94BE-C54B-F032-3C8FB2E7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B465E-0014-85D1-258C-694010F9E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DA3E2-0058-CCD2-773A-7AC545D1D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15780-7BC0-FB17-714C-C3C26C5C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87E45-EEFC-F5C4-EBCF-87E9A343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30DC4-1074-9E6A-2327-E94A73BB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33CC-1B87-3BD0-F4BA-35A592F4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C73B5-DFE0-EECD-D598-D5DAB0A1E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995BC-086C-8374-0D68-DE16E3EB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B7235-5BF0-D869-1C68-ACEA8DA2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760B7-8947-7CE9-6526-008CF2FF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21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22212-6C3D-CDFA-49C0-74B690A4F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13803-2652-591A-4513-B0AD9933A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1D7DC-A2DB-4B55-D115-8E3187D7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56A0-E134-8B2C-7E5A-A84FB505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E07E-098E-05CD-8941-3179B780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6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4189B-79F5-9D55-7E13-7629D275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3429B-B57A-CCE7-3CB0-E5494E823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AE2F-67AC-E3D5-E79D-32586D731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1F6EB-5C88-45F5-B929-2319CC10884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8DD73-2143-D973-EEEE-B903CFFC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EAEB2-993A-9630-D1A7-C8FE5863D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3B60B-3029-42B3-9551-5B3C015F1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19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43893-1268-F046-8E4B-8E0F5F00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6AD6A0-2018-9DEC-396B-A9F585C5C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Collaborative Innovation: Observe – Partner – Invest The Corporate Collaboration Opportunity in </a:t>
            </a:r>
            <a:r>
              <a:rPr lang="en-IN" dirty="0" err="1"/>
              <a:t>InsurTech</a:t>
            </a:r>
            <a:r>
              <a:rPr lang="en-IN" dirty="0"/>
              <a:t>, The Value Chain, Behavioural Design and Price Optimization in </a:t>
            </a:r>
            <a:r>
              <a:rPr lang="en-IN" dirty="0" err="1"/>
              <a:t>InsurTech</a:t>
            </a:r>
            <a:r>
              <a:rPr lang="en-IN" dirty="0"/>
              <a:t>, Cyber Risk, Innovating within the Business to-Business Insurance Claims Handling Ecosystem, </a:t>
            </a:r>
          </a:p>
          <a:p>
            <a:r>
              <a:rPr lang="en-IN" dirty="0"/>
              <a:t>Business Model Innovation – From Incremental to Disruptive, The Future of Insurance – From Managing Policies to Managing Risks, From Claim Settlement to Claim Prevention, </a:t>
            </a:r>
          </a:p>
          <a:p>
            <a:r>
              <a:rPr lang="en-IN" dirty="0"/>
              <a:t>Digital Transformation and Corporate Innovation Management, Social Media in Insurance, The Future of Microinsurance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67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FCA8-C725-3255-A6FF-DA1D4FF82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Innovation: Observe – Partner- Invest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6A5F-D34F-480B-10ED-02CA0C05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Corporate Collaboration Opportunity in </a:t>
            </a:r>
            <a:r>
              <a:rPr lang="en-US" dirty="0" err="1"/>
              <a:t>InsurTech</a:t>
            </a:r>
            <a:endParaRPr lang="en-US" dirty="0"/>
          </a:p>
          <a:p>
            <a:r>
              <a:rPr lang="en-US" dirty="0"/>
              <a:t>Competition Vs Coopetition in the Insurance Market</a:t>
            </a:r>
          </a:p>
          <a:p>
            <a:r>
              <a:rPr lang="en-US" dirty="0"/>
              <a:t>Incumbent and </a:t>
            </a:r>
            <a:r>
              <a:rPr lang="en-US" dirty="0" err="1"/>
              <a:t>InsurTech</a:t>
            </a:r>
            <a:r>
              <a:rPr lang="en-US" dirty="0"/>
              <a:t> Collaboration Via Open Innovation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57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1655-127A-A19A-7109-44F304FE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Chain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B95-37E7-33DD-A547-87CA72437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Guide to Build </a:t>
            </a:r>
            <a:r>
              <a:rPr lang="en-US" dirty="0" err="1"/>
              <a:t>InsurTech</a:t>
            </a:r>
            <a:r>
              <a:rPr lang="en-US" dirty="0"/>
              <a:t> Value Chain Ecosystem</a:t>
            </a:r>
          </a:p>
          <a:p>
            <a:r>
              <a:rPr lang="en-US" dirty="0" err="1"/>
              <a:t>InsurTech</a:t>
            </a:r>
            <a:r>
              <a:rPr lang="en-US" dirty="0"/>
              <a:t>: Refreshingly Different</a:t>
            </a:r>
          </a:p>
          <a:p>
            <a:r>
              <a:rPr lang="en-US" dirty="0" err="1"/>
              <a:t>Behavioural</a:t>
            </a:r>
            <a:r>
              <a:rPr lang="en-US" dirty="0"/>
              <a:t> Design  and Price Optimization</a:t>
            </a:r>
          </a:p>
          <a:p>
            <a:r>
              <a:rPr lang="en-US" dirty="0" err="1"/>
              <a:t>Insur</a:t>
            </a:r>
            <a:r>
              <a:rPr lang="en-US" dirty="0"/>
              <a:t> Cyber Risk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75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7D66-3C7A-CA56-519F-7BD45BD6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91022-B12B-A314-261F-E5662BD8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to </a:t>
            </a:r>
            <a:r>
              <a:rPr lang="en-US" dirty="0" err="1"/>
              <a:t>Dispruptive</a:t>
            </a:r>
            <a:endParaRPr lang="en-US" dirty="0"/>
          </a:p>
          <a:p>
            <a:r>
              <a:rPr lang="en-US" dirty="0"/>
              <a:t>Managing Policies to Managing Risks</a:t>
            </a:r>
          </a:p>
          <a:p>
            <a:r>
              <a:rPr lang="en-US" dirty="0"/>
              <a:t>Smart Insurtech Business Models</a:t>
            </a:r>
          </a:p>
          <a:p>
            <a:r>
              <a:rPr lang="en-US" dirty="0"/>
              <a:t>From Claim Settlement to Claim Prevention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42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4B18-8531-BEDE-6372-1871758B9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</a:t>
            </a:r>
            <a:r>
              <a:rPr lang="en-US" dirty="0" err="1"/>
              <a:t>InsurTech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ADE0-3E0E-0EE4-5FB2-5752B30B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 and Corporate Innovation Management : An Action Plan</a:t>
            </a:r>
          </a:p>
          <a:p>
            <a:r>
              <a:rPr lang="en-US" dirty="0"/>
              <a:t>Future of Micro Insurance </a:t>
            </a:r>
          </a:p>
          <a:p>
            <a:r>
              <a:rPr lang="en-US" dirty="0"/>
              <a:t>Social Media in Insurance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893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6548-F0BE-43F7-7BCF-56FF73A3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Insurance penetration in Developed countries and Developing countries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3E46A-B1F2-4579-38BA-CBDFF7E76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Insurance penetration is significantly higher in developed countries (often over 7% of GDP) compared to developing countries (typically under 3% of GDP), reflecting </a:t>
            </a:r>
          </a:p>
          <a:p>
            <a:pPr lvl="1"/>
            <a:r>
              <a:rPr lang="en-US" dirty="0"/>
              <a:t>economic development, </a:t>
            </a:r>
          </a:p>
          <a:p>
            <a:pPr lvl="1"/>
            <a:r>
              <a:rPr lang="en-US" dirty="0"/>
              <a:t>higher incomes, </a:t>
            </a:r>
          </a:p>
          <a:p>
            <a:pPr lvl="1"/>
            <a:r>
              <a:rPr lang="en-US" dirty="0"/>
              <a:t>greater demand for risk management and </a:t>
            </a:r>
          </a:p>
          <a:p>
            <a:pPr lvl="1"/>
            <a:r>
              <a:rPr lang="en-US" dirty="0"/>
              <a:t>financial literacy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56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7C3658-1884-D423-D832-CA1CEA53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23912"/>
          </a:xfrm>
        </p:spPr>
        <p:txBody>
          <a:bodyPr/>
          <a:lstStyle/>
          <a:p>
            <a:r>
              <a:rPr lang="en-IN" dirty="0"/>
              <a:t>Key Characteristics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4F51D-512B-E2A1-C5AF-443FBE36B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035528"/>
            <a:ext cx="5157787" cy="823912"/>
          </a:xfrm>
        </p:spPr>
        <p:txBody>
          <a:bodyPr/>
          <a:lstStyle/>
          <a:p>
            <a:r>
              <a:rPr lang="en-IN" dirty="0"/>
              <a:t>Developed Countries: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7A972-5939-3F9E-7C08-6A721B9C9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12950"/>
            <a:ext cx="5157787" cy="4176713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/>
              <a:t>Higher Penetration:</a:t>
            </a:r>
            <a:r>
              <a:rPr lang="en-US" sz="3800" dirty="0"/>
              <a:t> Have much higher levels of insurance penetration, with figures often exceeding 7% and sometimes over 10% of GDP. </a:t>
            </a:r>
          </a:p>
          <a:p>
            <a:r>
              <a:rPr lang="en-US" sz="3800" b="1" dirty="0"/>
              <a:t>Mature Markets:</a:t>
            </a:r>
            <a:r>
              <a:rPr lang="en-US" sz="3800" dirty="0"/>
              <a:t> Possess well-established financial markets and robust demand for insurance products. </a:t>
            </a:r>
          </a:p>
          <a:p>
            <a:r>
              <a:rPr lang="en-US" sz="3800" b="1" dirty="0"/>
              <a:t>Higher Income:</a:t>
            </a:r>
            <a:r>
              <a:rPr lang="en-US" sz="3800" dirty="0"/>
              <a:t> Higher per capita income correlates with a greater demand for life insurance, as people have more disposable income for long-term savings and wealth protection. </a:t>
            </a:r>
          </a:p>
          <a:p>
            <a:r>
              <a:rPr lang="en-US" sz="3800" b="1" dirty="0"/>
              <a:t>Examples:</a:t>
            </a:r>
            <a:r>
              <a:rPr lang="en-US" sz="3800" dirty="0"/>
              <a:t> Countries like the United States, United Kingdom, and France consistently show high penetration rates. 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D00717-5B2C-0204-10F3-098D31E50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89038"/>
            <a:ext cx="5183188" cy="823912"/>
          </a:xfrm>
        </p:spPr>
        <p:txBody>
          <a:bodyPr/>
          <a:lstStyle/>
          <a:p>
            <a:r>
              <a:rPr lang="en-IN" dirty="0"/>
              <a:t>Developing Countries:</a:t>
            </a:r>
            <a:r>
              <a:rPr lang="en-IN" b="0" dirty="0"/>
              <a:t> 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CA97EF-7573-2A8C-07FA-44754FEF3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12950"/>
            <a:ext cx="5183188" cy="4176713"/>
          </a:xfrm>
        </p:spPr>
        <p:txBody>
          <a:bodyPr>
            <a:normAutofit fontScale="47500" lnSpcReduction="20000"/>
          </a:bodyPr>
          <a:lstStyle/>
          <a:p>
            <a:r>
              <a:rPr lang="en-US" sz="3600" b="1" dirty="0"/>
              <a:t>Lower Penetration:</a:t>
            </a:r>
            <a:r>
              <a:rPr lang="en-US" sz="3600" dirty="0"/>
              <a:t> Have significantly lower insurance penetration, with rates often below 3% of GDP, and in some cases, below 1%. </a:t>
            </a:r>
          </a:p>
          <a:p>
            <a:r>
              <a:rPr lang="en-US" sz="3600" b="1" dirty="0"/>
              <a:t>Underdeveloped Markets:</a:t>
            </a:r>
            <a:r>
              <a:rPr lang="en-US" sz="3600" dirty="0"/>
              <a:t> The insurance sector is still developing, with less established financial infrastructure and a smaller market. </a:t>
            </a:r>
          </a:p>
          <a:p>
            <a:r>
              <a:rPr lang="en-US" sz="3600" b="1" dirty="0"/>
              <a:t>Economic Development:</a:t>
            </a:r>
            <a:r>
              <a:rPr lang="en-US" sz="3600" dirty="0"/>
              <a:t> Penetration levels are directly linked to economic development, with rising GDP per capita leading to increased insurance spending. </a:t>
            </a:r>
          </a:p>
          <a:p>
            <a:r>
              <a:rPr lang="en-US" sz="3600" b="1" dirty="0"/>
              <a:t>Barriers to Access:</a:t>
            </a:r>
            <a:r>
              <a:rPr lang="en-US" sz="3600" dirty="0"/>
              <a:t> Lower financial literacy, particularly among women, low-income groups, and the informal sector, contributes to lower demand and understanding of insurance benefits. </a:t>
            </a:r>
          </a:p>
          <a:p>
            <a:r>
              <a:rPr lang="en-US" sz="3600" b="1" dirty="0"/>
              <a:t>Mandatory Insurance:</a:t>
            </a:r>
            <a:r>
              <a:rPr lang="en-US" sz="3600" dirty="0"/>
              <a:t> Non-life insurance, especially motor insurance, is often mandatory and contributes more to the overall penetration rate in these markets.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31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0A1E8F-B1D7-04D4-11DE-566E3696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Driving the Difference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C77FD7-B3BA-E45C-6440-AF52CAF01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Economic Growth: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Higher economic development and GDP per capita in developed countries naturally lead to higher insurance consumption and penetration. </a:t>
            </a:r>
          </a:p>
          <a:p>
            <a:r>
              <a:rPr lang="en-US" b="1" dirty="0"/>
              <a:t>Financial Literacy &amp; Education: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Greater awareness and understanding of risk management and financial planning, often linked to higher education levels, boosts demand for insurance products. </a:t>
            </a:r>
          </a:p>
          <a:p>
            <a:r>
              <a:rPr lang="en-US" b="1" dirty="0"/>
              <a:t>Financial Sector Maturity: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Developed economies typically have more sophisticated financial systems, making insurance products more accessible and widely available.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28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C893-40DA-0514-001E-91DF6C99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5EA5-6177-3FAF-E685-8E8C101AC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Consumer Demand: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As incomes rise, so does the demand for financial products that offer safety nets, long-term savings, and protection for dependents and assets. </a:t>
            </a:r>
          </a:p>
          <a:p>
            <a:r>
              <a:rPr lang="en-US" b="1" dirty="0"/>
              <a:t>Regulatory Environment: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Supportive regulatory frameworks in developed nations foster market growth, while developing nations may still be establishing comprehensive policies for financial inclusion and market development.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151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578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Collaborative Innovation: Observe – Partner- Invest</vt:lpstr>
      <vt:lpstr>Value Chain</vt:lpstr>
      <vt:lpstr>Business Model</vt:lpstr>
      <vt:lpstr>Future of InsurTech</vt:lpstr>
      <vt:lpstr>Insurance penetration in Developed countries and Developing countries</vt:lpstr>
      <vt:lpstr>Key Characteristics</vt:lpstr>
      <vt:lpstr>Factors Driving the Difference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Sumukh S Hungund [MAHE-MIT]</dc:creator>
  <cp:lastModifiedBy>Sumukh S Hungund [MAHE-MIT]</cp:lastModifiedBy>
  <cp:revision>1</cp:revision>
  <dcterms:created xsi:type="dcterms:W3CDTF">2025-09-25T08:24:13Z</dcterms:created>
  <dcterms:modified xsi:type="dcterms:W3CDTF">2025-09-25T09:54:36Z</dcterms:modified>
</cp:coreProperties>
</file>
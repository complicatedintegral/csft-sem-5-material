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6" r:id="rId4"/>
    <p:sldId id="267" r:id="rId5"/>
    <p:sldId id="268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57" r:id="rId14"/>
    <p:sldId id="258" r:id="rId15"/>
    <p:sldId id="259" r:id="rId16"/>
    <p:sldId id="26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56" d="100"/>
          <a:sy n="56" d="100"/>
        </p:scale>
        <p:origin x="9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DAB0-9147-F16A-1EED-D06B9BEB5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B1DDE-AEDA-00AA-36BA-ADD93D2BA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1027-0259-B198-EB2F-BFD1B5F8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CF306-ED63-FECB-1836-92B38C54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900E2-6573-A0A5-E0AE-AD4BC408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8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3980-892F-6761-0EAA-21273E6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5A9D-D3F8-0704-EA30-C7CA6A250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38718-AC37-794A-E8A8-BE7E95C8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B641-2134-C9A4-38D7-66E1DB31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3DAED-3723-E9FB-C6F1-CA023D3D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9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FA8A-4891-5A4B-3740-ED7B5C53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5D0DC-96B0-9BDE-0E59-4014B7AF1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EC94-ECCA-3B28-BA85-D612E504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DA9A7-E1D3-7937-9E36-2E7CDF6D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54565-7CF5-33F4-0E2B-2DF48174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2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847DB-246D-723D-2101-EC1DA358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71A2-0420-954E-A08F-B080560AC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E4C50-EEED-1337-412A-737FDF2ED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D3425-3ADA-BAC7-2D21-22465793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A9DBB-DDC7-974E-4E71-4D9D4BBF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607EF-B8CF-79E9-81C3-A50028CB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0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D490-CBED-7E87-5922-8A4FD376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7EDF0-183C-F8FB-8445-F3018B173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36546-E0F6-F23F-8990-435F85F49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8F259-CB37-D5F5-C4A4-369B2ED1B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14EA2-B959-C79E-DEC5-9646042D6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5DC4C-7738-640B-EB37-C1BEB250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E70D7-C0C2-F70E-50A2-47D31C3E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618E1-66D4-D34C-7D40-35852A4C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9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925B-5CDD-3D65-930C-7BCC7AFB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9C332-1BAD-E1B7-95A0-6E76978F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0464-1EEC-1BEC-5A16-C901DEC4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662F7-4E43-99DF-5A4C-427783D6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1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23641-EF2E-9F43-BD78-20232279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4CAC2-642F-6CFD-5931-2C9F41DF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693B-665C-C27F-A0FB-39157A44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4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76A9-E3FD-DA17-A412-4C9FDF20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75F5-D5BB-897E-3FB9-927A70CE9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95F64-78CF-D982-41BF-BF01EFE7A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8F5AA-1CCA-34CA-4F00-D07C74E1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D864E-D88C-7D4F-3DEA-5FFD291D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5F419-DB9F-DFF0-0D04-B0327A8F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5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F776-1EDD-BB51-3AFF-6F6BAF4C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ACDC2-96AA-6060-4A04-13EE3F7C0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84CA6-CBE2-10E4-FA2E-9CBEE76FD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A1834-DA00-8F69-933D-22D36331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A63A3-F3EA-5B1D-2418-62E048B3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05D23-1065-4526-359D-5E7E646B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73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20E9-754A-8AE2-FC83-41ABA412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34D5E-487C-75CB-F0EA-04E56A67D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82AF5-CAD4-4596-94A4-26A612AE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268B-DDD9-2AB0-C42C-7194786C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FFD02-B891-01FB-67B0-0292147D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38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D07AE-CE1F-54B7-374B-087104DCC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0FFE4-BF17-325A-C212-DBFED6E36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09F9-77CB-9F5B-EFD5-945E2085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77F46-FB1E-06A1-C97F-62996186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72D4-6135-48C5-75E2-416030AB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2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59BF4-2E2C-4BE2-622D-532F0F62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8EFB-CD10-F964-E3C8-33D2CB5A0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32023-C88D-DDE1-3204-AD48194D4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B32B7-64E8-4D1A-9B7B-404C2415DE6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3EDA0-619D-D8FD-575E-5FA8C5B40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A0B0-F750-E390-0E75-442103998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08D2C-09EB-478E-80F9-D7B7B4C62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37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y.com/en_gl/financial-services-emeia/ecosystems-in-insurance-what-winners-do-differently" TargetMode="External"/><Relationship Id="rId2" Type="http://schemas.openxmlformats.org/officeDocument/2006/relationships/hyperlink" Target="https://www.swissre.com/institute/research/topics-and-risk-dialogues/digital-business-model-and-cyber-risk/Digital-ecosystem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pFAIWl2b6M" TargetMode="External"/><Relationship Id="rId2" Type="http://schemas.openxmlformats.org/officeDocument/2006/relationships/hyperlink" Target="https://www.youtube.com/watch?v=xjLJwd-PZj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F84A-E70B-5911-4841-A11CD656A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Ecosystem-Insurance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74DD6-5AA6-E4AC-AADC-D28090902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07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FD8509-C5E4-D2DC-A957-34F270C4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20" y="-1"/>
            <a:ext cx="1027416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6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9066-DABF-FD6B-DF97-0082E624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6645-936B-AEA1-310C-D94F16BE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Insurance companies provide a wide range of coverage options to meet different needs, including:</a:t>
            </a:r>
          </a:p>
          <a:p>
            <a:r>
              <a:rPr lang="en-US" dirty="0"/>
              <a:t>Health Insurance: Covers medical expenses.</a:t>
            </a:r>
          </a:p>
          <a:p>
            <a:r>
              <a:rPr lang="en-US" dirty="0"/>
              <a:t>Life Insurance: Provides financial protection for beneficiaries.</a:t>
            </a:r>
          </a:p>
          <a:p>
            <a:r>
              <a:rPr lang="en-US" dirty="0"/>
              <a:t>Auto Insurance: Covers vehicle-related damages and liabilities.</a:t>
            </a:r>
          </a:p>
          <a:p>
            <a:r>
              <a:rPr lang="en-US" dirty="0"/>
              <a:t>Property Insurance: Protects homes, buildings, and belongings.</a:t>
            </a:r>
          </a:p>
          <a:p>
            <a:r>
              <a:rPr lang="en-US" dirty="0"/>
              <a:t>Liability Insurance: Covers legal and financial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08720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8FF5-745E-A990-CEC9-3BF8400C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Insurance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80FB7-B049-8105-6713-F5393026A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Premium Collection</a:t>
            </a:r>
          </a:p>
          <a:p>
            <a:pPr lvl="1"/>
            <a:r>
              <a:rPr lang="en-US" dirty="0"/>
              <a:t>Policyholders pay regular premiums (monthly, quarterly, or annually).</a:t>
            </a:r>
          </a:p>
          <a:p>
            <a:pPr lvl="1"/>
            <a:r>
              <a:rPr lang="en-US" dirty="0"/>
              <a:t>These payments form the primary revenue source for insurance companies.</a:t>
            </a:r>
          </a:p>
          <a:p>
            <a:r>
              <a:rPr lang="en-US" dirty="0"/>
              <a:t>Risk Pooling and Fund Management</a:t>
            </a:r>
          </a:p>
          <a:p>
            <a:pPr lvl="1"/>
            <a:r>
              <a:rPr lang="en-US" dirty="0"/>
              <a:t>Collected premiums are pooled into a common fund.</a:t>
            </a:r>
          </a:p>
          <a:p>
            <a:pPr lvl="1"/>
            <a:r>
              <a:rPr lang="en-US" dirty="0"/>
              <a:t>This fund is used to pay out claims to policyholders experiencing covered losses.</a:t>
            </a:r>
          </a:p>
          <a:p>
            <a:r>
              <a:rPr lang="en-US" dirty="0"/>
              <a:t>Claims and Compensation</a:t>
            </a:r>
          </a:p>
          <a:p>
            <a:pPr lvl="1"/>
            <a:r>
              <a:rPr lang="en-US" dirty="0"/>
              <a:t>When a covered loss occurs, the policyholder files a claim.</a:t>
            </a:r>
          </a:p>
          <a:p>
            <a:pPr lvl="1"/>
            <a:r>
              <a:rPr lang="en-US" dirty="0"/>
              <a:t>The insurance company investigates and, if valid, provides compensation.</a:t>
            </a:r>
          </a:p>
          <a:p>
            <a:r>
              <a:rPr lang="en-US" dirty="0"/>
              <a:t>Risk Transfer Mechanism</a:t>
            </a:r>
          </a:p>
          <a:p>
            <a:pPr lvl="1"/>
            <a:r>
              <a:rPr lang="en-US" dirty="0"/>
              <a:t>Insurance allows individuals or businesses to shift financial risks to the insurer.</a:t>
            </a:r>
          </a:p>
          <a:p>
            <a:pPr lvl="1"/>
            <a:r>
              <a:rPr lang="en-US" dirty="0"/>
              <a:t>In return for premiums, insurers take on the financial responsibility for covered risks.</a:t>
            </a:r>
          </a:p>
          <a:p>
            <a:r>
              <a:rPr lang="en-US" dirty="0"/>
              <a:t>The Law of Large Numbers</a:t>
            </a:r>
          </a:p>
          <a:p>
            <a:pPr lvl="1"/>
            <a:r>
              <a:rPr lang="en-US" dirty="0"/>
              <a:t>Insurers spread risk across a large, diverse group of policyholders.</a:t>
            </a:r>
          </a:p>
          <a:p>
            <a:pPr lvl="1"/>
            <a:r>
              <a:rPr lang="en-US" dirty="0"/>
              <a:t>This ensures that they have sufficient funds to cover claims while remaining financially stable.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93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192BE-7A64-1CA7-06AB-18227C3F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Components of the Insurance Ecosystem</a:t>
            </a:r>
          </a:p>
        </p:txBody>
      </p:sp>
      <p:pic>
        <p:nvPicPr>
          <p:cNvPr id="2050" name="Picture 2" descr="A circular flow diagram illustrating the relationships within the insurance ecosystem">
            <a:extLst>
              <a:ext uri="{FF2B5EF4-FFF2-40B4-BE49-F238E27FC236}">
                <a16:creationId xmlns:a16="http://schemas.microsoft.com/office/drawing/2014/main" id="{011E1FDA-BCA8-E2D0-73FD-5F6EB412E3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3556" y="1675227"/>
            <a:ext cx="9764888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22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043D-8343-F20B-201C-F9B2A073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2A79-F04E-0267-62A5-BBD6EB4F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Policyholders (The Insured)</a:t>
            </a:r>
          </a:p>
          <a:p>
            <a:pPr lvl="1"/>
            <a:r>
              <a:rPr lang="en-US" dirty="0"/>
              <a:t>Individuals or businesses that purchase insurance policies to protect against financial risks.</a:t>
            </a:r>
          </a:p>
          <a:p>
            <a:pPr lvl="1"/>
            <a:r>
              <a:rPr lang="en-US" dirty="0"/>
              <a:t>Policies are issued by insurance companies, also known as carriers.</a:t>
            </a:r>
          </a:p>
          <a:p>
            <a:r>
              <a:rPr lang="en-US" dirty="0"/>
              <a:t>Distribution Channels</a:t>
            </a:r>
          </a:p>
          <a:p>
            <a:pPr lvl="1"/>
            <a:r>
              <a:rPr lang="en-US" dirty="0"/>
              <a:t>Indirect Channels (Intermediaries):</a:t>
            </a:r>
          </a:p>
          <a:p>
            <a:pPr lvl="2"/>
            <a:r>
              <a:rPr lang="en-US" dirty="0"/>
              <a:t>Agents (captive or independent) and brokers play a crucial role in selling insurance policies.</a:t>
            </a:r>
          </a:p>
          <a:p>
            <a:pPr lvl="2"/>
            <a:r>
              <a:rPr lang="en-US" dirty="0"/>
              <a:t>They provide personalized advice, compare options, and help customers choose the best coverage.</a:t>
            </a:r>
          </a:p>
          <a:p>
            <a:pPr lvl="1"/>
            <a:r>
              <a:rPr lang="en-US" dirty="0"/>
              <a:t>Direct Channels:</a:t>
            </a:r>
          </a:p>
          <a:p>
            <a:pPr lvl="2"/>
            <a:r>
              <a:rPr lang="en-US" dirty="0"/>
              <a:t>Some insurers sell policies directly without intermediaries.</a:t>
            </a:r>
          </a:p>
          <a:p>
            <a:pPr lvl="2"/>
            <a:r>
              <a:rPr lang="en-US" dirty="0"/>
              <a:t>Sales occur through call centers, online platforms, and banks.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21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83C5-4E45-D9E4-FB4B-BF55E864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002C4-B1FF-B3FF-6F0A-B1421BC4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Reinsurers (Risk Mitigation Partners)</a:t>
            </a:r>
          </a:p>
          <a:p>
            <a:pPr lvl="1"/>
            <a:r>
              <a:rPr lang="en-US" dirty="0"/>
              <a:t>Reinsurance companies help primary insurers manage and mitigate risks.</a:t>
            </a:r>
          </a:p>
          <a:p>
            <a:pPr lvl="1"/>
            <a:r>
              <a:rPr lang="en-US" dirty="0"/>
              <a:t>This ensures financial stability and allows insurers to expand their capacity to underwrite policies.</a:t>
            </a:r>
          </a:p>
          <a:p>
            <a:r>
              <a:rPr lang="en-US" dirty="0"/>
              <a:t>Regulators (Industry Oversight)</a:t>
            </a:r>
          </a:p>
          <a:p>
            <a:pPr lvl="1"/>
            <a:r>
              <a:rPr lang="en-US" dirty="0"/>
              <a:t>Regulatory bodies oversee insurance companies to ensure fairness, transparency, and legal compliance.</a:t>
            </a:r>
          </a:p>
          <a:p>
            <a:pPr lvl="1"/>
            <a:r>
              <a:rPr lang="en-US" dirty="0"/>
              <a:t>Their goal is to protect policyholders, maintain industry stability, and promote fair competition.</a:t>
            </a:r>
          </a:p>
          <a:p>
            <a:r>
              <a:rPr lang="en-US"/>
              <a:t>This interconnected system enables the insurance company to function efficiently, ensuring financial protection for individuals and businesses while managing risks effectively.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50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CE8A-D40B-E5AD-9E8A-C0E73CA2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10" y="365125"/>
            <a:ext cx="1128141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Decoding the Significance of Ecosystems in Insurance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FF529-4375-DACD-3CD5-4F5D305D0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Samantha Chow excellently describes a digital insurance ecosystem as a collaborative network of companies that collectively provides greater value to customers than a single entity could.</a:t>
            </a:r>
          </a:p>
          <a:p>
            <a:pPr algn="just"/>
            <a:r>
              <a:rPr lang="en-US" dirty="0"/>
              <a:t>The strength of ecosystems lies in their capability to harness each participant's unique strengths, thereby enhancing the customer experience.</a:t>
            </a:r>
          </a:p>
          <a:p>
            <a:pPr algn="just"/>
            <a:r>
              <a:rPr lang="en-US" dirty="0"/>
              <a:t>Within an ecosystem, insurers collaborate with different partners who offer complementary products, services, and features. </a:t>
            </a:r>
          </a:p>
          <a:p>
            <a:pPr algn="just"/>
            <a:r>
              <a:rPr lang="en-US" dirty="0"/>
              <a:t>This expands their range of services beyond traditional insurance products, enabling them to reach new customer segments, launch innovative products, and break into new markets.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59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6AAC-E379-D7D0-99C8-B992B485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Embracing Ecosystems: An Opportunity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13A4-F197-EE22-81AB-CA9A047A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Ecosystems signify a strategic deviation from traditional business models, offering a genuine potential for market disruption.</a:t>
            </a:r>
          </a:p>
          <a:p>
            <a:r>
              <a:rPr lang="en-US" dirty="0"/>
              <a:t>Rather than falling prey to it, insurance companies can either join existing ecosystems or create their own to ensure that they are the disruptors, not the disrupted. </a:t>
            </a:r>
          </a:p>
          <a:p>
            <a:r>
              <a:rPr lang="en-US" dirty="0"/>
              <a:t>As orchestrators of these ecosystems typically control the majority of the revenue, it can be profitable to assume this role.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50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9F44-095B-06A9-5C63-E7821CC3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C5EB1-BE44-13EE-0853-A04016277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than 75% of global insurance executives see digital ecosystems and partnerships as crucial to gaining a competitive edge, as per a </a:t>
            </a:r>
            <a:r>
              <a:rPr lang="en-US" u="sng" dirty="0">
                <a:hlinkClick r:id="rId2"/>
              </a:rPr>
              <a:t>2019 Swiss Re study</a:t>
            </a:r>
            <a:r>
              <a:rPr lang="en-US" dirty="0"/>
              <a:t>. </a:t>
            </a:r>
          </a:p>
          <a:p>
            <a:r>
              <a:rPr lang="en-US" dirty="0"/>
              <a:t>According to EY's </a:t>
            </a:r>
            <a:r>
              <a:rPr lang="en-US" u="sng" dirty="0">
                <a:hlinkClick r:id="rId3"/>
              </a:rPr>
              <a:t>"Ecosystems in Insurance: what winners do differently"</a:t>
            </a:r>
            <a:r>
              <a:rPr lang="en-US" dirty="0"/>
              <a:t>, ecosystems can assist insurers in navigating several crucial trends, including rising customer expectations, profound technology disruption, and widening talent gaps.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585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8BA6-BEFA-51D4-2B4D-8492A853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Swiss Insurers Are Motivated to Embrace Ecosystems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2C7D-87B2-BF7B-BF3B-EEBCA094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comprehensive study by ZHAW, </a:t>
            </a:r>
            <a:r>
              <a:rPr lang="en-US" dirty="0" err="1"/>
              <a:t>Synpulse</a:t>
            </a:r>
            <a:r>
              <a:rPr lang="en-US" dirty="0"/>
              <a:t>, and </a:t>
            </a:r>
            <a:r>
              <a:rPr lang="en-US" dirty="0" err="1"/>
              <a:t>Zühlke</a:t>
            </a:r>
            <a:r>
              <a:rPr lang="en-US" dirty="0"/>
              <a:t> indicates that Swiss insurers could be prepping for significant changes and that the existing state of technology modernization looks like a preparation.</a:t>
            </a:r>
          </a:p>
          <a:p>
            <a:pPr algn="just"/>
            <a:r>
              <a:rPr lang="en-US" dirty="0"/>
              <a:t> At present, digital insurance technologies are focused on specific areas, like replacing legacy systems, process automation, or deploying task-specific tools and interfaces. </a:t>
            </a:r>
          </a:p>
          <a:p>
            <a:pPr algn="just"/>
            <a:r>
              <a:rPr lang="en-US" dirty="0"/>
              <a:t>Though crucial, these advancements merely set the stage for potential industry transformation, shifting from optimizing present business models to exploring and unleashing new ones.  </a:t>
            </a:r>
          </a:p>
          <a:p>
            <a:pPr algn="just"/>
            <a:r>
              <a:rPr lang="en-US" dirty="0"/>
              <a:t>Several motivating factors have been identified that drive insurers toward ecosystem participation include customer retention through value-added services, acquiring new customers over novel sales channels, fostering innovation by accessing fresh ideas.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53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6352-3F91-17A6-05BC-9EBBB9B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DFD30-73FC-B07B-06EF-5E4787E9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Key motivating factors">
            <a:extLst>
              <a:ext uri="{FF2B5EF4-FFF2-40B4-BE49-F238E27FC236}">
                <a16:creationId xmlns:a16="http://schemas.microsoft.com/office/drawing/2014/main" id="{8253992D-0416-3EFA-0CA8-A8E82A554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7007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052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CFC0-C6B4-B1F9-DDD3-2D2615FE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 system in Insurance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0C460D-0070-B507-C9F2-82C98172E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815" y="1690688"/>
            <a:ext cx="8436370" cy="50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4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C454-666D-7677-F964-68B33C5C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of the participant’s in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09BD-A34A-D122-72A0-04BB9850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Orchestrator</a:t>
            </a:r>
          </a:p>
          <a:p>
            <a:r>
              <a:rPr lang="en-IN" dirty="0"/>
              <a:t>Realizer</a:t>
            </a:r>
          </a:p>
          <a:p>
            <a:r>
              <a:rPr lang="en-IN" dirty="0"/>
              <a:t>Enabler</a:t>
            </a:r>
          </a:p>
        </p:txBody>
      </p:sp>
    </p:spTree>
    <p:extLst>
      <p:ext uri="{BB962C8B-B14F-4D97-AF65-F5344CB8AC3E}">
        <p14:creationId xmlns:p14="http://schemas.microsoft.com/office/powerpoint/2010/main" val="851752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3F7F-6C24-A26D-17BD-A4302C5A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Orchestrator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0AF6-9A72-27D0-24E0-58C16D523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Orchestrators are the most outwardly visible players.</a:t>
            </a:r>
          </a:p>
          <a:p>
            <a:r>
              <a:rPr lang="en-US" dirty="0"/>
              <a:t> They are responsible for formulating a vision, providing technical platforms and creating structures.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138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6FDD-44CB-820B-55D2-B0E4AFFD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D3C8-975D-A79B-2F7E-53EB91F2F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Realizers, on the other hand, are players who deliver products and services and thus create an actual ecosystem out of a provider's infrastructure or product. </a:t>
            </a:r>
          </a:p>
          <a:p>
            <a:r>
              <a:rPr lang="en-US" dirty="0"/>
              <a:t>They manage customer relationships.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16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CA35-B148-0737-6447-619A729A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ADBA-8C87-691C-14C0-70F6207F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https://www.youtube.com/watch?v=xjLJwd-PZjI</a:t>
            </a:r>
            <a:endParaRPr lang="en-IN" dirty="0"/>
          </a:p>
          <a:p>
            <a:r>
              <a:rPr lang="en-IN">
                <a:hlinkClick r:id="rId3"/>
              </a:rPr>
              <a:t>https://www.youtube.com/watch?v=opFAIWl2b6M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228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869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Ecosystem-Insurance</vt:lpstr>
      <vt:lpstr>PowerPoint Presentation</vt:lpstr>
      <vt:lpstr>PowerPoint Presentation</vt:lpstr>
      <vt:lpstr>The Insurance Process</vt:lpstr>
      <vt:lpstr>Key Components of the Insurance Ecosystem</vt:lpstr>
      <vt:lpstr>PowerPoint Presentation</vt:lpstr>
      <vt:lpstr>PowerPoint Presentation</vt:lpstr>
      <vt:lpstr>Decoding the Significance of Ecosystems in Insurance</vt:lpstr>
      <vt:lpstr>Embracing Ecosystems: An Opportunity</vt:lpstr>
      <vt:lpstr>PowerPoint Presentation</vt:lpstr>
      <vt:lpstr>Why Swiss Insurers Are Motivated to Embrace Ecosystems</vt:lpstr>
      <vt:lpstr>PowerPoint Presentation</vt:lpstr>
      <vt:lpstr>Eco system in Insurance</vt:lpstr>
      <vt:lpstr>Roles of the participant’s in ecosystem</vt:lpstr>
      <vt:lpstr>Orchestrator</vt:lpstr>
      <vt:lpstr>Realizer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Sumukh S Hungund [MAHE-MIT]</dc:creator>
  <cp:lastModifiedBy>Sumukh S Hungund [MAHE-MIT]</cp:lastModifiedBy>
  <cp:revision>3</cp:revision>
  <dcterms:created xsi:type="dcterms:W3CDTF">2025-08-14T06:39:40Z</dcterms:created>
  <dcterms:modified xsi:type="dcterms:W3CDTF">2025-08-18T04:34:02Z</dcterms:modified>
</cp:coreProperties>
</file>
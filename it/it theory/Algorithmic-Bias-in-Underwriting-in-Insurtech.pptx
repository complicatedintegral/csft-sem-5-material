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Poppins Light" panose="00000400000000000000" pitchFamily="2" charset="77"/>
      <p:regular r:id="rId13"/>
    </p:embeddedFont>
    <p:embeddedFont>
      <p:font typeface="Roboto Light" panose="02000000000000000000" pitchFamily="2"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340"/>
    <p:restoredTop sz="94610"/>
  </p:normalViewPr>
  <p:slideViewPr>
    <p:cSldViewPr snapToGrid="0" snapToObjects="1">
      <p:cViewPr varScale="1">
        <p:scale>
          <a:sx n="102" d="100"/>
          <a:sy n="102" d="100"/>
        </p:scale>
        <p:origin x="192"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7186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txBody>
          <a:bodyPr/>
          <a:lstStyle/>
          <a:p>
            <a:endParaRPr lang="en-US"/>
          </a:p>
        </p:txBody>
      </p:sp>
      <p:sp>
        <p:nvSpPr>
          <p:cNvPr id="3" name="Shape 1"/>
          <p:cNvSpPr/>
          <p:nvPr/>
        </p:nvSpPr>
        <p:spPr>
          <a:xfrm>
            <a:off x="0" y="0"/>
            <a:ext cx="14630400" cy="8229600"/>
          </a:xfrm>
          <a:prstGeom prst="rect">
            <a:avLst/>
          </a:prstGeom>
          <a:solidFill>
            <a:srgbClr val="05050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5" Type="http://schemas.openxmlformats.org/officeDocument/2006/relationships/image" Target="../media/image3.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svg"/></Relationships>
</file>

<file path=ppt/slides/_rels/slide10.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43863" y="745331"/>
            <a:ext cx="7829074" cy="6163628"/>
          </a:xfrm>
          <a:prstGeom prst="rect">
            <a:avLst/>
          </a:prstGeom>
          <a:noFill/>
          <a:ln/>
        </p:spPr>
        <p:txBody>
          <a:bodyPr wrap="square" lIns="0" tIns="0" rIns="0" bIns="0" rtlCol="0" anchor="t"/>
          <a:lstStyle/>
          <a:p>
            <a:pPr marL="0" indent="0" algn="l">
              <a:lnSpc>
                <a:spcPts val="12100"/>
              </a:lnSpc>
              <a:buNone/>
            </a:pPr>
            <a:r>
              <a:rPr lang="en-US" sz="9700" dirty="0">
                <a:solidFill>
                  <a:srgbClr val="F2F2F3"/>
                </a:solidFill>
                <a:latin typeface="Poppins Light" pitchFamily="34" charset="0"/>
                <a:ea typeface="Poppins Light" pitchFamily="34" charset="-122"/>
                <a:cs typeface="Poppins Light" pitchFamily="34" charset="-120"/>
              </a:rPr>
              <a:t>Algorithmic Bias in Underwriting in Insurtech</a:t>
            </a:r>
            <a:endParaRPr lang="en-US" sz="9700" dirty="0"/>
          </a:p>
        </p:txBody>
      </p:sp>
      <p:sp>
        <p:nvSpPr>
          <p:cNvPr id="4" name="Text 1"/>
          <p:cNvSpPr/>
          <p:nvPr/>
        </p:nvSpPr>
        <p:spPr>
          <a:xfrm>
            <a:off x="6143863" y="7155418"/>
            <a:ext cx="7829074" cy="328732"/>
          </a:xfrm>
          <a:prstGeom prst="rect">
            <a:avLst/>
          </a:prstGeom>
          <a:noFill/>
          <a:ln/>
        </p:spPr>
        <p:txBody>
          <a:bodyPr wrap="none" lIns="0" tIns="0" rIns="0" bIns="0" rtlCol="0" anchor="t"/>
          <a:lstStyle/>
          <a:p>
            <a:pPr marL="0" indent="0" algn="l">
              <a:lnSpc>
                <a:spcPts val="2550"/>
              </a:lnSpc>
              <a:buNone/>
            </a:pPr>
            <a:r>
              <a:rPr lang="en-US" sz="1600" dirty="0">
                <a:solidFill>
                  <a:srgbClr val="E5E0DF"/>
                </a:solidFill>
                <a:latin typeface="Roboto Light" pitchFamily="34" charset="0"/>
                <a:ea typeface="Roboto Light" pitchFamily="34" charset="-122"/>
                <a:cs typeface="Roboto Light" pitchFamily="34" charset="-120"/>
              </a:rPr>
              <a:t>Sources, Impact, Mitigation, and Ethical Considerations</a:t>
            </a:r>
            <a:endParaRPr lang="en-US" sz="1600" dirty="0"/>
          </a:p>
        </p:txBody>
      </p:sp>
      <p:pic>
        <p:nvPicPr>
          <p:cNvPr id="6" name="Picture 5" descr="A black background with a black square&#10;&#10;AI-generated content may be incorrect.">
            <a:extLst>
              <a:ext uri="{FF2B5EF4-FFF2-40B4-BE49-F238E27FC236}">
                <a16:creationId xmlns:a16="http://schemas.microsoft.com/office/drawing/2014/main" id="{6A9DD3F0-61B4-2584-FA8B-606AA0946B25}"/>
              </a:ext>
            </a:extLst>
          </p:cNvPr>
          <p:cNvPicPr>
            <a:picLocks noChangeAspect="1"/>
          </p:cNvPicPr>
          <p:nvPr/>
        </p:nvPicPr>
        <p:blipFill>
          <a:blip r:embed="rId4"/>
          <a:stretch>
            <a:fillRect/>
          </a:stretch>
        </p:blipFill>
        <p:spPr>
          <a:xfrm>
            <a:off x="7480300" y="7484150"/>
            <a:ext cx="7150100" cy="6184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176343"/>
            <a:ext cx="11211758" cy="620078"/>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Introduction to Insurtech and Algorithmic Bias</a:t>
            </a:r>
            <a:endParaRPr lang="en-US" sz="3900" dirty="0"/>
          </a:p>
        </p:txBody>
      </p:sp>
      <p:sp>
        <p:nvSpPr>
          <p:cNvPr id="3" name="Text 1"/>
          <p:cNvSpPr/>
          <p:nvPr/>
        </p:nvSpPr>
        <p:spPr>
          <a:xfrm>
            <a:off x="793790" y="3193256"/>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The insurance industry is undergoing a transformation. Artificial intelligence and machine learning now power core underwriting processes—automating risk assessment, personalising premiums, and accelerating decisions. Yet this technological leap introduces a critical challenge: algorithmic bias.</a:t>
            </a:r>
            <a:endParaRPr lang="en-US" sz="1550" dirty="0"/>
          </a:p>
        </p:txBody>
      </p:sp>
      <p:sp>
        <p:nvSpPr>
          <p:cNvPr id="4" name="Text 2"/>
          <p:cNvSpPr/>
          <p:nvPr/>
        </p:nvSpPr>
        <p:spPr>
          <a:xfrm>
            <a:off x="793790" y="4369118"/>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Insurtech companies leverage vast historical datasets to train their models. But here lies the risk: if that historical data reflects societal biases or discriminatory practices of the past, the algorithm learns and perpetuates those same biases. The result can be decisions that unfairly disadvantage certain demographic groups, even though the system was designed to be objective and fair.</a:t>
            </a:r>
            <a:endParaRPr lang="en-US" sz="1550" dirty="0"/>
          </a:p>
        </p:txBody>
      </p:sp>
      <p:sp>
        <p:nvSpPr>
          <p:cNvPr id="5" name="Text 3"/>
          <p:cNvSpPr/>
          <p:nvPr/>
        </p:nvSpPr>
        <p:spPr>
          <a:xfrm>
            <a:off x="793790" y="5544979"/>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This presentation explores the sources and real-world impact of algorithmic bias in insurance underwriting, examines the ethical and regulatory imperatives, and outlines practical mitigation strategies that forward-thinking insurtech firms are implementing today.</a:t>
            </a:r>
            <a:endParaRPr lang="en-US" sz="1250" dirty="0"/>
          </a:p>
        </p:txBody>
      </p:sp>
      <p:pic>
        <p:nvPicPr>
          <p:cNvPr id="7" name="Picture 6" descr="A black background with a black square&#10;&#10;AI-generated content may be incorrect.">
            <a:extLst>
              <a:ext uri="{FF2B5EF4-FFF2-40B4-BE49-F238E27FC236}">
                <a16:creationId xmlns:a16="http://schemas.microsoft.com/office/drawing/2014/main" id="{38E8D41D-2E8F-0025-EEC6-F122D051AB7C}"/>
              </a:ext>
            </a:extLst>
          </p:cNvPr>
          <p:cNvPicPr>
            <a:picLocks noChangeAspect="1"/>
          </p:cNvPicPr>
          <p:nvPr/>
        </p:nvPicPr>
        <p:blipFill>
          <a:blip r:embed="rId3"/>
          <a:stretch>
            <a:fillRect/>
          </a:stretch>
        </p:blipFill>
        <p:spPr>
          <a:xfrm>
            <a:off x="7480300" y="7686284"/>
            <a:ext cx="7150100" cy="5433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77114"/>
            <a:ext cx="7710011" cy="620078"/>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Understanding Algorithmic Bias</a:t>
            </a:r>
            <a:endParaRPr lang="en-US" sz="3900" dirty="0"/>
          </a:p>
        </p:txBody>
      </p:sp>
      <p:sp>
        <p:nvSpPr>
          <p:cNvPr id="3" name="Text 1"/>
          <p:cNvSpPr/>
          <p:nvPr/>
        </p:nvSpPr>
        <p:spPr>
          <a:xfrm>
            <a:off x="793790" y="2694027"/>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Algorithmic bias refers to systematic, often unintended prejudices that emerge when machine learning models are trained on historical data that embeds existing societal inequities. Unlike human bias, which can be conscious or unconscious, algorithmic bias is embedded into code and operates at scale—affecting thousands of decisions with consistent, measurable unfairness.</a:t>
            </a:r>
            <a:endParaRPr lang="en-US" sz="1550" dirty="0"/>
          </a:p>
        </p:txBody>
      </p:sp>
      <p:sp>
        <p:nvSpPr>
          <p:cNvPr id="4" name="Text 2"/>
          <p:cNvSpPr/>
          <p:nvPr/>
        </p:nvSpPr>
        <p:spPr>
          <a:xfrm>
            <a:off x="793790" y="3869888"/>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In insurance underwriting, the stakes are particularly high. Biased algorithms can result in unfair pricing, unjust coverage denials, or reduced payouts for certain groups. This not only violates ethical principles but also undermines the foundational concept of insurance: equitable risk pooling across a diverse population.</a:t>
            </a:r>
            <a:endParaRPr lang="en-US" sz="1550" dirty="0"/>
          </a:p>
        </p:txBody>
      </p:sp>
      <p:sp>
        <p:nvSpPr>
          <p:cNvPr id="5" name="Shape 3"/>
          <p:cNvSpPr/>
          <p:nvPr/>
        </p:nvSpPr>
        <p:spPr>
          <a:xfrm>
            <a:off x="793790" y="5045750"/>
            <a:ext cx="4215289" cy="1506736"/>
          </a:xfrm>
          <a:prstGeom prst="roundRect">
            <a:avLst>
              <a:gd name="adj" fmla="val 5532"/>
            </a:avLst>
          </a:prstGeom>
          <a:solidFill>
            <a:srgbClr val="050505"/>
          </a:solidFill>
          <a:ln w="22860">
            <a:solidFill>
              <a:srgbClr val="56565B"/>
            </a:solidFill>
            <a:prstDash val="solid"/>
          </a:ln>
        </p:spPr>
        <p:txBody>
          <a:bodyPr/>
          <a:lstStyle/>
          <a:p>
            <a:endParaRPr lang="en-US"/>
          </a:p>
        </p:txBody>
      </p:sp>
      <p:sp>
        <p:nvSpPr>
          <p:cNvPr id="6" name="Text 4"/>
          <p:cNvSpPr/>
          <p:nvPr/>
        </p:nvSpPr>
        <p:spPr>
          <a:xfrm>
            <a:off x="1015008" y="526696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Definition</a:t>
            </a:r>
            <a:endParaRPr lang="en-US" sz="1950" dirty="0"/>
          </a:p>
        </p:txBody>
      </p:sp>
      <p:sp>
        <p:nvSpPr>
          <p:cNvPr id="7" name="Text 5"/>
          <p:cNvSpPr/>
          <p:nvPr/>
        </p:nvSpPr>
        <p:spPr>
          <a:xfrm>
            <a:off x="1015008" y="5696188"/>
            <a:ext cx="3772853"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Systematic unfairness embedded in ML models trained on biased historical data</a:t>
            </a:r>
            <a:endParaRPr lang="en-US" sz="1550" dirty="0"/>
          </a:p>
        </p:txBody>
      </p:sp>
      <p:sp>
        <p:nvSpPr>
          <p:cNvPr id="8" name="Shape 6"/>
          <p:cNvSpPr/>
          <p:nvPr/>
        </p:nvSpPr>
        <p:spPr>
          <a:xfrm>
            <a:off x="5207437" y="5045750"/>
            <a:ext cx="4215408" cy="1506736"/>
          </a:xfrm>
          <a:prstGeom prst="roundRect">
            <a:avLst>
              <a:gd name="adj" fmla="val 5532"/>
            </a:avLst>
          </a:prstGeom>
          <a:solidFill>
            <a:srgbClr val="050505"/>
          </a:solidFill>
          <a:ln w="22860">
            <a:solidFill>
              <a:srgbClr val="56565B"/>
            </a:solidFill>
            <a:prstDash val="solid"/>
          </a:ln>
        </p:spPr>
        <p:txBody>
          <a:bodyPr/>
          <a:lstStyle/>
          <a:p>
            <a:endParaRPr lang="en-US"/>
          </a:p>
        </p:txBody>
      </p:sp>
      <p:sp>
        <p:nvSpPr>
          <p:cNvPr id="9" name="Text 7"/>
          <p:cNvSpPr/>
          <p:nvPr/>
        </p:nvSpPr>
        <p:spPr>
          <a:xfrm>
            <a:off x="5428655" y="526696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Scale</a:t>
            </a:r>
            <a:endParaRPr lang="en-US" sz="1950" dirty="0"/>
          </a:p>
        </p:txBody>
      </p:sp>
      <p:sp>
        <p:nvSpPr>
          <p:cNvPr id="10" name="Text 8"/>
          <p:cNvSpPr/>
          <p:nvPr/>
        </p:nvSpPr>
        <p:spPr>
          <a:xfrm>
            <a:off x="5428655" y="5696188"/>
            <a:ext cx="3772972"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Operates consistently across thousands of decisions without human intervention</a:t>
            </a:r>
            <a:endParaRPr lang="en-US" sz="1550" dirty="0"/>
          </a:p>
        </p:txBody>
      </p:sp>
      <p:sp>
        <p:nvSpPr>
          <p:cNvPr id="11" name="Shape 9"/>
          <p:cNvSpPr/>
          <p:nvPr/>
        </p:nvSpPr>
        <p:spPr>
          <a:xfrm>
            <a:off x="9621203" y="5045750"/>
            <a:ext cx="4215289" cy="1506736"/>
          </a:xfrm>
          <a:prstGeom prst="roundRect">
            <a:avLst>
              <a:gd name="adj" fmla="val 5532"/>
            </a:avLst>
          </a:prstGeom>
          <a:solidFill>
            <a:srgbClr val="050505"/>
          </a:solidFill>
          <a:ln w="22860">
            <a:solidFill>
              <a:srgbClr val="56565B"/>
            </a:solidFill>
            <a:prstDash val="solid"/>
          </a:ln>
        </p:spPr>
        <p:txBody>
          <a:bodyPr/>
          <a:lstStyle/>
          <a:p>
            <a:endParaRPr lang="en-US"/>
          </a:p>
        </p:txBody>
      </p:sp>
      <p:sp>
        <p:nvSpPr>
          <p:cNvPr id="12" name="Text 10"/>
          <p:cNvSpPr/>
          <p:nvPr/>
        </p:nvSpPr>
        <p:spPr>
          <a:xfrm>
            <a:off x="9842421" y="526696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Consequence</a:t>
            </a:r>
            <a:endParaRPr lang="en-US" sz="1950" dirty="0"/>
          </a:p>
        </p:txBody>
      </p:sp>
      <p:sp>
        <p:nvSpPr>
          <p:cNvPr id="13" name="Text 11"/>
          <p:cNvSpPr/>
          <p:nvPr/>
        </p:nvSpPr>
        <p:spPr>
          <a:xfrm>
            <a:off x="9842421" y="5696188"/>
            <a:ext cx="3772853"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Discriminatory outcomes that compromise fairness and violate ethical principles</a:t>
            </a:r>
            <a:endParaRPr lang="en-US" sz="1550" dirty="0"/>
          </a:p>
        </p:txBody>
      </p:sp>
      <p:pic>
        <p:nvPicPr>
          <p:cNvPr id="15" name="Picture 14" descr="A black background with a black square&#10;&#10;AI-generated content may be incorrect.">
            <a:extLst>
              <a:ext uri="{FF2B5EF4-FFF2-40B4-BE49-F238E27FC236}">
                <a16:creationId xmlns:a16="http://schemas.microsoft.com/office/drawing/2014/main" id="{EDAE7716-728F-29D2-9161-E17085363A02}"/>
              </a:ext>
            </a:extLst>
          </p:cNvPr>
          <p:cNvPicPr>
            <a:picLocks noChangeAspect="1"/>
          </p:cNvPicPr>
          <p:nvPr/>
        </p:nvPicPr>
        <p:blipFill>
          <a:blip r:embed="rId3"/>
          <a:stretch>
            <a:fillRect/>
          </a:stretch>
        </p:blipFill>
        <p:spPr>
          <a:xfrm>
            <a:off x="7480300" y="7429500"/>
            <a:ext cx="7150100" cy="8001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962745"/>
            <a:ext cx="10483929" cy="620078"/>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The Three Main Sources of Algorithmic Bias</a:t>
            </a:r>
            <a:endParaRPr lang="en-US" sz="3900" dirty="0"/>
          </a:p>
        </p:txBody>
      </p:sp>
      <p:sp>
        <p:nvSpPr>
          <p:cNvPr id="3" name="Text 1"/>
          <p:cNvSpPr/>
          <p:nvPr/>
        </p:nvSpPr>
        <p:spPr>
          <a:xfrm>
            <a:off x="793790" y="297965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Algorithmic bias in insurance underwriting does not emerge from a single source. Rather, it can creep in at multiple stages of the model development lifecycle. Understanding these sources is essential for designing effective mitigation strategies.</a:t>
            </a:r>
            <a:endParaRPr lang="en-US" sz="1550" dirty="0"/>
          </a:p>
        </p:txBody>
      </p:sp>
      <p:sp>
        <p:nvSpPr>
          <p:cNvPr id="4" name="Shape 2"/>
          <p:cNvSpPr/>
          <p:nvPr/>
        </p:nvSpPr>
        <p:spPr>
          <a:xfrm>
            <a:off x="793790" y="3837980"/>
            <a:ext cx="4215289" cy="2428875"/>
          </a:xfrm>
          <a:prstGeom prst="roundRect">
            <a:avLst>
              <a:gd name="adj" fmla="val 3432"/>
            </a:avLst>
          </a:prstGeom>
          <a:solidFill>
            <a:srgbClr val="3D3D42"/>
          </a:solidFill>
          <a:ln w="7620">
            <a:solidFill>
              <a:srgbClr val="56565B"/>
            </a:solidFill>
            <a:prstDash val="solid"/>
          </a:ln>
        </p:spPr>
        <p:txBody>
          <a:bodyPr/>
          <a:lstStyle/>
          <a:p>
            <a:endParaRPr lang="en-US"/>
          </a:p>
        </p:txBody>
      </p:sp>
      <p:sp>
        <p:nvSpPr>
          <p:cNvPr id="5" name="Text 3"/>
          <p:cNvSpPr/>
          <p:nvPr/>
        </p:nvSpPr>
        <p:spPr>
          <a:xfrm>
            <a:off x="999768" y="4043958"/>
            <a:ext cx="2535674"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Biased Training Data</a:t>
            </a:r>
            <a:endParaRPr lang="en-US" sz="1950" dirty="0"/>
          </a:p>
        </p:txBody>
      </p:sp>
      <p:sp>
        <p:nvSpPr>
          <p:cNvPr id="6" name="Text 4"/>
          <p:cNvSpPr/>
          <p:nvPr/>
        </p:nvSpPr>
        <p:spPr>
          <a:xfrm>
            <a:off x="999768" y="4473178"/>
            <a:ext cx="3803333"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Historical datasets that reflect past discrimination or under-represent minority groups. When algorithms learn from this skewed data, they replicate and amplify existing inequities.</a:t>
            </a:r>
            <a:endParaRPr lang="en-US" sz="1550" dirty="0"/>
          </a:p>
        </p:txBody>
      </p:sp>
      <p:sp>
        <p:nvSpPr>
          <p:cNvPr id="7" name="Shape 5"/>
          <p:cNvSpPr/>
          <p:nvPr/>
        </p:nvSpPr>
        <p:spPr>
          <a:xfrm>
            <a:off x="5207437" y="3837980"/>
            <a:ext cx="4215408" cy="2428875"/>
          </a:xfrm>
          <a:prstGeom prst="roundRect">
            <a:avLst>
              <a:gd name="adj" fmla="val 3432"/>
            </a:avLst>
          </a:prstGeom>
          <a:solidFill>
            <a:srgbClr val="3D3D42"/>
          </a:solidFill>
          <a:ln w="7620">
            <a:solidFill>
              <a:srgbClr val="56565B"/>
            </a:solidFill>
            <a:prstDash val="solid"/>
          </a:ln>
        </p:spPr>
        <p:txBody>
          <a:bodyPr/>
          <a:lstStyle/>
          <a:p>
            <a:endParaRPr lang="en-US"/>
          </a:p>
        </p:txBody>
      </p:sp>
      <p:sp>
        <p:nvSpPr>
          <p:cNvPr id="8" name="Text 6"/>
          <p:cNvSpPr/>
          <p:nvPr/>
        </p:nvSpPr>
        <p:spPr>
          <a:xfrm>
            <a:off x="5413415" y="4043958"/>
            <a:ext cx="3059906"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Flawed Feature Selection</a:t>
            </a:r>
            <a:endParaRPr lang="en-US" sz="1950" dirty="0"/>
          </a:p>
        </p:txBody>
      </p:sp>
      <p:sp>
        <p:nvSpPr>
          <p:cNvPr id="9" name="Text 7"/>
          <p:cNvSpPr/>
          <p:nvPr/>
        </p:nvSpPr>
        <p:spPr>
          <a:xfrm>
            <a:off x="5413415" y="4473178"/>
            <a:ext cx="3803452"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Choosing the wrong variables or weightings can introduce bias even with theoretically unbiased data. Poorly selected features may inadvertently capture discriminatory patterns.</a:t>
            </a:r>
            <a:endParaRPr lang="en-US" sz="1550" dirty="0"/>
          </a:p>
        </p:txBody>
      </p:sp>
      <p:sp>
        <p:nvSpPr>
          <p:cNvPr id="10" name="Shape 8"/>
          <p:cNvSpPr/>
          <p:nvPr/>
        </p:nvSpPr>
        <p:spPr>
          <a:xfrm>
            <a:off x="9621203" y="3837980"/>
            <a:ext cx="4215289" cy="2428875"/>
          </a:xfrm>
          <a:prstGeom prst="roundRect">
            <a:avLst>
              <a:gd name="adj" fmla="val 3432"/>
            </a:avLst>
          </a:prstGeom>
          <a:solidFill>
            <a:srgbClr val="3D3D42"/>
          </a:solidFill>
          <a:ln w="7620">
            <a:solidFill>
              <a:srgbClr val="56565B"/>
            </a:solidFill>
            <a:prstDash val="solid"/>
          </a:ln>
        </p:spPr>
        <p:txBody>
          <a:bodyPr/>
          <a:lstStyle/>
          <a:p>
            <a:endParaRPr lang="en-US"/>
          </a:p>
        </p:txBody>
      </p:sp>
      <p:sp>
        <p:nvSpPr>
          <p:cNvPr id="11" name="Text 9"/>
          <p:cNvSpPr/>
          <p:nvPr/>
        </p:nvSpPr>
        <p:spPr>
          <a:xfrm>
            <a:off x="9827181" y="404395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Proxy Discrimination</a:t>
            </a:r>
            <a:endParaRPr lang="en-US" sz="1950" dirty="0"/>
          </a:p>
        </p:txBody>
      </p:sp>
      <p:sp>
        <p:nvSpPr>
          <p:cNvPr id="12" name="Text 10"/>
          <p:cNvSpPr/>
          <p:nvPr/>
        </p:nvSpPr>
        <p:spPr>
          <a:xfrm>
            <a:off x="9827181" y="4473178"/>
            <a:ext cx="3803333"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Seemingly neutral variables—such as postal code, education level, or employment history—may serve as proxies for protected characteristics like race or gender, creating indirect discrimination.</a:t>
            </a:r>
            <a:endParaRPr lang="en-US" sz="1550" dirty="0"/>
          </a:p>
        </p:txBody>
      </p:sp>
      <p:pic>
        <p:nvPicPr>
          <p:cNvPr id="14" name="Picture 13" descr="A black background with a black square&#10;&#10;AI-generated content may be incorrect.">
            <a:extLst>
              <a:ext uri="{FF2B5EF4-FFF2-40B4-BE49-F238E27FC236}">
                <a16:creationId xmlns:a16="http://schemas.microsoft.com/office/drawing/2014/main" id="{EEDAAB29-BE41-2647-D208-FE7B230FA9B6}"/>
              </a:ext>
            </a:extLst>
          </p:cNvPr>
          <p:cNvPicPr>
            <a:picLocks noChangeAspect="1"/>
          </p:cNvPicPr>
          <p:nvPr/>
        </p:nvPicPr>
        <p:blipFill>
          <a:blip r:embed="rId3"/>
          <a:stretch>
            <a:fillRect/>
          </a:stretch>
        </p:blipFill>
        <p:spPr>
          <a:xfrm>
            <a:off x="7480300" y="7147321"/>
            <a:ext cx="7150100" cy="10394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88551"/>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Impact of Algorithmic Bias on Insurance Underwriting</a:t>
            </a:r>
            <a:endParaRPr lang="en-US" sz="3900" dirty="0"/>
          </a:p>
        </p:txBody>
      </p:sp>
      <p:sp>
        <p:nvSpPr>
          <p:cNvPr id="4" name="Text 1"/>
          <p:cNvSpPr/>
          <p:nvPr/>
        </p:nvSpPr>
        <p:spPr>
          <a:xfrm>
            <a:off x="6280190" y="2326362"/>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The consequences of algorithmic bias in insurance are far-reaching and deeply consequential for policyholders and society.</a:t>
            </a:r>
            <a:endParaRPr lang="en-US" sz="1550" dirty="0"/>
          </a:p>
        </p:txBody>
      </p:sp>
      <p:sp>
        <p:nvSpPr>
          <p:cNvPr id="5" name="Text 2"/>
          <p:cNvSpPr/>
          <p:nvPr/>
        </p:nvSpPr>
        <p:spPr>
          <a:xfrm>
            <a:off x="6280190" y="338304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2F2F3"/>
                </a:solidFill>
                <a:latin typeface="Poppins Light" pitchFamily="34" charset="0"/>
                <a:ea typeface="Poppins Light" pitchFamily="34" charset="-122"/>
                <a:cs typeface="Poppins Light" pitchFamily="34" charset="-120"/>
              </a:rPr>
              <a:t>For Policyholders</a:t>
            </a:r>
            <a:endParaRPr lang="en-US" sz="1950" dirty="0"/>
          </a:p>
        </p:txBody>
      </p:sp>
      <p:sp>
        <p:nvSpPr>
          <p:cNvPr id="6" name="Text 3"/>
          <p:cNvSpPr/>
          <p:nvPr/>
        </p:nvSpPr>
        <p:spPr>
          <a:xfrm>
            <a:off x="6280190" y="3891558"/>
            <a:ext cx="3536156"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Roboto Light" pitchFamily="34" charset="0"/>
                <a:ea typeface="Roboto Light" pitchFamily="34" charset="-122"/>
                <a:cs typeface="Roboto Light" pitchFamily="34" charset="-120"/>
              </a:rPr>
              <a:t>Unfair premium pricing that disadvantages certain demographics</a:t>
            </a:r>
            <a:endParaRPr lang="en-US" sz="1550" dirty="0"/>
          </a:p>
        </p:txBody>
      </p:sp>
      <p:sp>
        <p:nvSpPr>
          <p:cNvPr id="7" name="Text 4"/>
          <p:cNvSpPr/>
          <p:nvPr/>
        </p:nvSpPr>
        <p:spPr>
          <a:xfrm>
            <a:off x="6280190" y="4596051"/>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Roboto Light" pitchFamily="34" charset="0"/>
                <a:ea typeface="Roboto Light" pitchFamily="34" charset="-122"/>
                <a:cs typeface="Roboto Light" pitchFamily="34" charset="-120"/>
              </a:rPr>
              <a:t>Unjust denial of coverage or claims</a:t>
            </a:r>
            <a:endParaRPr lang="en-US" sz="1550" dirty="0"/>
          </a:p>
        </p:txBody>
      </p:sp>
      <p:sp>
        <p:nvSpPr>
          <p:cNvPr id="8" name="Text 5"/>
          <p:cNvSpPr/>
          <p:nvPr/>
        </p:nvSpPr>
        <p:spPr>
          <a:xfrm>
            <a:off x="6280190" y="4983004"/>
            <a:ext cx="3536156"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Roboto Light" pitchFamily="34" charset="0"/>
                <a:ea typeface="Roboto Light" pitchFamily="34" charset="-122"/>
                <a:cs typeface="Roboto Light" pitchFamily="34" charset="-120"/>
              </a:rPr>
              <a:t>Reduced insurance payouts based on biased risk assessments</a:t>
            </a:r>
            <a:endParaRPr lang="en-US" sz="1550" dirty="0"/>
          </a:p>
        </p:txBody>
      </p:sp>
      <p:sp>
        <p:nvSpPr>
          <p:cNvPr id="9" name="Text 6"/>
          <p:cNvSpPr/>
          <p:nvPr/>
        </p:nvSpPr>
        <p:spPr>
          <a:xfrm>
            <a:off x="6280190" y="5687497"/>
            <a:ext cx="3536156" cy="95261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Roboto Light" pitchFamily="34" charset="0"/>
                <a:ea typeface="Roboto Light" pitchFamily="34" charset="-122"/>
                <a:cs typeface="Roboto Light" pitchFamily="34" charset="-120"/>
              </a:rPr>
              <a:t>Limited access to insurance products in underserved communities</a:t>
            </a:r>
            <a:endParaRPr lang="en-US" sz="1550" dirty="0"/>
          </a:p>
        </p:txBody>
      </p:sp>
      <p:sp>
        <p:nvSpPr>
          <p:cNvPr id="10" name="Text 7"/>
          <p:cNvSpPr/>
          <p:nvPr/>
        </p:nvSpPr>
        <p:spPr>
          <a:xfrm>
            <a:off x="10308074" y="338304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2F2F3"/>
                </a:solidFill>
                <a:latin typeface="Poppins Light" pitchFamily="34" charset="0"/>
                <a:ea typeface="Poppins Light" pitchFamily="34" charset="-122"/>
                <a:cs typeface="Poppins Light" pitchFamily="34" charset="-120"/>
              </a:rPr>
              <a:t>For Society</a:t>
            </a:r>
            <a:endParaRPr lang="en-US" sz="1950" dirty="0"/>
          </a:p>
        </p:txBody>
      </p:sp>
      <p:sp>
        <p:nvSpPr>
          <p:cNvPr id="11" name="Text 8"/>
          <p:cNvSpPr/>
          <p:nvPr/>
        </p:nvSpPr>
        <p:spPr>
          <a:xfrm>
            <a:off x="10308074" y="3891558"/>
            <a:ext cx="3536156"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Roboto Light" pitchFamily="34" charset="0"/>
                <a:ea typeface="Roboto Light" pitchFamily="34" charset="-122"/>
                <a:cs typeface="Roboto Light" pitchFamily="34" charset="-120"/>
              </a:rPr>
              <a:t>Exacerbation of existing socioeconomic disparities</a:t>
            </a:r>
            <a:endParaRPr lang="en-US" sz="1550" dirty="0"/>
          </a:p>
        </p:txBody>
      </p:sp>
      <p:sp>
        <p:nvSpPr>
          <p:cNvPr id="12" name="Text 9"/>
          <p:cNvSpPr/>
          <p:nvPr/>
        </p:nvSpPr>
        <p:spPr>
          <a:xfrm>
            <a:off x="10308074" y="4596051"/>
            <a:ext cx="3536156"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Roboto Light" pitchFamily="34" charset="0"/>
                <a:ea typeface="Roboto Light" pitchFamily="34" charset="-122"/>
                <a:cs typeface="Roboto Light" pitchFamily="34" charset="-120"/>
              </a:rPr>
              <a:t>Widening wealth gaps as minorities pay higher premiums</a:t>
            </a:r>
            <a:endParaRPr lang="en-US" sz="1550" dirty="0"/>
          </a:p>
        </p:txBody>
      </p:sp>
      <p:sp>
        <p:nvSpPr>
          <p:cNvPr id="13" name="Text 10"/>
          <p:cNvSpPr/>
          <p:nvPr/>
        </p:nvSpPr>
        <p:spPr>
          <a:xfrm>
            <a:off x="10308074" y="5300543"/>
            <a:ext cx="3536156"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Roboto Light" pitchFamily="34" charset="0"/>
                <a:ea typeface="Roboto Light" pitchFamily="34" charset="-122"/>
                <a:cs typeface="Roboto Light" pitchFamily="34" charset="-120"/>
              </a:rPr>
              <a:t>Erosion of trust in financial institutions and technology</a:t>
            </a:r>
            <a:endParaRPr lang="en-US" sz="1550" dirty="0"/>
          </a:p>
        </p:txBody>
      </p:sp>
      <p:sp>
        <p:nvSpPr>
          <p:cNvPr id="14" name="Text 11"/>
          <p:cNvSpPr/>
          <p:nvPr/>
        </p:nvSpPr>
        <p:spPr>
          <a:xfrm>
            <a:off x="10308074" y="6005036"/>
            <a:ext cx="3536156"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Roboto Light" pitchFamily="34" charset="0"/>
                <a:ea typeface="Roboto Light" pitchFamily="34" charset="-122"/>
                <a:cs typeface="Roboto Light" pitchFamily="34" charset="-120"/>
              </a:rPr>
              <a:t>Violation of fundamental insurance principle of equitable risk pooling</a:t>
            </a:r>
            <a:endParaRPr lang="en-US" sz="1550" dirty="0"/>
          </a:p>
        </p:txBody>
      </p:sp>
      <p:sp>
        <p:nvSpPr>
          <p:cNvPr id="15" name="Text 12"/>
          <p:cNvSpPr/>
          <p:nvPr/>
        </p:nvSpPr>
        <p:spPr>
          <a:xfrm>
            <a:off x="6280190" y="6932771"/>
            <a:ext cx="7556421" cy="508159"/>
          </a:xfrm>
          <a:prstGeom prst="rect">
            <a:avLst/>
          </a:prstGeom>
          <a:noFill/>
          <a:ln/>
        </p:spPr>
        <p:txBody>
          <a:bodyPr wrap="squar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When algorithmic bias goes unchecked, it doesn't merely affect individual decisions—it systematically disadvantages entire populations, perpetuating historical inequities at machine speed and scale.</a:t>
            </a:r>
            <a:endParaRPr lang="en-US" sz="1250" dirty="0"/>
          </a:p>
        </p:txBody>
      </p:sp>
      <p:pic>
        <p:nvPicPr>
          <p:cNvPr id="17" name="Picture 16" descr="A black background with a black square&#10;&#10;AI-generated content may be incorrect.">
            <a:extLst>
              <a:ext uri="{FF2B5EF4-FFF2-40B4-BE49-F238E27FC236}">
                <a16:creationId xmlns:a16="http://schemas.microsoft.com/office/drawing/2014/main" id="{2751C4E7-6E58-1F91-C5B1-1811EC942441}"/>
              </a:ext>
            </a:extLst>
          </p:cNvPr>
          <p:cNvPicPr>
            <a:picLocks noChangeAspect="1"/>
          </p:cNvPicPr>
          <p:nvPr/>
        </p:nvPicPr>
        <p:blipFill>
          <a:blip r:embed="rId4"/>
          <a:stretch>
            <a:fillRect/>
          </a:stretch>
        </p:blipFill>
        <p:spPr>
          <a:xfrm>
            <a:off x="7480300" y="7440930"/>
            <a:ext cx="7150100" cy="7331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8191" y="530066"/>
            <a:ext cx="8851940" cy="600194"/>
          </a:xfrm>
          <a:prstGeom prst="rect">
            <a:avLst/>
          </a:prstGeom>
          <a:noFill/>
          <a:ln/>
        </p:spPr>
        <p:txBody>
          <a:bodyPr wrap="none" lIns="0" tIns="0" rIns="0" bIns="0" rtlCol="0" anchor="t"/>
          <a:lstStyle/>
          <a:p>
            <a:pPr marL="0" indent="0" algn="l">
              <a:lnSpc>
                <a:spcPts val="4700"/>
              </a:lnSpc>
              <a:buNone/>
            </a:pPr>
            <a:r>
              <a:rPr lang="en-US" sz="3750" dirty="0">
                <a:solidFill>
                  <a:srgbClr val="F2F2F3"/>
                </a:solidFill>
                <a:latin typeface="Poppins Light" pitchFamily="34" charset="0"/>
                <a:ea typeface="Poppins Light" pitchFamily="34" charset="-122"/>
                <a:cs typeface="Poppins Light" pitchFamily="34" charset="-120"/>
              </a:rPr>
              <a:t>Ethical Imperatives for AI in Insurance</a:t>
            </a:r>
            <a:endParaRPr lang="en-US" sz="3750" dirty="0"/>
          </a:p>
        </p:txBody>
      </p:sp>
      <p:sp>
        <p:nvSpPr>
          <p:cNvPr id="3" name="Text 1"/>
          <p:cNvSpPr/>
          <p:nvPr/>
        </p:nvSpPr>
        <p:spPr>
          <a:xfrm>
            <a:off x="768191" y="1514356"/>
            <a:ext cx="13094018" cy="614363"/>
          </a:xfrm>
          <a:prstGeom prst="rect">
            <a:avLst/>
          </a:prstGeom>
          <a:noFill/>
          <a:ln/>
        </p:spPr>
        <p:txBody>
          <a:bodyPr wrap="square" lIns="0" tIns="0" rIns="0" bIns="0" rtlCol="0" anchor="t"/>
          <a:lstStyle/>
          <a:p>
            <a:pPr marL="0" indent="0" algn="l">
              <a:lnSpc>
                <a:spcPts val="2400"/>
              </a:lnSpc>
              <a:buNone/>
            </a:pPr>
            <a:r>
              <a:rPr lang="en-US" sz="1500" dirty="0">
                <a:solidFill>
                  <a:srgbClr val="E5E0DF"/>
                </a:solidFill>
                <a:latin typeface="Roboto Light" pitchFamily="34" charset="0"/>
                <a:ea typeface="Roboto Light" pitchFamily="34" charset="-122"/>
                <a:cs typeface="Roboto Light" pitchFamily="34" charset="-120"/>
              </a:rPr>
              <a:t>The deployment of artificial intelligence in insurance underwriting is not merely a technical challenge—it is a profound ethical responsibility. Three core principles must guide the development and deployment of algorithmic underwriting systems.</a:t>
            </a:r>
            <a:endParaRPr lang="en-US" sz="1500" dirty="0"/>
          </a:p>
        </p:txBody>
      </p:sp>
      <p:sp>
        <p:nvSpPr>
          <p:cNvPr id="4" name="Shape 2"/>
          <p:cNvSpPr/>
          <p:nvPr/>
        </p:nvSpPr>
        <p:spPr>
          <a:xfrm>
            <a:off x="2950488" y="2344698"/>
            <a:ext cx="2182297" cy="1720929"/>
          </a:xfrm>
          <a:prstGeom prst="roundRect">
            <a:avLst>
              <a:gd name="adj" fmla="val 4688"/>
            </a:avLst>
          </a:prstGeom>
          <a:solidFill>
            <a:srgbClr val="3D3D42"/>
          </a:solidFill>
          <a:ln w="7620">
            <a:solidFill>
              <a:srgbClr val="56565B"/>
            </a:solidFill>
            <a:prstDash val="solid"/>
          </a:ln>
        </p:spPr>
        <p:txBody>
          <a:bodyPr/>
          <a:lstStyle/>
          <a:p>
            <a:endParaRPr lang="en-US"/>
          </a:p>
        </p:txBody>
      </p:sp>
      <p:sp>
        <p:nvSpPr>
          <p:cNvPr id="5" name="Text 3"/>
          <p:cNvSpPr/>
          <p:nvPr/>
        </p:nvSpPr>
        <p:spPr>
          <a:xfrm>
            <a:off x="3906560" y="3036332"/>
            <a:ext cx="270034" cy="337542"/>
          </a:xfrm>
          <a:prstGeom prst="rect">
            <a:avLst/>
          </a:prstGeom>
          <a:noFill/>
          <a:ln/>
        </p:spPr>
        <p:txBody>
          <a:bodyPr wrap="none" lIns="0" tIns="0" rIns="0" bIns="0" rtlCol="0" anchor="t"/>
          <a:lstStyle/>
          <a:p>
            <a:pPr marL="0" indent="0" algn="ctr">
              <a:lnSpc>
                <a:spcPts val="3400"/>
              </a:lnSpc>
              <a:buNone/>
            </a:pPr>
            <a:r>
              <a:rPr lang="en-US" sz="2100" dirty="0">
                <a:solidFill>
                  <a:srgbClr val="E5E0DF"/>
                </a:solidFill>
                <a:latin typeface="Poppins Light" pitchFamily="34" charset="0"/>
                <a:ea typeface="Poppins Light" pitchFamily="34" charset="-122"/>
                <a:cs typeface="Poppins Light" pitchFamily="34" charset="-120"/>
              </a:rPr>
              <a:t>1</a:t>
            </a:r>
            <a:endParaRPr lang="en-US" sz="2100" dirty="0"/>
          </a:p>
        </p:txBody>
      </p:sp>
      <p:sp>
        <p:nvSpPr>
          <p:cNvPr id="6" name="Text 4"/>
          <p:cNvSpPr/>
          <p:nvPr/>
        </p:nvSpPr>
        <p:spPr>
          <a:xfrm>
            <a:off x="5324832" y="2536746"/>
            <a:ext cx="3867626" cy="300157"/>
          </a:xfrm>
          <a:prstGeom prst="rect">
            <a:avLst/>
          </a:prstGeom>
          <a:noFill/>
          <a:ln/>
        </p:spPr>
        <p:txBody>
          <a:bodyPr wrap="none" lIns="0" tIns="0" rIns="0" bIns="0" rtlCol="0" anchor="t"/>
          <a:lstStyle/>
          <a:p>
            <a:pPr marL="0" indent="0" algn="l">
              <a:lnSpc>
                <a:spcPts val="2350"/>
              </a:lnSpc>
              <a:buNone/>
            </a:pPr>
            <a:r>
              <a:rPr lang="en-US" sz="1850" dirty="0">
                <a:solidFill>
                  <a:srgbClr val="E5E0DF"/>
                </a:solidFill>
                <a:latin typeface="Poppins Light" pitchFamily="34" charset="0"/>
                <a:ea typeface="Poppins Light" pitchFamily="34" charset="-122"/>
                <a:cs typeface="Poppins Light" pitchFamily="34" charset="-120"/>
              </a:rPr>
              <a:t>Fairness and Non-Discrimination</a:t>
            </a:r>
            <a:endParaRPr lang="en-US" sz="1850" dirty="0"/>
          </a:p>
        </p:txBody>
      </p:sp>
      <p:sp>
        <p:nvSpPr>
          <p:cNvPr id="7" name="Text 5"/>
          <p:cNvSpPr/>
          <p:nvPr/>
        </p:nvSpPr>
        <p:spPr>
          <a:xfrm>
            <a:off x="5324832" y="2952036"/>
            <a:ext cx="8345329" cy="921544"/>
          </a:xfrm>
          <a:prstGeom prst="rect">
            <a:avLst/>
          </a:prstGeom>
          <a:noFill/>
          <a:ln/>
        </p:spPr>
        <p:txBody>
          <a:bodyPr wrap="square" lIns="0" tIns="0" rIns="0" bIns="0" rtlCol="0" anchor="t"/>
          <a:lstStyle/>
          <a:p>
            <a:pPr marL="0" indent="0" algn="l">
              <a:lnSpc>
                <a:spcPts val="2400"/>
              </a:lnSpc>
              <a:buNone/>
            </a:pPr>
            <a:r>
              <a:rPr lang="en-US" sz="1500" dirty="0">
                <a:solidFill>
                  <a:srgbClr val="E5E0DF"/>
                </a:solidFill>
                <a:latin typeface="Roboto Light" pitchFamily="34" charset="0"/>
                <a:ea typeface="Roboto Light" pitchFamily="34" charset="-122"/>
                <a:cs typeface="Roboto Light" pitchFamily="34" charset="-120"/>
              </a:rPr>
              <a:t>Algorithms must be designed to treat all demographic groups equitably, ensuring that protected characteristics do not influence underwriting decisions, whether directly or indirectly through proxy variables.</a:t>
            </a:r>
            <a:endParaRPr lang="en-US" sz="1500" dirty="0"/>
          </a:p>
        </p:txBody>
      </p:sp>
      <p:sp>
        <p:nvSpPr>
          <p:cNvPr id="8" name="Shape 6"/>
          <p:cNvSpPr/>
          <p:nvPr/>
        </p:nvSpPr>
        <p:spPr>
          <a:xfrm>
            <a:off x="5228749" y="4056102"/>
            <a:ext cx="8537496" cy="11430"/>
          </a:xfrm>
          <a:prstGeom prst="roundRect">
            <a:avLst>
              <a:gd name="adj" fmla="val 705777"/>
            </a:avLst>
          </a:prstGeom>
          <a:solidFill>
            <a:srgbClr val="56565B"/>
          </a:solidFill>
          <a:ln/>
        </p:spPr>
        <p:txBody>
          <a:bodyPr/>
          <a:lstStyle/>
          <a:p>
            <a:endParaRPr lang="en-US"/>
          </a:p>
        </p:txBody>
      </p:sp>
      <p:sp>
        <p:nvSpPr>
          <p:cNvPr id="9" name="Shape 7"/>
          <p:cNvSpPr/>
          <p:nvPr/>
        </p:nvSpPr>
        <p:spPr>
          <a:xfrm>
            <a:off x="1859280" y="4161592"/>
            <a:ext cx="4364593" cy="1720929"/>
          </a:xfrm>
          <a:prstGeom prst="roundRect">
            <a:avLst>
              <a:gd name="adj" fmla="val 4688"/>
            </a:avLst>
          </a:prstGeom>
          <a:solidFill>
            <a:srgbClr val="3D3D42"/>
          </a:solidFill>
          <a:ln w="7620">
            <a:solidFill>
              <a:srgbClr val="56565B"/>
            </a:solidFill>
            <a:prstDash val="solid"/>
          </a:ln>
        </p:spPr>
        <p:txBody>
          <a:bodyPr/>
          <a:lstStyle/>
          <a:p>
            <a:endParaRPr lang="en-US"/>
          </a:p>
        </p:txBody>
      </p:sp>
      <p:sp>
        <p:nvSpPr>
          <p:cNvPr id="10" name="Text 8"/>
          <p:cNvSpPr/>
          <p:nvPr/>
        </p:nvSpPr>
        <p:spPr>
          <a:xfrm>
            <a:off x="3906560" y="4853226"/>
            <a:ext cx="270034" cy="337542"/>
          </a:xfrm>
          <a:prstGeom prst="rect">
            <a:avLst/>
          </a:prstGeom>
          <a:noFill/>
          <a:ln/>
        </p:spPr>
        <p:txBody>
          <a:bodyPr wrap="none" lIns="0" tIns="0" rIns="0" bIns="0" rtlCol="0" anchor="t"/>
          <a:lstStyle/>
          <a:p>
            <a:pPr marL="0" indent="0" algn="ctr">
              <a:lnSpc>
                <a:spcPts val="3400"/>
              </a:lnSpc>
              <a:buNone/>
            </a:pPr>
            <a:r>
              <a:rPr lang="en-US" sz="2100" dirty="0">
                <a:solidFill>
                  <a:srgbClr val="E5E0DF"/>
                </a:solidFill>
                <a:latin typeface="Poppins Light" pitchFamily="34" charset="0"/>
                <a:ea typeface="Poppins Light" pitchFamily="34" charset="-122"/>
                <a:cs typeface="Poppins Light" pitchFamily="34" charset="-120"/>
              </a:rPr>
              <a:t>2</a:t>
            </a:r>
            <a:endParaRPr lang="en-US" sz="2100" dirty="0"/>
          </a:p>
        </p:txBody>
      </p:sp>
      <p:sp>
        <p:nvSpPr>
          <p:cNvPr id="11" name="Text 9"/>
          <p:cNvSpPr/>
          <p:nvPr/>
        </p:nvSpPr>
        <p:spPr>
          <a:xfrm>
            <a:off x="6415921" y="4353639"/>
            <a:ext cx="3768090" cy="300157"/>
          </a:xfrm>
          <a:prstGeom prst="rect">
            <a:avLst/>
          </a:prstGeom>
          <a:noFill/>
          <a:ln/>
        </p:spPr>
        <p:txBody>
          <a:bodyPr wrap="none" lIns="0" tIns="0" rIns="0" bIns="0" rtlCol="0" anchor="t"/>
          <a:lstStyle/>
          <a:p>
            <a:pPr marL="0" indent="0" algn="l">
              <a:lnSpc>
                <a:spcPts val="2350"/>
              </a:lnSpc>
              <a:buNone/>
            </a:pPr>
            <a:r>
              <a:rPr lang="en-US" sz="1850" dirty="0">
                <a:solidFill>
                  <a:srgbClr val="E5E0DF"/>
                </a:solidFill>
                <a:latin typeface="Poppins Light" pitchFamily="34" charset="0"/>
                <a:ea typeface="Poppins Light" pitchFamily="34" charset="-122"/>
                <a:cs typeface="Poppins Light" pitchFamily="34" charset="-120"/>
              </a:rPr>
              <a:t>Transparency and Explainability</a:t>
            </a:r>
            <a:endParaRPr lang="en-US" sz="1850" dirty="0"/>
          </a:p>
        </p:txBody>
      </p:sp>
      <p:sp>
        <p:nvSpPr>
          <p:cNvPr id="12" name="Text 10"/>
          <p:cNvSpPr/>
          <p:nvPr/>
        </p:nvSpPr>
        <p:spPr>
          <a:xfrm>
            <a:off x="6415921" y="4768929"/>
            <a:ext cx="7254240" cy="921544"/>
          </a:xfrm>
          <a:prstGeom prst="rect">
            <a:avLst/>
          </a:prstGeom>
          <a:noFill/>
          <a:ln/>
        </p:spPr>
        <p:txBody>
          <a:bodyPr wrap="square" lIns="0" tIns="0" rIns="0" bIns="0" rtlCol="0" anchor="t"/>
          <a:lstStyle/>
          <a:p>
            <a:pPr marL="0" indent="0" algn="l">
              <a:lnSpc>
                <a:spcPts val="2400"/>
              </a:lnSpc>
              <a:buNone/>
            </a:pPr>
            <a:r>
              <a:rPr lang="en-US" sz="1500" dirty="0">
                <a:solidFill>
                  <a:srgbClr val="E5E0DF"/>
                </a:solidFill>
                <a:latin typeface="Roboto Light" pitchFamily="34" charset="0"/>
                <a:ea typeface="Roboto Light" pitchFamily="34" charset="-122"/>
                <a:cs typeface="Roboto Light" pitchFamily="34" charset="-120"/>
              </a:rPr>
              <a:t>Stakeholders—including policyholders, regulators, and internal teams—deserve clear explanations for how algorithms arrive at decisions. Explainability builds accountability and enables meaningful audits for bias.</a:t>
            </a:r>
            <a:endParaRPr lang="en-US" sz="1500" dirty="0"/>
          </a:p>
        </p:txBody>
      </p:sp>
      <p:sp>
        <p:nvSpPr>
          <p:cNvPr id="13" name="Shape 11"/>
          <p:cNvSpPr/>
          <p:nvPr/>
        </p:nvSpPr>
        <p:spPr>
          <a:xfrm>
            <a:off x="6319838" y="5872996"/>
            <a:ext cx="7446407" cy="11430"/>
          </a:xfrm>
          <a:prstGeom prst="roundRect">
            <a:avLst>
              <a:gd name="adj" fmla="val 705777"/>
            </a:avLst>
          </a:prstGeom>
          <a:solidFill>
            <a:srgbClr val="56565B"/>
          </a:solidFill>
          <a:ln/>
        </p:spPr>
        <p:txBody>
          <a:bodyPr/>
          <a:lstStyle/>
          <a:p>
            <a:endParaRPr lang="en-US"/>
          </a:p>
        </p:txBody>
      </p:sp>
      <p:sp>
        <p:nvSpPr>
          <p:cNvPr id="14" name="Shape 12"/>
          <p:cNvSpPr/>
          <p:nvPr/>
        </p:nvSpPr>
        <p:spPr>
          <a:xfrm>
            <a:off x="768191" y="5978485"/>
            <a:ext cx="6547009" cy="1720929"/>
          </a:xfrm>
          <a:prstGeom prst="roundRect">
            <a:avLst>
              <a:gd name="adj" fmla="val 4688"/>
            </a:avLst>
          </a:prstGeom>
          <a:solidFill>
            <a:srgbClr val="3D3D42"/>
          </a:solidFill>
          <a:ln w="7620">
            <a:solidFill>
              <a:srgbClr val="56565B"/>
            </a:solidFill>
            <a:prstDash val="solid"/>
          </a:ln>
        </p:spPr>
        <p:txBody>
          <a:bodyPr/>
          <a:lstStyle/>
          <a:p>
            <a:endParaRPr lang="en-US"/>
          </a:p>
        </p:txBody>
      </p:sp>
      <p:sp>
        <p:nvSpPr>
          <p:cNvPr id="15" name="Text 13"/>
          <p:cNvSpPr/>
          <p:nvPr/>
        </p:nvSpPr>
        <p:spPr>
          <a:xfrm>
            <a:off x="3906679" y="6670119"/>
            <a:ext cx="270034" cy="337542"/>
          </a:xfrm>
          <a:prstGeom prst="rect">
            <a:avLst/>
          </a:prstGeom>
          <a:noFill/>
          <a:ln/>
        </p:spPr>
        <p:txBody>
          <a:bodyPr wrap="none" lIns="0" tIns="0" rIns="0" bIns="0" rtlCol="0" anchor="t"/>
          <a:lstStyle/>
          <a:p>
            <a:pPr marL="0" indent="0" algn="ctr">
              <a:lnSpc>
                <a:spcPts val="3400"/>
              </a:lnSpc>
              <a:buNone/>
            </a:pPr>
            <a:r>
              <a:rPr lang="en-US" sz="2100" dirty="0">
                <a:solidFill>
                  <a:srgbClr val="E5E0DF"/>
                </a:solidFill>
                <a:latin typeface="Poppins Light" pitchFamily="34" charset="0"/>
                <a:ea typeface="Poppins Light" pitchFamily="34" charset="-122"/>
                <a:cs typeface="Poppins Light" pitchFamily="34" charset="-120"/>
              </a:rPr>
              <a:t>3</a:t>
            </a:r>
            <a:endParaRPr lang="en-US" sz="2100" dirty="0"/>
          </a:p>
        </p:txBody>
      </p:sp>
      <p:sp>
        <p:nvSpPr>
          <p:cNvPr id="16" name="Text 14"/>
          <p:cNvSpPr/>
          <p:nvPr/>
        </p:nvSpPr>
        <p:spPr>
          <a:xfrm>
            <a:off x="7507248" y="6170533"/>
            <a:ext cx="2783443" cy="300157"/>
          </a:xfrm>
          <a:prstGeom prst="rect">
            <a:avLst/>
          </a:prstGeom>
          <a:noFill/>
          <a:ln/>
        </p:spPr>
        <p:txBody>
          <a:bodyPr wrap="none" lIns="0" tIns="0" rIns="0" bIns="0" rtlCol="0" anchor="t"/>
          <a:lstStyle/>
          <a:p>
            <a:pPr marL="0" indent="0" algn="l">
              <a:lnSpc>
                <a:spcPts val="2350"/>
              </a:lnSpc>
              <a:buNone/>
            </a:pPr>
            <a:r>
              <a:rPr lang="en-US" sz="1850" dirty="0">
                <a:solidFill>
                  <a:srgbClr val="E5E0DF"/>
                </a:solidFill>
                <a:latin typeface="Poppins Light" pitchFamily="34" charset="0"/>
                <a:ea typeface="Poppins Light" pitchFamily="34" charset="-122"/>
                <a:cs typeface="Poppins Light" pitchFamily="34" charset="-120"/>
              </a:rPr>
              <a:t>Privacy and Data Ethics</a:t>
            </a:r>
            <a:endParaRPr lang="en-US" sz="1850" dirty="0"/>
          </a:p>
        </p:txBody>
      </p:sp>
      <p:sp>
        <p:nvSpPr>
          <p:cNvPr id="17" name="Text 15"/>
          <p:cNvSpPr/>
          <p:nvPr/>
        </p:nvSpPr>
        <p:spPr>
          <a:xfrm>
            <a:off x="7507248" y="6585823"/>
            <a:ext cx="6162913" cy="921544"/>
          </a:xfrm>
          <a:prstGeom prst="rect">
            <a:avLst/>
          </a:prstGeom>
          <a:noFill/>
          <a:ln/>
        </p:spPr>
        <p:txBody>
          <a:bodyPr wrap="square" lIns="0" tIns="0" rIns="0" bIns="0" rtlCol="0" anchor="t"/>
          <a:lstStyle/>
          <a:p>
            <a:pPr marL="0" indent="0" algn="l">
              <a:lnSpc>
                <a:spcPts val="2400"/>
              </a:lnSpc>
              <a:buNone/>
            </a:pPr>
            <a:r>
              <a:rPr lang="en-US" sz="1500" dirty="0">
                <a:solidFill>
                  <a:srgbClr val="E5E0DF"/>
                </a:solidFill>
                <a:latin typeface="Roboto Light" pitchFamily="34" charset="0"/>
                <a:ea typeface="Roboto Light" pitchFamily="34" charset="-122"/>
                <a:cs typeface="Roboto Light" pitchFamily="34" charset="-120"/>
              </a:rPr>
              <a:t>Personal data must be collected and used responsibly, with informed consent and robust safeguards. Data ethics demands respect for individual privacy and careful stewardship of sensitive information.</a:t>
            </a:r>
            <a:endParaRPr lang="en-US" sz="1500" dirty="0"/>
          </a:p>
        </p:txBody>
      </p:sp>
      <p:pic>
        <p:nvPicPr>
          <p:cNvPr id="19" name="Picture 18" descr="A black background with a black square&#10;&#10;AI-generated content may be incorrect.">
            <a:extLst>
              <a:ext uri="{FF2B5EF4-FFF2-40B4-BE49-F238E27FC236}">
                <a16:creationId xmlns:a16="http://schemas.microsoft.com/office/drawing/2014/main" id="{C363AF12-9B3A-A372-6D98-F217FDCB227A}"/>
              </a:ext>
            </a:extLst>
          </p:cNvPr>
          <p:cNvPicPr>
            <a:picLocks noChangeAspect="1"/>
          </p:cNvPicPr>
          <p:nvPr/>
        </p:nvPicPr>
        <p:blipFill>
          <a:blip r:embed="rId3"/>
          <a:stretch>
            <a:fillRect/>
          </a:stretch>
        </p:blipFill>
        <p:spPr>
          <a:xfrm>
            <a:off x="7417670" y="7699414"/>
            <a:ext cx="7150100" cy="4552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77503"/>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The Evolving Regulatory Landscape and Compliance Challenges</a:t>
            </a:r>
            <a:endParaRPr lang="en-US" sz="3900" dirty="0"/>
          </a:p>
        </p:txBody>
      </p:sp>
      <p:sp>
        <p:nvSpPr>
          <p:cNvPr id="3" name="Text 1"/>
          <p:cNvSpPr/>
          <p:nvPr/>
        </p:nvSpPr>
        <p:spPr>
          <a:xfrm>
            <a:off x="793790" y="261449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Regulators worldwide are intensely focused on algorithmic bias and fair lending practices. Insurtech companies operate in an environment of rapid regulatory evolution, with significant compliance obligations and escalating penalties for failure.</a:t>
            </a:r>
            <a:endParaRPr lang="en-US" sz="1550" dirty="0"/>
          </a:p>
        </p:txBody>
      </p:sp>
      <p:sp>
        <p:nvSpPr>
          <p:cNvPr id="4" name="Shape 2"/>
          <p:cNvSpPr/>
          <p:nvPr/>
        </p:nvSpPr>
        <p:spPr>
          <a:xfrm>
            <a:off x="793790" y="3472815"/>
            <a:ext cx="446484" cy="446484"/>
          </a:xfrm>
          <a:prstGeom prst="roundRect">
            <a:avLst>
              <a:gd name="adj" fmla="val 18670"/>
            </a:avLst>
          </a:prstGeom>
          <a:solidFill>
            <a:srgbClr val="3D3D42"/>
          </a:solidFill>
          <a:ln w="7620">
            <a:solidFill>
              <a:srgbClr val="56565B"/>
            </a:solidFill>
            <a:prstDash val="solid"/>
          </a:ln>
        </p:spPr>
        <p:txBody>
          <a:bodyPr/>
          <a:lstStyle/>
          <a:p>
            <a:endParaRPr lang="en-US"/>
          </a:p>
        </p:txBody>
      </p:sp>
      <p:sp>
        <p:nvSpPr>
          <p:cNvPr id="5" name="Text 3"/>
          <p:cNvSpPr/>
          <p:nvPr/>
        </p:nvSpPr>
        <p:spPr>
          <a:xfrm>
            <a:off x="868204" y="3510022"/>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E5E0DF"/>
                </a:solidFill>
                <a:latin typeface="Poppins Light" pitchFamily="34" charset="0"/>
                <a:ea typeface="Poppins Light" pitchFamily="34" charset="-122"/>
                <a:cs typeface="Poppins Light" pitchFamily="34" charset="-120"/>
              </a:rPr>
              <a:t>1</a:t>
            </a:r>
            <a:endParaRPr lang="en-US" sz="2300" dirty="0"/>
          </a:p>
        </p:txBody>
      </p:sp>
      <p:sp>
        <p:nvSpPr>
          <p:cNvPr id="6" name="Text 4"/>
          <p:cNvSpPr/>
          <p:nvPr/>
        </p:nvSpPr>
        <p:spPr>
          <a:xfrm>
            <a:off x="1438632" y="3541038"/>
            <a:ext cx="3537347" cy="620316"/>
          </a:xfrm>
          <a:prstGeom prst="rect">
            <a:avLst/>
          </a:prstGeom>
          <a:noFill/>
          <a:ln/>
        </p:spPr>
        <p:txBody>
          <a:bodyPr wrap="squar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Global Anti-Discrimination Laws</a:t>
            </a:r>
            <a:endParaRPr lang="en-US" sz="1950" dirty="0"/>
          </a:p>
        </p:txBody>
      </p:sp>
      <p:sp>
        <p:nvSpPr>
          <p:cNvPr id="7" name="Text 5"/>
          <p:cNvSpPr/>
          <p:nvPr/>
        </p:nvSpPr>
        <p:spPr>
          <a:xfrm>
            <a:off x="1438632" y="4280416"/>
            <a:ext cx="3537347"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Established frameworks in the US, UK, EU, and elsewhere explicitly prohibit discrimination based on protected characteristics. These apply directly to algorithmic underwriting.</a:t>
            </a:r>
            <a:endParaRPr lang="en-US" sz="1550" dirty="0"/>
          </a:p>
        </p:txBody>
      </p:sp>
      <p:sp>
        <p:nvSpPr>
          <p:cNvPr id="8" name="Shape 6"/>
          <p:cNvSpPr/>
          <p:nvPr/>
        </p:nvSpPr>
        <p:spPr>
          <a:xfrm>
            <a:off x="5223986" y="3472815"/>
            <a:ext cx="446484" cy="446484"/>
          </a:xfrm>
          <a:prstGeom prst="roundRect">
            <a:avLst>
              <a:gd name="adj" fmla="val 18670"/>
            </a:avLst>
          </a:prstGeom>
          <a:solidFill>
            <a:srgbClr val="3D3D42"/>
          </a:solidFill>
          <a:ln w="7620">
            <a:solidFill>
              <a:srgbClr val="56565B"/>
            </a:solidFill>
            <a:prstDash val="solid"/>
          </a:ln>
        </p:spPr>
        <p:txBody>
          <a:bodyPr/>
          <a:lstStyle/>
          <a:p>
            <a:endParaRPr lang="en-US"/>
          </a:p>
        </p:txBody>
      </p:sp>
      <p:sp>
        <p:nvSpPr>
          <p:cNvPr id="9" name="Text 7"/>
          <p:cNvSpPr/>
          <p:nvPr/>
        </p:nvSpPr>
        <p:spPr>
          <a:xfrm>
            <a:off x="5298400" y="3510022"/>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E5E0DF"/>
                </a:solidFill>
                <a:latin typeface="Poppins Light" pitchFamily="34" charset="0"/>
                <a:ea typeface="Poppins Light" pitchFamily="34" charset="-122"/>
                <a:cs typeface="Poppins Light" pitchFamily="34" charset="-120"/>
              </a:rPr>
              <a:t>2</a:t>
            </a:r>
            <a:endParaRPr lang="en-US" sz="2300" dirty="0"/>
          </a:p>
        </p:txBody>
      </p:sp>
      <p:sp>
        <p:nvSpPr>
          <p:cNvPr id="10" name="Text 8"/>
          <p:cNvSpPr/>
          <p:nvPr/>
        </p:nvSpPr>
        <p:spPr>
          <a:xfrm>
            <a:off x="5868829" y="3541038"/>
            <a:ext cx="3415070"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Data Protection Regulations</a:t>
            </a:r>
            <a:endParaRPr lang="en-US" sz="1950" dirty="0"/>
          </a:p>
        </p:txBody>
      </p:sp>
      <p:sp>
        <p:nvSpPr>
          <p:cNvPr id="11" name="Text 9"/>
          <p:cNvSpPr/>
          <p:nvPr/>
        </p:nvSpPr>
        <p:spPr>
          <a:xfrm>
            <a:off x="5868829" y="3970258"/>
            <a:ext cx="3537466"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GDPR, CCPA, and emerging privacy laws impose strict requirements around data collection, consent, usage, and individual rights. Compliance is non-negotiable and penalties are substantial.</a:t>
            </a:r>
            <a:endParaRPr lang="en-US" sz="1550" dirty="0"/>
          </a:p>
        </p:txBody>
      </p:sp>
      <p:sp>
        <p:nvSpPr>
          <p:cNvPr id="12" name="Shape 10"/>
          <p:cNvSpPr/>
          <p:nvPr/>
        </p:nvSpPr>
        <p:spPr>
          <a:xfrm>
            <a:off x="9654302" y="3472815"/>
            <a:ext cx="446484" cy="446484"/>
          </a:xfrm>
          <a:prstGeom prst="roundRect">
            <a:avLst>
              <a:gd name="adj" fmla="val 18670"/>
            </a:avLst>
          </a:prstGeom>
          <a:solidFill>
            <a:srgbClr val="3D3D42"/>
          </a:solidFill>
          <a:ln w="7620">
            <a:solidFill>
              <a:srgbClr val="56565B"/>
            </a:solidFill>
            <a:prstDash val="solid"/>
          </a:ln>
        </p:spPr>
        <p:txBody>
          <a:bodyPr/>
          <a:lstStyle/>
          <a:p>
            <a:endParaRPr lang="en-US"/>
          </a:p>
        </p:txBody>
      </p:sp>
      <p:sp>
        <p:nvSpPr>
          <p:cNvPr id="13" name="Text 11"/>
          <p:cNvSpPr/>
          <p:nvPr/>
        </p:nvSpPr>
        <p:spPr>
          <a:xfrm>
            <a:off x="9728716" y="3510022"/>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E5E0DF"/>
                </a:solidFill>
                <a:latin typeface="Poppins Light" pitchFamily="34" charset="0"/>
                <a:ea typeface="Poppins Light" pitchFamily="34" charset="-122"/>
                <a:cs typeface="Poppins Light" pitchFamily="34" charset="-120"/>
              </a:rPr>
              <a:t>3</a:t>
            </a:r>
            <a:endParaRPr lang="en-US" sz="2300" dirty="0"/>
          </a:p>
        </p:txBody>
      </p:sp>
      <p:sp>
        <p:nvSpPr>
          <p:cNvPr id="14" name="Text 12"/>
          <p:cNvSpPr/>
          <p:nvPr/>
        </p:nvSpPr>
        <p:spPr>
          <a:xfrm>
            <a:off x="10299144" y="3541038"/>
            <a:ext cx="3537466" cy="620316"/>
          </a:xfrm>
          <a:prstGeom prst="rect">
            <a:avLst/>
          </a:prstGeom>
          <a:noFill/>
          <a:ln/>
        </p:spPr>
        <p:txBody>
          <a:bodyPr wrap="squar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Emerging AI Governance Frameworks</a:t>
            </a:r>
            <a:endParaRPr lang="en-US" sz="1950" dirty="0"/>
          </a:p>
        </p:txBody>
      </p:sp>
      <p:sp>
        <p:nvSpPr>
          <p:cNvPr id="15" name="Text 13"/>
          <p:cNvSpPr/>
          <p:nvPr/>
        </p:nvSpPr>
        <p:spPr>
          <a:xfrm>
            <a:off x="10299144" y="4280416"/>
            <a:ext cx="3537466"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The EU AI Act, UK AI Framework, and similar proposals establish new governance standards for high-risk AI systems, including requirements for bias testing and human oversight.</a:t>
            </a:r>
            <a:endParaRPr lang="en-US" sz="1550" dirty="0"/>
          </a:p>
        </p:txBody>
      </p:sp>
      <p:sp>
        <p:nvSpPr>
          <p:cNvPr id="16" name="Shape 14"/>
          <p:cNvSpPr/>
          <p:nvPr/>
        </p:nvSpPr>
        <p:spPr>
          <a:xfrm>
            <a:off x="793790" y="6091357"/>
            <a:ext cx="13042821" cy="1160740"/>
          </a:xfrm>
          <a:prstGeom prst="roundRect">
            <a:avLst>
              <a:gd name="adj" fmla="val 7182"/>
            </a:avLst>
          </a:prstGeom>
          <a:solidFill>
            <a:srgbClr val="252528"/>
          </a:solidFill>
          <a:ln/>
        </p:spPr>
        <p:txBody>
          <a:bodyPr/>
          <a:lstStyle/>
          <a:p>
            <a:endParaRPr lang="en-US"/>
          </a:p>
        </p:txBody>
      </p:sp>
      <p:pic>
        <p:nvPicPr>
          <p:cNvPr id="17" name="Image 0" descr="preencoded.png"/>
          <p:cNvPicPr>
            <a:picLocks noChangeAspect="1"/>
          </p:cNvPicPr>
          <p:nvPr/>
        </p:nvPicPr>
        <p:blipFill>
          <a:blip r:embed="rId3"/>
          <a:stretch>
            <a:fillRect/>
          </a:stretch>
        </p:blipFill>
        <p:spPr>
          <a:xfrm>
            <a:off x="992148" y="6386632"/>
            <a:ext cx="248007" cy="198358"/>
          </a:xfrm>
          <a:prstGeom prst="rect">
            <a:avLst/>
          </a:prstGeom>
        </p:spPr>
      </p:pic>
      <p:sp>
        <p:nvSpPr>
          <p:cNvPr id="18" name="Text 15"/>
          <p:cNvSpPr/>
          <p:nvPr/>
        </p:nvSpPr>
        <p:spPr>
          <a:xfrm>
            <a:off x="1438513" y="6339245"/>
            <a:ext cx="12199739" cy="63507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Roboto Light" pitchFamily="34" charset="0"/>
                <a:ea typeface="Roboto Light" pitchFamily="34" charset="-122"/>
                <a:cs typeface="Roboto Light" pitchFamily="34" charset="-120"/>
              </a:rPr>
              <a:t>Non-compliance can result in fines exceeding millions of pounds, reputational damage, litigation, and loss of consumer trust. Proactive compliance is both ethical and commercially essential.</a:t>
            </a:r>
            <a:endParaRPr lang="en-US" sz="1550" dirty="0"/>
          </a:p>
        </p:txBody>
      </p:sp>
      <p:pic>
        <p:nvPicPr>
          <p:cNvPr id="20" name="Picture 19" descr="A black background with a black square&#10;&#10;AI-generated content may be incorrect.">
            <a:extLst>
              <a:ext uri="{FF2B5EF4-FFF2-40B4-BE49-F238E27FC236}">
                <a16:creationId xmlns:a16="http://schemas.microsoft.com/office/drawing/2014/main" id="{0EF45202-606A-3D22-5448-F637838C96B3}"/>
              </a:ext>
            </a:extLst>
          </p:cNvPr>
          <p:cNvPicPr>
            <a:picLocks noChangeAspect="1"/>
          </p:cNvPicPr>
          <p:nvPr/>
        </p:nvPicPr>
        <p:blipFill>
          <a:blip r:embed="rId4"/>
          <a:stretch>
            <a:fillRect/>
          </a:stretch>
        </p:blipFill>
        <p:spPr>
          <a:xfrm>
            <a:off x="7480300" y="7661791"/>
            <a:ext cx="7150100" cy="4464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88112"/>
            <a:ext cx="10855523" cy="620078"/>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Best Practices for Mitigating Algorithmic Bias</a:t>
            </a:r>
            <a:endParaRPr lang="en-US" sz="3900" dirty="0"/>
          </a:p>
        </p:txBody>
      </p:sp>
      <p:sp>
        <p:nvSpPr>
          <p:cNvPr id="3" name="Text 1"/>
          <p:cNvSpPr/>
          <p:nvPr/>
        </p:nvSpPr>
        <p:spPr>
          <a:xfrm>
            <a:off x="793790" y="210502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Forward-thinking insurtech firms are implementing comprehensive bias mitigation strategies. These go beyond compliance—they reflect a genuine commitment to fairness and build stronger relationships with customers and regulators.</a:t>
            </a:r>
            <a:endParaRPr lang="en-US" sz="1550" dirty="0"/>
          </a:p>
        </p:txBody>
      </p:sp>
      <p:sp>
        <p:nvSpPr>
          <p:cNvPr id="4" name="Text 2"/>
          <p:cNvSpPr/>
          <p:nvPr/>
        </p:nvSpPr>
        <p:spPr>
          <a:xfrm>
            <a:off x="793790" y="296334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Poppins Light" pitchFamily="34" charset="0"/>
                <a:ea typeface="Poppins Light" pitchFamily="34" charset="-122"/>
                <a:cs typeface="Poppins Light" pitchFamily="34" charset="-120"/>
              </a:rPr>
              <a:t>01</a:t>
            </a:r>
            <a:endParaRPr lang="en-US" sz="1550" dirty="0"/>
          </a:p>
        </p:txBody>
      </p:sp>
      <p:sp>
        <p:nvSpPr>
          <p:cNvPr id="5" name="Shape 3"/>
          <p:cNvSpPr/>
          <p:nvPr/>
        </p:nvSpPr>
        <p:spPr>
          <a:xfrm>
            <a:off x="793790" y="3277672"/>
            <a:ext cx="6422231" cy="22860"/>
          </a:xfrm>
          <a:prstGeom prst="rect">
            <a:avLst/>
          </a:prstGeom>
          <a:solidFill>
            <a:srgbClr val="F2F2F3"/>
          </a:solidFill>
          <a:ln/>
        </p:spPr>
        <p:txBody>
          <a:bodyPr/>
          <a:lstStyle/>
          <a:p>
            <a:endParaRPr lang="en-US"/>
          </a:p>
        </p:txBody>
      </p:sp>
      <p:sp>
        <p:nvSpPr>
          <p:cNvPr id="6" name="Text 4"/>
          <p:cNvSpPr/>
          <p:nvPr/>
        </p:nvSpPr>
        <p:spPr>
          <a:xfrm>
            <a:off x="793790" y="3422571"/>
            <a:ext cx="5325547"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Diverse and Representative Data Collection</a:t>
            </a:r>
            <a:endParaRPr lang="en-US" sz="1950" dirty="0"/>
          </a:p>
        </p:txBody>
      </p:sp>
      <p:sp>
        <p:nvSpPr>
          <p:cNvPr id="7" name="Text 5"/>
          <p:cNvSpPr/>
          <p:nvPr/>
        </p:nvSpPr>
        <p:spPr>
          <a:xfrm>
            <a:off x="793790" y="3851791"/>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Ensure training datasets represent the full population. Actively work to include underrepresented groups. Audit data for historical discrimination and correct skewed distributions.</a:t>
            </a:r>
            <a:endParaRPr lang="en-US" sz="1550" dirty="0"/>
          </a:p>
        </p:txBody>
      </p:sp>
      <p:sp>
        <p:nvSpPr>
          <p:cNvPr id="8" name="Text 6"/>
          <p:cNvSpPr/>
          <p:nvPr/>
        </p:nvSpPr>
        <p:spPr>
          <a:xfrm>
            <a:off x="7414379" y="296334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Poppins Light" pitchFamily="34" charset="0"/>
                <a:ea typeface="Poppins Light" pitchFamily="34" charset="-122"/>
                <a:cs typeface="Poppins Light" pitchFamily="34" charset="-120"/>
              </a:rPr>
              <a:t>02</a:t>
            </a:r>
            <a:endParaRPr lang="en-US" sz="1550" dirty="0"/>
          </a:p>
        </p:txBody>
      </p:sp>
      <p:sp>
        <p:nvSpPr>
          <p:cNvPr id="9" name="Shape 7"/>
          <p:cNvSpPr/>
          <p:nvPr/>
        </p:nvSpPr>
        <p:spPr>
          <a:xfrm>
            <a:off x="7414379" y="3277672"/>
            <a:ext cx="6422231" cy="22860"/>
          </a:xfrm>
          <a:prstGeom prst="rect">
            <a:avLst/>
          </a:prstGeom>
          <a:solidFill>
            <a:srgbClr val="F2F2F3"/>
          </a:solidFill>
          <a:ln/>
        </p:spPr>
        <p:txBody>
          <a:bodyPr/>
          <a:lstStyle/>
          <a:p>
            <a:endParaRPr lang="en-US"/>
          </a:p>
        </p:txBody>
      </p:sp>
      <p:sp>
        <p:nvSpPr>
          <p:cNvPr id="10" name="Text 8"/>
          <p:cNvSpPr/>
          <p:nvPr/>
        </p:nvSpPr>
        <p:spPr>
          <a:xfrm>
            <a:off x="7414379" y="3422571"/>
            <a:ext cx="4463177"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Rigorous Model Testing and Auditing</a:t>
            </a:r>
            <a:endParaRPr lang="en-US" sz="1950" dirty="0"/>
          </a:p>
        </p:txBody>
      </p:sp>
      <p:sp>
        <p:nvSpPr>
          <p:cNvPr id="11" name="Text 9"/>
          <p:cNvSpPr/>
          <p:nvPr/>
        </p:nvSpPr>
        <p:spPr>
          <a:xfrm>
            <a:off x="7414379" y="3851791"/>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Regularly conduct disparate impact analysis and fairness audits. Test models across demographic subgroups to identify and measure bias. Document findings and remediation actions.</a:t>
            </a:r>
            <a:endParaRPr lang="en-US" sz="1550" dirty="0"/>
          </a:p>
        </p:txBody>
      </p:sp>
      <p:sp>
        <p:nvSpPr>
          <p:cNvPr id="12" name="Text 10"/>
          <p:cNvSpPr/>
          <p:nvPr/>
        </p:nvSpPr>
        <p:spPr>
          <a:xfrm>
            <a:off x="793790" y="515159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Poppins Light" pitchFamily="34" charset="0"/>
                <a:ea typeface="Poppins Light" pitchFamily="34" charset="-122"/>
                <a:cs typeface="Poppins Light" pitchFamily="34" charset="-120"/>
              </a:rPr>
              <a:t>03</a:t>
            </a:r>
            <a:endParaRPr lang="en-US" sz="1550" dirty="0"/>
          </a:p>
        </p:txBody>
      </p:sp>
      <p:sp>
        <p:nvSpPr>
          <p:cNvPr id="13" name="Shape 11"/>
          <p:cNvSpPr/>
          <p:nvPr/>
        </p:nvSpPr>
        <p:spPr>
          <a:xfrm>
            <a:off x="793790" y="5465921"/>
            <a:ext cx="6422231" cy="22860"/>
          </a:xfrm>
          <a:prstGeom prst="rect">
            <a:avLst/>
          </a:prstGeom>
          <a:solidFill>
            <a:srgbClr val="F2F2F3"/>
          </a:solidFill>
          <a:ln/>
        </p:spPr>
        <p:txBody>
          <a:bodyPr/>
          <a:lstStyle/>
          <a:p>
            <a:endParaRPr lang="en-US"/>
          </a:p>
        </p:txBody>
      </p:sp>
      <p:sp>
        <p:nvSpPr>
          <p:cNvPr id="14" name="Text 12"/>
          <p:cNvSpPr/>
          <p:nvPr/>
        </p:nvSpPr>
        <p:spPr>
          <a:xfrm>
            <a:off x="793790" y="5610820"/>
            <a:ext cx="4543068"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Human-in-the-Loop Decision Making</a:t>
            </a:r>
            <a:endParaRPr lang="en-US" sz="1950" dirty="0"/>
          </a:p>
        </p:txBody>
      </p:sp>
      <p:sp>
        <p:nvSpPr>
          <p:cNvPr id="15" name="Text 13"/>
          <p:cNvSpPr/>
          <p:nvPr/>
        </p:nvSpPr>
        <p:spPr>
          <a:xfrm>
            <a:off x="793790" y="6040041"/>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Maintain meaningful human oversight. Use algorithms to surface insights and recommendations, but retain final underwriting decisions for experienced human underwriters who can apply judgment and context.</a:t>
            </a:r>
            <a:endParaRPr lang="en-US" sz="1550" dirty="0"/>
          </a:p>
        </p:txBody>
      </p:sp>
      <p:sp>
        <p:nvSpPr>
          <p:cNvPr id="16" name="Text 14"/>
          <p:cNvSpPr/>
          <p:nvPr/>
        </p:nvSpPr>
        <p:spPr>
          <a:xfrm>
            <a:off x="7414379" y="515159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Poppins Light" pitchFamily="34" charset="0"/>
                <a:ea typeface="Poppins Light" pitchFamily="34" charset="-122"/>
                <a:cs typeface="Poppins Light" pitchFamily="34" charset="-120"/>
              </a:rPr>
              <a:t>04</a:t>
            </a:r>
            <a:endParaRPr lang="en-US" sz="1550" dirty="0"/>
          </a:p>
        </p:txBody>
      </p:sp>
      <p:sp>
        <p:nvSpPr>
          <p:cNvPr id="17" name="Shape 15"/>
          <p:cNvSpPr/>
          <p:nvPr/>
        </p:nvSpPr>
        <p:spPr>
          <a:xfrm>
            <a:off x="7414379" y="5465921"/>
            <a:ext cx="6422231" cy="22860"/>
          </a:xfrm>
          <a:prstGeom prst="rect">
            <a:avLst/>
          </a:prstGeom>
          <a:solidFill>
            <a:srgbClr val="F2F2F3"/>
          </a:solidFill>
          <a:ln/>
        </p:spPr>
        <p:txBody>
          <a:bodyPr/>
          <a:lstStyle/>
          <a:p>
            <a:endParaRPr lang="en-US"/>
          </a:p>
        </p:txBody>
      </p:sp>
      <p:sp>
        <p:nvSpPr>
          <p:cNvPr id="18" name="Text 16"/>
          <p:cNvSpPr/>
          <p:nvPr/>
        </p:nvSpPr>
        <p:spPr>
          <a:xfrm>
            <a:off x="7414379" y="5610820"/>
            <a:ext cx="5074801"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Continuous Monitoring and Improvement</a:t>
            </a:r>
            <a:endParaRPr lang="en-US" sz="1950" dirty="0"/>
          </a:p>
        </p:txBody>
      </p:sp>
      <p:sp>
        <p:nvSpPr>
          <p:cNvPr id="19" name="Text 17"/>
          <p:cNvSpPr/>
          <p:nvPr/>
        </p:nvSpPr>
        <p:spPr>
          <a:xfrm>
            <a:off x="7414379" y="6040041"/>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Bias mitigation is not a one-time project. Continuously monitor algorithm performance, gather feedback, and refine models to ensure fairness is maintained over time.</a:t>
            </a:r>
            <a:endParaRPr lang="en-US" sz="1550" dirty="0"/>
          </a:p>
        </p:txBody>
      </p:sp>
      <p:pic>
        <p:nvPicPr>
          <p:cNvPr id="21" name="Picture 20" descr="A black background with a black square&#10;&#10;AI-generated content may be incorrect.">
            <a:extLst>
              <a:ext uri="{FF2B5EF4-FFF2-40B4-BE49-F238E27FC236}">
                <a16:creationId xmlns:a16="http://schemas.microsoft.com/office/drawing/2014/main" id="{BA4A453B-6DBF-ADA3-EBC0-67511DD7B1BC}"/>
              </a:ext>
            </a:extLst>
          </p:cNvPr>
          <p:cNvPicPr>
            <a:picLocks noChangeAspect="1"/>
          </p:cNvPicPr>
          <p:nvPr/>
        </p:nvPicPr>
        <p:blipFill>
          <a:blip r:embed="rId3"/>
          <a:stretch>
            <a:fillRect/>
          </a:stretch>
        </p:blipFill>
        <p:spPr>
          <a:xfrm>
            <a:off x="7414379" y="7581471"/>
            <a:ext cx="7150100" cy="5581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94636"/>
            <a:ext cx="11602164" cy="620078"/>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Explainable AI: Building Trust and Accountability</a:t>
            </a:r>
            <a:endParaRPr lang="en-US" sz="3900" dirty="0"/>
          </a:p>
        </p:txBody>
      </p:sp>
      <p:sp>
        <p:nvSpPr>
          <p:cNvPr id="3" name="Text 1"/>
          <p:cNvSpPr/>
          <p:nvPr/>
        </p:nvSpPr>
        <p:spPr>
          <a:xfrm>
            <a:off x="793790" y="191154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Transparent and Explainable AI (XAI) is far more than a regulatory checkbox. It is foundational to responsible insurtech and essential for earning the trust of customers, regulators, and the broader society.</a:t>
            </a:r>
            <a:endParaRPr lang="en-US" sz="1550" dirty="0"/>
          </a:p>
        </p:txBody>
      </p:sp>
      <p:sp>
        <p:nvSpPr>
          <p:cNvPr id="4" name="Text 2"/>
          <p:cNvSpPr/>
          <p:nvPr/>
        </p:nvSpPr>
        <p:spPr>
          <a:xfrm>
            <a:off x="2551748" y="2828211"/>
            <a:ext cx="2480905" cy="310158"/>
          </a:xfrm>
          <a:prstGeom prst="rect">
            <a:avLst/>
          </a:prstGeom>
          <a:noFill/>
          <a:ln/>
        </p:spPr>
        <p:txBody>
          <a:bodyPr wrap="none" lIns="0" tIns="0" rIns="0" bIns="0" rtlCol="0" anchor="t"/>
          <a:lstStyle/>
          <a:p>
            <a:pPr marL="0" indent="0" algn="r">
              <a:lnSpc>
                <a:spcPts val="2400"/>
              </a:lnSpc>
              <a:buNone/>
            </a:pPr>
            <a:r>
              <a:rPr lang="en-US" sz="1950" dirty="0">
                <a:solidFill>
                  <a:srgbClr val="E5E0DF"/>
                </a:solidFill>
                <a:latin typeface="Poppins Light" pitchFamily="34" charset="0"/>
                <a:ea typeface="Poppins Light" pitchFamily="34" charset="-122"/>
                <a:cs typeface="Poppins Light" pitchFamily="34" charset="-120"/>
              </a:rPr>
              <a:t>Accountability</a:t>
            </a:r>
            <a:endParaRPr lang="en-US" sz="1950" dirty="0"/>
          </a:p>
        </p:txBody>
      </p:sp>
      <p:sp>
        <p:nvSpPr>
          <p:cNvPr id="5" name="Text 3"/>
          <p:cNvSpPr/>
          <p:nvPr/>
        </p:nvSpPr>
        <p:spPr>
          <a:xfrm>
            <a:off x="793790" y="3257431"/>
            <a:ext cx="4238863" cy="1587698"/>
          </a:xfrm>
          <a:prstGeom prst="rect">
            <a:avLst/>
          </a:prstGeom>
          <a:noFill/>
          <a:ln/>
        </p:spPr>
        <p:txBody>
          <a:bodyPr wrap="square" lIns="0" tIns="0" rIns="0" bIns="0" rtlCol="0" anchor="t"/>
          <a:lstStyle/>
          <a:p>
            <a:pPr marL="0" indent="0" algn="r">
              <a:lnSpc>
                <a:spcPts val="2500"/>
              </a:lnSpc>
              <a:buNone/>
            </a:pPr>
            <a:r>
              <a:rPr lang="en-US" sz="1550" dirty="0">
                <a:solidFill>
                  <a:srgbClr val="E5E0DF"/>
                </a:solidFill>
                <a:latin typeface="Roboto Light" pitchFamily="34" charset="0"/>
                <a:ea typeface="Roboto Light" pitchFamily="34" charset="-122"/>
                <a:cs typeface="Roboto Light" pitchFamily="34" charset="-120"/>
              </a:rPr>
              <a:t>Explainable models enable clear auditing and attribution of decisions. This transparency allows regulators, auditors, and organisations to verify fairness and identify where corrective action is needed.</a:t>
            </a:r>
            <a:endParaRPr lang="en-US" sz="1550" dirty="0"/>
          </a:p>
        </p:txBody>
      </p:sp>
      <p:pic>
        <p:nvPicPr>
          <p:cNvPr id="6" name="Image 0" descr="preencoded.png"/>
          <p:cNvPicPr>
            <a:picLocks noChangeAspect="1"/>
          </p:cNvPicPr>
          <p:nvPr/>
        </p:nvPicPr>
        <p:blipFill>
          <a:blip r:embed="rId3"/>
          <a:stretch>
            <a:fillRect/>
          </a:stretch>
        </p:blipFill>
        <p:spPr>
          <a:xfrm>
            <a:off x="5032653" y="2769870"/>
            <a:ext cx="4564975" cy="4564975"/>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44305" y="4081522"/>
            <a:ext cx="279083" cy="279083"/>
          </a:xfrm>
          <a:prstGeom prst="rect">
            <a:avLst/>
          </a:prstGeom>
        </p:spPr>
      </p:pic>
      <p:sp>
        <p:nvSpPr>
          <p:cNvPr id="8" name="Text 4"/>
          <p:cNvSpPr/>
          <p:nvPr/>
        </p:nvSpPr>
        <p:spPr>
          <a:xfrm>
            <a:off x="9597628" y="282821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Trust Building</a:t>
            </a:r>
            <a:endParaRPr lang="en-US" sz="1950" dirty="0"/>
          </a:p>
        </p:txBody>
      </p:sp>
      <p:sp>
        <p:nvSpPr>
          <p:cNvPr id="9" name="Text 5"/>
          <p:cNvSpPr/>
          <p:nvPr/>
        </p:nvSpPr>
        <p:spPr>
          <a:xfrm>
            <a:off x="9597628" y="3257431"/>
            <a:ext cx="4238982"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Transparent algorithms foster essential trust between insurers and policyholders. When customers understand how decisions are made, they feel respected and are more likely to accept outcomes as fair.</a:t>
            </a:r>
            <a:endParaRPr lang="en-US" sz="1550" dirty="0"/>
          </a:p>
        </p:txBody>
      </p:sp>
      <p:pic>
        <p:nvPicPr>
          <p:cNvPr id="10" name="Image 2" descr="preencoded.png"/>
          <p:cNvPicPr>
            <a:picLocks noChangeAspect="1"/>
          </p:cNvPicPr>
          <p:nvPr/>
        </p:nvPicPr>
        <p:blipFill>
          <a:blip r:embed="rId6"/>
          <a:stretch>
            <a:fillRect/>
          </a:stretch>
        </p:blipFill>
        <p:spPr>
          <a:xfrm>
            <a:off x="5032653" y="2769870"/>
            <a:ext cx="4564975" cy="4564975"/>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06655" y="4081522"/>
            <a:ext cx="279083" cy="279083"/>
          </a:xfrm>
          <a:prstGeom prst="rect">
            <a:avLst/>
          </a:prstGeom>
        </p:spPr>
      </p:pic>
      <p:sp>
        <p:nvSpPr>
          <p:cNvPr id="12" name="Text 6"/>
          <p:cNvSpPr/>
          <p:nvPr/>
        </p:nvSpPr>
        <p:spPr>
          <a:xfrm>
            <a:off x="9597628" y="525946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Fairness</a:t>
            </a:r>
            <a:endParaRPr lang="en-US" sz="1950" dirty="0"/>
          </a:p>
        </p:txBody>
      </p:sp>
      <p:sp>
        <p:nvSpPr>
          <p:cNvPr id="13" name="Text 7"/>
          <p:cNvSpPr/>
          <p:nvPr/>
        </p:nvSpPr>
        <p:spPr>
          <a:xfrm>
            <a:off x="9597628" y="5688687"/>
            <a:ext cx="4238982"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Explainability helps data scientists and auditors efficiently identify hidden biases and proxy discrimination. This enables targeted mitigation, promoting fair and equitable underwriting across all demographics.</a:t>
            </a:r>
            <a:endParaRPr lang="en-US" sz="1550" dirty="0"/>
          </a:p>
        </p:txBody>
      </p:sp>
      <p:pic>
        <p:nvPicPr>
          <p:cNvPr id="14" name="Image 4" descr="preencoded.png"/>
          <p:cNvPicPr>
            <a:picLocks noChangeAspect="1"/>
          </p:cNvPicPr>
          <p:nvPr/>
        </p:nvPicPr>
        <p:blipFill>
          <a:blip r:embed="rId9"/>
          <a:stretch>
            <a:fillRect/>
          </a:stretch>
        </p:blipFill>
        <p:spPr>
          <a:xfrm>
            <a:off x="5032653" y="2769870"/>
            <a:ext cx="4564975" cy="4564975"/>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06655" y="5743873"/>
            <a:ext cx="279083" cy="279083"/>
          </a:xfrm>
          <a:prstGeom prst="rect">
            <a:avLst/>
          </a:prstGeom>
        </p:spPr>
      </p:pic>
      <p:sp>
        <p:nvSpPr>
          <p:cNvPr id="16" name="Text 8"/>
          <p:cNvSpPr/>
          <p:nvPr/>
        </p:nvSpPr>
        <p:spPr>
          <a:xfrm>
            <a:off x="2501384" y="5418296"/>
            <a:ext cx="2531269" cy="310158"/>
          </a:xfrm>
          <a:prstGeom prst="rect">
            <a:avLst/>
          </a:prstGeom>
          <a:noFill/>
          <a:ln/>
        </p:spPr>
        <p:txBody>
          <a:bodyPr wrap="none" lIns="0" tIns="0" rIns="0" bIns="0" rtlCol="0" anchor="t"/>
          <a:lstStyle/>
          <a:p>
            <a:pPr marL="0" indent="0" algn="r">
              <a:lnSpc>
                <a:spcPts val="2400"/>
              </a:lnSpc>
              <a:buNone/>
            </a:pPr>
            <a:r>
              <a:rPr lang="en-US" sz="1950" dirty="0">
                <a:solidFill>
                  <a:srgbClr val="E5E0DF"/>
                </a:solidFill>
                <a:latin typeface="Poppins Light" pitchFamily="34" charset="0"/>
                <a:ea typeface="Poppins Light" pitchFamily="34" charset="-122"/>
                <a:cs typeface="Poppins Light" pitchFamily="34" charset="-120"/>
              </a:rPr>
              <a:t>Continuous Learning</a:t>
            </a:r>
            <a:endParaRPr lang="en-US" sz="1950" dirty="0"/>
          </a:p>
        </p:txBody>
      </p:sp>
      <p:sp>
        <p:nvSpPr>
          <p:cNvPr id="17" name="Text 9"/>
          <p:cNvSpPr/>
          <p:nvPr/>
        </p:nvSpPr>
        <p:spPr>
          <a:xfrm>
            <a:off x="793790" y="5847517"/>
            <a:ext cx="4238863" cy="1270159"/>
          </a:xfrm>
          <a:prstGeom prst="rect">
            <a:avLst/>
          </a:prstGeom>
          <a:noFill/>
          <a:ln/>
        </p:spPr>
        <p:txBody>
          <a:bodyPr wrap="square" lIns="0" tIns="0" rIns="0" bIns="0" rtlCol="0" anchor="t"/>
          <a:lstStyle/>
          <a:p>
            <a:pPr marL="0" indent="0" algn="r">
              <a:lnSpc>
                <a:spcPts val="2500"/>
              </a:lnSpc>
              <a:buNone/>
            </a:pPr>
            <a:r>
              <a:rPr lang="en-US" sz="1550" dirty="0">
                <a:solidFill>
                  <a:srgbClr val="E5E0DF"/>
                </a:solidFill>
                <a:latin typeface="Roboto Light" pitchFamily="34" charset="0"/>
                <a:ea typeface="Roboto Light" pitchFamily="34" charset="-122"/>
                <a:cs typeface="Roboto Light" pitchFamily="34" charset="-120"/>
              </a:rPr>
              <a:t>Transparent models facilitate feedback loops. Understanding decision logic enables organisations to learn from errors and systematically improve fairness over time.</a:t>
            </a:r>
            <a:endParaRPr lang="en-US" sz="1550" dirty="0"/>
          </a:p>
        </p:txBody>
      </p:sp>
      <p:pic>
        <p:nvPicPr>
          <p:cNvPr id="18" name="Image 6" descr="preencoded.png"/>
          <p:cNvPicPr>
            <a:picLocks noChangeAspect="1"/>
          </p:cNvPicPr>
          <p:nvPr/>
        </p:nvPicPr>
        <p:blipFill>
          <a:blip r:embed="rId12"/>
          <a:stretch>
            <a:fillRect/>
          </a:stretch>
        </p:blipFill>
        <p:spPr>
          <a:xfrm>
            <a:off x="5032653" y="2769870"/>
            <a:ext cx="4564975" cy="4564975"/>
          </a:xfrm>
          <a:prstGeom prst="rect">
            <a:avLst/>
          </a:prstGeom>
        </p:spPr>
      </p:pic>
      <p:pic>
        <p:nvPicPr>
          <p:cNvPr id="19"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44305" y="5743873"/>
            <a:ext cx="279083" cy="279083"/>
          </a:xfrm>
          <a:prstGeom prst="rect">
            <a:avLst/>
          </a:prstGeom>
        </p:spPr>
      </p:pic>
      <p:pic>
        <p:nvPicPr>
          <p:cNvPr id="21" name="Picture 20" descr="A black background with a black square&#10;&#10;AI-generated content may be incorrect.">
            <a:extLst>
              <a:ext uri="{FF2B5EF4-FFF2-40B4-BE49-F238E27FC236}">
                <a16:creationId xmlns:a16="http://schemas.microsoft.com/office/drawing/2014/main" id="{C4FF4A3A-34A5-BDEB-E06A-136A6D90EF01}"/>
              </a:ext>
            </a:extLst>
          </p:cNvPr>
          <p:cNvPicPr>
            <a:picLocks noChangeAspect="1"/>
          </p:cNvPicPr>
          <p:nvPr/>
        </p:nvPicPr>
        <p:blipFill>
          <a:blip r:embed="rId15"/>
          <a:stretch>
            <a:fillRect/>
          </a:stretch>
        </p:blipFill>
        <p:spPr>
          <a:xfrm>
            <a:off x="7470297" y="7558088"/>
            <a:ext cx="7150100" cy="6151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407081"/>
            <a:ext cx="11741587" cy="620078"/>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Real-World Examples of Bias Mitigation in Action</a:t>
            </a:r>
            <a:endParaRPr lang="en-US" sz="3900" dirty="0"/>
          </a:p>
        </p:txBody>
      </p:sp>
      <p:sp>
        <p:nvSpPr>
          <p:cNvPr id="3" name="Text 1"/>
          <p:cNvSpPr/>
          <p:nvPr/>
        </p:nvSpPr>
        <p:spPr>
          <a:xfrm>
            <a:off x="793790" y="242399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Leading insurtech and insurance organisations are demonstrating that responsible AI is achievable. Their approaches offer practical models for the industry.</a:t>
            </a:r>
            <a:endParaRPr lang="en-US" sz="1550" dirty="0"/>
          </a:p>
        </p:txBody>
      </p:sp>
      <p:sp>
        <p:nvSpPr>
          <p:cNvPr id="4" name="Shape 2"/>
          <p:cNvSpPr/>
          <p:nvPr/>
        </p:nvSpPr>
        <p:spPr>
          <a:xfrm>
            <a:off x="793790" y="3282315"/>
            <a:ext cx="4215289" cy="3540085"/>
          </a:xfrm>
          <a:prstGeom prst="roundRect">
            <a:avLst>
              <a:gd name="adj" fmla="val 2355"/>
            </a:avLst>
          </a:prstGeom>
          <a:solidFill>
            <a:srgbClr val="3D3D42"/>
          </a:solidFill>
          <a:ln w="7620">
            <a:solidFill>
              <a:srgbClr val="56565B"/>
            </a:solidFill>
            <a:prstDash val="solid"/>
          </a:ln>
        </p:spPr>
        <p:txBody>
          <a:bodyPr/>
          <a:lstStyle/>
          <a:p>
            <a:endParaRPr lang="en-US"/>
          </a:p>
        </p:txBody>
      </p:sp>
      <p:sp>
        <p:nvSpPr>
          <p:cNvPr id="5" name="Shape 3"/>
          <p:cNvSpPr/>
          <p:nvPr/>
        </p:nvSpPr>
        <p:spPr>
          <a:xfrm>
            <a:off x="999768" y="3488293"/>
            <a:ext cx="595313" cy="595313"/>
          </a:xfrm>
          <a:prstGeom prst="roundRect">
            <a:avLst>
              <a:gd name="adj" fmla="val 15358451"/>
            </a:avLst>
          </a:prstGeom>
          <a:solidFill>
            <a:srgbClr val="F2F2F3"/>
          </a:solidFill>
          <a:ln/>
        </p:spPr>
        <p:txBody>
          <a:bodyPr/>
          <a:lstStyle/>
          <a:p>
            <a:endParaRPr lang="en-US"/>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3479" y="3651885"/>
            <a:ext cx="267891" cy="267891"/>
          </a:xfrm>
          <a:prstGeom prst="rect">
            <a:avLst/>
          </a:prstGeom>
        </p:spPr>
      </p:pic>
      <p:sp>
        <p:nvSpPr>
          <p:cNvPr id="7" name="Text 4"/>
          <p:cNvSpPr/>
          <p:nvPr/>
        </p:nvSpPr>
        <p:spPr>
          <a:xfrm>
            <a:off x="999768" y="428196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Prudential Financial</a:t>
            </a:r>
            <a:endParaRPr lang="en-US" sz="1950" dirty="0"/>
          </a:p>
        </p:txBody>
      </p:sp>
      <p:sp>
        <p:nvSpPr>
          <p:cNvPr id="8" name="Text 5"/>
          <p:cNvSpPr/>
          <p:nvPr/>
        </p:nvSpPr>
        <p:spPr>
          <a:xfrm>
            <a:off x="999768" y="4711184"/>
            <a:ext cx="3803333" cy="190523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Implemented systematic bias testing and external audits to proactively identify and address racial disparities in life insurance pricing models. This transparent approach has strengthened regulatory relationships and customer trust.</a:t>
            </a:r>
            <a:endParaRPr lang="en-US" sz="1550" dirty="0"/>
          </a:p>
        </p:txBody>
      </p:sp>
      <p:sp>
        <p:nvSpPr>
          <p:cNvPr id="9" name="Shape 6"/>
          <p:cNvSpPr/>
          <p:nvPr/>
        </p:nvSpPr>
        <p:spPr>
          <a:xfrm>
            <a:off x="5207437" y="3282315"/>
            <a:ext cx="4215408" cy="3540085"/>
          </a:xfrm>
          <a:prstGeom prst="roundRect">
            <a:avLst>
              <a:gd name="adj" fmla="val 2355"/>
            </a:avLst>
          </a:prstGeom>
          <a:solidFill>
            <a:srgbClr val="3D3D42"/>
          </a:solidFill>
          <a:ln w="7620">
            <a:solidFill>
              <a:srgbClr val="56565B"/>
            </a:solidFill>
            <a:prstDash val="solid"/>
          </a:ln>
        </p:spPr>
        <p:txBody>
          <a:bodyPr/>
          <a:lstStyle/>
          <a:p>
            <a:endParaRPr lang="en-US"/>
          </a:p>
        </p:txBody>
      </p:sp>
      <p:sp>
        <p:nvSpPr>
          <p:cNvPr id="10" name="Shape 7"/>
          <p:cNvSpPr/>
          <p:nvPr/>
        </p:nvSpPr>
        <p:spPr>
          <a:xfrm>
            <a:off x="5413415" y="3488293"/>
            <a:ext cx="595313" cy="595313"/>
          </a:xfrm>
          <a:prstGeom prst="roundRect">
            <a:avLst>
              <a:gd name="adj" fmla="val 15358451"/>
            </a:avLst>
          </a:prstGeom>
          <a:solidFill>
            <a:srgbClr val="F2F2F3"/>
          </a:solidFill>
          <a:ln/>
        </p:spPr>
        <p:txBody>
          <a:bodyPr/>
          <a:lstStyle/>
          <a:p>
            <a:endParaRPr lang="en-US"/>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77126" y="3651885"/>
            <a:ext cx="267891" cy="267891"/>
          </a:xfrm>
          <a:prstGeom prst="rect">
            <a:avLst/>
          </a:prstGeom>
        </p:spPr>
      </p:pic>
      <p:sp>
        <p:nvSpPr>
          <p:cNvPr id="12" name="Text 8"/>
          <p:cNvSpPr/>
          <p:nvPr/>
        </p:nvSpPr>
        <p:spPr>
          <a:xfrm>
            <a:off x="5413415" y="4281964"/>
            <a:ext cx="2603183"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Lemonade Insurance</a:t>
            </a:r>
            <a:endParaRPr lang="en-US" sz="1950" dirty="0"/>
          </a:p>
        </p:txBody>
      </p:sp>
      <p:sp>
        <p:nvSpPr>
          <p:cNvPr id="13" name="Text 9"/>
          <p:cNvSpPr/>
          <p:nvPr/>
        </p:nvSpPr>
        <p:spPr>
          <a:xfrm>
            <a:off x="5413415" y="4711184"/>
            <a:ext cx="3803452" cy="190523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Developed explainable AI systems to provide transparency into underwriting logic and decision-making for policyholders. Clear communication about algorithmic decisions has become a competitive advantage.</a:t>
            </a:r>
            <a:endParaRPr lang="en-US" sz="1550" dirty="0"/>
          </a:p>
        </p:txBody>
      </p:sp>
      <p:sp>
        <p:nvSpPr>
          <p:cNvPr id="14" name="Shape 10"/>
          <p:cNvSpPr/>
          <p:nvPr/>
        </p:nvSpPr>
        <p:spPr>
          <a:xfrm>
            <a:off x="9621203" y="3282315"/>
            <a:ext cx="4215289" cy="3540085"/>
          </a:xfrm>
          <a:prstGeom prst="roundRect">
            <a:avLst>
              <a:gd name="adj" fmla="val 2355"/>
            </a:avLst>
          </a:prstGeom>
          <a:solidFill>
            <a:srgbClr val="3D3D42"/>
          </a:solidFill>
          <a:ln w="7620">
            <a:solidFill>
              <a:srgbClr val="56565B"/>
            </a:solidFill>
            <a:prstDash val="solid"/>
          </a:ln>
        </p:spPr>
        <p:txBody>
          <a:bodyPr/>
          <a:lstStyle/>
          <a:p>
            <a:endParaRPr lang="en-US"/>
          </a:p>
        </p:txBody>
      </p:sp>
      <p:sp>
        <p:nvSpPr>
          <p:cNvPr id="15" name="Shape 11"/>
          <p:cNvSpPr/>
          <p:nvPr/>
        </p:nvSpPr>
        <p:spPr>
          <a:xfrm>
            <a:off x="9827181" y="3488293"/>
            <a:ext cx="595313" cy="595313"/>
          </a:xfrm>
          <a:prstGeom prst="roundRect">
            <a:avLst>
              <a:gd name="adj" fmla="val 15358451"/>
            </a:avLst>
          </a:prstGeom>
          <a:solidFill>
            <a:srgbClr val="F2F2F3"/>
          </a:solidFill>
          <a:ln/>
        </p:spPr>
        <p:txBody>
          <a:bodyPr/>
          <a:lstStyle/>
          <a:p>
            <a:endParaRPr lang="en-US"/>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90892" y="3651885"/>
            <a:ext cx="267891" cy="267891"/>
          </a:xfrm>
          <a:prstGeom prst="rect">
            <a:avLst/>
          </a:prstGeom>
        </p:spPr>
      </p:pic>
      <p:sp>
        <p:nvSpPr>
          <p:cNvPr id="17" name="Text 12"/>
          <p:cNvSpPr/>
          <p:nvPr/>
        </p:nvSpPr>
        <p:spPr>
          <a:xfrm>
            <a:off x="9827181" y="428196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UnitedHealth Group</a:t>
            </a:r>
            <a:endParaRPr lang="en-US" sz="1950" dirty="0"/>
          </a:p>
        </p:txBody>
      </p:sp>
      <p:sp>
        <p:nvSpPr>
          <p:cNvPr id="18" name="Text 13"/>
          <p:cNvSpPr/>
          <p:nvPr/>
        </p:nvSpPr>
        <p:spPr>
          <a:xfrm>
            <a:off x="9827181" y="4711184"/>
            <a:ext cx="3803333" cy="190523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Maintained human-in-the-loop workflows where algorithms surface insights but experienced underwriters retain final decision authority. This hybrid approach balances efficiency with human judgment and oversight.</a:t>
            </a:r>
            <a:endParaRPr lang="en-US" sz="1550" dirty="0"/>
          </a:p>
        </p:txBody>
      </p:sp>
      <p:pic>
        <p:nvPicPr>
          <p:cNvPr id="20" name="Picture 19" descr="A black background with a black square&#10;&#10;AI-generated content may be incorrect.">
            <a:extLst>
              <a:ext uri="{FF2B5EF4-FFF2-40B4-BE49-F238E27FC236}">
                <a16:creationId xmlns:a16="http://schemas.microsoft.com/office/drawing/2014/main" id="{02F00DBD-6D55-839E-3097-A6A3F94EA952}"/>
              </a:ext>
            </a:extLst>
          </p:cNvPr>
          <p:cNvPicPr>
            <a:picLocks noChangeAspect="1"/>
          </p:cNvPicPr>
          <p:nvPr/>
        </p:nvPicPr>
        <p:blipFill>
          <a:blip r:embed="rId9"/>
          <a:stretch>
            <a:fillRect/>
          </a:stretch>
        </p:blipFill>
        <p:spPr>
          <a:xfrm>
            <a:off x="7480300" y="7600137"/>
            <a:ext cx="7150100" cy="5953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1329</Words>
  <Application>Microsoft Macintosh PowerPoint</Application>
  <PresentationFormat>Custom</PresentationFormat>
  <Paragraphs>101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Poppins Light</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ANIMESH SINGH - 123108907 - MITMPL</cp:lastModifiedBy>
  <cp:revision>2</cp:revision>
  <dcterms:created xsi:type="dcterms:W3CDTF">2025-10-18T10:32:43Z</dcterms:created>
  <dcterms:modified xsi:type="dcterms:W3CDTF">2025-10-18T10:36:54Z</dcterms:modified>
</cp:coreProperties>
</file>
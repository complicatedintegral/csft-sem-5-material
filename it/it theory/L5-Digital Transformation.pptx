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4"/>
  </p:sldMasterIdLst>
  <p:sldIdLst>
    <p:sldId id="256" r:id="rId5"/>
    <p:sldId id="258" r:id="rId6"/>
    <p:sldId id="259" r:id="rId7"/>
    <p:sldId id="260" r:id="rId8"/>
    <p:sldId id="257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07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3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6883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303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395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6625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730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003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042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3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186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88B9D3-F9FC-42A1-A8C6-6112B490968F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7DAC3D7-36FB-4AC6-B266-C2EB1585E62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0701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79DCD-4036-B90C-9571-A91FC661BD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Digital Transformation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6DBEEE-1802-EBCD-CCEF-3F769998355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787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BF03-4BC7-D67B-2EE3-EE668B232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DAB6B-0855-6E0D-08B0-D4AA2B2CD5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Digital transformation is the process of using digital technologies to fundamentally change how a business operates, delivering new value to customers and employees. </a:t>
            </a:r>
          </a:p>
          <a:p>
            <a:r>
              <a:rPr lang="en-US" dirty="0"/>
              <a:t>It involves integrating digital technologies across all areas of a business, requiring a shift in culture and mindset.</a:t>
            </a:r>
          </a:p>
          <a:p>
            <a:r>
              <a:rPr lang="en-US" dirty="0"/>
              <a:t>This transformation impacts everything from customer experience and business models to operations and employee engagement.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80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0E2F2-D601-1453-B35C-D961F5917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aspects of digital transformation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5D1EF-BB2F-1534-5710-FBE7891C0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Embracing Digital Technologies</a:t>
            </a:r>
          </a:p>
          <a:p>
            <a:pPr lvl="1"/>
            <a:r>
              <a:rPr lang="en-US" dirty="0"/>
              <a:t>This includes using technologies like cloud computing, big data analytics, AI, and machine learning to optimize and automate processes. </a:t>
            </a:r>
            <a:endParaRPr lang="en-IN" b="1" dirty="0"/>
          </a:p>
          <a:p>
            <a:r>
              <a:rPr lang="en-IN" b="1" dirty="0"/>
              <a:t>Shifting Business Models</a:t>
            </a:r>
          </a:p>
          <a:p>
            <a:pPr lvl="1"/>
            <a:r>
              <a:rPr lang="en-US" dirty="0"/>
              <a:t>Digital transformation can lead to entirely new business models, such as e-commerce platforms or subscription-based services. </a:t>
            </a:r>
            <a:endParaRPr lang="en-IN" b="1" dirty="0"/>
          </a:p>
          <a:p>
            <a:r>
              <a:rPr lang="en-IN" b="1" dirty="0"/>
              <a:t>Focus on Customer Experience</a:t>
            </a:r>
          </a:p>
          <a:p>
            <a:pPr lvl="1"/>
            <a:r>
              <a:rPr lang="en-US" dirty="0"/>
              <a:t>Digital technologies enable businesses to personalize experiences, offer new services, and improve customer engagement. </a:t>
            </a:r>
            <a:endParaRPr lang="en-IN" b="1" dirty="0"/>
          </a:p>
          <a:p>
            <a:r>
              <a:rPr lang="en-IN" b="1" dirty="0"/>
              <a:t>Transforming Operations</a:t>
            </a:r>
          </a:p>
          <a:p>
            <a:pPr lvl="1"/>
            <a:r>
              <a:rPr lang="en-US" dirty="0"/>
              <a:t>Digital tools can streamline workflows, improve efficiency, and enhance decision-making. </a:t>
            </a:r>
            <a:endParaRPr lang="en-IN" b="1" dirty="0"/>
          </a:p>
          <a:p>
            <a:r>
              <a:rPr lang="en-IN" b="1" dirty="0"/>
              <a:t>Cultural Change</a:t>
            </a:r>
          </a:p>
          <a:p>
            <a:pPr lvl="1"/>
            <a:r>
              <a:rPr lang="en-US" dirty="0"/>
              <a:t>A successful digital transformation requires a shift in organizational culture, encouraging experimentation, adaptability, and a willingness to embrace new ways of working.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0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DE04D-AE53-7C10-486E-D09986C5A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589" y="518769"/>
            <a:ext cx="9603275" cy="1049235"/>
          </a:xfrm>
        </p:spPr>
        <p:txBody>
          <a:bodyPr/>
          <a:lstStyle/>
          <a:p>
            <a:r>
              <a:rPr lang="en-US" dirty="0"/>
              <a:t>Benefits of Digital Transformation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5CF38-898E-C597-BFD7-0AB71965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Increased Efficiency:</a:t>
            </a:r>
          </a:p>
          <a:p>
            <a:pPr lvl="1"/>
            <a:r>
              <a:rPr lang="en-US" dirty="0"/>
              <a:t>Automation and streamlined processes lead to improved productivity and reduced costs. </a:t>
            </a:r>
            <a:endParaRPr lang="en-IN" b="1" dirty="0"/>
          </a:p>
          <a:p>
            <a:r>
              <a:rPr lang="en-IN" b="1" dirty="0"/>
              <a:t>Enhanced Customer Experience:</a:t>
            </a:r>
          </a:p>
          <a:p>
            <a:pPr lvl="1"/>
            <a:r>
              <a:rPr lang="en-US" dirty="0"/>
              <a:t>Personalized services, convenient access, and improved engagement enhance customer satisfaction. </a:t>
            </a:r>
            <a:endParaRPr lang="en-IN" b="1" dirty="0"/>
          </a:p>
          <a:p>
            <a:r>
              <a:rPr lang="en-IN" b="1" dirty="0"/>
              <a:t>Greater Agility</a:t>
            </a:r>
            <a:r>
              <a:rPr lang="en-IN" dirty="0"/>
              <a:t>:</a:t>
            </a:r>
          </a:p>
          <a:p>
            <a:pPr lvl="1"/>
            <a:r>
              <a:rPr lang="en-US" dirty="0"/>
              <a:t>Businesses can adapt more quickly to changing market conditions and customer demands. </a:t>
            </a:r>
            <a:endParaRPr lang="en-IN" dirty="0"/>
          </a:p>
          <a:p>
            <a:r>
              <a:rPr lang="en-IN" b="1" dirty="0"/>
              <a:t>New Revenue Streams:</a:t>
            </a:r>
          </a:p>
          <a:p>
            <a:pPr lvl="1"/>
            <a:r>
              <a:rPr lang="en-US" dirty="0"/>
              <a:t>Digital transformation can unlock opportunities for new products, services, and business models. </a:t>
            </a:r>
            <a:endParaRPr lang="en-IN" b="1" dirty="0"/>
          </a:p>
          <a:p>
            <a:r>
              <a:rPr lang="en-IN" b="1" dirty="0"/>
              <a:t>Competitive Advantage:</a:t>
            </a:r>
          </a:p>
          <a:p>
            <a:pPr lvl="1"/>
            <a:r>
              <a:rPr lang="en-US" dirty="0"/>
              <a:t>Businesses that embrace digital transformation can gain a competitive edge by optimizing operations and delivering superior value.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989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C1DE-EFDE-18CA-348A-AC0CA94F3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Focus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F955D-A9C6-764F-7EF7-0CEAC3721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 Transparent Markets to Customer transparency</a:t>
            </a:r>
          </a:p>
          <a:p>
            <a:r>
              <a:rPr lang="en-US" dirty="0"/>
              <a:t>Substitution of middle man- Direct Producer to customer connection</a:t>
            </a:r>
          </a:p>
          <a:p>
            <a:r>
              <a:rPr lang="en-US" dirty="0"/>
              <a:t>Many scattered players with high margins to few scaled players with low margin</a:t>
            </a:r>
          </a:p>
          <a:p>
            <a:r>
              <a:rPr lang="en-US" dirty="0"/>
              <a:t>From supply driven to demand driven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585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BEF65-2291-1266-039A-62B3DB24B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Transformation in Insurance sector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8A240-C915-0D82-D639-0128EAB55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Driving forces behind digital transformation</a:t>
            </a:r>
          </a:p>
          <a:p>
            <a:pPr lvl="1"/>
            <a:r>
              <a:rPr lang="en-IN" b="1" dirty="0"/>
              <a:t>Changing Customer Expectations</a:t>
            </a:r>
          </a:p>
          <a:p>
            <a:pPr lvl="1"/>
            <a:r>
              <a:rPr lang="en-IN" b="1" dirty="0"/>
              <a:t>Emerging Technologies</a:t>
            </a:r>
          </a:p>
          <a:p>
            <a:pPr lvl="1"/>
            <a:r>
              <a:rPr lang="en-IN" b="1" dirty="0"/>
              <a:t>Increased Competition</a:t>
            </a:r>
          </a:p>
          <a:p>
            <a:pPr lvl="1"/>
            <a:r>
              <a:rPr lang="en-US" b="1" dirty="0"/>
              <a:t>Operational Efficiency and Cost Reduction</a:t>
            </a:r>
          </a:p>
          <a:p>
            <a:pPr lvl="1"/>
            <a:r>
              <a:rPr lang="en-IN" b="1" dirty="0"/>
              <a:t>Regulatory Compliance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3088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CEAC-252F-2E11-2431-F1D4AC7F9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aspects and examples of digital transformation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856D-C709-7889-531D-9DBC0DFA2A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Automated Underwriting: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AI-powered algorithms generate contextual quotes, assessing risks faster and more accurately, potentially eliminating the need for human underwriters in some cases.</a:t>
            </a:r>
          </a:p>
          <a:p>
            <a:pPr lvl="2"/>
            <a:r>
              <a:rPr lang="en-US" dirty="0"/>
              <a:t>Ex: </a:t>
            </a:r>
            <a:r>
              <a:rPr lang="en-US" i="1" dirty="0"/>
              <a:t>Poonawalla Fincorp launches an AI-powered underwriting solution with IIT Bombay to enhance credit decisions, boost efficiency, and streamline risk management.</a:t>
            </a:r>
            <a:endParaRPr lang="en-US" dirty="0"/>
          </a:p>
          <a:p>
            <a:r>
              <a:rPr lang="en-US" b="1" dirty="0"/>
              <a:t>AI &amp; Automation in Claims Processing: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AI and ML tools significantly reduce claims processing time and cost, improve accuracy by analyzing claims data and detecting fraud, and handle repetitive tasks like the first notice of loss. </a:t>
            </a:r>
          </a:p>
          <a:p>
            <a:pPr lvl="2"/>
            <a:r>
              <a:rPr lang="en-US" i="1" dirty="0"/>
              <a:t>For instance, Lemonade's claim bot has reportedly processed a claim in three seconds.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004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6D508-9A79-CACB-BD25-EA72B608B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F6C2D-FC3B-EC3C-C70C-0A76ED607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b="1" dirty="0"/>
              <a:t>Omnichannel Customer Experience:</a:t>
            </a:r>
          </a:p>
          <a:p>
            <a:pPr lvl="1"/>
            <a:r>
              <a:rPr lang="en-US" dirty="0"/>
              <a:t> Providing seamless communication and service across various channels like websites, mobile apps, chatbots, and social media, ensuring customers can interact and manage their policies from anywhere at any time.</a:t>
            </a:r>
          </a:p>
          <a:p>
            <a:r>
              <a:rPr lang="en-US" b="1" dirty="0"/>
              <a:t>Telematics &amp; Personalized Insurance: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IoT devices and telematics track data from cars, homes, and wearables, enabling insurers to personalize policies and offer discounts based on individual behavior and risk profiles. Examples include usage-based insurance (UBI) models that adjust premiums based on driving habits.</a:t>
            </a:r>
          </a:p>
          <a:p>
            <a:r>
              <a:rPr lang="en-US" b="1" dirty="0"/>
              <a:t>Digitalization of Legacy Systems:</a:t>
            </a:r>
          </a:p>
          <a:p>
            <a:pPr lvl="1"/>
            <a:r>
              <a:rPr lang="en-US" dirty="0"/>
              <a:t> Modernizing outdated systems with cloud applications, implementing claims management software, policyholder portals, and other digital solutions to improve efficiency and agility.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728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B2A91-9804-8BF2-1AD0-51280F74B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A686B-08AB-D570-42BA-ABEF08B9A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Blockchain &amp; Smart Contracts: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Enhancing transparency and security in P&amp;C insurance by creating a decentralized and immutable record of transactions, which can automate claims processing and policy management.</a:t>
            </a:r>
          </a:p>
          <a:p>
            <a:r>
              <a:rPr lang="en-US" b="1" dirty="0"/>
              <a:t>Digital Adoption Platforms (DAPs):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Improving agent productivity and performance by providing contextual onboarding, training, and support within insurance applications.</a:t>
            </a:r>
          </a:p>
          <a:p>
            <a:r>
              <a:rPr lang="en-US" b="1" dirty="0"/>
              <a:t>Predictive Analytics: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Utilizing data from various sources to analyze patterns, assess risks, detect fraud, optimize pricing, personalize offerings, and proactively engage with customers.</a:t>
            </a:r>
          </a:p>
          <a:p>
            <a:r>
              <a:rPr lang="en-US" b="1" dirty="0"/>
              <a:t>Policyholder Portals: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Providing customers with self-service capabilities to manage policies, pay premiums, track claims, and access information online or through mobile apps.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162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D3CF3-8289-1697-0917-B0A5E18F7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digital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6CC16-E0B3-28CA-E217-CC2BBEFEE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Improved Customer Experience: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Streamlined processes, personalized offerings, and omnichannel communication lead to greater customer satisfaction, loyalty, and reduced churn.</a:t>
            </a:r>
          </a:p>
          <a:p>
            <a:r>
              <a:rPr lang="en-US" b="1" dirty="0"/>
              <a:t>Increased Efficiency &amp; Reduced Costs: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Automation of tasks, digital workflows, and cloud-based systems lead to significant cost reductions in operations, staffing, and infrastructure.</a:t>
            </a:r>
          </a:p>
          <a:p>
            <a:r>
              <a:rPr lang="en-US" b="1" dirty="0"/>
              <a:t>Enhanced Decision-making: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Data analytics and AI provide valuable insights into customer behavior, market trends, and risk assessment, enabling data-driven decisions and better resource allocation.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881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F0F8B-753D-85CD-E0EC-33CA80FF4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E0621B-E083-4888-9543-38E48C55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New Revenue Opportunities:</a:t>
            </a:r>
          </a:p>
          <a:p>
            <a:pPr lvl="1"/>
            <a:r>
              <a:rPr lang="en-US" dirty="0"/>
              <a:t> Digital transformation facilitates the creation of innovative products and services like usage-based insurance, embedded insurance, and personalized offerings, tapping into new markets and customer segments.</a:t>
            </a:r>
          </a:p>
          <a:p>
            <a:r>
              <a:rPr lang="en-US" b="1" dirty="0"/>
              <a:t>Better Risk Management &amp; Fraud Detection: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AI, ML, and big data analytics improve risk assessment accuracy, identify fraudulent claims more effectively, and potentially enable a shift from reactive risk protection to proactive risk prevention.</a:t>
            </a:r>
          </a:p>
          <a:p>
            <a:r>
              <a:rPr lang="en-US" b="1" dirty="0"/>
              <a:t>Increased Scalability &amp; Agility: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Self-service platforms, cloud solutions, and agile technologies allow insurers to expand their services, adapt to market changes more quickly, and respond to regulatory demands efficiently.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2623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66E94-60C7-579A-485C-61D6A061B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of digital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18BAF7-B2AD-CB61-623E-0976B1FADC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Inefficient Change Management: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Digital transformation requires significant organizational and cultural shifts, which can face resistance from employees and leaders alike.</a:t>
            </a:r>
          </a:p>
          <a:p>
            <a:r>
              <a:rPr lang="en-US" b="1" dirty="0"/>
              <a:t>Dependence on Legacy Systems:</a:t>
            </a:r>
          </a:p>
          <a:p>
            <a:pPr lvl="1"/>
            <a:r>
              <a:rPr lang="en-US" dirty="0"/>
              <a:t> Integrating modern technologies with outdated, traditional systems can be complex and costly.</a:t>
            </a:r>
          </a:p>
          <a:p>
            <a:r>
              <a:rPr lang="en-US" b="1" dirty="0"/>
              <a:t>Talent Shortages &amp; Training Challenges: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A lack of skilled professionals in areas like AI, data science, and cybersecurity, combined with an aging workforce, can hinder the transformation process.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1373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46CA-0B21-5893-A2A7-B6035E347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E194D-1F6A-3F0B-19B3-2278BB3A4D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Regulatory Compliance:</a:t>
            </a:r>
            <a:r>
              <a:rPr lang="en-US" dirty="0"/>
              <a:t> </a:t>
            </a:r>
          </a:p>
          <a:p>
            <a:pPr lvl="1"/>
            <a:r>
              <a:rPr lang="en-US" dirty="0"/>
              <a:t>Navigating the complex and evolving regulatory landscape while adopting new technologies like AI and data analytics can be challenging.</a:t>
            </a:r>
          </a:p>
          <a:p>
            <a:r>
              <a:rPr lang="en-US" b="1" dirty="0"/>
              <a:t>Data Security &amp; Privacy:</a:t>
            </a:r>
          </a:p>
          <a:p>
            <a:pPr lvl="1"/>
            <a:r>
              <a:rPr lang="en-US" dirty="0"/>
              <a:t> Handling vast amounts of sensitive customer data necessitates robust cybersecurity measures and strict adherence to data protection regulations like GDPR and HIPAA.</a:t>
            </a:r>
          </a:p>
          <a:p>
            <a:r>
              <a:rPr lang="en-US" b="1" dirty="0"/>
              <a:t>High Upfront Costs:</a:t>
            </a:r>
          </a:p>
          <a:p>
            <a:pPr lvl="1"/>
            <a:r>
              <a:rPr lang="en-US" dirty="0"/>
              <a:t> Implementing new systems, investing in talent development, and modernizing infrastructure can require substantial initial investments.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211873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d2aff03-6c86-4b5b-9e83-1e72c6b5776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9AAFEEEDE59D4091F439A6188BF477" ma:contentTypeVersion="18" ma:contentTypeDescription="Create a new document." ma:contentTypeScope="" ma:versionID="4e66738195456e2baf882ab6ad72eddd">
  <xsd:schema xmlns:xsd="http://www.w3.org/2001/XMLSchema" xmlns:xs="http://www.w3.org/2001/XMLSchema" xmlns:p="http://schemas.microsoft.com/office/2006/metadata/properties" xmlns:ns3="fd2aff03-6c86-4b5b-9e83-1e72c6b57763" xmlns:ns4="af960115-6f62-451d-b562-8f7e890baae2" targetNamespace="http://schemas.microsoft.com/office/2006/metadata/properties" ma:root="true" ma:fieldsID="15b10a348c9e2d43121c00af0569ce25" ns3:_="" ns4:_="">
    <xsd:import namespace="fd2aff03-6c86-4b5b-9e83-1e72c6b57763"/>
    <xsd:import namespace="af960115-6f62-451d-b562-8f7e890baae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2aff03-6c86-4b5b-9e83-1e72c6b5776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f960115-6f62-451d-b562-8f7e890baae2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65AB2DD-C1C8-48C1-82DB-6F9C3155DFAC}">
  <ds:schemaRefs>
    <ds:schemaRef ds:uri="http://schemas.microsoft.com/office/2006/documentManagement/types"/>
    <ds:schemaRef ds:uri="fd2aff03-6c86-4b5b-9e83-1e72c6b57763"/>
    <ds:schemaRef ds:uri="http://purl.org/dc/elements/1.1/"/>
    <ds:schemaRef ds:uri="http://www.w3.org/XML/1998/namespace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af960115-6f62-451d-b562-8f7e890baae2"/>
  </ds:schemaRefs>
</ds:datastoreItem>
</file>

<file path=customXml/itemProps2.xml><?xml version="1.0" encoding="utf-8"?>
<ds:datastoreItem xmlns:ds="http://schemas.openxmlformats.org/officeDocument/2006/customXml" ds:itemID="{273B8E52-E40E-4DBE-92E3-807DF80C09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2aff03-6c86-4b5b-9e83-1e72c6b57763"/>
    <ds:schemaRef ds:uri="af960115-6f62-451d-b562-8f7e890baa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2C2103A-B98E-455D-ABCA-4C059D659D9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29bebd42-f1ff-4c3d-9688-067e3460dc1f}" enabled="0" method="" siteId="{29bebd42-f1ff-4c3d-9688-067e3460dc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179</TotalTime>
  <Words>1031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Digital Transformation</vt:lpstr>
      <vt:lpstr>PowerPoint Presentation</vt:lpstr>
      <vt:lpstr>Key aspects of digital transformation</vt:lpstr>
      <vt:lpstr>Benefits of Digital Transformation</vt:lpstr>
      <vt:lpstr>Focus</vt:lpstr>
      <vt:lpstr>Digital Transformation in Insurance sector</vt:lpstr>
      <vt:lpstr>Key aspects and examples of digital transformation</vt:lpstr>
      <vt:lpstr>PowerPoint Presentation</vt:lpstr>
      <vt:lpstr>PowerPoint Presentation</vt:lpstr>
      <vt:lpstr>Benefits of digital transformation</vt:lpstr>
      <vt:lpstr>PowerPoint Presentation</vt:lpstr>
      <vt:lpstr>Challenges of digital transformation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Sumukh S Hungund [MAHE-MIT]</dc:creator>
  <cp:lastModifiedBy>Sumukh S Hungund [MAHE-MIT]</cp:lastModifiedBy>
  <cp:revision>4</cp:revision>
  <dcterms:created xsi:type="dcterms:W3CDTF">2025-08-21T08:34:06Z</dcterms:created>
  <dcterms:modified xsi:type="dcterms:W3CDTF">2025-09-01T03:25:53Z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0x010100B39AAFEEEDE59D4091F439A6188BF477</vt:lpwstr>
  </property>
</Properties>
</file>
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Montserrat" panose="000005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DF3FED-3025-4A39-9477-94EFAD578966}" v="13" dt="2025-10-17T09:03:15.3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8" d="100"/>
          <a:sy n="48" d="100"/>
        </p:scale>
        <p:origin x="148" y="4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ptarka Nandi" userId="aa421a2dccce7670" providerId="LiveId" clId="{8E228B56-377A-4A0A-B969-9D7EE6030E05}"/>
    <pc:docChg chg="undo redo custSel modSld">
      <pc:chgData name="Diptarka Nandi" userId="aa421a2dccce7670" providerId="LiveId" clId="{8E228B56-377A-4A0A-B969-9D7EE6030E05}" dt="2025-10-17T09:12:23.636" v="75" actId="1076"/>
      <pc:docMkLst>
        <pc:docMk/>
      </pc:docMkLst>
      <pc:sldChg chg="addSp modSp mod">
        <pc:chgData name="Diptarka Nandi" userId="aa421a2dccce7670" providerId="LiveId" clId="{8E228B56-377A-4A0A-B969-9D7EE6030E05}" dt="2025-10-17T08:54:17.438" v="4" actId="1076"/>
        <pc:sldMkLst>
          <pc:docMk/>
          <pc:sldMk cId="0" sldId="257"/>
        </pc:sldMkLst>
        <pc:picChg chg="add mod">
          <ac:chgData name="Diptarka Nandi" userId="aa421a2dccce7670" providerId="LiveId" clId="{8E228B56-377A-4A0A-B969-9D7EE6030E05}" dt="2025-10-17T08:54:17.438" v="4" actId="1076"/>
          <ac:picMkLst>
            <pc:docMk/>
            <pc:sldMk cId="0" sldId="257"/>
            <ac:picMk id="15" creationId="{FA1DCB00-0AE3-88F7-72C4-B896437EDEED}"/>
          </ac:picMkLst>
        </pc:picChg>
        <pc:picChg chg="add mod">
          <ac:chgData name="Diptarka Nandi" userId="aa421a2dccce7670" providerId="LiveId" clId="{8E228B56-377A-4A0A-B969-9D7EE6030E05}" dt="2025-10-17T08:54:12.635" v="3"/>
          <ac:picMkLst>
            <pc:docMk/>
            <pc:sldMk cId="0" sldId="257"/>
            <ac:picMk id="16" creationId="{97C07594-C29A-BCA0-6E18-7687D2943F93}"/>
          </ac:picMkLst>
        </pc:picChg>
      </pc:sldChg>
      <pc:sldChg chg="addSp modSp mod">
        <pc:chgData name="Diptarka Nandi" userId="aa421a2dccce7670" providerId="LiveId" clId="{8E228B56-377A-4A0A-B969-9D7EE6030E05}" dt="2025-10-17T09:12:23.636" v="75" actId="1076"/>
        <pc:sldMkLst>
          <pc:docMk/>
          <pc:sldMk cId="0" sldId="258"/>
        </pc:sldMkLst>
        <pc:spChg chg="mod">
          <ac:chgData name="Diptarka Nandi" userId="aa421a2dccce7670" providerId="LiveId" clId="{8E228B56-377A-4A0A-B969-9D7EE6030E05}" dt="2025-10-17T09:12:23.636" v="75" actId="1076"/>
          <ac:spMkLst>
            <pc:docMk/>
            <pc:sldMk cId="0" sldId="258"/>
            <ac:spMk id="3" creationId="{00000000-0000-0000-0000-000000000000}"/>
          </ac:spMkLst>
        </pc:spChg>
        <pc:spChg chg="mod">
          <ac:chgData name="Diptarka Nandi" userId="aa421a2dccce7670" providerId="LiveId" clId="{8E228B56-377A-4A0A-B969-9D7EE6030E05}" dt="2025-10-17T09:12:06.926" v="73" actId="1076"/>
          <ac:spMkLst>
            <pc:docMk/>
            <pc:sldMk cId="0" sldId="258"/>
            <ac:spMk id="4" creationId="{00000000-0000-0000-0000-000000000000}"/>
          </ac:spMkLst>
        </pc:spChg>
        <pc:spChg chg="mod">
          <ac:chgData name="Diptarka Nandi" userId="aa421a2dccce7670" providerId="LiveId" clId="{8E228B56-377A-4A0A-B969-9D7EE6030E05}" dt="2025-10-17T09:12:06.926" v="73" actId="1076"/>
          <ac:spMkLst>
            <pc:docMk/>
            <pc:sldMk cId="0" sldId="258"/>
            <ac:spMk id="5" creationId="{00000000-0000-0000-0000-000000000000}"/>
          </ac:spMkLst>
        </pc:spChg>
        <pc:spChg chg="mod">
          <ac:chgData name="Diptarka Nandi" userId="aa421a2dccce7670" providerId="LiveId" clId="{8E228B56-377A-4A0A-B969-9D7EE6030E05}" dt="2025-10-17T09:12:06.926" v="73" actId="1076"/>
          <ac:spMkLst>
            <pc:docMk/>
            <pc:sldMk cId="0" sldId="258"/>
            <ac:spMk id="7" creationId="{00000000-0000-0000-0000-000000000000}"/>
          </ac:spMkLst>
        </pc:spChg>
        <pc:spChg chg="mod">
          <ac:chgData name="Diptarka Nandi" userId="aa421a2dccce7670" providerId="LiveId" clId="{8E228B56-377A-4A0A-B969-9D7EE6030E05}" dt="2025-10-17T09:12:06.926" v="73" actId="1076"/>
          <ac:spMkLst>
            <pc:docMk/>
            <pc:sldMk cId="0" sldId="258"/>
            <ac:spMk id="8" creationId="{00000000-0000-0000-0000-000000000000}"/>
          </ac:spMkLst>
        </pc:spChg>
        <pc:spChg chg="mod">
          <ac:chgData name="Diptarka Nandi" userId="aa421a2dccce7670" providerId="LiveId" clId="{8E228B56-377A-4A0A-B969-9D7EE6030E05}" dt="2025-10-17T09:12:06.926" v="73" actId="1076"/>
          <ac:spMkLst>
            <pc:docMk/>
            <pc:sldMk cId="0" sldId="258"/>
            <ac:spMk id="10" creationId="{00000000-0000-0000-0000-000000000000}"/>
          </ac:spMkLst>
        </pc:spChg>
        <pc:spChg chg="mod">
          <ac:chgData name="Diptarka Nandi" userId="aa421a2dccce7670" providerId="LiveId" clId="{8E228B56-377A-4A0A-B969-9D7EE6030E05}" dt="2025-10-17T09:12:06.926" v="73" actId="1076"/>
          <ac:spMkLst>
            <pc:docMk/>
            <pc:sldMk cId="0" sldId="258"/>
            <ac:spMk id="11" creationId="{00000000-0000-0000-0000-000000000000}"/>
          </ac:spMkLst>
        </pc:spChg>
        <pc:spChg chg="mod">
          <ac:chgData name="Diptarka Nandi" userId="aa421a2dccce7670" providerId="LiveId" clId="{8E228B56-377A-4A0A-B969-9D7EE6030E05}" dt="2025-10-17T09:12:06.926" v="73" actId="1076"/>
          <ac:spMkLst>
            <pc:docMk/>
            <pc:sldMk cId="0" sldId="258"/>
            <ac:spMk id="12" creationId="{00000000-0000-0000-0000-000000000000}"/>
          </ac:spMkLst>
        </pc:spChg>
        <pc:spChg chg="mod">
          <ac:chgData name="Diptarka Nandi" userId="aa421a2dccce7670" providerId="LiveId" clId="{8E228B56-377A-4A0A-B969-9D7EE6030E05}" dt="2025-10-17T09:12:06.926" v="73" actId="1076"/>
          <ac:spMkLst>
            <pc:docMk/>
            <pc:sldMk cId="0" sldId="258"/>
            <ac:spMk id="13" creationId="{00000000-0000-0000-0000-000000000000}"/>
          </ac:spMkLst>
        </pc:spChg>
        <pc:spChg chg="mod">
          <ac:chgData name="Diptarka Nandi" userId="aa421a2dccce7670" providerId="LiveId" clId="{8E228B56-377A-4A0A-B969-9D7EE6030E05}" dt="2025-10-17T09:12:06.926" v="73" actId="1076"/>
          <ac:spMkLst>
            <pc:docMk/>
            <pc:sldMk cId="0" sldId="258"/>
            <ac:spMk id="14" creationId="{00000000-0000-0000-0000-000000000000}"/>
          </ac:spMkLst>
        </pc:spChg>
        <pc:spChg chg="mod">
          <ac:chgData name="Diptarka Nandi" userId="aa421a2dccce7670" providerId="LiveId" clId="{8E228B56-377A-4A0A-B969-9D7EE6030E05}" dt="2025-10-17T09:12:06.926" v="73" actId="1076"/>
          <ac:spMkLst>
            <pc:docMk/>
            <pc:sldMk cId="0" sldId="258"/>
            <ac:spMk id="15" creationId="{00000000-0000-0000-0000-000000000000}"/>
          </ac:spMkLst>
        </pc:spChg>
        <pc:picChg chg="add mod">
          <ac:chgData name="Diptarka Nandi" userId="aa421a2dccce7670" providerId="LiveId" clId="{8E228B56-377A-4A0A-B969-9D7EE6030E05}" dt="2025-10-17T08:54:27.993" v="6" actId="1076"/>
          <ac:picMkLst>
            <pc:docMk/>
            <pc:sldMk cId="0" sldId="258"/>
            <ac:picMk id="17" creationId="{6D73979E-A4D8-9BC1-BE6E-C5500A32B3DE}"/>
          </ac:picMkLst>
        </pc:picChg>
      </pc:sldChg>
      <pc:sldChg chg="addSp modSp mod">
        <pc:chgData name="Diptarka Nandi" userId="aa421a2dccce7670" providerId="LiveId" clId="{8E228B56-377A-4A0A-B969-9D7EE6030E05}" dt="2025-10-17T09:09:57.651" v="62" actId="113"/>
        <pc:sldMkLst>
          <pc:docMk/>
          <pc:sldMk cId="0" sldId="259"/>
        </pc:sldMkLst>
        <pc:spChg chg="mod">
          <ac:chgData name="Diptarka Nandi" userId="aa421a2dccce7670" providerId="LiveId" clId="{8E228B56-377A-4A0A-B969-9D7EE6030E05}" dt="2025-10-17T09:09:41.258" v="60" actId="113"/>
          <ac:spMkLst>
            <pc:docMk/>
            <pc:sldMk cId="0" sldId="259"/>
            <ac:spMk id="4" creationId="{00000000-0000-0000-0000-000000000000}"/>
          </ac:spMkLst>
        </pc:spChg>
        <pc:spChg chg="mod">
          <ac:chgData name="Diptarka Nandi" userId="aa421a2dccce7670" providerId="LiveId" clId="{8E228B56-377A-4A0A-B969-9D7EE6030E05}" dt="2025-10-17T09:08:13.892" v="54" actId="113"/>
          <ac:spMkLst>
            <pc:docMk/>
            <pc:sldMk cId="0" sldId="259"/>
            <ac:spMk id="5" creationId="{00000000-0000-0000-0000-000000000000}"/>
          </ac:spMkLst>
        </pc:spChg>
        <pc:spChg chg="mod">
          <ac:chgData name="Diptarka Nandi" userId="aa421a2dccce7670" providerId="LiveId" clId="{8E228B56-377A-4A0A-B969-9D7EE6030E05}" dt="2025-10-17T09:01:20.427" v="42" actId="255"/>
          <ac:spMkLst>
            <pc:docMk/>
            <pc:sldMk cId="0" sldId="259"/>
            <ac:spMk id="7" creationId="{00000000-0000-0000-0000-000000000000}"/>
          </ac:spMkLst>
        </pc:spChg>
        <pc:spChg chg="mod">
          <ac:chgData name="Diptarka Nandi" userId="aa421a2dccce7670" providerId="LiveId" clId="{8E228B56-377A-4A0A-B969-9D7EE6030E05}" dt="2025-10-17T09:01:57.267" v="47" actId="255"/>
          <ac:spMkLst>
            <pc:docMk/>
            <pc:sldMk cId="0" sldId="259"/>
            <ac:spMk id="8" creationId="{00000000-0000-0000-0000-000000000000}"/>
          </ac:spMkLst>
        </pc:spChg>
        <pc:spChg chg="mod">
          <ac:chgData name="Diptarka Nandi" userId="aa421a2dccce7670" providerId="LiveId" clId="{8E228B56-377A-4A0A-B969-9D7EE6030E05}" dt="2025-10-17T09:01:26.172" v="43" actId="255"/>
          <ac:spMkLst>
            <pc:docMk/>
            <pc:sldMk cId="0" sldId="259"/>
            <ac:spMk id="10" creationId="{00000000-0000-0000-0000-000000000000}"/>
          </ac:spMkLst>
        </pc:spChg>
        <pc:spChg chg="mod">
          <ac:chgData name="Diptarka Nandi" userId="aa421a2dccce7670" providerId="LiveId" clId="{8E228B56-377A-4A0A-B969-9D7EE6030E05}" dt="2025-10-17T09:01:48.388" v="46" actId="255"/>
          <ac:spMkLst>
            <pc:docMk/>
            <pc:sldMk cId="0" sldId="259"/>
            <ac:spMk id="11" creationId="{00000000-0000-0000-0000-000000000000}"/>
          </ac:spMkLst>
        </pc:spChg>
        <pc:spChg chg="mod">
          <ac:chgData name="Diptarka Nandi" userId="aa421a2dccce7670" providerId="LiveId" clId="{8E228B56-377A-4A0A-B969-9D7EE6030E05}" dt="2025-10-17T09:09:57.651" v="62" actId="113"/>
          <ac:spMkLst>
            <pc:docMk/>
            <pc:sldMk cId="0" sldId="259"/>
            <ac:spMk id="13" creationId="{00000000-0000-0000-0000-000000000000}"/>
          </ac:spMkLst>
        </pc:spChg>
        <pc:spChg chg="mod">
          <ac:chgData name="Diptarka Nandi" userId="aa421a2dccce7670" providerId="LiveId" clId="{8E228B56-377A-4A0A-B969-9D7EE6030E05}" dt="2025-10-17T09:01:42.100" v="45" actId="255"/>
          <ac:spMkLst>
            <pc:docMk/>
            <pc:sldMk cId="0" sldId="259"/>
            <ac:spMk id="14" creationId="{00000000-0000-0000-0000-000000000000}"/>
          </ac:spMkLst>
        </pc:spChg>
        <pc:picChg chg="add mod">
          <ac:chgData name="Diptarka Nandi" userId="aa421a2dccce7670" providerId="LiveId" clId="{8E228B56-377A-4A0A-B969-9D7EE6030E05}" dt="2025-10-17T08:54:51.264" v="11" actId="1076"/>
          <ac:picMkLst>
            <pc:docMk/>
            <pc:sldMk cId="0" sldId="259"/>
            <ac:picMk id="16" creationId="{35302393-82DD-B731-D3FA-EFCEEC5BBAD0}"/>
          </ac:picMkLst>
        </pc:picChg>
      </pc:sldChg>
      <pc:sldChg chg="addSp modSp mod">
        <pc:chgData name="Diptarka Nandi" userId="aa421a2dccce7670" providerId="LiveId" clId="{8E228B56-377A-4A0A-B969-9D7EE6030E05}" dt="2025-10-17T08:55:04.908" v="14" actId="14100"/>
        <pc:sldMkLst>
          <pc:docMk/>
          <pc:sldMk cId="0" sldId="260"/>
        </pc:sldMkLst>
        <pc:picChg chg="add mod">
          <ac:chgData name="Diptarka Nandi" userId="aa421a2dccce7670" providerId="LiveId" clId="{8E228B56-377A-4A0A-B969-9D7EE6030E05}" dt="2025-10-17T08:55:04.908" v="14" actId="14100"/>
          <ac:picMkLst>
            <pc:docMk/>
            <pc:sldMk cId="0" sldId="260"/>
            <ac:picMk id="16" creationId="{05E3A6F6-94C3-F495-CF9B-CF48E3A4DE94}"/>
          </ac:picMkLst>
        </pc:picChg>
      </pc:sldChg>
      <pc:sldChg chg="addSp modSp mod">
        <pc:chgData name="Diptarka Nandi" userId="aa421a2dccce7670" providerId="LiveId" clId="{8E228B56-377A-4A0A-B969-9D7EE6030E05}" dt="2025-10-17T09:11:09.019" v="71" actId="255"/>
        <pc:sldMkLst>
          <pc:docMk/>
          <pc:sldMk cId="0" sldId="261"/>
        </pc:sldMkLst>
        <pc:spChg chg="mod">
          <ac:chgData name="Diptarka Nandi" userId="aa421a2dccce7670" providerId="LiveId" clId="{8E228B56-377A-4A0A-B969-9D7EE6030E05}" dt="2025-10-17T09:11:09.019" v="71" actId="255"/>
          <ac:spMkLst>
            <pc:docMk/>
            <pc:sldMk cId="0" sldId="261"/>
            <ac:spMk id="3" creationId="{00000000-0000-0000-0000-000000000000}"/>
          </ac:spMkLst>
        </pc:spChg>
        <pc:spChg chg="mod">
          <ac:chgData name="Diptarka Nandi" userId="aa421a2dccce7670" providerId="LiveId" clId="{8E228B56-377A-4A0A-B969-9D7EE6030E05}" dt="2025-10-17T09:11:02.137" v="70" actId="14100"/>
          <ac:spMkLst>
            <pc:docMk/>
            <pc:sldMk cId="0" sldId="261"/>
            <ac:spMk id="4" creationId="{00000000-0000-0000-0000-000000000000}"/>
          </ac:spMkLst>
        </pc:spChg>
        <pc:spChg chg="mod">
          <ac:chgData name="Diptarka Nandi" userId="aa421a2dccce7670" providerId="LiveId" clId="{8E228B56-377A-4A0A-B969-9D7EE6030E05}" dt="2025-10-17T08:58:54.197" v="35" actId="1076"/>
          <ac:spMkLst>
            <pc:docMk/>
            <pc:sldMk cId="0" sldId="261"/>
            <ac:spMk id="5" creationId="{00000000-0000-0000-0000-000000000000}"/>
          </ac:spMkLst>
        </pc:spChg>
        <pc:spChg chg="mod">
          <ac:chgData name="Diptarka Nandi" userId="aa421a2dccce7670" providerId="LiveId" clId="{8E228B56-377A-4A0A-B969-9D7EE6030E05}" dt="2025-10-17T09:10:30.368" v="65" actId="255"/>
          <ac:spMkLst>
            <pc:docMk/>
            <pc:sldMk cId="0" sldId="261"/>
            <ac:spMk id="8" creationId="{00000000-0000-0000-0000-000000000000}"/>
          </ac:spMkLst>
        </pc:spChg>
        <pc:spChg chg="mod">
          <ac:chgData name="Diptarka Nandi" userId="aa421a2dccce7670" providerId="LiveId" clId="{8E228B56-377A-4A0A-B969-9D7EE6030E05}" dt="2025-10-17T09:10:57.767" v="69" actId="14100"/>
          <ac:spMkLst>
            <pc:docMk/>
            <pc:sldMk cId="0" sldId="261"/>
            <ac:spMk id="9" creationId="{00000000-0000-0000-0000-000000000000}"/>
          </ac:spMkLst>
        </pc:spChg>
        <pc:spChg chg="mod">
          <ac:chgData name="Diptarka Nandi" userId="aa421a2dccce7670" providerId="LiveId" clId="{8E228B56-377A-4A0A-B969-9D7EE6030E05}" dt="2025-10-17T08:58:54.197" v="35" actId="1076"/>
          <ac:spMkLst>
            <pc:docMk/>
            <pc:sldMk cId="0" sldId="261"/>
            <ac:spMk id="10" creationId="{00000000-0000-0000-0000-000000000000}"/>
          </ac:spMkLst>
        </pc:spChg>
        <pc:spChg chg="mod">
          <ac:chgData name="Diptarka Nandi" userId="aa421a2dccce7670" providerId="LiveId" clId="{8E228B56-377A-4A0A-B969-9D7EE6030E05}" dt="2025-10-17T09:10:36.935" v="66" actId="255"/>
          <ac:spMkLst>
            <pc:docMk/>
            <pc:sldMk cId="0" sldId="261"/>
            <ac:spMk id="13" creationId="{00000000-0000-0000-0000-000000000000}"/>
          </ac:spMkLst>
        </pc:spChg>
        <pc:spChg chg="mod">
          <ac:chgData name="Diptarka Nandi" userId="aa421a2dccce7670" providerId="LiveId" clId="{8E228B56-377A-4A0A-B969-9D7EE6030E05}" dt="2025-10-17T09:10:49.766" v="68" actId="14100"/>
          <ac:spMkLst>
            <pc:docMk/>
            <pc:sldMk cId="0" sldId="261"/>
            <ac:spMk id="14" creationId="{00000000-0000-0000-0000-000000000000}"/>
          </ac:spMkLst>
        </pc:spChg>
        <pc:spChg chg="mod">
          <ac:chgData name="Diptarka Nandi" userId="aa421a2dccce7670" providerId="LiveId" clId="{8E228B56-377A-4A0A-B969-9D7EE6030E05}" dt="2025-10-17T08:58:54.197" v="35" actId="1076"/>
          <ac:spMkLst>
            <pc:docMk/>
            <pc:sldMk cId="0" sldId="261"/>
            <ac:spMk id="15" creationId="{00000000-0000-0000-0000-000000000000}"/>
          </ac:spMkLst>
        </pc:spChg>
        <pc:spChg chg="mod">
          <ac:chgData name="Diptarka Nandi" userId="aa421a2dccce7670" providerId="LiveId" clId="{8E228B56-377A-4A0A-B969-9D7EE6030E05}" dt="2025-10-17T08:58:54.197" v="35" actId="1076"/>
          <ac:spMkLst>
            <pc:docMk/>
            <pc:sldMk cId="0" sldId="261"/>
            <ac:spMk id="17" creationId="{00000000-0000-0000-0000-000000000000}"/>
          </ac:spMkLst>
        </pc:spChg>
        <pc:spChg chg="mod">
          <ac:chgData name="Diptarka Nandi" userId="aa421a2dccce7670" providerId="LiveId" clId="{8E228B56-377A-4A0A-B969-9D7EE6030E05}" dt="2025-10-17T09:10:43.180" v="67" actId="255"/>
          <ac:spMkLst>
            <pc:docMk/>
            <pc:sldMk cId="0" sldId="261"/>
            <ac:spMk id="18" creationId="{00000000-0000-0000-0000-000000000000}"/>
          </ac:spMkLst>
        </pc:spChg>
        <pc:picChg chg="add mod">
          <ac:chgData name="Diptarka Nandi" userId="aa421a2dccce7670" providerId="LiveId" clId="{8E228B56-377A-4A0A-B969-9D7EE6030E05}" dt="2025-10-17T08:55:23.089" v="15"/>
          <ac:picMkLst>
            <pc:docMk/>
            <pc:sldMk cId="0" sldId="261"/>
            <ac:picMk id="19" creationId="{D01BD975-9552-9847-0D76-24C7B8126D09}"/>
          </ac:picMkLst>
        </pc:picChg>
      </pc:sldChg>
      <pc:sldChg chg="addSp modSp">
        <pc:chgData name="Diptarka Nandi" userId="aa421a2dccce7670" providerId="LiveId" clId="{8E228B56-377A-4A0A-B969-9D7EE6030E05}" dt="2025-10-17T08:55:26.737" v="16"/>
        <pc:sldMkLst>
          <pc:docMk/>
          <pc:sldMk cId="0" sldId="262"/>
        </pc:sldMkLst>
        <pc:picChg chg="add mod">
          <ac:chgData name="Diptarka Nandi" userId="aa421a2dccce7670" providerId="LiveId" clId="{8E228B56-377A-4A0A-B969-9D7EE6030E05}" dt="2025-10-17T08:55:26.737" v="16"/>
          <ac:picMkLst>
            <pc:docMk/>
            <pc:sldMk cId="0" sldId="262"/>
            <ac:picMk id="30" creationId="{F7E55FAD-DA86-895C-9AB0-BB22BE47FD8D}"/>
          </ac:picMkLst>
        </pc:picChg>
      </pc:sldChg>
      <pc:sldChg chg="addSp modSp mod">
        <pc:chgData name="Diptarka Nandi" userId="aa421a2dccce7670" providerId="LiveId" clId="{8E228B56-377A-4A0A-B969-9D7EE6030E05}" dt="2025-10-17T08:58:39.306" v="34" actId="1076"/>
        <pc:sldMkLst>
          <pc:docMk/>
          <pc:sldMk cId="0" sldId="263"/>
        </pc:sldMkLst>
        <pc:spChg chg="mod">
          <ac:chgData name="Diptarka Nandi" userId="aa421a2dccce7670" providerId="LiveId" clId="{8E228B56-377A-4A0A-B969-9D7EE6030E05}" dt="2025-10-17T08:56:20.678" v="21" actId="403"/>
          <ac:spMkLst>
            <pc:docMk/>
            <pc:sldMk cId="0" sldId="263"/>
            <ac:spMk id="3" creationId="{00000000-0000-0000-0000-000000000000}"/>
          </ac:spMkLst>
        </pc:spChg>
        <pc:spChg chg="mod">
          <ac:chgData name="Diptarka Nandi" userId="aa421a2dccce7670" providerId="LiveId" clId="{8E228B56-377A-4A0A-B969-9D7EE6030E05}" dt="2025-10-17T08:57:26.819" v="26" actId="1076"/>
          <ac:spMkLst>
            <pc:docMk/>
            <pc:sldMk cId="0" sldId="263"/>
            <ac:spMk id="7" creationId="{00000000-0000-0000-0000-000000000000}"/>
          </ac:spMkLst>
        </pc:spChg>
        <pc:spChg chg="mod">
          <ac:chgData name="Diptarka Nandi" userId="aa421a2dccce7670" providerId="LiveId" clId="{8E228B56-377A-4A0A-B969-9D7EE6030E05}" dt="2025-10-17T08:58:07.528" v="29" actId="1076"/>
          <ac:spMkLst>
            <pc:docMk/>
            <pc:sldMk cId="0" sldId="263"/>
            <ac:spMk id="13" creationId="{00000000-0000-0000-0000-000000000000}"/>
          </ac:spMkLst>
        </pc:spChg>
        <pc:spChg chg="mod">
          <ac:chgData name="Diptarka Nandi" userId="aa421a2dccce7670" providerId="LiveId" clId="{8E228B56-377A-4A0A-B969-9D7EE6030E05}" dt="2025-10-17T08:58:39.306" v="34" actId="1076"/>
          <ac:spMkLst>
            <pc:docMk/>
            <pc:sldMk cId="0" sldId="263"/>
            <ac:spMk id="19" creationId="{00000000-0000-0000-0000-000000000000}"/>
          </ac:spMkLst>
        </pc:spChg>
        <pc:spChg chg="mod">
          <ac:chgData name="Diptarka Nandi" userId="aa421a2dccce7670" providerId="LiveId" clId="{8E228B56-377A-4A0A-B969-9D7EE6030E05}" dt="2025-10-17T08:57:59.529" v="28" actId="1076"/>
          <ac:spMkLst>
            <pc:docMk/>
            <pc:sldMk cId="0" sldId="263"/>
            <ac:spMk id="25" creationId="{00000000-0000-0000-0000-000000000000}"/>
          </ac:spMkLst>
        </pc:spChg>
        <pc:picChg chg="add mod">
          <ac:chgData name="Diptarka Nandi" userId="aa421a2dccce7670" providerId="LiveId" clId="{8E228B56-377A-4A0A-B969-9D7EE6030E05}" dt="2025-10-17T08:55:29.628" v="17"/>
          <ac:picMkLst>
            <pc:docMk/>
            <pc:sldMk cId="0" sldId="263"/>
            <ac:picMk id="28" creationId="{6F35D7D7-8BDC-5D38-C409-1FE8E14B5FA2}"/>
          </ac:picMkLst>
        </pc:picChg>
      </pc:sldChg>
      <pc:sldChg chg="addSp modSp">
        <pc:chgData name="Diptarka Nandi" userId="aa421a2dccce7670" providerId="LiveId" clId="{8E228B56-377A-4A0A-B969-9D7EE6030E05}" dt="2025-10-17T08:55:31.366" v="18"/>
        <pc:sldMkLst>
          <pc:docMk/>
          <pc:sldMk cId="0" sldId="264"/>
        </pc:sldMkLst>
        <pc:picChg chg="add mod">
          <ac:chgData name="Diptarka Nandi" userId="aa421a2dccce7670" providerId="LiveId" clId="{8E228B56-377A-4A0A-B969-9D7EE6030E05}" dt="2025-10-17T08:55:31.366" v="18"/>
          <ac:picMkLst>
            <pc:docMk/>
            <pc:sldMk cId="0" sldId="264"/>
            <ac:picMk id="28" creationId="{B0D7A216-6AE7-706D-4C0C-4A7B303298AE}"/>
          </ac:picMkLst>
        </pc:picChg>
      </pc:sldChg>
      <pc:sldChg chg="addSp modSp mod">
        <pc:chgData name="Diptarka Nandi" userId="aa421a2dccce7670" providerId="LiveId" clId="{8E228B56-377A-4A0A-B969-9D7EE6030E05}" dt="2025-10-17T09:11:31.477" v="72" actId="14100"/>
        <pc:sldMkLst>
          <pc:docMk/>
          <pc:sldMk cId="0" sldId="265"/>
        </pc:sldMkLst>
        <pc:spChg chg="mod">
          <ac:chgData name="Diptarka Nandi" userId="aa421a2dccce7670" providerId="LiveId" clId="{8E228B56-377A-4A0A-B969-9D7EE6030E05}" dt="2025-10-17T08:57:01.026" v="25" actId="1076"/>
          <ac:spMkLst>
            <pc:docMk/>
            <pc:sldMk cId="0" sldId="265"/>
            <ac:spMk id="3" creationId="{00000000-0000-0000-0000-000000000000}"/>
          </ac:spMkLst>
        </pc:spChg>
        <pc:spChg chg="mod">
          <ac:chgData name="Diptarka Nandi" userId="aa421a2dccce7670" providerId="LiveId" clId="{8E228B56-377A-4A0A-B969-9D7EE6030E05}" dt="2025-10-17T08:56:56.203" v="24" actId="1076"/>
          <ac:spMkLst>
            <pc:docMk/>
            <pc:sldMk cId="0" sldId="265"/>
            <ac:spMk id="4" creationId="{00000000-0000-0000-0000-000000000000}"/>
          </ac:spMkLst>
        </pc:spChg>
        <pc:spChg chg="mod">
          <ac:chgData name="Diptarka Nandi" userId="aa421a2dccce7670" providerId="LiveId" clId="{8E228B56-377A-4A0A-B969-9D7EE6030E05}" dt="2025-10-17T08:56:56.203" v="24" actId="1076"/>
          <ac:spMkLst>
            <pc:docMk/>
            <pc:sldMk cId="0" sldId="265"/>
            <ac:spMk id="5" creationId="{00000000-0000-0000-0000-000000000000}"/>
          </ac:spMkLst>
        </pc:spChg>
        <pc:spChg chg="mod">
          <ac:chgData name="Diptarka Nandi" userId="aa421a2dccce7670" providerId="LiveId" clId="{8E228B56-377A-4A0A-B969-9D7EE6030E05}" dt="2025-10-17T08:56:56.203" v="24" actId="1076"/>
          <ac:spMkLst>
            <pc:docMk/>
            <pc:sldMk cId="0" sldId="265"/>
            <ac:spMk id="6" creationId="{00000000-0000-0000-0000-000000000000}"/>
          </ac:spMkLst>
        </pc:spChg>
        <pc:spChg chg="mod">
          <ac:chgData name="Diptarka Nandi" userId="aa421a2dccce7670" providerId="LiveId" clId="{8E228B56-377A-4A0A-B969-9D7EE6030E05}" dt="2025-10-17T08:56:56.203" v="24" actId="1076"/>
          <ac:spMkLst>
            <pc:docMk/>
            <pc:sldMk cId="0" sldId="265"/>
            <ac:spMk id="7" creationId="{00000000-0000-0000-0000-000000000000}"/>
          </ac:spMkLst>
        </pc:spChg>
        <pc:spChg chg="mod">
          <ac:chgData name="Diptarka Nandi" userId="aa421a2dccce7670" providerId="LiveId" clId="{8E228B56-377A-4A0A-B969-9D7EE6030E05}" dt="2025-10-17T08:56:56.203" v="24" actId="1076"/>
          <ac:spMkLst>
            <pc:docMk/>
            <pc:sldMk cId="0" sldId="265"/>
            <ac:spMk id="8" creationId="{00000000-0000-0000-0000-000000000000}"/>
          </ac:spMkLst>
        </pc:spChg>
        <pc:spChg chg="mod">
          <ac:chgData name="Diptarka Nandi" userId="aa421a2dccce7670" providerId="LiveId" clId="{8E228B56-377A-4A0A-B969-9D7EE6030E05}" dt="2025-10-17T08:56:56.203" v="24" actId="1076"/>
          <ac:spMkLst>
            <pc:docMk/>
            <pc:sldMk cId="0" sldId="265"/>
            <ac:spMk id="9" creationId="{00000000-0000-0000-0000-000000000000}"/>
          </ac:spMkLst>
        </pc:spChg>
        <pc:spChg chg="mod">
          <ac:chgData name="Diptarka Nandi" userId="aa421a2dccce7670" providerId="LiveId" clId="{8E228B56-377A-4A0A-B969-9D7EE6030E05}" dt="2025-10-17T08:56:56.203" v="24" actId="1076"/>
          <ac:spMkLst>
            <pc:docMk/>
            <pc:sldMk cId="0" sldId="265"/>
            <ac:spMk id="10" creationId="{00000000-0000-0000-0000-000000000000}"/>
          </ac:spMkLst>
        </pc:spChg>
        <pc:spChg chg="mod">
          <ac:chgData name="Diptarka Nandi" userId="aa421a2dccce7670" providerId="LiveId" clId="{8E228B56-377A-4A0A-B969-9D7EE6030E05}" dt="2025-10-17T08:56:56.203" v="24" actId="1076"/>
          <ac:spMkLst>
            <pc:docMk/>
            <pc:sldMk cId="0" sldId="265"/>
            <ac:spMk id="11" creationId="{00000000-0000-0000-0000-000000000000}"/>
          </ac:spMkLst>
        </pc:spChg>
        <pc:spChg chg="mod">
          <ac:chgData name="Diptarka Nandi" userId="aa421a2dccce7670" providerId="LiveId" clId="{8E228B56-377A-4A0A-B969-9D7EE6030E05}" dt="2025-10-17T08:56:56.203" v="24" actId="1076"/>
          <ac:spMkLst>
            <pc:docMk/>
            <pc:sldMk cId="0" sldId="265"/>
            <ac:spMk id="12" creationId="{00000000-0000-0000-0000-000000000000}"/>
          </ac:spMkLst>
        </pc:spChg>
        <pc:spChg chg="mod">
          <ac:chgData name="Diptarka Nandi" userId="aa421a2dccce7670" providerId="LiveId" clId="{8E228B56-377A-4A0A-B969-9D7EE6030E05}" dt="2025-10-17T08:56:33.724" v="23" actId="1076"/>
          <ac:spMkLst>
            <pc:docMk/>
            <pc:sldMk cId="0" sldId="265"/>
            <ac:spMk id="13" creationId="{00000000-0000-0000-0000-000000000000}"/>
          </ac:spMkLst>
        </pc:spChg>
        <pc:picChg chg="add mod">
          <ac:chgData name="Diptarka Nandi" userId="aa421a2dccce7670" providerId="LiveId" clId="{8E228B56-377A-4A0A-B969-9D7EE6030E05}" dt="2025-10-17T09:11:31.477" v="72" actId="14100"/>
          <ac:picMkLst>
            <pc:docMk/>
            <pc:sldMk cId="0" sldId="265"/>
            <ac:picMk id="14" creationId="{C8537315-39AA-3029-74D9-8E26C09FA0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3593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txBody>
          <a:bodyPr/>
          <a:lstStyle/>
          <a:p>
            <a:endParaRPr lang="en-IN"/>
          </a:p>
        </p:txBody>
      </p:sp>
      <p:sp>
        <p:nvSpPr>
          <p:cNvPr id="3" name="Shape 1"/>
          <p:cNvSpPr/>
          <p:nvPr/>
        </p:nvSpPr>
        <p:spPr>
          <a:xfrm>
            <a:off x="0" y="0"/>
            <a:ext cx="14630400" cy="8229600"/>
          </a:xfrm>
          <a:prstGeom prst="rect">
            <a:avLst/>
          </a:prstGeom>
          <a:solidFill>
            <a:srgbClr val="FFFFF4">
              <a:alpha val="95000"/>
            </a:srgbClr>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C8AB"/>
          </a:solidFill>
          <a:ln/>
        </p:spPr>
      </p:sp>
      <p:sp>
        <p:nvSpPr>
          <p:cNvPr id="3" name="Shape 1"/>
          <p:cNvSpPr/>
          <p:nvPr/>
        </p:nvSpPr>
        <p:spPr>
          <a:xfrm>
            <a:off x="0" y="0"/>
            <a:ext cx="14630400" cy="8229600"/>
          </a:xfrm>
          <a:prstGeom prst="rect">
            <a:avLst/>
          </a:prstGeom>
          <a:solidFill>
            <a:srgbClr val="FFFFF4">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svg"/><Relationship Id="rId11" Type="http://schemas.openxmlformats.org/officeDocument/2006/relationships/image" Target="../media/image4.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571393"/>
            <a:ext cx="6250186"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Blockchain for Insurance</a:t>
            </a:r>
            <a:endParaRPr lang="en-US" sz="4450" dirty="0"/>
          </a:p>
        </p:txBody>
      </p:sp>
      <p:sp>
        <p:nvSpPr>
          <p:cNvPr id="4" name="Text 1"/>
          <p:cNvSpPr/>
          <p:nvPr/>
        </p:nvSpPr>
        <p:spPr>
          <a:xfrm>
            <a:off x="793790" y="3610808"/>
            <a:ext cx="7556421" cy="2047399"/>
          </a:xfrm>
          <a:prstGeom prst="rect">
            <a:avLst/>
          </a:prstGeom>
          <a:noFill/>
          <a:ln/>
        </p:spPr>
        <p:txBody>
          <a:bodyPr wrap="square" lIns="0" tIns="0" rIns="0" bIns="0" rtlCol="0" anchor="t"/>
          <a:lstStyle/>
          <a:p>
            <a:pPr marL="0" indent="0" algn="l">
              <a:lnSpc>
                <a:spcPts val="8050"/>
              </a:lnSpc>
              <a:buNone/>
            </a:pPr>
            <a:r>
              <a:rPr lang="en-US" sz="6200" dirty="0">
                <a:solidFill>
                  <a:srgbClr val="532418"/>
                </a:solidFill>
                <a:latin typeface="Marcellus" pitchFamily="34" charset="0"/>
                <a:ea typeface="Marcellus" pitchFamily="34" charset="-122"/>
                <a:cs typeface="Marcellus" pitchFamily="34" charset="-120"/>
              </a:rPr>
              <a:t>The Future of Trust and Transparency</a:t>
            </a:r>
            <a:endParaRPr lang="en-US" sz="6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80190" y="774978"/>
            <a:ext cx="5706070"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What Is Blockchain?</a:t>
            </a:r>
            <a:endParaRPr lang="en-US" sz="4450" dirty="0"/>
          </a:p>
        </p:txBody>
      </p:sp>
      <p:sp>
        <p:nvSpPr>
          <p:cNvPr id="4" name="Text 1"/>
          <p:cNvSpPr/>
          <p:nvPr/>
        </p:nvSpPr>
        <p:spPr>
          <a:xfrm>
            <a:off x="6280190" y="1814393"/>
            <a:ext cx="7556421"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Think of blockchain as a digital notebook that everyone can read, but no one can erase or change secretly. It's a technology that stores information in connected blocks, creating a permanent record that's shared across many computers.</a:t>
            </a:r>
            <a:endParaRPr lang="en-US" sz="1550" dirty="0"/>
          </a:p>
        </p:txBody>
      </p:sp>
      <p:sp>
        <p:nvSpPr>
          <p:cNvPr id="5" name="Shape 2"/>
          <p:cNvSpPr/>
          <p:nvPr/>
        </p:nvSpPr>
        <p:spPr>
          <a:xfrm>
            <a:off x="6280190" y="3069669"/>
            <a:ext cx="3679031" cy="2480310"/>
          </a:xfrm>
          <a:prstGeom prst="roundRect">
            <a:avLst>
              <a:gd name="adj" fmla="val 3361"/>
            </a:avLst>
          </a:prstGeom>
          <a:solidFill>
            <a:srgbClr val="FFFFF4"/>
          </a:solidFill>
          <a:ln w="22860">
            <a:solidFill>
              <a:srgbClr val="FFE0CC"/>
            </a:solidFill>
            <a:prstDash val="solid"/>
          </a:ln>
        </p:spPr>
        <p:txBody>
          <a:bodyPr/>
          <a:lstStyle/>
          <a:p>
            <a:endParaRPr lang="en-IN"/>
          </a:p>
        </p:txBody>
      </p:sp>
      <p:sp>
        <p:nvSpPr>
          <p:cNvPr id="6" name="Text 3"/>
          <p:cNvSpPr/>
          <p:nvPr/>
        </p:nvSpPr>
        <p:spPr>
          <a:xfrm>
            <a:off x="6501408" y="3290888"/>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Decentralized</a:t>
            </a:r>
            <a:endParaRPr lang="en-US" sz="2200" dirty="0"/>
          </a:p>
        </p:txBody>
      </p:sp>
      <p:sp>
        <p:nvSpPr>
          <p:cNvPr id="7" name="Text 4"/>
          <p:cNvSpPr/>
          <p:nvPr/>
        </p:nvSpPr>
        <p:spPr>
          <a:xfrm>
            <a:off x="6501408" y="3780711"/>
            <a:ext cx="3236595" cy="1548051"/>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No single person or company controls it. The information lives on thousands of computers simultaneously, making it nearly impossible to hack or manipulate.</a:t>
            </a:r>
            <a:endParaRPr lang="en-US" sz="1550" dirty="0"/>
          </a:p>
        </p:txBody>
      </p:sp>
      <p:sp>
        <p:nvSpPr>
          <p:cNvPr id="8" name="Shape 5"/>
          <p:cNvSpPr/>
          <p:nvPr/>
        </p:nvSpPr>
        <p:spPr>
          <a:xfrm>
            <a:off x="10157579" y="3069669"/>
            <a:ext cx="3679031" cy="2480310"/>
          </a:xfrm>
          <a:prstGeom prst="roundRect">
            <a:avLst>
              <a:gd name="adj" fmla="val 3361"/>
            </a:avLst>
          </a:prstGeom>
          <a:solidFill>
            <a:srgbClr val="FFFFF4"/>
          </a:solidFill>
          <a:ln w="22860">
            <a:solidFill>
              <a:srgbClr val="FFE0CC"/>
            </a:solidFill>
            <a:prstDash val="solid"/>
          </a:ln>
        </p:spPr>
        <p:txBody>
          <a:bodyPr/>
          <a:lstStyle/>
          <a:p>
            <a:endParaRPr lang="en-IN"/>
          </a:p>
        </p:txBody>
      </p:sp>
      <p:sp>
        <p:nvSpPr>
          <p:cNvPr id="9" name="Text 6"/>
          <p:cNvSpPr/>
          <p:nvPr/>
        </p:nvSpPr>
        <p:spPr>
          <a:xfrm>
            <a:off x="10378797" y="3290888"/>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Transparent</a:t>
            </a:r>
            <a:endParaRPr lang="en-US" sz="2200" dirty="0"/>
          </a:p>
        </p:txBody>
      </p:sp>
      <p:sp>
        <p:nvSpPr>
          <p:cNvPr id="10" name="Text 7"/>
          <p:cNvSpPr/>
          <p:nvPr/>
        </p:nvSpPr>
        <p:spPr>
          <a:xfrm>
            <a:off x="10378797" y="3780711"/>
            <a:ext cx="3236595" cy="1548051"/>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Everyone can see the transactions. All participants have access to the same information, creating trust through visibility rather than relying on a middleman.</a:t>
            </a:r>
            <a:endParaRPr lang="en-US" sz="1550" dirty="0"/>
          </a:p>
        </p:txBody>
      </p:sp>
      <p:sp>
        <p:nvSpPr>
          <p:cNvPr id="11" name="Shape 8"/>
          <p:cNvSpPr/>
          <p:nvPr/>
        </p:nvSpPr>
        <p:spPr>
          <a:xfrm>
            <a:off x="6280190" y="5748338"/>
            <a:ext cx="7556421" cy="1706285"/>
          </a:xfrm>
          <a:prstGeom prst="roundRect">
            <a:avLst>
              <a:gd name="adj" fmla="val 4885"/>
            </a:avLst>
          </a:prstGeom>
          <a:solidFill>
            <a:srgbClr val="FFFFF4"/>
          </a:solidFill>
          <a:ln w="22860">
            <a:solidFill>
              <a:srgbClr val="FFE0CC"/>
            </a:solidFill>
            <a:prstDash val="solid"/>
          </a:ln>
        </p:spPr>
        <p:txBody>
          <a:bodyPr/>
          <a:lstStyle/>
          <a:p>
            <a:endParaRPr lang="en-IN"/>
          </a:p>
        </p:txBody>
      </p:sp>
      <p:sp>
        <p:nvSpPr>
          <p:cNvPr id="12" name="Text 9"/>
          <p:cNvSpPr/>
          <p:nvPr/>
        </p:nvSpPr>
        <p:spPr>
          <a:xfrm>
            <a:off x="6501408" y="5969556"/>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Secure</a:t>
            </a:r>
            <a:endParaRPr lang="en-US" sz="2200" dirty="0"/>
          </a:p>
        </p:txBody>
      </p:sp>
      <p:sp>
        <p:nvSpPr>
          <p:cNvPr id="13" name="Text 10"/>
          <p:cNvSpPr/>
          <p:nvPr/>
        </p:nvSpPr>
        <p:spPr>
          <a:xfrm>
            <a:off x="6501408" y="6459379"/>
            <a:ext cx="7113984"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Once information is recorded, it can't be changed. Each block links to the previous one using complex math, creating an unbreakable chain of verified data.</a:t>
            </a:r>
            <a:endParaRPr lang="en-US" sz="1550" dirty="0"/>
          </a:p>
        </p:txBody>
      </p:sp>
      <p:pic>
        <p:nvPicPr>
          <p:cNvPr id="15" name="Picture 14">
            <a:extLst>
              <a:ext uri="{FF2B5EF4-FFF2-40B4-BE49-F238E27FC236}">
                <a16:creationId xmlns:a16="http://schemas.microsoft.com/office/drawing/2014/main" id="{FA1DCB00-0AE3-88F7-72C4-B896437EDEED}"/>
              </a:ext>
            </a:extLst>
          </p:cNvPr>
          <p:cNvPicPr>
            <a:picLocks noChangeAspect="1"/>
          </p:cNvPicPr>
          <p:nvPr/>
        </p:nvPicPr>
        <p:blipFill>
          <a:blip r:embed="rId4"/>
          <a:stretch>
            <a:fillRect/>
          </a:stretch>
        </p:blipFill>
        <p:spPr>
          <a:xfrm>
            <a:off x="12506029" y="7784513"/>
            <a:ext cx="2124371" cy="31436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77710"/>
            <a:ext cx="9607748"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The Insurance Industry's Big Problems</a:t>
            </a:r>
            <a:endParaRPr lang="en-US" sz="4450" dirty="0"/>
          </a:p>
        </p:txBody>
      </p:sp>
      <p:sp>
        <p:nvSpPr>
          <p:cNvPr id="3" name="Text 1"/>
          <p:cNvSpPr/>
          <p:nvPr/>
        </p:nvSpPr>
        <p:spPr>
          <a:xfrm>
            <a:off x="793789" y="2926514"/>
            <a:ext cx="13042821" cy="516017"/>
          </a:xfrm>
          <a:prstGeom prst="rect">
            <a:avLst/>
          </a:prstGeom>
          <a:noFill/>
          <a:ln/>
        </p:spPr>
        <p:txBody>
          <a:bodyPr wrap="square" lIns="0" tIns="0" rIns="0" bIns="0" rtlCol="0" anchor="t"/>
          <a:lstStyle/>
          <a:p>
            <a:pPr marL="0" indent="0" algn="l">
              <a:lnSpc>
                <a:spcPts val="2000"/>
              </a:lnSpc>
              <a:buNone/>
            </a:pPr>
            <a:r>
              <a:rPr lang="en-US" dirty="0">
                <a:solidFill>
                  <a:srgbClr val="67534F"/>
                </a:solidFill>
                <a:latin typeface="Montserrat" pitchFamily="34" charset="0"/>
                <a:ea typeface="Montserrat" pitchFamily="34" charset="-122"/>
                <a:cs typeface="Montserrat" pitchFamily="34" charset="-120"/>
              </a:rPr>
              <a:t>Today's insurance system faces serious challenges that frustrate both customers and companies. These issues cost billions of dollars annually and erode trust in the industry.</a:t>
            </a:r>
            <a:endParaRPr lang="en-US" dirty="0"/>
          </a:p>
        </p:txBody>
      </p:sp>
      <p:sp>
        <p:nvSpPr>
          <p:cNvPr id="4" name="Shape 2"/>
          <p:cNvSpPr/>
          <p:nvPr/>
        </p:nvSpPr>
        <p:spPr>
          <a:xfrm>
            <a:off x="816650" y="4028494"/>
            <a:ext cx="4215289" cy="2996327"/>
          </a:xfrm>
          <a:prstGeom prst="roundRect">
            <a:avLst>
              <a:gd name="adj" fmla="val 3662"/>
            </a:avLst>
          </a:prstGeom>
          <a:solidFill>
            <a:srgbClr val="FFFFF4">
              <a:alpha val="95000"/>
            </a:srgbClr>
          </a:solidFill>
          <a:ln w="22860">
            <a:solidFill>
              <a:srgbClr val="FFE0CC"/>
            </a:solidFill>
            <a:prstDash val="solid"/>
          </a:ln>
        </p:spPr>
        <p:txBody>
          <a:bodyPr/>
          <a:lstStyle/>
          <a:p>
            <a:endParaRPr lang="en-IN"/>
          </a:p>
        </p:txBody>
      </p:sp>
      <p:sp>
        <p:nvSpPr>
          <p:cNvPr id="5" name="Shape 3"/>
          <p:cNvSpPr/>
          <p:nvPr/>
        </p:nvSpPr>
        <p:spPr>
          <a:xfrm>
            <a:off x="793790" y="4028494"/>
            <a:ext cx="91440" cy="2996327"/>
          </a:xfrm>
          <a:prstGeom prst="roundRect">
            <a:avLst>
              <a:gd name="adj" fmla="val 91163"/>
            </a:avLst>
          </a:prstGeom>
          <a:solidFill>
            <a:srgbClr val="FF954F"/>
          </a:solidFill>
          <a:ln/>
        </p:spPr>
        <p:txBody>
          <a:bodyPr/>
          <a:lstStyle/>
          <a:p>
            <a:endParaRPr lang="en-IN"/>
          </a:p>
        </p:txBody>
      </p:sp>
      <p:sp>
        <p:nvSpPr>
          <p:cNvPr id="6" name="Text 4"/>
          <p:cNvSpPr/>
          <p:nvPr/>
        </p:nvSpPr>
        <p:spPr>
          <a:xfrm>
            <a:off x="1106448" y="424971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Widespread Fraud</a:t>
            </a:r>
            <a:endParaRPr lang="en-US" sz="2200" dirty="0"/>
          </a:p>
        </p:txBody>
      </p:sp>
      <p:sp>
        <p:nvSpPr>
          <p:cNvPr id="7" name="Text 5"/>
          <p:cNvSpPr/>
          <p:nvPr/>
        </p:nvSpPr>
        <p:spPr>
          <a:xfrm>
            <a:off x="1106448" y="4739536"/>
            <a:ext cx="3704273" cy="206406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Insurance fraud costs the industry over $40 billion per year in the U.S. alone. Fake claims, inflated damages, and staged accidents drain resources that could go toward legitimate claims. Traditional systems struggle to detect sophisticated fraud patterns.</a:t>
            </a:r>
            <a:endParaRPr lang="en-US" sz="1550" dirty="0"/>
          </a:p>
        </p:txBody>
      </p:sp>
      <p:sp>
        <p:nvSpPr>
          <p:cNvPr id="8" name="Shape 6"/>
          <p:cNvSpPr/>
          <p:nvPr/>
        </p:nvSpPr>
        <p:spPr>
          <a:xfrm>
            <a:off x="5230297" y="4028494"/>
            <a:ext cx="4215408" cy="2996327"/>
          </a:xfrm>
          <a:prstGeom prst="roundRect">
            <a:avLst>
              <a:gd name="adj" fmla="val 3662"/>
            </a:avLst>
          </a:prstGeom>
          <a:solidFill>
            <a:srgbClr val="FFFFF4">
              <a:alpha val="95000"/>
            </a:srgbClr>
          </a:solidFill>
          <a:ln w="22860">
            <a:solidFill>
              <a:srgbClr val="FFE0CC"/>
            </a:solidFill>
            <a:prstDash val="solid"/>
          </a:ln>
        </p:spPr>
        <p:txBody>
          <a:bodyPr/>
          <a:lstStyle/>
          <a:p>
            <a:endParaRPr lang="en-IN"/>
          </a:p>
        </p:txBody>
      </p:sp>
      <p:sp>
        <p:nvSpPr>
          <p:cNvPr id="9" name="Shape 7"/>
          <p:cNvSpPr/>
          <p:nvPr/>
        </p:nvSpPr>
        <p:spPr>
          <a:xfrm>
            <a:off x="5207437" y="4028494"/>
            <a:ext cx="91440" cy="2996327"/>
          </a:xfrm>
          <a:prstGeom prst="roundRect">
            <a:avLst>
              <a:gd name="adj" fmla="val 91163"/>
            </a:avLst>
          </a:prstGeom>
          <a:solidFill>
            <a:srgbClr val="FF954F"/>
          </a:solidFill>
          <a:ln/>
        </p:spPr>
        <p:txBody>
          <a:bodyPr/>
          <a:lstStyle/>
          <a:p>
            <a:endParaRPr lang="en-IN"/>
          </a:p>
        </p:txBody>
      </p:sp>
      <p:sp>
        <p:nvSpPr>
          <p:cNvPr id="10" name="Text 8"/>
          <p:cNvSpPr/>
          <p:nvPr/>
        </p:nvSpPr>
        <p:spPr>
          <a:xfrm>
            <a:off x="5520095" y="424971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Slow Processing</a:t>
            </a:r>
            <a:endParaRPr lang="en-US" sz="2200" dirty="0"/>
          </a:p>
        </p:txBody>
      </p:sp>
      <p:sp>
        <p:nvSpPr>
          <p:cNvPr id="11" name="Text 9"/>
          <p:cNvSpPr/>
          <p:nvPr/>
        </p:nvSpPr>
        <p:spPr>
          <a:xfrm>
            <a:off x="5520095" y="4739536"/>
            <a:ext cx="3704392" cy="206406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Filing a claim can take weeks or even months. Customers wait anxiously while paperwork moves between departments, adjusters investigate, and approvals crawl through bureaucratic channels. Emergency situations become financial crises during these delays.</a:t>
            </a:r>
            <a:endParaRPr lang="en-US" sz="1550" dirty="0"/>
          </a:p>
        </p:txBody>
      </p:sp>
      <p:sp>
        <p:nvSpPr>
          <p:cNvPr id="12" name="Shape 10"/>
          <p:cNvSpPr/>
          <p:nvPr/>
        </p:nvSpPr>
        <p:spPr>
          <a:xfrm>
            <a:off x="9644063" y="4028494"/>
            <a:ext cx="4215289" cy="2996327"/>
          </a:xfrm>
          <a:prstGeom prst="roundRect">
            <a:avLst>
              <a:gd name="adj" fmla="val 3662"/>
            </a:avLst>
          </a:prstGeom>
          <a:solidFill>
            <a:srgbClr val="FFFFF4">
              <a:alpha val="95000"/>
            </a:srgbClr>
          </a:solidFill>
          <a:ln w="22860">
            <a:solidFill>
              <a:srgbClr val="FFE0CC"/>
            </a:solidFill>
            <a:prstDash val="solid"/>
          </a:ln>
        </p:spPr>
        <p:txBody>
          <a:bodyPr/>
          <a:lstStyle/>
          <a:p>
            <a:endParaRPr lang="en-IN"/>
          </a:p>
        </p:txBody>
      </p:sp>
      <p:sp>
        <p:nvSpPr>
          <p:cNvPr id="13" name="Shape 11"/>
          <p:cNvSpPr/>
          <p:nvPr/>
        </p:nvSpPr>
        <p:spPr>
          <a:xfrm>
            <a:off x="9621203" y="4028494"/>
            <a:ext cx="91440" cy="2996327"/>
          </a:xfrm>
          <a:prstGeom prst="roundRect">
            <a:avLst>
              <a:gd name="adj" fmla="val 91163"/>
            </a:avLst>
          </a:prstGeom>
          <a:solidFill>
            <a:srgbClr val="FF954F"/>
          </a:solidFill>
          <a:ln/>
        </p:spPr>
        <p:txBody>
          <a:bodyPr/>
          <a:lstStyle/>
          <a:p>
            <a:endParaRPr lang="en-IN"/>
          </a:p>
        </p:txBody>
      </p:sp>
      <p:sp>
        <p:nvSpPr>
          <p:cNvPr id="14" name="Text 12"/>
          <p:cNvSpPr/>
          <p:nvPr/>
        </p:nvSpPr>
        <p:spPr>
          <a:xfrm>
            <a:off x="9933861" y="424971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Zero Transparency</a:t>
            </a:r>
            <a:endParaRPr lang="en-US" sz="2200" dirty="0"/>
          </a:p>
        </p:txBody>
      </p:sp>
      <p:sp>
        <p:nvSpPr>
          <p:cNvPr id="15" name="Text 13"/>
          <p:cNvSpPr/>
          <p:nvPr/>
        </p:nvSpPr>
        <p:spPr>
          <a:xfrm>
            <a:off x="9933861" y="4739536"/>
            <a:ext cx="3704273" cy="206406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Where is my claim? Why was I denied? Customers rarely understand how decisions are made. The black box of insurance processing creates frustration, disputes, and a fundamental lack of trust between insurers and policyholders.</a:t>
            </a:r>
            <a:endParaRPr lang="en-US" sz="1550" dirty="0"/>
          </a:p>
        </p:txBody>
      </p:sp>
      <p:pic>
        <p:nvPicPr>
          <p:cNvPr id="17" name="Picture 16">
            <a:extLst>
              <a:ext uri="{FF2B5EF4-FFF2-40B4-BE49-F238E27FC236}">
                <a16:creationId xmlns:a16="http://schemas.microsoft.com/office/drawing/2014/main" id="{6D73979E-A4D8-9BC1-BE6E-C5500A32B3DE}"/>
              </a:ext>
            </a:extLst>
          </p:cNvPr>
          <p:cNvPicPr>
            <a:picLocks noChangeAspect="1"/>
          </p:cNvPicPr>
          <p:nvPr/>
        </p:nvPicPr>
        <p:blipFill>
          <a:blip r:embed="rId3"/>
          <a:stretch>
            <a:fillRect/>
          </a:stretch>
        </p:blipFill>
        <p:spPr>
          <a:xfrm>
            <a:off x="12506029" y="7789875"/>
            <a:ext cx="2124371" cy="3143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22697" y="429220"/>
            <a:ext cx="7566065" cy="581739"/>
          </a:xfrm>
          <a:prstGeom prst="rect">
            <a:avLst/>
          </a:prstGeom>
          <a:noFill/>
          <a:ln/>
        </p:spPr>
        <p:txBody>
          <a:bodyPr wrap="none" lIns="0" tIns="0" rIns="0" bIns="0" rtlCol="0" anchor="t"/>
          <a:lstStyle/>
          <a:p>
            <a:pPr marL="0" indent="0" algn="l">
              <a:lnSpc>
                <a:spcPts val="4550"/>
              </a:lnSpc>
              <a:buNone/>
            </a:pPr>
            <a:r>
              <a:rPr lang="en-US" sz="3500" dirty="0">
                <a:solidFill>
                  <a:srgbClr val="532418"/>
                </a:solidFill>
                <a:latin typeface="Marcellus" pitchFamily="34" charset="0"/>
                <a:ea typeface="Marcellus" pitchFamily="34" charset="-122"/>
                <a:cs typeface="Marcellus" pitchFamily="34" charset="-120"/>
              </a:rPr>
              <a:t>How Blockchain Transforms Insurance</a:t>
            </a:r>
            <a:endParaRPr lang="en-US" sz="3500" dirty="0"/>
          </a:p>
        </p:txBody>
      </p:sp>
      <p:pic>
        <p:nvPicPr>
          <p:cNvPr id="3" name="Image 0" descr="preencoded.png"/>
          <p:cNvPicPr>
            <a:picLocks noChangeAspect="1"/>
          </p:cNvPicPr>
          <p:nvPr/>
        </p:nvPicPr>
        <p:blipFill>
          <a:blip r:embed="rId3"/>
          <a:stretch>
            <a:fillRect/>
          </a:stretch>
        </p:blipFill>
        <p:spPr>
          <a:xfrm>
            <a:off x="1821418" y="1419582"/>
            <a:ext cx="4105037" cy="4105037"/>
          </a:xfrm>
          <a:prstGeom prst="rect">
            <a:avLst/>
          </a:prstGeom>
        </p:spPr>
      </p:pic>
      <p:sp>
        <p:nvSpPr>
          <p:cNvPr id="4" name="Text 1"/>
          <p:cNvSpPr/>
          <p:nvPr/>
        </p:nvSpPr>
        <p:spPr>
          <a:xfrm>
            <a:off x="7512725" y="1384459"/>
            <a:ext cx="6502598" cy="809625"/>
          </a:xfrm>
          <a:prstGeom prst="rect">
            <a:avLst/>
          </a:prstGeom>
          <a:noFill/>
          <a:ln/>
        </p:spPr>
        <p:txBody>
          <a:bodyPr wrap="square" lIns="0" tIns="0" rIns="0" bIns="0" rtlCol="0" anchor="t"/>
          <a:lstStyle/>
          <a:p>
            <a:pPr>
              <a:lnSpc>
                <a:spcPts val="1550"/>
              </a:lnSpc>
            </a:pPr>
            <a:r>
              <a:rPr lang="en-US" sz="1550" dirty="0">
                <a:solidFill>
                  <a:srgbClr val="67534F"/>
                </a:solidFill>
                <a:latin typeface="Montserrat" pitchFamily="34" charset="0"/>
                <a:ea typeface="Montserrat" pitchFamily="34" charset="-122"/>
                <a:cs typeface="Times New Roman" panose="02020603050405020304" pitchFamily="18" charset="0"/>
              </a:rPr>
              <a:t>Blockchain technology transforms the insurance industry by introducing </a:t>
            </a:r>
            <a:r>
              <a:rPr lang="en-US" sz="1550" b="1" dirty="0">
                <a:solidFill>
                  <a:srgbClr val="67534F"/>
                </a:solidFill>
                <a:latin typeface="Montserrat" pitchFamily="34" charset="0"/>
                <a:ea typeface="Montserrat" pitchFamily="34" charset="-122"/>
                <a:cs typeface="Times New Roman" panose="02020603050405020304" pitchFamily="18" charset="0"/>
              </a:rPr>
              <a:t>transparency, automation, and </a:t>
            </a:r>
            <a:r>
              <a:rPr lang="en-US" sz="1550" b="1" dirty="0" err="1">
                <a:solidFill>
                  <a:srgbClr val="67534F"/>
                </a:solidFill>
                <a:latin typeface="Montserrat" pitchFamily="34" charset="0"/>
                <a:ea typeface="Montserrat" pitchFamily="34" charset="-122"/>
                <a:cs typeface="Times New Roman" panose="02020603050405020304" pitchFamily="18" charset="0"/>
              </a:rPr>
              <a:t>trust</a:t>
            </a:r>
            <a:r>
              <a:rPr lang="en-US" sz="1550" dirty="0" err="1">
                <a:solidFill>
                  <a:srgbClr val="67534F"/>
                </a:solidFill>
                <a:latin typeface="Montserrat" pitchFamily="34" charset="0"/>
                <a:ea typeface="Montserrat" pitchFamily="34" charset="-122"/>
                <a:cs typeface="Times New Roman" panose="02020603050405020304" pitchFamily="18" charset="0"/>
              </a:rPr>
              <a:t>.Instead</a:t>
            </a:r>
            <a:r>
              <a:rPr lang="en-US" sz="1550" dirty="0">
                <a:solidFill>
                  <a:srgbClr val="67534F"/>
                </a:solidFill>
                <a:latin typeface="Montserrat" pitchFamily="34" charset="0"/>
                <a:ea typeface="Montserrat" pitchFamily="34" charset="-122"/>
                <a:cs typeface="Times New Roman" panose="02020603050405020304" pitchFamily="18" charset="0"/>
              </a:rPr>
              <a:t> of depending on </a:t>
            </a:r>
            <a:r>
              <a:rPr lang="en-US" sz="1550" b="1" dirty="0">
                <a:solidFill>
                  <a:srgbClr val="67534F"/>
                </a:solidFill>
                <a:latin typeface="Montserrat" pitchFamily="34" charset="0"/>
                <a:ea typeface="Montserrat" pitchFamily="34" charset="-122"/>
                <a:cs typeface="Times New Roman" panose="02020603050405020304" pitchFamily="18" charset="0"/>
              </a:rPr>
              <a:t>paperwork, intermediaries, and manual verification</a:t>
            </a:r>
            <a:r>
              <a:rPr lang="en-US" sz="1550" dirty="0">
                <a:solidFill>
                  <a:srgbClr val="67534F"/>
                </a:solidFill>
                <a:latin typeface="Montserrat" pitchFamily="34" charset="0"/>
                <a:ea typeface="Montserrat" pitchFamily="34" charset="-122"/>
                <a:cs typeface="Times New Roman" panose="02020603050405020304" pitchFamily="18" charset="0"/>
              </a:rPr>
              <a:t>, every transaction is securely recorded on a </a:t>
            </a:r>
            <a:r>
              <a:rPr lang="en-US" sz="1550" b="1" dirty="0">
                <a:solidFill>
                  <a:srgbClr val="67534F"/>
                </a:solidFill>
                <a:latin typeface="Montserrat" pitchFamily="34" charset="0"/>
                <a:ea typeface="Montserrat" pitchFamily="34" charset="-122"/>
                <a:cs typeface="Times New Roman" panose="02020603050405020304" pitchFamily="18" charset="0"/>
              </a:rPr>
              <a:t>shared digital ledger </a:t>
            </a:r>
            <a:r>
              <a:rPr lang="en-US" sz="1550" dirty="0">
                <a:solidFill>
                  <a:srgbClr val="67534F"/>
                </a:solidFill>
                <a:latin typeface="Montserrat" pitchFamily="34" charset="0"/>
                <a:ea typeface="Montserrat" pitchFamily="34" charset="-122"/>
                <a:cs typeface="Times New Roman" panose="02020603050405020304" pitchFamily="18" charset="0"/>
              </a:rPr>
              <a:t>that all parties can view in real </a:t>
            </a:r>
            <a:r>
              <a:rPr lang="en-US" sz="1550" dirty="0" err="1">
                <a:solidFill>
                  <a:srgbClr val="67534F"/>
                </a:solidFill>
                <a:latin typeface="Montserrat" pitchFamily="34" charset="0"/>
                <a:ea typeface="Montserrat" pitchFamily="34" charset="-122"/>
                <a:cs typeface="Times New Roman" panose="02020603050405020304" pitchFamily="18" charset="0"/>
              </a:rPr>
              <a:t>time.This</a:t>
            </a:r>
            <a:r>
              <a:rPr lang="en-US" sz="1550" dirty="0">
                <a:solidFill>
                  <a:srgbClr val="67534F"/>
                </a:solidFill>
                <a:latin typeface="Montserrat" pitchFamily="34" charset="0"/>
                <a:ea typeface="Montserrat" pitchFamily="34" charset="-122"/>
                <a:cs typeface="Times New Roman" panose="02020603050405020304" pitchFamily="18" charset="0"/>
              </a:rPr>
              <a:t> allows instant verification of data, automatic claim processing through </a:t>
            </a:r>
            <a:r>
              <a:rPr lang="en-US" sz="1550" b="1" dirty="0">
                <a:solidFill>
                  <a:srgbClr val="67534F"/>
                </a:solidFill>
                <a:latin typeface="Montserrat" pitchFamily="34" charset="0"/>
                <a:ea typeface="Montserrat" pitchFamily="34" charset="-122"/>
                <a:cs typeface="Times New Roman" panose="02020603050405020304" pitchFamily="18" charset="0"/>
              </a:rPr>
              <a:t>smart contracts</a:t>
            </a:r>
            <a:r>
              <a:rPr lang="en-US" sz="1550" dirty="0">
                <a:solidFill>
                  <a:srgbClr val="67534F"/>
                </a:solidFill>
                <a:latin typeface="Montserrat" pitchFamily="34" charset="0"/>
                <a:ea typeface="Montserrat" pitchFamily="34" charset="-122"/>
                <a:cs typeface="Times New Roman" panose="02020603050405020304" pitchFamily="18" charset="0"/>
              </a:rPr>
              <a:t>, and reduced chances of fraud or manipulation — making insurance processes faster, fairer, and more reliable.</a:t>
            </a:r>
            <a:endParaRPr lang="en-US" sz="1550" dirty="0"/>
          </a:p>
        </p:txBody>
      </p:sp>
      <p:sp>
        <p:nvSpPr>
          <p:cNvPr id="5" name="Text 2"/>
          <p:cNvSpPr/>
          <p:nvPr/>
        </p:nvSpPr>
        <p:spPr>
          <a:xfrm>
            <a:off x="7512725" y="3354705"/>
            <a:ext cx="6502598" cy="607219"/>
          </a:xfrm>
          <a:prstGeom prst="rect">
            <a:avLst/>
          </a:prstGeom>
          <a:noFill/>
          <a:ln/>
        </p:spPr>
        <p:txBody>
          <a:bodyPr wrap="square" lIns="0" tIns="0" rIns="0" bIns="0" rtlCol="0" anchor="t"/>
          <a:lstStyle/>
          <a:p>
            <a:pPr>
              <a:lnSpc>
                <a:spcPts val="1550"/>
              </a:lnSpc>
            </a:pPr>
            <a:r>
              <a:rPr lang="en-US" sz="1550" dirty="0">
                <a:solidFill>
                  <a:srgbClr val="67534F"/>
                </a:solidFill>
                <a:latin typeface="Montserrat" pitchFamily="34" charset="0"/>
                <a:ea typeface="Montserrat" pitchFamily="34" charset="-122"/>
                <a:cs typeface="Montserrat" pitchFamily="34" charset="-120"/>
              </a:rPr>
              <a:t>Blockchain creates a </a:t>
            </a:r>
            <a:r>
              <a:rPr lang="en-US" sz="1550" b="1" dirty="0">
                <a:solidFill>
                  <a:srgbClr val="67534F"/>
                </a:solidFill>
                <a:latin typeface="Montserrat" pitchFamily="34" charset="0"/>
                <a:ea typeface="Montserrat" pitchFamily="34" charset="-122"/>
                <a:cs typeface="Montserrat" pitchFamily="34" charset="-120"/>
              </a:rPr>
              <a:t>permanent, tamper-proof record </a:t>
            </a:r>
            <a:r>
              <a:rPr lang="en-US" sz="1550" dirty="0">
                <a:solidFill>
                  <a:srgbClr val="67534F"/>
                </a:solidFill>
                <a:latin typeface="Montserrat" pitchFamily="34" charset="0"/>
                <a:ea typeface="Montserrat" pitchFamily="34" charset="-122"/>
                <a:cs typeface="Montserrat" pitchFamily="34" charset="-120"/>
              </a:rPr>
              <a:t>of every policy, claim, and transaction in the insurance </a:t>
            </a:r>
            <a:r>
              <a:rPr lang="en-US" sz="1550" dirty="0" err="1">
                <a:solidFill>
                  <a:srgbClr val="67534F"/>
                </a:solidFill>
                <a:latin typeface="Montserrat" pitchFamily="34" charset="0"/>
                <a:ea typeface="Montserrat" pitchFamily="34" charset="-122"/>
                <a:cs typeface="Montserrat" pitchFamily="34" charset="-120"/>
              </a:rPr>
              <a:t>system.Because</a:t>
            </a:r>
            <a:r>
              <a:rPr lang="en-US" sz="1550" dirty="0">
                <a:solidFill>
                  <a:srgbClr val="67534F"/>
                </a:solidFill>
                <a:latin typeface="Montserrat" pitchFamily="34" charset="0"/>
                <a:ea typeface="Montserrat" pitchFamily="34" charset="-122"/>
                <a:cs typeface="Montserrat" pitchFamily="34" charset="-120"/>
              </a:rPr>
              <a:t> this ledger is </a:t>
            </a:r>
            <a:r>
              <a:rPr lang="en-US" sz="1550" b="1" dirty="0">
                <a:solidFill>
                  <a:srgbClr val="67534F"/>
                </a:solidFill>
                <a:latin typeface="Montserrat" pitchFamily="34" charset="0"/>
                <a:ea typeface="Montserrat" pitchFamily="34" charset="-122"/>
                <a:cs typeface="Montserrat" pitchFamily="34" charset="-120"/>
              </a:rPr>
              <a:t>immutable and visible to all authorized parties</a:t>
            </a:r>
            <a:r>
              <a:rPr lang="en-US" sz="1550" dirty="0">
                <a:solidFill>
                  <a:srgbClr val="67534F"/>
                </a:solidFill>
                <a:latin typeface="Montserrat" pitchFamily="34" charset="0"/>
                <a:ea typeface="Montserrat" pitchFamily="34" charset="-122"/>
                <a:cs typeface="Montserrat" pitchFamily="34" charset="-120"/>
              </a:rPr>
              <a:t>, it becomes nearly impossible to </a:t>
            </a:r>
            <a:r>
              <a:rPr lang="en-US" sz="1550" b="1" dirty="0">
                <a:solidFill>
                  <a:srgbClr val="67534F"/>
                </a:solidFill>
                <a:latin typeface="Montserrat" pitchFamily="34" charset="0"/>
                <a:ea typeface="Montserrat" pitchFamily="34" charset="-122"/>
                <a:cs typeface="Montserrat" pitchFamily="34" charset="-120"/>
              </a:rPr>
              <a:t>alter or falsify information</a:t>
            </a:r>
            <a:r>
              <a:rPr lang="en-US" sz="1550" dirty="0">
                <a:solidFill>
                  <a:srgbClr val="67534F"/>
                </a:solidFill>
                <a:latin typeface="Montserrat" pitchFamily="34" charset="0"/>
                <a:ea typeface="Montserrat" pitchFamily="34" charset="-122"/>
                <a:cs typeface="Montserrat" pitchFamily="34" charset="-120"/>
              </a:rPr>
              <a:t>, drastically reducing </a:t>
            </a:r>
            <a:r>
              <a:rPr lang="en-US" sz="1550" dirty="0" err="1">
                <a:solidFill>
                  <a:srgbClr val="67534F"/>
                </a:solidFill>
                <a:latin typeface="Montserrat" pitchFamily="34" charset="0"/>
                <a:ea typeface="Montserrat" pitchFamily="34" charset="-122"/>
                <a:cs typeface="Montserrat" pitchFamily="34" charset="-120"/>
              </a:rPr>
              <a:t>fraud.At</a:t>
            </a:r>
            <a:r>
              <a:rPr lang="en-US" sz="1550" dirty="0">
                <a:solidFill>
                  <a:srgbClr val="67534F"/>
                </a:solidFill>
                <a:latin typeface="Montserrat" pitchFamily="34" charset="0"/>
                <a:ea typeface="Montserrat" pitchFamily="34" charset="-122"/>
                <a:cs typeface="Montserrat" pitchFamily="34" charset="-120"/>
              </a:rPr>
              <a:t> the same time, the transparency and automation built into the system allow legitimate claims to be verified and processed in minutes instead of weeks, improving efficiency and customer satisfaction.</a:t>
            </a:r>
            <a:endParaRPr lang="en-US" sz="1550" dirty="0"/>
          </a:p>
        </p:txBody>
      </p:sp>
      <p:pic>
        <p:nvPicPr>
          <p:cNvPr id="6" name="Image 1" descr="preencoded.png"/>
          <p:cNvPicPr>
            <a:picLocks noChangeAspect="1"/>
          </p:cNvPicPr>
          <p:nvPr/>
        </p:nvPicPr>
        <p:blipFill>
          <a:blip r:embed="rId4"/>
          <a:stretch>
            <a:fillRect/>
          </a:stretch>
        </p:blipFill>
        <p:spPr>
          <a:xfrm>
            <a:off x="622697" y="5874901"/>
            <a:ext cx="4461629" cy="622697"/>
          </a:xfrm>
          <a:prstGeom prst="rect">
            <a:avLst/>
          </a:prstGeom>
        </p:spPr>
      </p:pic>
      <p:sp>
        <p:nvSpPr>
          <p:cNvPr id="7" name="Text 3"/>
          <p:cNvSpPr/>
          <p:nvPr/>
        </p:nvSpPr>
        <p:spPr>
          <a:xfrm>
            <a:off x="778312" y="6653213"/>
            <a:ext cx="2237899" cy="290989"/>
          </a:xfrm>
          <a:prstGeom prst="rect">
            <a:avLst/>
          </a:prstGeom>
          <a:noFill/>
          <a:ln/>
        </p:spPr>
        <p:txBody>
          <a:bodyPr wrap="none" lIns="0" tIns="0" rIns="0" bIns="0" rtlCol="0" anchor="t"/>
          <a:lstStyle/>
          <a:p>
            <a:pPr marL="0" indent="0" algn="l">
              <a:lnSpc>
                <a:spcPts val="2250"/>
              </a:lnSpc>
              <a:buNone/>
            </a:pPr>
            <a:r>
              <a:rPr lang="en-US" sz="2000" dirty="0">
                <a:solidFill>
                  <a:srgbClr val="67534F"/>
                </a:solidFill>
                <a:latin typeface="Marcellus" pitchFamily="34" charset="0"/>
                <a:ea typeface="Marcellus" pitchFamily="34" charset="-122"/>
                <a:cs typeface="Marcellus" pitchFamily="34" charset="-120"/>
              </a:rPr>
              <a:t>Prevents Fraud</a:t>
            </a:r>
            <a:endParaRPr lang="en-US" sz="2000" dirty="0"/>
          </a:p>
        </p:txBody>
      </p:sp>
      <p:sp>
        <p:nvSpPr>
          <p:cNvPr id="8" name="Text 4"/>
          <p:cNvSpPr/>
          <p:nvPr/>
        </p:nvSpPr>
        <p:spPr>
          <a:xfrm>
            <a:off x="778312" y="7037546"/>
            <a:ext cx="4150400" cy="607219"/>
          </a:xfrm>
          <a:prstGeom prst="rect">
            <a:avLst/>
          </a:prstGeom>
          <a:noFill/>
          <a:ln/>
        </p:spPr>
        <p:txBody>
          <a:bodyPr wrap="square" lIns="0" tIns="0" rIns="0" bIns="0" rtlCol="0" anchor="t"/>
          <a:lstStyle/>
          <a:p>
            <a:pPr marL="0" indent="0" algn="l">
              <a:lnSpc>
                <a:spcPts val="1550"/>
              </a:lnSpc>
              <a:buNone/>
            </a:pPr>
            <a:r>
              <a:rPr lang="en-US" sz="1550" dirty="0">
                <a:solidFill>
                  <a:srgbClr val="67534F"/>
                </a:solidFill>
                <a:latin typeface="Montserrat" pitchFamily="34" charset="0"/>
                <a:ea typeface="Montserrat" pitchFamily="34" charset="-122"/>
                <a:cs typeface="Montserrat" pitchFamily="34" charset="-120"/>
              </a:rPr>
              <a:t>All transactions are recorded permanently and verified by multiple parties, making it impossible to submit duplicate claims or fake documents.</a:t>
            </a:r>
            <a:endParaRPr lang="en-US" sz="1550" dirty="0"/>
          </a:p>
        </p:txBody>
      </p:sp>
      <p:pic>
        <p:nvPicPr>
          <p:cNvPr id="9" name="Image 2" descr="preencoded.png"/>
          <p:cNvPicPr>
            <a:picLocks noChangeAspect="1"/>
          </p:cNvPicPr>
          <p:nvPr/>
        </p:nvPicPr>
        <p:blipFill>
          <a:blip r:embed="rId5"/>
          <a:stretch>
            <a:fillRect/>
          </a:stretch>
        </p:blipFill>
        <p:spPr>
          <a:xfrm>
            <a:off x="5084326" y="5874901"/>
            <a:ext cx="4461629" cy="622697"/>
          </a:xfrm>
          <a:prstGeom prst="rect">
            <a:avLst/>
          </a:prstGeom>
        </p:spPr>
      </p:pic>
      <p:sp>
        <p:nvSpPr>
          <p:cNvPr id="10" name="Text 5"/>
          <p:cNvSpPr/>
          <p:nvPr/>
        </p:nvSpPr>
        <p:spPr>
          <a:xfrm>
            <a:off x="5239941" y="6653213"/>
            <a:ext cx="2237899" cy="290989"/>
          </a:xfrm>
          <a:prstGeom prst="rect">
            <a:avLst/>
          </a:prstGeom>
          <a:noFill/>
          <a:ln/>
        </p:spPr>
        <p:txBody>
          <a:bodyPr wrap="none" lIns="0" tIns="0" rIns="0" bIns="0" rtlCol="0" anchor="t"/>
          <a:lstStyle/>
          <a:p>
            <a:pPr marL="0" indent="0" algn="l">
              <a:lnSpc>
                <a:spcPts val="2250"/>
              </a:lnSpc>
              <a:buNone/>
            </a:pPr>
            <a:r>
              <a:rPr lang="en-US" sz="2000" dirty="0">
                <a:solidFill>
                  <a:srgbClr val="67534F"/>
                </a:solidFill>
                <a:latin typeface="Marcellus" pitchFamily="34" charset="0"/>
                <a:ea typeface="Marcellus" pitchFamily="34" charset="-122"/>
                <a:cs typeface="Marcellus" pitchFamily="34" charset="-120"/>
              </a:rPr>
              <a:t>Speeds Up Claims</a:t>
            </a:r>
            <a:endParaRPr lang="en-US" sz="2000" dirty="0"/>
          </a:p>
        </p:txBody>
      </p:sp>
      <p:sp>
        <p:nvSpPr>
          <p:cNvPr id="11" name="Text 6"/>
          <p:cNvSpPr/>
          <p:nvPr/>
        </p:nvSpPr>
        <p:spPr>
          <a:xfrm>
            <a:off x="5239941" y="7037546"/>
            <a:ext cx="4150400" cy="607219"/>
          </a:xfrm>
          <a:prstGeom prst="rect">
            <a:avLst/>
          </a:prstGeom>
          <a:noFill/>
          <a:ln/>
        </p:spPr>
        <p:txBody>
          <a:bodyPr wrap="square" lIns="0" tIns="0" rIns="0" bIns="0" rtlCol="0" anchor="t"/>
          <a:lstStyle/>
          <a:p>
            <a:pPr marL="0" indent="0" algn="l">
              <a:lnSpc>
                <a:spcPts val="1550"/>
              </a:lnSpc>
              <a:buNone/>
            </a:pPr>
            <a:r>
              <a:rPr lang="en-US" sz="1550" dirty="0">
                <a:solidFill>
                  <a:srgbClr val="67534F"/>
                </a:solidFill>
                <a:latin typeface="Montserrat" pitchFamily="34" charset="0"/>
                <a:ea typeface="Montserrat" pitchFamily="34" charset="-122"/>
                <a:cs typeface="Montserrat" pitchFamily="34" charset="-120"/>
              </a:rPr>
              <a:t>Smart contracts automatically verify and process claims based on predefined rules, eliminating manual review for straightforward cases.</a:t>
            </a:r>
            <a:endParaRPr lang="en-US" sz="1550" dirty="0"/>
          </a:p>
        </p:txBody>
      </p:sp>
      <p:pic>
        <p:nvPicPr>
          <p:cNvPr id="12" name="Image 3" descr="preencoded.png"/>
          <p:cNvPicPr>
            <a:picLocks noChangeAspect="1"/>
          </p:cNvPicPr>
          <p:nvPr/>
        </p:nvPicPr>
        <p:blipFill>
          <a:blip r:embed="rId6"/>
          <a:stretch>
            <a:fillRect/>
          </a:stretch>
        </p:blipFill>
        <p:spPr>
          <a:xfrm>
            <a:off x="9545955" y="5874901"/>
            <a:ext cx="4461748" cy="622697"/>
          </a:xfrm>
          <a:prstGeom prst="rect">
            <a:avLst/>
          </a:prstGeom>
        </p:spPr>
      </p:pic>
      <p:sp>
        <p:nvSpPr>
          <p:cNvPr id="13" name="Text 7"/>
          <p:cNvSpPr/>
          <p:nvPr/>
        </p:nvSpPr>
        <p:spPr>
          <a:xfrm>
            <a:off x="9701570" y="6653213"/>
            <a:ext cx="2237899" cy="290989"/>
          </a:xfrm>
          <a:prstGeom prst="rect">
            <a:avLst/>
          </a:prstGeom>
          <a:noFill/>
          <a:ln/>
        </p:spPr>
        <p:txBody>
          <a:bodyPr wrap="none" lIns="0" tIns="0" rIns="0" bIns="0" rtlCol="0" anchor="t"/>
          <a:lstStyle/>
          <a:p>
            <a:pPr marL="0" indent="0" algn="l">
              <a:lnSpc>
                <a:spcPts val="2250"/>
              </a:lnSpc>
              <a:buNone/>
            </a:pPr>
            <a:r>
              <a:rPr lang="en-US" sz="2000" dirty="0">
                <a:solidFill>
                  <a:srgbClr val="67534F"/>
                </a:solidFill>
                <a:latin typeface="Marcellus" pitchFamily="34" charset="0"/>
                <a:ea typeface="Marcellus" pitchFamily="34" charset="-122"/>
                <a:cs typeface="Marcellus" pitchFamily="34" charset="-120"/>
              </a:rPr>
              <a:t>Creates Transparency</a:t>
            </a:r>
            <a:endParaRPr lang="en-US" sz="2000" dirty="0"/>
          </a:p>
        </p:txBody>
      </p:sp>
      <p:sp>
        <p:nvSpPr>
          <p:cNvPr id="14" name="Text 8"/>
          <p:cNvSpPr/>
          <p:nvPr/>
        </p:nvSpPr>
        <p:spPr>
          <a:xfrm>
            <a:off x="9701570" y="7037546"/>
            <a:ext cx="4150519" cy="607219"/>
          </a:xfrm>
          <a:prstGeom prst="rect">
            <a:avLst/>
          </a:prstGeom>
          <a:noFill/>
          <a:ln/>
        </p:spPr>
        <p:txBody>
          <a:bodyPr wrap="square" lIns="0" tIns="0" rIns="0" bIns="0" rtlCol="0" anchor="t"/>
          <a:lstStyle/>
          <a:p>
            <a:pPr marL="0" indent="0" algn="l">
              <a:lnSpc>
                <a:spcPts val="1550"/>
              </a:lnSpc>
              <a:buNone/>
            </a:pPr>
            <a:r>
              <a:rPr lang="en-US" sz="1550" dirty="0">
                <a:solidFill>
                  <a:srgbClr val="67534F"/>
                </a:solidFill>
                <a:latin typeface="Montserrat" pitchFamily="34" charset="0"/>
                <a:ea typeface="Montserrat" pitchFamily="34" charset="-122"/>
                <a:cs typeface="Montserrat" pitchFamily="34" charset="-120"/>
              </a:rPr>
              <a:t>Everyone can see the status and history of policies and claims, building trust through visibility and accountability.</a:t>
            </a:r>
            <a:endParaRPr lang="en-US" sz="1550" dirty="0"/>
          </a:p>
        </p:txBody>
      </p:sp>
      <p:pic>
        <p:nvPicPr>
          <p:cNvPr id="16" name="Picture 15">
            <a:extLst>
              <a:ext uri="{FF2B5EF4-FFF2-40B4-BE49-F238E27FC236}">
                <a16:creationId xmlns:a16="http://schemas.microsoft.com/office/drawing/2014/main" id="{35302393-82DD-B731-D3FA-EFCEEC5BBAD0}"/>
              </a:ext>
            </a:extLst>
          </p:cNvPr>
          <p:cNvPicPr>
            <a:picLocks noChangeAspect="1"/>
          </p:cNvPicPr>
          <p:nvPr/>
        </p:nvPicPr>
        <p:blipFill>
          <a:blip r:embed="rId7"/>
          <a:stretch>
            <a:fillRect/>
          </a:stretch>
        </p:blipFill>
        <p:spPr>
          <a:xfrm>
            <a:off x="11647155" y="7738109"/>
            <a:ext cx="2983245" cy="4414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23900"/>
            <a:ext cx="7494032"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Key Applications in Insurance</a:t>
            </a:r>
            <a:endParaRPr lang="en-US" sz="44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1862495"/>
            <a:ext cx="595313" cy="595313"/>
          </a:xfrm>
          <a:prstGeom prst="rect">
            <a:avLst/>
          </a:prstGeom>
        </p:spPr>
      </p:pic>
      <p:sp>
        <p:nvSpPr>
          <p:cNvPr id="4" name="Text 1"/>
          <p:cNvSpPr/>
          <p:nvPr/>
        </p:nvSpPr>
        <p:spPr>
          <a:xfrm>
            <a:off x="793790" y="2705814"/>
            <a:ext cx="3802380"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Automated Claims Processing</a:t>
            </a:r>
            <a:endParaRPr lang="en-US" sz="2200" dirty="0"/>
          </a:p>
        </p:txBody>
      </p:sp>
      <p:sp>
        <p:nvSpPr>
          <p:cNvPr id="5" name="Text 2"/>
          <p:cNvSpPr/>
          <p:nvPr/>
        </p:nvSpPr>
        <p:spPr>
          <a:xfrm>
            <a:off x="793790" y="3195638"/>
            <a:ext cx="6397347"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Smart contracts trigger automatic payouts when conditions are met. For example, flight delay insurance can automatically pay you the moment your flight is officially delayed, verified through airline data feeds. No forms, no waiting, no hassle.</a:t>
            </a:r>
            <a:endParaRPr lang="en-US" sz="15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9144" y="1862495"/>
            <a:ext cx="595313" cy="595313"/>
          </a:xfrm>
          <a:prstGeom prst="rect">
            <a:avLst/>
          </a:prstGeom>
        </p:spPr>
      </p:pic>
      <p:sp>
        <p:nvSpPr>
          <p:cNvPr id="7" name="Text 3"/>
          <p:cNvSpPr/>
          <p:nvPr/>
        </p:nvSpPr>
        <p:spPr>
          <a:xfrm>
            <a:off x="7439144" y="2705814"/>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Fraud Detection</a:t>
            </a:r>
            <a:endParaRPr lang="en-US" sz="2200" dirty="0"/>
          </a:p>
        </p:txBody>
      </p:sp>
      <p:sp>
        <p:nvSpPr>
          <p:cNvPr id="8" name="Text 4"/>
          <p:cNvSpPr/>
          <p:nvPr/>
        </p:nvSpPr>
        <p:spPr>
          <a:xfrm>
            <a:off x="7439144" y="3195638"/>
            <a:ext cx="6397466"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Blockchain creates a shared database of all claims across insurers. If someone tries to claim the same accident twice with different companies, the system immediately flags it. Pattern recognition algorithms spot suspicious behavior across the entire network.</a:t>
            </a:r>
            <a:endParaRPr lang="en-US" sz="15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882515"/>
            <a:ext cx="595313" cy="595313"/>
          </a:xfrm>
          <a:prstGeom prst="rect">
            <a:avLst/>
          </a:prstGeom>
        </p:spPr>
      </p:pic>
      <p:sp>
        <p:nvSpPr>
          <p:cNvPr id="10" name="Text 5"/>
          <p:cNvSpPr/>
          <p:nvPr/>
        </p:nvSpPr>
        <p:spPr>
          <a:xfrm>
            <a:off x="793790" y="5725835"/>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Smart Contracts</a:t>
            </a:r>
            <a:endParaRPr lang="en-US" sz="2200" dirty="0"/>
          </a:p>
        </p:txBody>
      </p:sp>
      <p:sp>
        <p:nvSpPr>
          <p:cNvPr id="11" name="Text 6"/>
          <p:cNvSpPr/>
          <p:nvPr/>
        </p:nvSpPr>
        <p:spPr>
          <a:xfrm>
            <a:off x="793790" y="6215658"/>
            <a:ext cx="6397347"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These are self-executing agreements written in code. When predetermined conditions are met, the contract automatically executes without human intervention. Think "if this happens, then pay that amount" encoded into an unstoppable program.</a:t>
            </a:r>
            <a:endParaRPr lang="en-US" sz="15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44" y="4882515"/>
            <a:ext cx="595313" cy="595313"/>
          </a:xfrm>
          <a:prstGeom prst="rect">
            <a:avLst/>
          </a:prstGeom>
        </p:spPr>
      </p:pic>
      <p:sp>
        <p:nvSpPr>
          <p:cNvPr id="13" name="Text 7"/>
          <p:cNvSpPr/>
          <p:nvPr/>
        </p:nvSpPr>
        <p:spPr>
          <a:xfrm>
            <a:off x="7439144" y="5725835"/>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Identity Verification</a:t>
            </a:r>
            <a:endParaRPr lang="en-US" sz="2200" dirty="0"/>
          </a:p>
        </p:txBody>
      </p:sp>
      <p:sp>
        <p:nvSpPr>
          <p:cNvPr id="14" name="Text 8"/>
          <p:cNvSpPr/>
          <p:nvPr/>
        </p:nvSpPr>
        <p:spPr>
          <a:xfrm>
            <a:off x="7439144" y="6215658"/>
            <a:ext cx="6397466" cy="1290042"/>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Your identity and insurance history are stored securely on the blockchain. When applying for new coverage, insurers can instantly verify your information without requesting mountains of documentation. Your data stays with you and under your control.</a:t>
            </a:r>
            <a:endParaRPr lang="en-US" sz="1550" dirty="0"/>
          </a:p>
        </p:txBody>
      </p:sp>
      <p:pic>
        <p:nvPicPr>
          <p:cNvPr id="16" name="Picture 15">
            <a:extLst>
              <a:ext uri="{FF2B5EF4-FFF2-40B4-BE49-F238E27FC236}">
                <a16:creationId xmlns:a16="http://schemas.microsoft.com/office/drawing/2014/main" id="{05E3A6F6-94C3-F495-CF9B-CF48E3A4DE94}"/>
              </a:ext>
            </a:extLst>
          </p:cNvPr>
          <p:cNvPicPr>
            <a:picLocks noChangeAspect="1"/>
          </p:cNvPicPr>
          <p:nvPr/>
        </p:nvPicPr>
        <p:blipFill>
          <a:blip r:embed="rId11"/>
          <a:stretch>
            <a:fillRect/>
          </a:stretch>
        </p:blipFill>
        <p:spPr>
          <a:xfrm>
            <a:off x="12390635" y="7769327"/>
            <a:ext cx="2239766" cy="3314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09819"/>
            <a:ext cx="6809899"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Real-World Success Stories</a:t>
            </a:r>
            <a:endParaRPr lang="en-US" sz="4450" dirty="0"/>
          </a:p>
        </p:txBody>
      </p:sp>
      <p:sp>
        <p:nvSpPr>
          <p:cNvPr id="3" name="Text 1"/>
          <p:cNvSpPr/>
          <p:nvPr/>
        </p:nvSpPr>
        <p:spPr>
          <a:xfrm>
            <a:off x="793671" y="2627422"/>
            <a:ext cx="13042821" cy="516017"/>
          </a:xfrm>
          <a:prstGeom prst="rect">
            <a:avLst/>
          </a:prstGeom>
          <a:noFill/>
          <a:ln/>
        </p:spPr>
        <p:txBody>
          <a:bodyPr wrap="square" lIns="0" tIns="0" rIns="0" bIns="0" rtlCol="0" anchor="t"/>
          <a:lstStyle/>
          <a:p>
            <a:pPr marL="0" indent="0" algn="l">
              <a:lnSpc>
                <a:spcPts val="2000"/>
              </a:lnSpc>
              <a:buNone/>
            </a:pPr>
            <a:r>
              <a:rPr lang="en-US" sz="2000" dirty="0">
                <a:solidFill>
                  <a:srgbClr val="67534F"/>
                </a:solidFill>
                <a:latin typeface="Montserrat" pitchFamily="34" charset="0"/>
                <a:ea typeface="Montserrat" pitchFamily="34" charset="-122"/>
                <a:cs typeface="Montserrat" pitchFamily="34" charset="-120"/>
              </a:rPr>
              <a:t>Major companies are already using blockchain to revolutionize insurance, moving from theory to practical applications that save money and improve customer experiences.</a:t>
            </a:r>
            <a:endParaRPr lang="en-US" sz="2000" dirty="0"/>
          </a:p>
        </p:txBody>
      </p:sp>
      <p:sp>
        <p:nvSpPr>
          <p:cNvPr id="4" name="Shape 2"/>
          <p:cNvSpPr/>
          <p:nvPr/>
        </p:nvSpPr>
        <p:spPr>
          <a:xfrm>
            <a:off x="793790" y="3650884"/>
            <a:ext cx="4215289" cy="3982368"/>
          </a:xfrm>
          <a:prstGeom prst="roundRect">
            <a:avLst>
              <a:gd name="adj" fmla="val 2360"/>
            </a:avLst>
          </a:prstGeom>
          <a:solidFill>
            <a:srgbClr val="FFFFF4"/>
          </a:solidFill>
          <a:ln w="22860">
            <a:solidFill>
              <a:srgbClr val="FFE0CC"/>
            </a:solidFill>
            <a:prstDash val="solid"/>
          </a:ln>
        </p:spPr>
        <p:txBody>
          <a:bodyPr/>
          <a:lstStyle/>
          <a:p>
            <a:endParaRPr lang="en-IN"/>
          </a:p>
        </p:txBody>
      </p:sp>
      <p:sp>
        <p:nvSpPr>
          <p:cNvPr id="5" name="Shape 3"/>
          <p:cNvSpPr/>
          <p:nvPr/>
        </p:nvSpPr>
        <p:spPr>
          <a:xfrm>
            <a:off x="1015008" y="3872102"/>
            <a:ext cx="595313" cy="595313"/>
          </a:xfrm>
          <a:prstGeom prst="roundRect">
            <a:avLst>
              <a:gd name="adj" fmla="val 15358451"/>
            </a:avLst>
          </a:prstGeom>
          <a:solidFill>
            <a:srgbClr val="FF954F"/>
          </a:solidFill>
          <a:ln/>
        </p:spPr>
        <p:txBody>
          <a:bodyPr/>
          <a:lstStyle/>
          <a:p>
            <a:endParaRPr lang="en-IN"/>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8719" y="4035694"/>
            <a:ext cx="267891" cy="267891"/>
          </a:xfrm>
          <a:prstGeom prst="rect">
            <a:avLst/>
          </a:prstGeom>
        </p:spPr>
      </p:pic>
      <p:sp>
        <p:nvSpPr>
          <p:cNvPr id="7" name="Text 4"/>
          <p:cNvSpPr/>
          <p:nvPr/>
        </p:nvSpPr>
        <p:spPr>
          <a:xfrm>
            <a:off x="1015008" y="466577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Etherisc</a:t>
            </a:r>
            <a:endParaRPr lang="en-US" sz="2200" dirty="0"/>
          </a:p>
        </p:txBody>
      </p:sp>
      <p:sp>
        <p:nvSpPr>
          <p:cNvPr id="8" name="Text 5"/>
          <p:cNvSpPr/>
          <p:nvPr/>
        </p:nvSpPr>
        <p:spPr>
          <a:xfrm>
            <a:off x="1015008" y="5155596"/>
            <a:ext cx="3772853" cy="1806059"/>
          </a:xfrm>
          <a:prstGeom prst="rect">
            <a:avLst/>
          </a:prstGeom>
          <a:noFill/>
          <a:ln/>
        </p:spPr>
        <p:txBody>
          <a:bodyPr wrap="square" lIns="0" tIns="0" rIns="0" bIns="0" rtlCol="0" anchor="t"/>
          <a:lstStyle/>
          <a:p>
            <a:pPr marL="0" indent="0" algn="l">
              <a:lnSpc>
                <a:spcPts val="2000"/>
              </a:lnSpc>
              <a:buNone/>
            </a:pPr>
            <a:r>
              <a:rPr lang="en-US" dirty="0">
                <a:solidFill>
                  <a:srgbClr val="67534F"/>
                </a:solidFill>
                <a:latin typeface="Montserrat" pitchFamily="34" charset="0"/>
                <a:ea typeface="Montserrat" pitchFamily="34" charset="-122"/>
                <a:cs typeface="Montserrat" pitchFamily="34" charset="-120"/>
              </a:rPr>
              <a:t>This platform offers automated flight delay insurance. Purchase coverage in seconds, and if your flight is delayed beyond the threshold, payment hits your wallet automatically. Over 15,000 policies have been processed with zero paperwork.</a:t>
            </a:r>
            <a:endParaRPr lang="en-US" dirty="0"/>
          </a:p>
        </p:txBody>
      </p:sp>
      <p:sp>
        <p:nvSpPr>
          <p:cNvPr id="9" name="Shape 6"/>
          <p:cNvSpPr/>
          <p:nvPr/>
        </p:nvSpPr>
        <p:spPr>
          <a:xfrm>
            <a:off x="5207437" y="3650884"/>
            <a:ext cx="4215408" cy="3982368"/>
          </a:xfrm>
          <a:prstGeom prst="roundRect">
            <a:avLst>
              <a:gd name="adj" fmla="val 2360"/>
            </a:avLst>
          </a:prstGeom>
          <a:solidFill>
            <a:srgbClr val="FFFFF4"/>
          </a:solidFill>
          <a:ln w="22860">
            <a:solidFill>
              <a:srgbClr val="FFE0CC"/>
            </a:solidFill>
            <a:prstDash val="solid"/>
          </a:ln>
        </p:spPr>
        <p:txBody>
          <a:bodyPr/>
          <a:lstStyle/>
          <a:p>
            <a:endParaRPr lang="en-IN"/>
          </a:p>
        </p:txBody>
      </p:sp>
      <p:sp>
        <p:nvSpPr>
          <p:cNvPr id="10" name="Shape 7"/>
          <p:cNvSpPr/>
          <p:nvPr/>
        </p:nvSpPr>
        <p:spPr>
          <a:xfrm>
            <a:off x="5428655" y="3872102"/>
            <a:ext cx="595313" cy="595313"/>
          </a:xfrm>
          <a:prstGeom prst="roundRect">
            <a:avLst>
              <a:gd name="adj" fmla="val 15358451"/>
            </a:avLst>
          </a:prstGeom>
          <a:solidFill>
            <a:srgbClr val="FF954F"/>
          </a:solidFill>
          <a:ln/>
        </p:spPr>
        <p:txBody>
          <a:bodyPr/>
          <a:lstStyle/>
          <a:p>
            <a:endParaRPr lang="en-IN"/>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92366" y="4035694"/>
            <a:ext cx="267891" cy="267891"/>
          </a:xfrm>
          <a:prstGeom prst="rect">
            <a:avLst/>
          </a:prstGeom>
        </p:spPr>
      </p:pic>
      <p:sp>
        <p:nvSpPr>
          <p:cNvPr id="12" name="Text 8"/>
          <p:cNvSpPr/>
          <p:nvPr/>
        </p:nvSpPr>
        <p:spPr>
          <a:xfrm>
            <a:off x="5428655" y="4665773"/>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B3i Consortium</a:t>
            </a:r>
            <a:endParaRPr lang="en-US" sz="2200" dirty="0"/>
          </a:p>
        </p:txBody>
      </p:sp>
      <p:sp>
        <p:nvSpPr>
          <p:cNvPr id="13" name="Text 9"/>
          <p:cNvSpPr/>
          <p:nvPr/>
        </p:nvSpPr>
        <p:spPr>
          <a:xfrm>
            <a:off x="5428655" y="5155596"/>
            <a:ext cx="3772972" cy="1806059"/>
          </a:xfrm>
          <a:prstGeom prst="rect">
            <a:avLst/>
          </a:prstGeom>
          <a:noFill/>
          <a:ln/>
        </p:spPr>
        <p:txBody>
          <a:bodyPr wrap="square" lIns="0" tIns="0" rIns="0" bIns="0" rtlCol="0" anchor="t"/>
          <a:lstStyle/>
          <a:p>
            <a:pPr marL="0" indent="0" algn="l">
              <a:lnSpc>
                <a:spcPts val="2000"/>
              </a:lnSpc>
              <a:buNone/>
            </a:pPr>
            <a:r>
              <a:rPr lang="en-US" dirty="0">
                <a:solidFill>
                  <a:srgbClr val="67534F"/>
                </a:solidFill>
                <a:latin typeface="Montserrat" pitchFamily="34" charset="0"/>
                <a:ea typeface="Montserrat" pitchFamily="34" charset="-122"/>
                <a:cs typeface="Montserrat" pitchFamily="34" charset="-120"/>
              </a:rPr>
              <a:t>A consortium of 40+ major insurers including Allianz, Swiss Re, and Munich Re. They've developed blockchain solutions for complex commercial insurance, reducing processing time by 80% and cutting administrative costs dramatically.</a:t>
            </a:r>
            <a:endParaRPr lang="en-US" dirty="0"/>
          </a:p>
        </p:txBody>
      </p:sp>
      <p:sp>
        <p:nvSpPr>
          <p:cNvPr id="14" name="Shape 10"/>
          <p:cNvSpPr/>
          <p:nvPr/>
        </p:nvSpPr>
        <p:spPr>
          <a:xfrm>
            <a:off x="9621203" y="3650884"/>
            <a:ext cx="4215289" cy="3982368"/>
          </a:xfrm>
          <a:prstGeom prst="roundRect">
            <a:avLst>
              <a:gd name="adj" fmla="val 2360"/>
            </a:avLst>
          </a:prstGeom>
          <a:solidFill>
            <a:srgbClr val="FFFFF4"/>
          </a:solidFill>
          <a:ln w="22860">
            <a:solidFill>
              <a:srgbClr val="FFE0CC"/>
            </a:solidFill>
            <a:prstDash val="solid"/>
          </a:ln>
        </p:spPr>
        <p:txBody>
          <a:bodyPr/>
          <a:lstStyle/>
          <a:p>
            <a:endParaRPr lang="en-IN"/>
          </a:p>
        </p:txBody>
      </p:sp>
      <p:sp>
        <p:nvSpPr>
          <p:cNvPr id="15" name="Shape 11"/>
          <p:cNvSpPr/>
          <p:nvPr/>
        </p:nvSpPr>
        <p:spPr>
          <a:xfrm>
            <a:off x="9842421" y="3872102"/>
            <a:ext cx="595313" cy="595313"/>
          </a:xfrm>
          <a:prstGeom prst="roundRect">
            <a:avLst>
              <a:gd name="adj" fmla="val 15358451"/>
            </a:avLst>
          </a:prstGeom>
          <a:solidFill>
            <a:srgbClr val="FF954F"/>
          </a:solidFill>
          <a:ln/>
        </p:spPr>
        <p:txBody>
          <a:bodyPr/>
          <a:lstStyle/>
          <a:p>
            <a:endParaRPr lang="en-IN"/>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132" y="4035694"/>
            <a:ext cx="267891" cy="267891"/>
          </a:xfrm>
          <a:prstGeom prst="rect">
            <a:avLst/>
          </a:prstGeom>
        </p:spPr>
      </p:pic>
      <p:sp>
        <p:nvSpPr>
          <p:cNvPr id="17" name="Text 12"/>
          <p:cNvSpPr/>
          <p:nvPr/>
        </p:nvSpPr>
        <p:spPr>
          <a:xfrm>
            <a:off x="9842421" y="4665773"/>
            <a:ext cx="3007995" cy="370761"/>
          </a:xfrm>
          <a:prstGeom prst="rect">
            <a:avLst/>
          </a:prstGeom>
          <a:noFill/>
          <a:ln/>
        </p:spPr>
        <p:txBody>
          <a:bodyPr wrap="none" lIns="0" tIns="0" rIns="0" bIns="0" rtlCol="0" anchor="t"/>
          <a:lstStyle/>
          <a:p>
            <a:pPr marL="0" indent="0" algn="l">
              <a:lnSpc>
                <a:spcPts val="2900"/>
              </a:lnSpc>
              <a:buNone/>
            </a:pPr>
            <a:r>
              <a:rPr lang="en-US" sz="2200" dirty="0">
                <a:solidFill>
                  <a:srgbClr val="67534F"/>
                </a:solidFill>
                <a:latin typeface="Marcellus" pitchFamily="34" charset="0"/>
                <a:ea typeface="Marcellus" pitchFamily="34" charset="-122"/>
                <a:cs typeface="Marcellus" pitchFamily="34" charset="-120"/>
              </a:rPr>
              <a:t>IBM Insurance Platform</a:t>
            </a:r>
            <a:endParaRPr lang="en-US" sz="2200" dirty="0"/>
          </a:p>
        </p:txBody>
      </p:sp>
      <p:sp>
        <p:nvSpPr>
          <p:cNvPr id="18" name="Text 13"/>
          <p:cNvSpPr/>
          <p:nvPr/>
        </p:nvSpPr>
        <p:spPr>
          <a:xfrm>
            <a:off x="9842421" y="5155596"/>
            <a:ext cx="3772853" cy="1806059"/>
          </a:xfrm>
          <a:prstGeom prst="rect">
            <a:avLst/>
          </a:prstGeom>
          <a:noFill/>
          <a:ln/>
        </p:spPr>
        <p:txBody>
          <a:bodyPr wrap="square" lIns="0" tIns="0" rIns="0" bIns="0" rtlCol="0" anchor="t"/>
          <a:lstStyle/>
          <a:p>
            <a:pPr marL="0" indent="0" algn="l">
              <a:lnSpc>
                <a:spcPts val="2000"/>
              </a:lnSpc>
              <a:buNone/>
            </a:pPr>
            <a:r>
              <a:rPr lang="en-US" dirty="0">
                <a:solidFill>
                  <a:srgbClr val="67534F"/>
                </a:solidFill>
                <a:latin typeface="Montserrat" pitchFamily="34" charset="0"/>
                <a:ea typeface="Montserrat" pitchFamily="34" charset="-122"/>
                <a:cs typeface="Montserrat" pitchFamily="34" charset="-120"/>
              </a:rPr>
              <a:t>IBM's blockchain platform helps insurers manage policies and claims with unprecedented efficiency. Their system processes subrogation claims between insurance companies in days instead of months, with complete transparency for all parties.</a:t>
            </a:r>
            <a:endParaRPr lang="en-US" dirty="0"/>
          </a:p>
        </p:txBody>
      </p:sp>
      <p:pic>
        <p:nvPicPr>
          <p:cNvPr id="19" name="Picture 18">
            <a:extLst>
              <a:ext uri="{FF2B5EF4-FFF2-40B4-BE49-F238E27FC236}">
                <a16:creationId xmlns:a16="http://schemas.microsoft.com/office/drawing/2014/main" id="{D01BD975-9552-9847-0D76-24C7B8126D09}"/>
              </a:ext>
            </a:extLst>
          </p:cNvPr>
          <p:cNvPicPr>
            <a:picLocks noChangeAspect="1"/>
          </p:cNvPicPr>
          <p:nvPr/>
        </p:nvPicPr>
        <p:blipFill>
          <a:blip r:embed="rId9"/>
          <a:stretch>
            <a:fillRect/>
          </a:stretch>
        </p:blipFill>
        <p:spPr>
          <a:xfrm>
            <a:off x="12390635" y="7769327"/>
            <a:ext cx="2239766" cy="3314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01691"/>
          </a:xfrm>
          <a:prstGeom prst="rect">
            <a:avLst/>
          </a:prstGeom>
        </p:spPr>
      </p:pic>
      <p:sp>
        <p:nvSpPr>
          <p:cNvPr id="3" name="Text 0"/>
          <p:cNvSpPr/>
          <p:nvPr/>
        </p:nvSpPr>
        <p:spPr>
          <a:xfrm>
            <a:off x="640556" y="2441972"/>
            <a:ext cx="6264593" cy="598527"/>
          </a:xfrm>
          <a:prstGeom prst="rect">
            <a:avLst/>
          </a:prstGeom>
          <a:noFill/>
          <a:ln/>
        </p:spPr>
        <p:txBody>
          <a:bodyPr wrap="none" lIns="0" tIns="0" rIns="0" bIns="0" rtlCol="0" anchor="t"/>
          <a:lstStyle/>
          <a:p>
            <a:pPr marL="0" indent="0" algn="l">
              <a:lnSpc>
                <a:spcPts val="4700"/>
              </a:lnSpc>
              <a:buNone/>
            </a:pPr>
            <a:r>
              <a:rPr lang="en-US" sz="3600" dirty="0">
                <a:solidFill>
                  <a:srgbClr val="532418"/>
                </a:solidFill>
                <a:latin typeface="Marcellus" pitchFamily="34" charset="0"/>
                <a:ea typeface="Marcellus" pitchFamily="34" charset="-122"/>
                <a:cs typeface="Marcellus" pitchFamily="34" charset="-120"/>
              </a:rPr>
              <a:t>Benefits for Everyone Involved</a:t>
            </a:r>
            <a:endParaRPr lang="en-US" sz="3600" dirty="0"/>
          </a:p>
        </p:txBody>
      </p:sp>
      <p:sp>
        <p:nvSpPr>
          <p:cNvPr id="4" name="Text 1"/>
          <p:cNvSpPr/>
          <p:nvPr/>
        </p:nvSpPr>
        <p:spPr>
          <a:xfrm>
            <a:off x="640556" y="3440787"/>
            <a:ext cx="2762369" cy="359092"/>
          </a:xfrm>
          <a:prstGeom prst="rect">
            <a:avLst/>
          </a:prstGeom>
          <a:noFill/>
          <a:ln/>
        </p:spPr>
        <p:txBody>
          <a:bodyPr wrap="none" lIns="0" tIns="0" rIns="0" bIns="0" rtlCol="0" anchor="t"/>
          <a:lstStyle/>
          <a:p>
            <a:pPr marL="0" indent="0" algn="l">
              <a:lnSpc>
                <a:spcPts val="2800"/>
              </a:lnSpc>
              <a:buNone/>
            </a:pPr>
            <a:r>
              <a:rPr lang="en-US" sz="2150" dirty="0">
                <a:solidFill>
                  <a:srgbClr val="532418"/>
                </a:solidFill>
                <a:latin typeface="Marcellus" pitchFamily="34" charset="0"/>
                <a:ea typeface="Marcellus" pitchFamily="34" charset="-122"/>
                <a:cs typeface="Marcellus" pitchFamily="34" charset="-120"/>
              </a:rPr>
              <a:t>For Customers </a:t>
            </a:r>
            <a:r>
              <a:rPr lang="en-US" sz="2150" dirty="0">
                <a:solidFill>
                  <a:srgbClr val="000000"/>
                </a:solidFill>
                <a:latin typeface="Marcellus" pitchFamily="34" charset="0"/>
                <a:ea typeface="Marcellus" pitchFamily="34" charset="-122"/>
                <a:cs typeface="Marcellus" pitchFamily="34" charset="-120"/>
              </a:rPr>
              <a:t>🙂</a:t>
            </a:r>
            <a:endParaRPr lang="en-US" sz="2150" dirty="0"/>
          </a:p>
        </p:txBody>
      </p:sp>
      <p:sp>
        <p:nvSpPr>
          <p:cNvPr id="5" name="Shape 2"/>
          <p:cNvSpPr/>
          <p:nvPr/>
        </p:nvSpPr>
        <p:spPr>
          <a:xfrm>
            <a:off x="640556" y="4070033"/>
            <a:ext cx="80010" cy="80010"/>
          </a:xfrm>
          <a:prstGeom prst="roundRect">
            <a:avLst>
              <a:gd name="adj" fmla="val 571429"/>
            </a:avLst>
          </a:prstGeom>
          <a:solidFill>
            <a:srgbClr val="FF954F"/>
          </a:solidFill>
          <a:ln/>
        </p:spPr>
        <p:txBody>
          <a:bodyPr/>
          <a:lstStyle/>
          <a:p>
            <a:endParaRPr lang="en-IN"/>
          </a:p>
        </p:txBody>
      </p:sp>
      <p:sp>
        <p:nvSpPr>
          <p:cNvPr id="6" name="Text 3"/>
          <p:cNvSpPr/>
          <p:nvPr/>
        </p:nvSpPr>
        <p:spPr>
          <a:xfrm>
            <a:off x="880705" y="3980021"/>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Lightning-fast payouts</a:t>
            </a:r>
            <a:endParaRPr lang="en-US" sz="1800" dirty="0"/>
          </a:p>
        </p:txBody>
      </p:sp>
      <p:sp>
        <p:nvSpPr>
          <p:cNvPr id="7" name="Text 4"/>
          <p:cNvSpPr/>
          <p:nvPr/>
        </p:nvSpPr>
        <p:spPr>
          <a:xfrm>
            <a:off x="880705" y="4439245"/>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Get your money in minutes instead of weeks when you need it most</a:t>
            </a:r>
            <a:endParaRPr lang="en-US" sz="1250" dirty="0"/>
          </a:p>
        </p:txBody>
      </p:sp>
      <p:sp>
        <p:nvSpPr>
          <p:cNvPr id="8" name="Shape 5"/>
          <p:cNvSpPr/>
          <p:nvPr/>
        </p:nvSpPr>
        <p:spPr>
          <a:xfrm>
            <a:off x="640556" y="5057656"/>
            <a:ext cx="80010" cy="80010"/>
          </a:xfrm>
          <a:prstGeom prst="roundRect">
            <a:avLst>
              <a:gd name="adj" fmla="val 571429"/>
            </a:avLst>
          </a:prstGeom>
          <a:solidFill>
            <a:srgbClr val="FF954F"/>
          </a:solidFill>
          <a:ln/>
        </p:spPr>
        <p:txBody>
          <a:bodyPr/>
          <a:lstStyle/>
          <a:p>
            <a:endParaRPr lang="en-IN"/>
          </a:p>
        </p:txBody>
      </p:sp>
      <p:sp>
        <p:nvSpPr>
          <p:cNvPr id="9" name="Text 6"/>
          <p:cNvSpPr/>
          <p:nvPr/>
        </p:nvSpPr>
        <p:spPr>
          <a:xfrm>
            <a:off x="880705" y="4967645"/>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Lower premiums</a:t>
            </a:r>
            <a:endParaRPr lang="en-US" sz="1800" dirty="0"/>
          </a:p>
        </p:txBody>
      </p:sp>
      <p:sp>
        <p:nvSpPr>
          <p:cNvPr id="10" name="Text 7"/>
          <p:cNvSpPr/>
          <p:nvPr/>
        </p:nvSpPr>
        <p:spPr>
          <a:xfrm>
            <a:off x="880705" y="5426869"/>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Reduced fraud and administrative costs mean savings passed to you</a:t>
            </a:r>
            <a:endParaRPr lang="en-US" sz="1250" dirty="0"/>
          </a:p>
        </p:txBody>
      </p:sp>
      <p:sp>
        <p:nvSpPr>
          <p:cNvPr id="11" name="Shape 8"/>
          <p:cNvSpPr/>
          <p:nvPr/>
        </p:nvSpPr>
        <p:spPr>
          <a:xfrm>
            <a:off x="640556" y="6045279"/>
            <a:ext cx="80010" cy="80010"/>
          </a:xfrm>
          <a:prstGeom prst="roundRect">
            <a:avLst>
              <a:gd name="adj" fmla="val 571429"/>
            </a:avLst>
          </a:prstGeom>
          <a:solidFill>
            <a:srgbClr val="FF954F"/>
          </a:solidFill>
          <a:ln/>
        </p:spPr>
        <p:txBody>
          <a:bodyPr/>
          <a:lstStyle/>
          <a:p>
            <a:endParaRPr lang="en-IN"/>
          </a:p>
        </p:txBody>
      </p:sp>
      <p:sp>
        <p:nvSpPr>
          <p:cNvPr id="12" name="Text 9"/>
          <p:cNvSpPr/>
          <p:nvPr/>
        </p:nvSpPr>
        <p:spPr>
          <a:xfrm>
            <a:off x="880705" y="5955268"/>
            <a:ext cx="2429947"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Complete transparency</a:t>
            </a:r>
            <a:endParaRPr lang="en-US" sz="1800" dirty="0"/>
          </a:p>
        </p:txBody>
      </p:sp>
      <p:sp>
        <p:nvSpPr>
          <p:cNvPr id="13" name="Text 10"/>
          <p:cNvSpPr/>
          <p:nvPr/>
        </p:nvSpPr>
        <p:spPr>
          <a:xfrm>
            <a:off x="880705" y="6414492"/>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See exactly what you're paying for and track your claim every step</a:t>
            </a:r>
            <a:endParaRPr lang="en-US" sz="1250" dirty="0"/>
          </a:p>
        </p:txBody>
      </p:sp>
      <p:sp>
        <p:nvSpPr>
          <p:cNvPr id="14" name="Shape 11"/>
          <p:cNvSpPr/>
          <p:nvPr/>
        </p:nvSpPr>
        <p:spPr>
          <a:xfrm>
            <a:off x="640556" y="7032903"/>
            <a:ext cx="80010" cy="80010"/>
          </a:xfrm>
          <a:prstGeom prst="roundRect">
            <a:avLst>
              <a:gd name="adj" fmla="val 571429"/>
            </a:avLst>
          </a:prstGeom>
          <a:solidFill>
            <a:srgbClr val="FF954F"/>
          </a:solidFill>
          <a:ln/>
        </p:spPr>
        <p:txBody>
          <a:bodyPr/>
          <a:lstStyle/>
          <a:p>
            <a:endParaRPr lang="en-IN"/>
          </a:p>
        </p:txBody>
      </p:sp>
      <p:sp>
        <p:nvSpPr>
          <p:cNvPr id="15" name="Text 12"/>
          <p:cNvSpPr/>
          <p:nvPr/>
        </p:nvSpPr>
        <p:spPr>
          <a:xfrm>
            <a:off x="880705" y="6942892"/>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Control your data</a:t>
            </a:r>
            <a:endParaRPr lang="en-US" sz="1800" dirty="0"/>
          </a:p>
        </p:txBody>
      </p:sp>
      <p:sp>
        <p:nvSpPr>
          <p:cNvPr id="16" name="Text 13"/>
          <p:cNvSpPr/>
          <p:nvPr/>
        </p:nvSpPr>
        <p:spPr>
          <a:xfrm>
            <a:off x="880705" y="7402116"/>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Your information stays with you, shared only when you choose</a:t>
            </a:r>
            <a:endParaRPr lang="en-US" sz="1250" dirty="0"/>
          </a:p>
        </p:txBody>
      </p:sp>
      <p:sp>
        <p:nvSpPr>
          <p:cNvPr id="17" name="Text 14"/>
          <p:cNvSpPr/>
          <p:nvPr/>
        </p:nvSpPr>
        <p:spPr>
          <a:xfrm>
            <a:off x="7518083" y="3440787"/>
            <a:ext cx="3535918" cy="359092"/>
          </a:xfrm>
          <a:prstGeom prst="rect">
            <a:avLst/>
          </a:prstGeom>
          <a:noFill/>
          <a:ln/>
        </p:spPr>
        <p:txBody>
          <a:bodyPr wrap="none" lIns="0" tIns="0" rIns="0" bIns="0" rtlCol="0" anchor="t"/>
          <a:lstStyle/>
          <a:p>
            <a:pPr marL="0" indent="0" algn="l">
              <a:lnSpc>
                <a:spcPts val="2800"/>
              </a:lnSpc>
              <a:buNone/>
            </a:pPr>
            <a:r>
              <a:rPr lang="en-US" sz="2150" dirty="0">
                <a:solidFill>
                  <a:srgbClr val="532418"/>
                </a:solidFill>
                <a:latin typeface="Marcellus" pitchFamily="34" charset="0"/>
                <a:ea typeface="Marcellus" pitchFamily="34" charset="-122"/>
                <a:cs typeface="Marcellus" pitchFamily="34" charset="-120"/>
              </a:rPr>
              <a:t>For Insurance Companies </a:t>
            </a:r>
            <a:r>
              <a:rPr lang="en-US" sz="2150" dirty="0">
                <a:solidFill>
                  <a:srgbClr val="000000"/>
                </a:solidFill>
                <a:latin typeface="Marcellus" pitchFamily="34" charset="0"/>
                <a:ea typeface="Marcellus" pitchFamily="34" charset="-122"/>
                <a:cs typeface="Marcellus" pitchFamily="34" charset="-120"/>
              </a:rPr>
              <a:t>📊</a:t>
            </a:r>
            <a:endParaRPr lang="en-US" sz="2150" dirty="0"/>
          </a:p>
        </p:txBody>
      </p:sp>
      <p:sp>
        <p:nvSpPr>
          <p:cNvPr id="18" name="Shape 15"/>
          <p:cNvSpPr/>
          <p:nvPr/>
        </p:nvSpPr>
        <p:spPr>
          <a:xfrm>
            <a:off x="7518083" y="4070033"/>
            <a:ext cx="80010" cy="80010"/>
          </a:xfrm>
          <a:prstGeom prst="roundRect">
            <a:avLst>
              <a:gd name="adj" fmla="val 571429"/>
            </a:avLst>
          </a:prstGeom>
          <a:solidFill>
            <a:srgbClr val="FF954F"/>
          </a:solidFill>
          <a:ln/>
        </p:spPr>
        <p:txBody>
          <a:bodyPr/>
          <a:lstStyle/>
          <a:p>
            <a:endParaRPr lang="en-IN"/>
          </a:p>
        </p:txBody>
      </p:sp>
      <p:sp>
        <p:nvSpPr>
          <p:cNvPr id="19" name="Text 16"/>
          <p:cNvSpPr/>
          <p:nvPr/>
        </p:nvSpPr>
        <p:spPr>
          <a:xfrm>
            <a:off x="7758232" y="3980021"/>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Massive cost savings</a:t>
            </a:r>
            <a:endParaRPr lang="en-US" sz="1800" dirty="0"/>
          </a:p>
        </p:txBody>
      </p:sp>
      <p:sp>
        <p:nvSpPr>
          <p:cNvPr id="20" name="Text 17"/>
          <p:cNvSpPr/>
          <p:nvPr/>
        </p:nvSpPr>
        <p:spPr>
          <a:xfrm>
            <a:off x="7758232" y="4439245"/>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Automation reduces operational expenses by up to 70%</a:t>
            </a:r>
            <a:endParaRPr lang="en-US" sz="1250" dirty="0"/>
          </a:p>
        </p:txBody>
      </p:sp>
      <p:sp>
        <p:nvSpPr>
          <p:cNvPr id="21" name="Shape 18"/>
          <p:cNvSpPr/>
          <p:nvPr/>
        </p:nvSpPr>
        <p:spPr>
          <a:xfrm>
            <a:off x="7518083" y="5057656"/>
            <a:ext cx="80010" cy="80010"/>
          </a:xfrm>
          <a:prstGeom prst="roundRect">
            <a:avLst>
              <a:gd name="adj" fmla="val 571429"/>
            </a:avLst>
          </a:prstGeom>
          <a:solidFill>
            <a:srgbClr val="FF954F"/>
          </a:solidFill>
          <a:ln/>
        </p:spPr>
        <p:txBody>
          <a:bodyPr/>
          <a:lstStyle/>
          <a:p>
            <a:endParaRPr lang="en-IN"/>
          </a:p>
        </p:txBody>
      </p:sp>
      <p:sp>
        <p:nvSpPr>
          <p:cNvPr id="22" name="Text 19"/>
          <p:cNvSpPr/>
          <p:nvPr/>
        </p:nvSpPr>
        <p:spPr>
          <a:xfrm>
            <a:off x="7758232" y="4967645"/>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Fraud elimination</a:t>
            </a:r>
            <a:endParaRPr lang="en-US" sz="1800" dirty="0"/>
          </a:p>
        </p:txBody>
      </p:sp>
      <p:sp>
        <p:nvSpPr>
          <p:cNvPr id="23" name="Text 20"/>
          <p:cNvSpPr/>
          <p:nvPr/>
        </p:nvSpPr>
        <p:spPr>
          <a:xfrm>
            <a:off x="7758232" y="5426869"/>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Save billions annually by preventing fraudulent claims before payout</a:t>
            </a:r>
            <a:endParaRPr lang="en-US" sz="1250" dirty="0"/>
          </a:p>
        </p:txBody>
      </p:sp>
      <p:sp>
        <p:nvSpPr>
          <p:cNvPr id="24" name="Shape 21"/>
          <p:cNvSpPr/>
          <p:nvPr/>
        </p:nvSpPr>
        <p:spPr>
          <a:xfrm>
            <a:off x="7518083" y="6045279"/>
            <a:ext cx="80010" cy="80010"/>
          </a:xfrm>
          <a:prstGeom prst="roundRect">
            <a:avLst>
              <a:gd name="adj" fmla="val 571429"/>
            </a:avLst>
          </a:prstGeom>
          <a:solidFill>
            <a:srgbClr val="FF954F"/>
          </a:solidFill>
          <a:ln/>
        </p:spPr>
        <p:txBody>
          <a:bodyPr/>
          <a:lstStyle/>
          <a:p>
            <a:endParaRPr lang="en-IN"/>
          </a:p>
        </p:txBody>
      </p:sp>
      <p:sp>
        <p:nvSpPr>
          <p:cNvPr id="25" name="Text 22"/>
          <p:cNvSpPr/>
          <p:nvPr/>
        </p:nvSpPr>
        <p:spPr>
          <a:xfrm>
            <a:off x="7758232" y="5955268"/>
            <a:ext cx="230195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Better customer trust</a:t>
            </a:r>
            <a:endParaRPr lang="en-US" sz="1800" dirty="0"/>
          </a:p>
        </p:txBody>
      </p:sp>
      <p:sp>
        <p:nvSpPr>
          <p:cNvPr id="26" name="Text 23"/>
          <p:cNvSpPr/>
          <p:nvPr/>
        </p:nvSpPr>
        <p:spPr>
          <a:xfrm>
            <a:off x="7758232" y="6414492"/>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Transparency and speed create loyalty and positive reputation</a:t>
            </a:r>
            <a:endParaRPr lang="en-US" sz="1250" dirty="0"/>
          </a:p>
        </p:txBody>
      </p:sp>
      <p:sp>
        <p:nvSpPr>
          <p:cNvPr id="27" name="Shape 24"/>
          <p:cNvSpPr/>
          <p:nvPr/>
        </p:nvSpPr>
        <p:spPr>
          <a:xfrm>
            <a:off x="7518083" y="7032903"/>
            <a:ext cx="80010" cy="80010"/>
          </a:xfrm>
          <a:prstGeom prst="roundRect">
            <a:avLst>
              <a:gd name="adj" fmla="val 571429"/>
            </a:avLst>
          </a:prstGeom>
          <a:solidFill>
            <a:srgbClr val="FF954F"/>
          </a:solidFill>
          <a:ln/>
        </p:spPr>
        <p:txBody>
          <a:bodyPr/>
          <a:lstStyle/>
          <a:p>
            <a:endParaRPr lang="en-IN"/>
          </a:p>
        </p:txBody>
      </p:sp>
      <p:sp>
        <p:nvSpPr>
          <p:cNvPr id="28" name="Text 25"/>
          <p:cNvSpPr/>
          <p:nvPr/>
        </p:nvSpPr>
        <p:spPr>
          <a:xfrm>
            <a:off x="7758232" y="6942892"/>
            <a:ext cx="2431494" cy="299085"/>
          </a:xfrm>
          <a:prstGeom prst="rect">
            <a:avLst/>
          </a:prstGeom>
          <a:noFill/>
          <a:ln/>
        </p:spPr>
        <p:txBody>
          <a:bodyPr wrap="none" lIns="0" tIns="0" rIns="0" bIns="0" rtlCol="0" anchor="t"/>
          <a:lstStyle/>
          <a:p>
            <a:pPr marL="0" indent="0" algn="l">
              <a:lnSpc>
                <a:spcPts val="2350"/>
              </a:lnSpc>
              <a:buNone/>
            </a:pPr>
            <a:r>
              <a:rPr lang="en-US" sz="1800" dirty="0">
                <a:solidFill>
                  <a:srgbClr val="67534F"/>
                </a:solidFill>
                <a:latin typeface="Marcellus" pitchFamily="34" charset="0"/>
                <a:ea typeface="Marcellus" pitchFamily="34" charset="-122"/>
                <a:cs typeface="Marcellus" pitchFamily="34" charset="-120"/>
              </a:rPr>
              <a:t>Competitive advantage</a:t>
            </a:r>
            <a:endParaRPr lang="en-US" sz="1800" dirty="0"/>
          </a:p>
        </p:txBody>
      </p:sp>
      <p:sp>
        <p:nvSpPr>
          <p:cNvPr id="29" name="Text 26"/>
          <p:cNvSpPr/>
          <p:nvPr/>
        </p:nvSpPr>
        <p:spPr>
          <a:xfrm>
            <a:off x="7758232" y="7402116"/>
            <a:ext cx="6239232" cy="208121"/>
          </a:xfrm>
          <a:prstGeom prst="rect">
            <a:avLst/>
          </a:prstGeom>
          <a:noFill/>
          <a:ln/>
        </p:spPr>
        <p:txBody>
          <a:bodyPr wrap="none" lIns="0" tIns="0" rIns="0" bIns="0" rtlCol="0" anchor="t"/>
          <a:lstStyle/>
          <a:p>
            <a:pPr marL="0" indent="0" algn="l">
              <a:lnSpc>
                <a:spcPts val="1600"/>
              </a:lnSpc>
              <a:buNone/>
            </a:pPr>
            <a:r>
              <a:rPr lang="en-US" sz="1250" dirty="0">
                <a:solidFill>
                  <a:srgbClr val="67534F"/>
                </a:solidFill>
                <a:latin typeface="Montserrat" pitchFamily="34" charset="0"/>
                <a:ea typeface="Montserrat" pitchFamily="34" charset="-122"/>
                <a:cs typeface="Montserrat" pitchFamily="34" charset="-120"/>
              </a:rPr>
              <a:t>Early adopters gain market share with superior service</a:t>
            </a:r>
            <a:endParaRPr lang="en-US" sz="1250" dirty="0"/>
          </a:p>
        </p:txBody>
      </p:sp>
      <p:pic>
        <p:nvPicPr>
          <p:cNvPr id="30" name="Picture 29">
            <a:extLst>
              <a:ext uri="{FF2B5EF4-FFF2-40B4-BE49-F238E27FC236}">
                <a16:creationId xmlns:a16="http://schemas.microsoft.com/office/drawing/2014/main" id="{F7E55FAD-DA86-895C-9AB0-BB22BE47FD8D}"/>
              </a:ext>
            </a:extLst>
          </p:cNvPr>
          <p:cNvPicPr>
            <a:picLocks noChangeAspect="1"/>
          </p:cNvPicPr>
          <p:nvPr/>
        </p:nvPicPr>
        <p:blipFill>
          <a:blip r:embed="rId4"/>
          <a:stretch>
            <a:fillRect/>
          </a:stretch>
        </p:blipFill>
        <p:spPr>
          <a:xfrm>
            <a:off x="12390635" y="7769327"/>
            <a:ext cx="2239766" cy="3314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46165" y="631746"/>
            <a:ext cx="5389364" cy="697230"/>
          </a:xfrm>
          <a:prstGeom prst="rect">
            <a:avLst/>
          </a:prstGeom>
          <a:noFill/>
          <a:ln/>
        </p:spPr>
        <p:txBody>
          <a:bodyPr wrap="none" lIns="0" tIns="0" rIns="0" bIns="0" rtlCol="0" anchor="t"/>
          <a:lstStyle/>
          <a:p>
            <a:pPr marL="0" indent="0" algn="l">
              <a:lnSpc>
                <a:spcPts val="5450"/>
              </a:lnSpc>
              <a:buNone/>
            </a:pPr>
            <a:r>
              <a:rPr lang="en-US" sz="4200" dirty="0">
                <a:solidFill>
                  <a:srgbClr val="532418"/>
                </a:solidFill>
                <a:latin typeface="Marcellus" pitchFamily="34" charset="0"/>
                <a:ea typeface="Marcellus" pitchFamily="34" charset="-122"/>
                <a:cs typeface="Marcellus" pitchFamily="34" charset="-120"/>
              </a:rPr>
              <a:t>The Challenges Ahead</a:t>
            </a:r>
            <a:endParaRPr lang="en-US" sz="4200" dirty="0"/>
          </a:p>
        </p:txBody>
      </p:sp>
      <p:sp>
        <p:nvSpPr>
          <p:cNvPr id="3" name="Text 1"/>
          <p:cNvSpPr/>
          <p:nvPr/>
        </p:nvSpPr>
        <p:spPr>
          <a:xfrm>
            <a:off x="746165" y="1701998"/>
            <a:ext cx="13138071" cy="485061"/>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Despite its promise, blockchain faces significant hurdles before becoming the insurance industry standard. Understanding these limitations is crucial for realistic expectations about adoption timelines.</a:t>
            </a:r>
            <a:endParaRPr lang="en-US" sz="1450" dirty="0"/>
          </a:p>
        </p:txBody>
      </p:sp>
      <p:sp>
        <p:nvSpPr>
          <p:cNvPr id="4" name="Shape 2"/>
          <p:cNvSpPr/>
          <p:nvPr/>
        </p:nvSpPr>
        <p:spPr>
          <a:xfrm>
            <a:off x="746165" y="2676644"/>
            <a:ext cx="6475809" cy="2348746"/>
          </a:xfrm>
          <a:prstGeom prst="roundRect">
            <a:avLst>
              <a:gd name="adj" fmla="val 4672"/>
            </a:avLst>
          </a:prstGeom>
          <a:solidFill>
            <a:srgbClr val="FFFFF4">
              <a:alpha val="95000"/>
            </a:srgbClr>
          </a:solidFill>
          <a:ln/>
        </p:spPr>
        <p:txBody>
          <a:bodyPr/>
          <a:lstStyle/>
          <a:p>
            <a:endParaRPr lang="en-IN"/>
          </a:p>
        </p:txBody>
      </p:sp>
      <p:sp>
        <p:nvSpPr>
          <p:cNvPr id="5" name="Shape 3"/>
          <p:cNvSpPr/>
          <p:nvPr/>
        </p:nvSpPr>
        <p:spPr>
          <a:xfrm>
            <a:off x="746165" y="2653784"/>
            <a:ext cx="6475809" cy="91440"/>
          </a:xfrm>
          <a:prstGeom prst="roundRect">
            <a:avLst>
              <a:gd name="adj" fmla="val 85688"/>
            </a:avLst>
          </a:prstGeom>
          <a:solidFill>
            <a:srgbClr val="FF954F"/>
          </a:solidFill>
          <a:ln/>
        </p:spPr>
        <p:txBody>
          <a:bodyPr/>
          <a:lstStyle/>
          <a:p>
            <a:endParaRPr lang="en-IN"/>
          </a:p>
        </p:txBody>
      </p:sp>
      <p:sp>
        <p:nvSpPr>
          <p:cNvPr id="6" name="Shape 4"/>
          <p:cNvSpPr/>
          <p:nvPr/>
        </p:nvSpPr>
        <p:spPr>
          <a:xfrm>
            <a:off x="3704273" y="2396847"/>
            <a:ext cx="559594" cy="559594"/>
          </a:xfrm>
          <a:prstGeom prst="roundRect">
            <a:avLst>
              <a:gd name="adj" fmla="val 163404"/>
            </a:avLst>
          </a:prstGeom>
          <a:solidFill>
            <a:srgbClr val="FF954F"/>
          </a:solidFill>
          <a:ln/>
        </p:spPr>
        <p:txBody>
          <a:bodyPr/>
          <a:lstStyle/>
          <a:p>
            <a:endParaRPr lang="en-IN"/>
          </a:p>
        </p:txBody>
      </p:sp>
      <p:sp>
        <p:nvSpPr>
          <p:cNvPr id="7" name="Text 5"/>
          <p:cNvSpPr/>
          <p:nvPr/>
        </p:nvSpPr>
        <p:spPr>
          <a:xfrm>
            <a:off x="3921770" y="2519720"/>
            <a:ext cx="223838" cy="290989"/>
          </a:xfrm>
          <a:prstGeom prst="rect">
            <a:avLst/>
          </a:prstGeom>
          <a:noFill/>
          <a:ln/>
        </p:spPr>
        <p:txBody>
          <a:bodyPr wrap="none" lIns="0" tIns="0" rIns="0" bIns="0" rtlCol="0" anchor="t"/>
          <a:lstStyle/>
          <a:p>
            <a:pPr marL="0" indent="0" algn="l">
              <a:lnSpc>
                <a:spcPts val="2250"/>
              </a:lnSpc>
              <a:buNone/>
            </a:pPr>
            <a:r>
              <a:rPr lang="en-US" sz="1750" dirty="0">
                <a:solidFill>
                  <a:srgbClr val="000000"/>
                </a:solidFill>
                <a:latin typeface="Marcellus" pitchFamily="34" charset="0"/>
                <a:ea typeface="Marcellus" pitchFamily="34" charset="-122"/>
                <a:cs typeface="Marcellus" pitchFamily="34" charset="-120"/>
              </a:rPr>
              <a:t>1</a:t>
            </a:r>
            <a:endParaRPr lang="en-US" sz="1750" dirty="0"/>
          </a:p>
        </p:txBody>
      </p:sp>
      <p:sp>
        <p:nvSpPr>
          <p:cNvPr id="8" name="Text 6"/>
          <p:cNvSpPr/>
          <p:nvPr/>
        </p:nvSpPr>
        <p:spPr>
          <a:xfrm>
            <a:off x="955477" y="3143012"/>
            <a:ext cx="2681645" cy="348496"/>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Scalability Issues</a:t>
            </a:r>
            <a:endParaRPr lang="en-US" sz="2100" dirty="0"/>
          </a:p>
        </p:txBody>
      </p:sp>
      <p:sp>
        <p:nvSpPr>
          <p:cNvPr id="9" name="Text 7"/>
          <p:cNvSpPr/>
          <p:nvPr/>
        </p:nvSpPr>
        <p:spPr>
          <a:xfrm>
            <a:off x="955477" y="3603427"/>
            <a:ext cx="6057186" cy="1212652"/>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Current blockchain networks process only 7-15 transactions per second, while traditional systems handle thousands. Major insurance companies process millions of transactions daily. Solutions like layer-2 networks are in development but not yet proven at scale.</a:t>
            </a:r>
            <a:endParaRPr lang="en-US" sz="1450" dirty="0"/>
          </a:p>
        </p:txBody>
      </p:sp>
      <p:sp>
        <p:nvSpPr>
          <p:cNvPr id="10" name="Shape 8"/>
          <p:cNvSpPr/>
          <p:nvPr/>
        </p:nvSpPr>
        <p:spPr>
          <a:xfrm>
            <a:off x="7408426" y="2676644"/>
            <a:ext cx="6475809" cy="2348746"/>
          </a:xfrm>
          <a:prstGeom prst="roundRect">
            <a:avLst>
              <a:gd name="adj" fmla="val 4672"/>
            </a:avLst>
          </a:prstGeom>
          <a:solidFill>
            <a:srgbClr val="FFFFF4">
              <a:alpha val="95000"/>
            </a:srgbClr>
          </a:solidFill>
          <a:ln/>
        </p:spPr>
        <p:txBody>
          <a:bodyPr/>
          <a:lstStyle/>
          <a:p>
            <a:endParaRPr lang="en-IN"/>
          </a:p>
        </p:txBody>
      </p:sp>
      <p:sp>
        <p:nvSpPr>
          <p:cNvPr id="11" name="Shape 9"/>
          <p:cNvSpPr/>
          <p:nvPr/>
        </p:nvSpPr>
        <p:spPr>
          <a:xfrm>
            <a:off x="7408426" y="2653784"/>
            <a:ext cx="6475809" cy="91440"/>
          </a:xfrm>
          <a:prstGeom prst="roundRect">
            <a:avLst>
              <a:gd name="adj" fmla="val 85688"/>
            </a:avLst>
          </a:prstGeom>
          <a:solidFill>
            <a:srgbClr val="FF954F"/>
          </a:solidFill>
          <a:ln/>
        </p:spPr>
        <p:txBody>
          <a:bodyPr/>
          <a:lstStyle/>
          <a:p>
            <a:endParaRPr lang="en-IN"/>
          </a:p>
        </p:txBody>
      </p:sp>
      <p:sp>
        <p:nvSpPr>
          <p:cNvPr id="12" name="Shape 10"/>
          <p:cNvSpPr/>
          <p:nvPr/>
        </p:nvSpPr>
        <p:spPr>
          <a:xfrm>
            <a:off x="10366534" y="2396847"/>
            <a:ext cx="559594" cy="559594"/>
          </a:xfrm>
          <a:prstGeom prst="roundRect">
            <a:avLst>
              <a:gd name="adj" fmla="val 163404"/>
            </a:avLst>
          </a:prstGeom>
          <a:solidFill>
            <a:srgbClr val="FF954F"/>
          </a:solidFill>
          <a:ln/>
        </p:spPr>
        <p:txBody>
          <a:bodyPr/>
          <a:lstStyle/>
          <a:p>
            <a:endParaRPr lang="en-IN"/>
          </a:p>
        </p:txBody>
      </p:sp>
      <p:sp>
        <p:nvSpPr>
          <p:cNvPr id="13" name="Text 11"/>
          <p:cNvSpPr/>
          <p:nvPr/>
        </p:nvSpPr>
        <p:spPr>
          <a:xfrm>
            <a:off x="10591119" y="2519720"/>
            <a:ext cx="223838" cy="290989"/>
          </a:xfrm>
          <a:prstGeom prst="rect">
            <a:avLst/>
          </a:prstGeom>
          <a:noFill/>
          <a:ln/>
        </p:spPr>
        <p:txBody>
          <a:bodyPr wrap="none" lIns="0" tIns="0" rIns="0" bIns="0" rtlCol="0" anchor="t"/>
          <a:lstStyle/>
          <a:p>
            <a:pPr marL="0" indent="0" algn="l">
              <a:lnSpc>
                <a:spcPts val="2250"/>
              </a:lnSpc>
              <a:buNone/>
            </a:pPr>
            <a:r>
              <a:rPr lang="en-US" sz="1750" dirty="0">
                <a:solidFill>
                  <a:srgbClr val="000000"/>
                </a:solidFill>
                <a:latin typeface="Marcellus" pitchFamily="34" charset="0"/>
                <a:ea typeface="Marcellus" pitchFamily="34" charset="-122"/>
                <a:cs typeface="Marcellus" pitchFamily="34" charset="-120"/>
              </a:rPr>
              <a:t>2</a:t>
            </a:r>
            <a:endParaRPr lang="en-US" sz="1750" dirty="0"/>
          </a:p>
        </p:txBody>
      </p:sp>
      <p:sp>
        <p:nvSpPr>
          <p:cNvPr id="14" name="Text 12"/>
          <p:cNvSpPr/>
          <p:nvPr/>
        </p:nvSpPr>
        <p:spPr>
          <a:xfrm>
            <a:off x="7617738" y="3143012"/>
            <a:ext cx="3296364" cy="348496"/>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High Implementation Costs</a:t>
            </a:r>
            <a:endParaRPr lang="en-US" sz="2100" dirty="0"/>
          </a:p>
        </p:txBody>
      </p:sp>
      <p:sp>
        <p:nvSpPr>
          <p:cNvPr id="15" name="Text 13"/>
          <p:cNvSpPr/>
          <p:nvPr/>
        </p:nvSpPr>
        <p:spPr>
          <a:xfrm>
            <a:off x="7617738" y="3603427"/>
            <a:ext cx="6057186" cy="1212652"/>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Switching from legacy systems to blockchain requires massive upfront investment. Companies must rebuild entire IT infrastructures, retrain staff, and maintain both systems during transition. Small and mid-size insurers may struggle to afford the transformation.</a:t>
            </a:r>
            <a:endParaRPr lang="en-US" sz="1450" dirty="0"/>
          </a:p>
        </p:txBody>
      </p:sp>
      <p:sp>
        <p:nvSpPr>
          <p:cNvPr id="16" name="Shape 14"/>
          <p:cNvSpPr/>
          <p:nvPr/>
        </p:nvSpPr>
        <p:spPr>
          <a:xfrm>
            <a:off x="746165" y="5491639"/>
            <a:ext cx="6475809" cy="2106216"/>
          </a:xfrm>
          <a:prstGeom prst="roundRect">
            <a:avLst>
              <a:gd name="adj" fmla="val 5210"/>
            </a:avLst>
          </a:prstGeom>
          <a:solidFill>
            <a:srgbClr val="FFFFF4">
              <a:alpha val="95000"/>
            </a:srgbClr>
          </a:solidFill>
          <a:ln/>
        </p:spPr>
        <p:txBody>
          <a:bodyPr/>
          <a:lstStyle/>
          <a:p>
            <a:endParaRPr lang="en-IN"/>
          </a:p>
        </p:txBody>
      </p:sp>
      <p:sp>
        <p:nvSpPr>
          <p:cNvPr id="17" name="Shape 15"/>
          <p:cNvSpPr/>
          <p:nvPr/>
        </p:nvSpPr>
        <p:spPr>
          <a:xfrm>
            <a:off x="746165" y="5468779"/>
            <a:ext cx="6475809" cy="91440"/>
          </a:xfrm>
          <a:prstGeom prst="roundRect">
            <a:avLst>
              <a:gd name="adj" fmla="val 85688"/>
            </a:avLst>
          </a:prstGeom>
          <a:solidFill>
            <a:srgbClr val="FF954F"/>
          </a:solidFill>
          <a:ln/>
        </p:spPr>
        <p:txBody>
          <a:bodyPr/>
          <a:lstStyle/>
          <a:p>
            <a:endParaRPr lang="en-IN"/>
          </a:p>
        </p:txBody>
      </p:sp>
      <p:sp>
        <p:nvSpPr>
          <p:cNvPr id="18" name="Shape 16"/>
          <p:cNvSpPr/>
          <p:nvPr/>
        </p:nvSpPr>
        <p:spPr>
          <a:xfrm>
            <a:off x="3704273" y="5211842"/>
            <a:ext cx="559594" cy="559594"/>
          </a:xfrm>
          <a:prstGeom prst="roundRect">
            <a:avLst>
              <a:gd name="adj" fmla="val 163404"/>
            </a:avLst>
          </a:prstGeom>
          <a:solidFill>
            <a:srgbClr val="FF954F"/>
          </a:solidFill>
          <a:ln/>
        </p:spPr>
        <p:txBody>
          <a:bodyPr/>
          <a:lstStyle/>
          <a:p>
            <a:endParaRPr lang="en-IN"/>
          </a:p>
        </p:txBody>
      </p:sp>
      <p:sp>
        <p:nvSpPr>
          <p:cNvPr id="19" name="Text 17"/>
          <p:cNvSpPr/>
          <p:nvPr/>
        </p:nvSpPr>
        <p:spPr>
          <a:xfrm>
            <a:off x="3921770" y="5346144"/>
            <a:ext cx="223838" cy="290989"/>
          </a:xfrm>
          <a:prstGeom prst="rect">
            <a:avLst/>
          </a:prstGeom>
          <a:noFill/>
          <a:ln/>
        </p:spPr>
        <p:txBody>
          <a:bodyPr wrap="none" lIns="0" tIns="0" rIns="0" bIns="0" rtlCol="0" anchor="t"/>
          <a:lstStyle/>
          <a:p>
            <a:pPr marL="0" indent="0" algn="l">
              <a:lnSpc>
                <a:spcPts val="2250"/>
              </a:lnSpc>
              <a:buNone/>
            </a:pPr>
            <a:r>
              <a:rPr lang="en-US" sz="1750" dirty="0">
                <a:solidFill>
                  <a:srgbClr val="000000"/>
                </a:solidFill>
                <a:latin typeface="Marcellus" pitchFamily="34" charset="0"/>
                <a:ea typeface="Marcellus" pitchFamily="34" charset="-122"/>
                <a:cs typeface="Marcellus" pitchFamily="34" charset="-120"/>
              </a:rPr>
              <a:t>3</a:t>
            </a:r>
            <a:endParaRPr lang="en-US" sz="1750" dirty="0"/>
          </a:p>
        </p:txBody>
      </p:sp>
      <p:sp>
        <p:nvSpPr>
          <p:cNvPr id="20" name="Text 18"/>
          <p:cNvSpPr/>
          <p:nvPr/>
        </p:nvSpPr>
        <p:spPr>
          <a:xfrm>
            <a:off x="955477" y="5958007"/>
            <a:ext cx="2826663" cy="348496"/>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Regulatory Uncertainty</a:t>
            </a:r>
            <a:endParaRPr lang="en-US" sz="2100" dirty="0"/>
          </a:p>
        </p:txBody>
      </p:sp>
      <p:sp>
        <p:nvSpPr>
          <p:cNvPr id="21" name="Text 19"/>
          <p:cNvSpPr/>
          <p:nvPr/>
        </p:nvSpPr>
        <p:spPr>
          <a:xfrm>
            <a:off x="955477" y="6418421"/>
            <a:ext cx="6057186" cy="970121"/>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Insurance is heavily regulated, but most regulations were written before blockchain existed. Governments worldwide are still figuring out how to classify and regulate blockchain insurance products. Legal frameworks lag behind the technology.</a:t>
            </a:r>
            <a:endParaRPr lang="en-US" sz="1450" dirty="0"/>
          </a:p>
        </p:txBody>
      </p:sp>
      <p:sp>
        <p:nvSpPr>
          <p:cNvPr id="22" name="Shape 20"/>
          <p:cNvSpPr/>
          <p:nvPr/>
        </p:nvSpPr>
        <p:spPr>
          <a:xfrm>
            <a:off x="7408426" y="5491639"/>
            <a:ext cx="6475809" cy="2106216"/>
          </a:xfrm>
          <a:prstGeom prst="roundRect">
            <a:avLst>
              <a:gd name="adj" fmla="val 5210"/>
            </a:avLst>
          </a:prstGeom>
          <a:solidFill>
            <a:srgbClr val="FFFFF4">
              <a:alpha val="95000"/>
            </a:srgbClr>
          </a:solidFill>
          <a:ln/>
        </p:spPr>
        <p:txBody>
          <a:bodyPr/>
          <a:lstStyle/>
          <a:p>
            <a:endParaRPr lang="en-IN"/>
          </a:p>
        </p:txBody>
      </p:sp>
      <p:sp>
        <p:nvSpPr>
          <p:cNvPr id="23" name="Shape 21"/>
          <p:cNvSpPr/>
          <p:nvPr/>
        </p:nvSpPr>
        <p:spPr>
          <a:xfrm>
            <a:off x="7408426" y="5468779"/>
            <a:ext cx="6475809" cy="91440"/>
          </a:xfrm>
          <a:prstGeom prst="roundRect">
            <a:avLst>
              <a:gd name="adj" fmla="val 85688"/>
            </a:avLst>
          </a:prstGeom>
          <a:solidFill>
            <a:srgbClr val="FF954F"/>
          </a:solidFill>
          <a:ln/>
        </p:spPr>
        <p:txBody>
          <a:bodyPr/>
          <a:lstStyle/>
          <a:p>
            <a:endParaRPr lang="en-IN"/>
          </a:p>
        </p:txBody>
      </p:sp>
      <p:sp>
        <p:nvSpPr>
          <p:cNvPr id="24" name="Shape 22"/>
          <p:cNvSpPr/>
          <p:nvPr/>
        </p:nvSpPr>
        <p:spPr>
          <a:xfrm>
            <a:off x="10366534" y="5211842"/>
            <a:ext cx="559594" cy="559594"/>
          </a:xfrm>
          <a:prstGeom prst="roundRect">
            <a:avLst>
              <a:gd name="adj" fmla="val 163404"/>
            </a:avLst>
          </a:prstGeom>
          <a:solidFill>
            <a:srgbClr val="FF954F"/>
          </a:solidFill>
          <a:ln/>
        </p:spPr>
        <p:txBody>
          <a:bodyPr/>
          <a:lstStyle/>
          <a:p>
            <a:endParaRPr lang="en-IN"/>
          </a:p>
        </p:txBody>
      </p:sp>
      <p:sp>
        <p:nvSpPr>
          <p:cNvPr id="25" name="Text 23"/>
          <p:cNvSpPr/>
          <p:nvPr/>
        </p:nvSpPr>
        <p:spPr>
          <a:xfrm>
            <a:off x="10591119" y="5349334"/>
            <a:ext cx="223838" cy="290989"/>
          </a:xfrm>
          <a:prstGeom prst="rect">
            <a:avLst/>
          </a:prstGeom>
          <a:noFill/>
          <a:ln/>
        </p:spPr>
        <p:txBody>
          <a:bodyPr wrap="none" lIns="0" tIns="0" rIns="0" bIns="0" rtlCol="0" anchor="t"/>
          <a:lstStyle/>
          <a:p>
            <a:pPr marL="0" indent="0" algn="l">
              <a:lnSpc>
                <a:spcPts val="2250"/>
              </a:lnSpc>
              <a:buNone/>
            </a:pPr>
            <a:r>
              <a:rPr lang="en-US" sz="1750" dirty="0">
                <a:solidFill>
                  <a:srgbClr val="000000"/>
                </a:solidFill>
                <a:latin typeface="Marcellus" pitchFamily="34" charset="0"/>
                <a:ea typeface="Marcellus" pitchFamily="34" charset="-122"/>
                <a:cs typeface="Marcellus" pitchFamily="34" charset="-120"/>
              </a:rPr>
              <a:t>4</a:t>
            </a:r>
            <a:endParaRPr lang="en-US" sz="1750" dirty="0"/>
          </a:p>
        </p:txBody>
      </p:sp>
      <p:sp>
        <p:nvSpPr>
          <p:cNvPr id="26" name="Text 24"/>
          <p:cNvSpPr/>
          <p:nvPr/>
        </p:nvSpPr>
        <p:spPr>
          <a:xfrm>
            <a:off x="7617738" y="5958007"/>
            <a:ext cx="2681645" cy="348496"/>
          </a:xfrm>
          <a:prstGeom prst="rect">
            <a:avLst/>
          </a:prstGeom>
          <a:noFill/>
          <a:ln/>
        </p:spPr>
        <p:txBody>
          <a:bodyPr wrap="none" lIns="0" tIns="0" rIns="0" bIns="0" rtlCol="0" anchor="t"/>
          <a:lstStyle/>
          <a:p>
            <a:pPr marL="0" indent="0" algn="l">
              <a:lnSpc>
                <a:spcPts val="2700"/>
              </a:lnSpc>
              <a:buNone/>
            </a:pPr>
            <a:r>
              <a:rPr lang="en-US" sz="2100" dirty="0">
                <a:solidFill>
                  <a:srgbClr val="67534F"/>
                </a:solidFill>
                <a:latin typeface="Marcellus" pitchFamily="34" charset="0"/>
                <a:ea typeface="Marcellus" pitchFamily="34" charset="-122"/>
                <a:cs typeface="Marcellus" pitchFamily="34" charset="-120"/>
              </a:rPr>
              <a:t>Industry Resistance</a:t>
            </a:r>
            <a:endParaRPr lang="en-US" sz="2100" dirty="0"/>
          </a:p>
        </p:txBody>
      </p:sp>
      <p:sp>
        <p:nvSpPr>
          <p:cNvPr id="27" name="Text 25"/>
          <p:cNvSpPr/>
          <p:nvPr/>
        </p:nvSpPr>
        <p:spPr>
          <a:xfrm>
            <a:off x="7617738" y="6418421"/>
            <a:ext cx="6057186" cy="970121"/>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Large, established companies are slow to change. Many executives remain skeptical, and existing systems, though inefficient, are familiar and proven. Overcoming organizational inertia requires demonstrating undeniable value.</a:t>
            </a:r>
            <a:endParaRPr lang="en-US" sz="1450" dirty="0"/>
          </a:p>
        </p:txBody>
      </p:sp>
      <p:pic>
        <p:nvPicPr>
          <p:cNvPr id="28" name="Picture 27">
            <a:extLst>
              <a:ext uri="{FF2B5EF4-FFF2-40B4-BE49-F238E27FC236}">
                <a16:creationId xmlns:a16="http://schemas.microsoft.com/office/drawing/2014/main" id="{6F35D7D7-8BDC-5D38-C409-1FE8E14B5FA2}"/>
              </a:ext>
            </a:extLst>
          </p:cNvPr>
          <p:cNvPicPr>
            <a:picLocks noChangeAspect="1"/>
          </p:cNvPicPr>
          <p:nvPr/>
        </p:nvPicPr>
        <p:blipFill>
          <a:blip r:embed="rId3"/>
          <a:stretch>
            <a:fillRect/>
          </a:stretch>
        </p:blipFill>
        <p:spPr>
          <a:xfrm>
            <a:off x="12390635" y="7769327"/>
            <a:ext cx="2239766" cy="331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46165" y="635913"/>
            <a:ext cx="8472011" cy="697230"/>
          </a:xfrm>
          <a:prstGeom prst="rect">
            <a:avLst/>
          </a:prstGeom>
          <a:noFill/>
          <a:ln/>
        </p:spPr>
        <p:txBody>
          <a:bodyPr wrap="none" lIns="0" tIns="0" rIns="0" bIns="0" rtlCol="0" anchor="t"/>
          <a:lstStyle/>
          <a:p>
            <a:pPr marL="0" indent="0" algn="l">
              <a:lnSpc>
                <a:spcPts val="5450"/>
              </a:lnSpc>
              <a:buNone/>
            </a:pPr>
            <a:r>
              <a:rPr lang="en-US" sz="4200" dirty="0">
                <a:solidFill>
                  <a:srgbClr val="532418"/>
                </a:solidFill>
                <a:latin typeface="Marcellus" pitchFamily="34" charset="0"/>
                <a:ea typeface="Marcellus" pitchFamily="34" charset="-122"/>
                <a:cs typeface="Marcellus" pitchFamily="34" charset="-120"/>
              </a:rPr>
              <a:t>The Future of Blockchain Insurance</a:t>
            </a:r>
            <a:endParaRPr lang="en-US" sz="4200" dirty="0"/>
          </a:p>
        </p:txBody>
      </p:sp>
      <p:sp>
        <p:nvSpPr>
          <p:cNvPr id="3" name="Text 1"/>
          <p:cNvSpPr/>
          <p:nvPr/>
        </p:nvSpPr>
        <p:spPr>
          <a:xfrm>
            <a:off x="746165" y="1706166"/>
            <a:ext cx="13138071" cy="485061"/>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The insurance industry stands at a turning point. While challenges exist, the momentum toward blockchain adoption is undeniable. Industry analysts predict that by 2030, blockchain could power 30-40% of all insurance transactions globally.</a:t>
            </a:r>
            <a:endParaRPr lang="en-US" sz="1450" dirty="0"/>
          </a:p>
        </p:txBody>
      </p:sp>
      <p:sp>
        <p:nvSpPr>
          <p:cNvPr id="4" name="Shape 2"/>
          <p:cNvSpPr/>
          <p:nvPr/>
        </p:nvSpPr>
        <p:spPr>
          <a:xfrm>
            <a:off x="746165" y="4092654"/>
            <a:ext cx="13138071" cy="22860"/>
          </a:xfrm>
          <a:prstGeom prst="roundRect">
            <a:avLst>
              <a:gd name="adj" fmla="val 342753"/>
            </a:avLst>
          </a:prstGeom>
          <a:solidFill>
            <a:srgbClr val="FFE0CC"/>
          </a:solidFill>
          <a:ln/>
        </p:spPr>
        <p:txBody>
          <a:bodyPr/>
          <a:lstStyle/>
          <a:p>
            <a:endParaRPr lang="en-IN"/>
          </a:p>
        </p:txBody>
      </p:sp>
      <p:sp>
        <p:nvSpPr>
          <p:cNvPr id="5" name="Shape 3"/>
          <p:cNvSpPr/>
          <p:nvPr/>
        </p:nvSpPr>
        <p:spPr>
          <a:xfrm>
            <a:off x="3292197" y="3533120"/>
            <a:ext cx="22860" cy="559594"/>
          </a:xfrm>
          <a:prstGeom prst="roundRect">
            <a:avLst>
              <a:gd name="adj" fmla="val 342753"/>
            </a:avLst>
          </a:prstGeom>
          <a:solidFill>
            <a:srgbClr val="FFE0CC"/>
          </a:solidFill>
          <a:ln/>
        </p:spPr>
        <p:txBody>
          <a:bodyPr/>
          <a:lstStyle/>
          <a:p>
            <a:endParaRPr lang="en-IN"/>
          </a:p>
        </p:txBody>
      </p:sp>
      <p:sp>
        <p:nvSpPr>
          <p:cNvPr id="6" name="Shape 4"/>
          <p:cNvSpPr/>
          <p:nvPr/>
        </p:nvSpPr>
        <p:spPr>
          <a:xfrm>
            <a:off x="3093839" y="3882807"/>
            <a:ext cx="419695" cy="419695"/>
          </a:xfrm>
          <a:prstGeom prst="roundRect">
            <a:avLst>
              <a:gd name="adj" fmla="val 18669"/>
            </a:avLst>
          </a:prstGeom>
          <a:solidFill>
            <a:srgbClr val="FFFFF4"/>
          </a:solidFill>
          <a:ln w="22860">
            <a:solidFill>
              <a:srgbClr val="FFE0CC"/>
            </a:solidFill>
            <a:prstDash val="solid"/>
          </a:ln>
        </p:spPr>
        <p:txBody>
          <a:bodyPr/>
          <a:lstStyle/>
          <a:p>
            <a:endParaRPr lang="en-IN"/>
          </a:p>
        </p:txBody>
      </p:sp>
      <p:sp>
        <p:nvSpPr>
          <p:cNvPr id="7" name="Text 5"/>
          <p:cNvSpPr/>
          <p:nvPr/>
        </p:nvSpPr>
        <p:spPr>
          <a:xfrm>
            <a:off x="3142774" y="3883462"/>
            <a:ext cx="321707" cy="418267"/>
          </a:xfrm>
          <a:prstGeom prst="rect">
            <a:avLst/>
          </a:prstGeom>
          <a:noFill/>
          <a:ln/>
        </p:spPr>
        <p:txBody>
          <a:bodyPr wrap="none" lIns="0" tIns="0" rIns="0" bIns="0" rtlCol="0" anchor="t"/>
          <a:lstStyle/>
          <a:p>
            <a:pPr marL="0" indent="0" algn="ctr">
              <a:lnSpc>
                <a:spcPts val="2500"/>
              </a:lnSpc>
              <a:buNone/>
            </a:pPr>
            <a:r>
              <a:rPr lang="en-US" sz="2500" dirty="0">
                <a:solidFill>
                  <a:srgbClr val="67534F"/>
                </a:solidFill>
                <a:latin typeface="Marcellus" pitchFamily="34" charset="0"/>
                <a:ea typeface="Marcellus" pitchFamily="34" charset="-122"/>
                <a:cs typeface="Marcellus" pitchFamily="34" charset="-120"/>
              </a:rPr>
              <a:t>1</a:t>
            </a:r>
            <a:endParaRPr lang="en-US" sz="2500" dirty="0"/>
          </a:p>
        </p:txBody>
      </p:sp>
      <p:sp>
        <p:nvSpPr>
          <p:cNvPr id="8" name="Text 6"/>
          <p:cNvSpPr/>
          <p:nvPr/>
        </p:nvSpPr>
        <p:spPr>
          <a:xfrm>
            <a:off x="1962983" y="2401014"/>
            <a:ext cx="2681645" cy="348496"/>
          </a:xfrm>
          <a:prstGeom prst="rect">
            <a:avLst/>
          </a:prstGeom>
          <a:noFill/>
          <a:ln/>
        </p:spPr>
        <p:txBody>
          <a:bodyPr wrap="none" lIns="0" tIns="0" rIns="0" bIns="0" rtlCol="0" anchor="t"/>
          <a:lstStyle/>
          <a:p>
            <a:pPr marL="0" indent="0" algn="ctr">
              <a:lnSpc>
                <a:spcPts val="2700"/>
              </a:lnSpc>
              <a:buNone/>
            </a:pPr>
            <a:r>
              <a:rPr lang="en-US" sz="2100" dirty="0">
                <a:solidFill>
                  <a:srgbClr val="67534F"/>
                </a:solidFill>
                <a:latin typeface="Marcellus" pitchFamily="34" charset="0"/>
                <a:ea typeface="Marcellus" pitchFamily="34" charset="-122"/>
                <a:cs typeface="Marcellus" pitchFamily="34" charset="-120"/>
              </a:rPr>
              <a:t>2024-2025</a:t>
            </a:r>
            <a:endParaRPr lang="en-US" sz="2100" dirty="0"/>
          </a:p>
        </p:txBody>
      </p:sp>
      <p:sp>
        <p:nvSpPr>
          <p:cNvPr id="9" name="Text 7"/>
          <p:cNvSpPr/>
          <p:nvPr/>
        </p:nvSpPr>
        <p:spPr>
          <a:xfrm>
            <a:off x="932617" y="2861429"/>
            <a:ext cx="4742378" cy="485061"/>
          </a:xfrm>
          <a:prstGeom prst="rect">
            <a:avLst/>
          </a:prstGeom>
          <a:noFill/>
          <a:ln/>
        </p:spPr>
        <p:txBody>
          <a:bodyPr wrap="square" lIns="0" tIns="0" rIns="0" bIns="0" rtlCol="0" anchor="t"/>
          <a:lstStyle/>
          <a:p>
            <a:pPr marL="0" indent="0" algn="ctr">
              <a:lnSpc>
                <a:spcPts val="1900"/>
              </a:lnSpc>
              <a:buNone/>
            </a:pPr>
            <a:r>
              <a:rPr lang="en-US" sz="1450" dirty="0">
                <a:solidFill>
                  <a:srgbClr val="67534F"/>
                </a:solidFill>
                <a:latin typeface="Montserrat" pitchFamily="34" charset="0"/>
                <a:ea typeface="Montserrat" pitchFamily="34" charset="-122"/>
                <a:cs typeface="Montserrat" pitchFamily="34" charset="-120"/>
              </a:rPr>
              <a:t>Major insurers expand pilot programs for simple products like travel and parametric insurance</a:t>
            </a:r>
            <a:endParaRPr lang="en-US" sz="1450" dirty="0"/>
          </a:p>
        </p:txBody>
      </p:sp>
      <p:sp>
        <p:nvSpPr>
          <p:cNvPr id="10" name="Shape 8"/>
          <p:cNvSpPr/>
          <p:nvPr/>
        </p:nvSpPr>
        <p:spPr>
          <a:xfrm>
            <a:off x="5966460" y="4092595"/>
            <a:ext cx="22860" cy="559594"/>
          </a:xfrm>
          <a:prstGeom prst="roundRect">
            <a:avLst>
              <a:gd name="adj" fmla="val 342753"/>
            </a:avLst>
          </a:prstGeom>
          <a:solidFill>
            <a:srgbClr val="FFE0CC"/>
          </a:solidFill>
          <a:ln/>
        </p:spPr>
        <p:txBody>
          <a:bodyPr/>
          <a:lstStyle/>
          <a:p>
            <a:endParaRPr lang="en-IN"/>
          </a:p>
        </p:txBody>
      </p:sp>
      <p:sp>
        <p:nvSpPr>
          <p:cNvPr id="11" name="Shape 9"/>
          <p:cNvSpPr/>
          <p:nvPr/>
        </p:nvSpPr>
        <p:spPr>
          <a:xfrm>
            <a:off x="5768102" y="3882807"/>
            <a:ext cx="419695" cy="419695"/>
          </a:xfrm>
          <a:prstGeom prst="roundRect">
            <a:avLst>
              <a:gd name="adj" fmla="val 18669"/>
            </a:avLst>
          </a:prstGeom>
          <a:solidFill>
            <a:srgbClr val="FFFFF4"/>
          </a:solidFill>
          <a:ln w="22860">
            <a:solidFill>
              <a:srgbClr val="FFE0CC"/>
            </a:solidFill>
            <a:prstDash val="solid"/>
          </a:ln>
        </p:spPr>
        <p:txBody>
          <a:bodyPr/>
          <a:lstStyle/>
          <a:p>
            <a:endParaRPr lang="en-IN"/>
          </a:p>
        </p:txBody>
      </p:sp>
      <p:sp>
        <p:nvSpPr>
          <p:cNvPr id="12" name="Text 10"/>
          <p:cNvSpPr/>
          <p:nvPr/>
        </p:nvSpPr>
        <p:spPr>
          <a:xfrm>
            <a:off x="5817037" y="3883462"/>
            <a:ext cx="321707" cy="418267"/>
          </a:xfrm>
          <a:prstGeom prst="rect">
            <a:avLst/>
          </a:prstGeom>
          <a:noFill/>
          <a:ln/>
        </p:spPr>
        <p:txBody>
          <a:bodyPr wrap="none" lIns="0" tIns="0" rIns="0" bIns="0" rtlCol="0" anchor="t"/>
          <a:lstStyle/>
          <a:p>
            <a:pPr marL="0" indent="0" algn="ctr">
              <a:lnSpc>
                <a:spcPts val="2500"/>
              </a:lnSpc>
              <a:buNone/>
            </a:pPr>
            <a:r>
              <a:rPr lang="en-US" sz="2500" dirty="0">
                <a:solidFill>
                  <a:srgbClr val="67534F"/>
                </a:solidFill>
                <a:latin typeface="Marcellus" pitchFamily="34" charset="0"/>
                <a:ea typeface="Marcellus" pitchFamily="34" charset="-122"/>
                <a:cs typeface="Marcellus" pitchFamily="34" charset="-120"/>
              </a:rPr>
              <a:t>2</a:t>
            </a:r>
            <a:endParaRPr lang="en-US" sz="2500" dirty="0"/>
          </a:p>
        </p:txBody>
      </p:sp>
      <p:sp>
        <p:nvSpPr>
          <p:cNvPr id="13" name="Text 11"/>
          <p:cNvSpPr/>
          <p:nvPr/>
        </p:nvSpPr>
        <p:spPr>
          <a:xfrm>
            <a:off x="4637127" y="4838819"/>
            <a:ext cx="2681645" cy="348496"/>
          </a:xfrm>
          <a:prstGeom prst="rect">
            <a:avLst/>
          </a:prstGeom>
          <a:noFill/>
          <a:ln/>
        </p:spPr>
        <p:txBody>
          <a:bodyPr wrap="none" lIns="0" tIns="0" rIns="0" bIns="0" rtlCol="0" anchor="t"/>
          <a:lstStyle/>
          <a:p>
            <a:pPr marL="0" indent="0" algn="ctr">
              <a:lnSpc>
                <a:spcPts val="2700"/>
              </a:lnSpc>
              <a:buNone/>
            </a:pPr>
            <a:r>
              <a:rPr lang="en-US" sz="2100" dirty="0">
                <a:solidFill>
                  <a:srgbClr val="67534F"/>
                </a:solidFill>
                <a:latin typeface="Marcellus" pitchFamily="34" charset="0"/>
                <a:ea typeface="Marcellus" pitchFamily="34" charset="-122"/>
                <a:cs typeface="Marcellus" pitchFamily="34" charset="-120"/>
              </a:rPr>
              <a:t>2026-2027</a:t>
            </a:r>
            <a:endParaRPr lang="en-US" sz="2100" dirty="0"/>
          </a:p>
        </p:txBody>
      </p:sp>
      <p:sp>
        <p:nvSpPr>
          <p:cNvPr id="14" name="Text 12"/>
          <p:cNvSpPr/>
          <p:nvPr/>
        </p:nvSpPr>
        <p:spPr>
          <a:xfrm>
            <a:off x="3606760" y="5299234"/>
            <a:ext cx="4742498" cy="485061"/>
          </a:xfrm>
          <a:prstGeom prst="rect">
            <a:avLst/>
          </a:prstGeom>
          <a:noFill/>
          <a:ln/>
        </p:spPr>
        <p:txBody>
          <a:bodyPr wrap="square" lIns="0" tIns="0" rIns="0" bIns="0" rtlCol="0" anchor="t"/>
          <a:lstStyle/>
          <a:p>
            <a:pPr marL="0" indent="0" algn="ctr">
              <a:lnSpc>
                <a:spcPts val="1900"/>
              </a:lnSpc>
              <a:buNone/>
            </a:pPr>
            <a:r>
              <a:rPr lang="en-US" sz="1450" dirty="0">
                <a:solidFill>
                  <a:srgbClr val="67534F"/>
                </a:solidFill>
                <a:latin typeface="Montserrat" pitchFamily="34" charset="0"/>
                <a:ea typeface="Montserrat" pitchFamily="34" charset="-122"/>
                <a:cs typeface="Montserrat" pitchFamily="34" charset="-120"/>
              </a:rPr>
              <a:t>Regulatory frameworks emerge in major markets, enabling broader commercial deployment</a:t>
            </a:r>
            <a:endParaRPr lang="en-US" sz="1450" dirty="0"/>
          </a:p>
        </p:txBody>
      </p:sp>
      <p:sp>
        <p:nvSpPr>
          <p:cNvPr id="15" name="Shape 13"/>
          <p:cNvSpPr/>
          <p:nvPr/>
        </p:nvSpPr>
        <p:spPr>
          <a:xfrm>
            <a:off x="8640723" y="3533120"/>
            <a:ext cx="22860" cy="559594"/>
          </a:xfrm>
          <a:prstGeom prst="roundRect">
            <a:avLst>
              <a:gd name="adj" fmla="val 342753"/>
            </a:avLst>
          </a:prstGeom>
          <a:solidFill>
            <a:srgbClr val="FFE0CC"/>
          </a:solidFill>
          <a:ln/>
        </p:spPr>
        <p:txBody>
          <a:bodyPr/>
          <a:lstStyle/>
          <a:p>
            <a:endParaRPr lang="en-IN"/>
          </a:p>
        </p:txBody>
      </p:sp>
      <p:sp>
        <p:nvSpPr>
          <p:cNvPr id="16" name="Shape 14"/>
          <p:cNvSpPr/>
          <p:nvPr/>
        </p:nvSpPr>
        <p:spPr>
          <a:xfrm>
            <a:off x="8442365" y="3882807"/>
            <a:ext cx="419695" cy="419695"/>
          </a:xfrm>
          <a:prstGeom prst="roundRect">
            <a:avLst>
              <a:gd name="adj" fmla="val 18669"/>
            </a:avLst>
          </a:prstGeom>
          <a:solidFill>
            <a:srgbClr val="FFFFF4"/>
          </a:solidFill>
          <a:ln w="22860">
            <a:solidFill>
              <a:srgbClr val="FFE0CC"/>
            </a:solidFill>
            <a:prstDash val="solid"/>
          </a:ln>
        </p:spPr>
        <p:txBody>
          <a:bodyPr/>
          <a:lstStyle/>
          <a:p>
            <a:endParaRPr lang="en-IN"/>
          </a:p>
        </p:txBody>
      </p:sp>
      <p:sp>
        <p:nvSpPr>
          <p:cNvPr id="17" name="Text 15"/>
          <p:cNvSpPr/>
          <p:nvPr/>
        </p:nvSpPr>
        <p:spPr>
          <a:xfrm>
            <a:off x="8491299" y="3883462"/>
            <a:ext cx="321707" cy="418267"/>
          </a:xfrm>
          <a:prstGeom prst="rect">
            <a:avLst/>
          </a:prstGeom>
          <a:noFill/>
          <a:ln/>
        </p:spPr>
        <p:txBody>
          <a:bodyPr wrap="none" lIns="0" tIns="0" rIns="0" bIns="0" rtlCol="0" anchor="t"/>
          <a:lstStyle/>
          <a:p>
            <a:pPr marL="0" indent="0" algn="ctr">
              <a:lnSpc>
                <a:spcPts val="2500"/>
              </a:lnSpc>
              <a:buNone/>
            </a:pPr>
            <a:r>
              <a:rPr lang="en-US" sz="2500" dirty="0">
                <a:solidFill>
                  <a:srgbClr val="67534F"/>
                </a:solidFill>
                <a:latin typeface="Marcellus" pitchFamily="34" charset="0"/>
                <a:ea typeface="Marcellus" pitchFamily="34" charset="-122"/>
                <a:cs typeface="Marcellus" pitchFamily="34" charset="-120"/>
              </a:rPr>
              <a:t>3</a:t>
            </a:r>
            <a:endParaRPr lang="en-US" sz="2500" dirty="0"/>
          </a:p>
        </p:txBody>
      </p:sp>
      <p:sp>
        <p:nvSpPr>
          <p:cNvPr id="18" name="Text 16"/>
          <p:cNvSpPr/>
          <p:nvPr/>
        </p:nvSpPr>
        <p:spPr>
          <a:xfrm>
            <a:off x="7311390" y="2401014"/>
            <a:ext cx="2681645" cy="348496"/>
          </a:xfrm>
          <a:prstGeom prst="rect">
            <a:avLst/>
          </a:prstGeom>
          <a:noFill/>
          <a:ln/>
        </p:spPr>
        <p:txBody>
          <a:bodyPr wrap="none" lIns="0" tIns="0" rIns="0" bIns="0" rtlCol="0" anchor="t"/>
          <a:lstStyle/>
          <a:p>
            <a:pPr marL="0" indent="0" algn="ctr">
              <a:lnSpc>
                <a:spcPts val="2700"/>
              </a:lnSpc>
              <a:buNone/>
            </a:pPr>
            <a:r>
              <a:rPr lang="en-US" sz="2100" dirty="0">
                <a:solidFill>
                  <a:srgbClr val="67534F"/>
                </a:solidFill>
                <a:latin typeface="Marcellus" pitchFamily="34" charset="0"/>
                <a:ea typeface="Marcellus" pitchFamily="34" charset="-122"/>
                <a:cs typeface="Marcellus" pitchFamily="34" charset="-120"/>
              </a:rPr>
              <a:t>2028-2030</a:t>
            </a:r>
            <a:endParaRPr lang="en-US" sz="2100" dirty="0"/>
          </a:p>
        </p:txBody>
      </p:sp>
      <p:sp>
        <p:nvSpPr>
          <p:cNvPr id="19" name="Text 17"/>
          <p:cNvSpPr/>
          <p:nvPr/>
        </p:nvSpPr>
        <p:spPr>
          <a:xfrm>
            <a:off x="6281023" y="2861429"/>
            <a:ext cx="4742498" cy="485061"/>
          </a:xfrm>
          <a:prstGeom prst="rect">
            <a:avLst/>
          </a:prstGeom>
          <a:noFill/>
          <a:ln/>
        </p:spPr>
        <p:txBody>
          <a:bodyPr wrap="square" lIns="0" tIns="0" rIns="0" bIns="0" rtlCol="0" anchor="t"/>
          <a:lstStyle/>
          <a:p>
            <a:pPr marL="0" indent="0" algn="ctr">
              <a:lnSpc>
                <a:spcPts val="1900"/>
              </a:lnSpc>
              <a:buNone/>
            </a:pPr>
            <a:r>
              <a:rPr lang="en-US" sz="1450" dirty="0">
                <a:solidFill>
                  <a:srgbClr val="67534F"/>
                </a:solidFill>
                <a:latin typeface="Montserrat" pitchFamily="34" charset="0"/>
                <a:ea typeface="Montserrat" pitchFamily="34" charset="-122"/>
                <a:cs typeface="Montserrat" pitchFamily="34" charset="-120"/>
              </a:rPr>
              <a:t>Blockchain becomes standard for new policies as technology matures and costs decrease</a:t>
            </a:r>
            <a:endParaRPr lang="en-US" sz="1450" dirty="0"/>
          </a:p>
        </p:txBody>
      </p:sp>
      <p:sp>
        <p:nvSpPr>
          <p:cNvPr id="20" name="Shape 18"/>
          <p:cNvSpPr/>
          <p:nvPr/>
        </p:nvSpPr>
        <p:spPr>
          <a:xfrm>
            <a:off x="11314986" y="4092595"/>
            <a:ext cx="22860" cy="559594"/>
          </a:xfrm>
          <a:prstGeom prst="roundRect">
            <a:avLst>
              <a:gd name="adj" fmla="val 342753"/>
            </a:avLst>
          </a:prstGeom>
          <a:solidFill>
            <a:srgbClr val="FFE0CC"/>
          </a:solidFill>
          <a:ln/>
        </p:spPr>
        <p:txBody>
          <a:bodyPr/>
          <a:lstStyle/>
          <a:p>
            <a:endParaRPr lang="en-IN"/>
          </a:p>
        </p:txBody>
      </p:sp>
      <p:sp>
        <p:nvSpPr>
          <p:cNvPr id="21" name="Shape 19"/>
          <p:cNvSpPr/>
          <p:nvPr/>
        </p:nvSpPr>
        <p:spPr>
          <a:xfrm>
            <a:off x="11116628" y="3882807"/>
            <a:ext cx="419695" cy="419695"/>
          </a:xfrm>
          <a:prstGeom prst="roundRect">
            <a:avLst>
              <a:gd name="adj" fmla="val 18669"/>
            </a:avLst>
          </a:prstGeom>
          <a:solidFill>
            <a:srgbClr val="FFFFF4"/>
          </a:solidFill>
          <a:ln w="22860">
            <a:solidFill>
              <a:srgbClr val="FFE0CC"/>
            </a:solidFill>
            <a:prstDash val="solid"/>
          </a:ln>
        </p:spPr>
        <p:txBody>
          <a:bodyPr/>
          <a:lstStyle/>
          <a:p>
            <a:endParaRPr lang="en-IN"/>
          </a:p>
        </p:txBody>
      </p:sp>
      <p:sp>
        <p:nvSpPr>
          <p:cNvPr id="22" name="Text 20"/>
          <p:cNvSpPr/>
          <p:nvPr/>
        </p:nvSpPr>
        <p:spPr>
          <a:xfrm>
            <a:off x="11165562" y="3883462"/>
            <a:ext cx="321707" cy="418267"/>
          </a:xfrm>
          <a:prstGeom prst="rect">
            <a:avLst/>
          </a:prstGeom>
          <a:noFill/>
          <a:ln/>
        </p:spPr>
        <p:txBody>
          <a:bodyPr wrap="none" lIns="0" tIns="0" rIns="0" bIns="0" rtlCol="0" anchor="t"/>
          <a:lstStyle/>
          <a:p>
            <a:pPr marL="0" indent="0" algn="ctr">
              <a:lnSpc>
                <a:spcPts val="2500"/>
              </a:lnSpc>
              <a:buNone/>
            </a:pPr>
            <a:r>
              <a:rPr lang="en-US" sz="2500" dirty="0">
                <a:solidFill>
                  <a:srgbClr val="67534F"/>
                </a:solidFill>
                <a:latin typeface="Marcellus" pitchFamily="34" charset="0"/>
                <a:ea typeface="Marcellus" pitchFamily="34" charset="-122"/>
                <a:cs typeface="Marcellus" pitchFamily="34" charset="-120"/>
              </a:rPr>
              <a:t>4</a:t>
            </a:r>
            <a:endParaRPr lang="en-US" sz="2500" dirty="0"/>
          </a:p>
        </p:txBody>
      </p:sp>
      <p:sp>
        <p:nvSpPr>
          <p:cNvPr id="23" name="Text 21"/>
          <p:cNvSpPr/>
          <p:nvPr/>
        </p:nvSpPr>
        <p:spPr>
          <a:xfrm>
            <a:off x="9985653" y="4838819"/>
            <a:ext cx="2681645" cy="348496"/>
          </a:xfrm>
          <a:prstGeom prst="rect">
            <a:avLst/>
          </a:prstGeom>
          <a:noFill/>
          <a:ln/>
        </p:spPr>
        <p:txBody>
          <a:bodyPr wrap="none" lIns="0" tIns="0" rIns="0" bIns="0" rtlCol="0" anchor="t"/>
          <a:lstStyle/>
          <a:p>
            <a:pPr marL="0" indent="0" algn="ctr">
              <a:lnSpc>
                <a:spcPts val="2700"/>
              </a:lnSpc>
              <a:buNone/>
            </a:pPr>
            <a:r>
              <a:rPr lang="en-US" sz="2100" dirty="0">
                <a:solidFill>
                  <a:srgbClr val="67534F"/>
                </a:solidFill>
                <a:latin typeface="Marcellus" pitchFamily="34" charset="0"/>
                <a:ea typeface="Marcellus" pitchFamily="34" charset="-122"/>
                <a:cs typeface="Marcellus" pitchFamily="34" charset="-120"/>
              </a:rPr>
              <a:t>2030+</a:t>
            </a:r>
            <a:endParaRPr lang="en-US" sz="2100" dirty="0"/>
          </a:p>
        </p:txBody>
      </p:sp>
      <p:sp>
        <p:nvSpPr>
          <p:cNvPr id="24" name="Text 22"/>
          <p:cNvSpPr/>
          <p:nvPr/>
        </p:nvSpPr>
        <p:spPr>
          <a:xfrm>
            <a:off x="8955286" y="5299234"/>
            <a:ext cx="4742498" cy="727591"/>
          </a:xfrm>
          <a:prstGeom prst="rect">
            <a:avLst/>
          </a:prstGeom>
          <a:noFill/>
          <a:ln/>
        </p:spPr>
        <p:txBody>
          <a:bodyPr wrap="square" lIns="0" tIns="0" rIns="0" bIns="0" rtlCol="0" anchor="t"/>
          <a:lstStyle/>
          <a:p>
            <a:pPr marL="0" indent="0" algn="ctr">
              <a:lnSpc>
                <a:spcPts val="1900"/>
              </a:lnSpc>
              <a:buNone/>
            </a:pPr>
            <a:r>
              <a:rPr lang="en-US" sz="1450" dirty="0">
                <a:solidFill>
                  <a:srgbClr val="67534F"/>
                </a:solidFill>
                <a:latin typeface="Montserrat" pitchFamily="34" charset="0"/>
                <a:ea typeface="Montserrat" pitchFamily="34" charset="-122"/>
                <a:cs typeface="Montserrat" pitchFamily="34" charset="-120"/>
              </a:rPr>
              <a:t>Traditional insurance systems phase out, replaced by fully automated, transparent blockchain platforms</a:t>
            </a:r>
            <a:endParaRPr lang="en-US" sz="1450" dirty="0"/>
          </a:p>
        </p:txBody>
      </p:sp>
      <p:sp>
        <p:nvSpPr>
          <p:cNvPr id="25" name="Text 23"/>
          <p:cNvSpPr/>
          <p:nvPr/>
        </p:nvSpPr>
        <p:spPr>
          <a:xfrm>
            <a:off x="1025962" y="6446401"/>
            <a:ext cx="12858274" cy="485061"/>
          </a:xfrm>
          <a:prstGeom prst="rect">
            <a:avLst/>
          </a:prstGeom>
          <a:noFill/>
          <a:ln/>
        </p:spPr>
        <p:txBody>
          <a:bodyPr wrap="squar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"Blockchain will do for insurance what the internet did for information—make it instantly accessible, radically transparent, and fundamentally more efficient."</a:t>
            </a:r>
            <a:endParaRPr lang="en-US" sz="1450" dirty="0"/>
          </a:p>
        </p:txBody>
      </p:sp>
      <p:sp>
        <p:nvSpPr>
          <p:cNvPr id="26" name="Shape 24"/>
          <p:cNvSpPr/>
          <p:nvPr/>
        </p:nvSpPr>
        <p:spPr>
          <a:xfrm>
            <a:off x="746165" y="6236613"/>
            <a:ext cx="22860" cy="904637"/>
          </a:xfrm>
          <a:prstGeom prst="rect">
            <a:avLst/>
          </a:prstGeom>
          <a:solidFill>
            <a:srgbClr val="FF954F"/>
          </a:solidFill>
          <a:ln/>
        </p:spPr>
        <p:txBody>
          <a:bodyPr/>
          <a:lstStyle/>
          <a:p>
            <a:endParaRPr lang="en-IN"/>
          </a:p>
        </p:txBody>
      </p:sp>
      <p:sp>
        <p:nvSpPr>
          <p:cNvPr id="27" name="Text 25"/>
          <p:cNvSpPr/>
          <p:nvPr/>
        </p:nvSpPr>
        <p:spPr>
          <a:xfrm>
            <a:off x="746165" y="7351038"/>
            <a:ext cx="13138071" cy="242530"/>
          </a:xfrm>
          <a:prstGeom prst="rect">
            <a:avLst/>
          </a:prstGeom>
          <a:noFill/>
          <a:ln/>
        </p:spPr>
        <p:txBody>
          <a:bodyPr wrap="none" lIns="0" tIns="0" rIns="0" bIns="0" rtlCol="0" anchor="t"/>
          <a:lstStyle/>
          <a:p>
            <a:pPr marL="0" indent="0" algn="l">
              <a:lnSpc>
                <a:spcPts val="1900"/>
              </a:lnSpc>
              <a:buNone/>
            </a:pPr>
            <a:r>
              <a:rPr lang="en-US" sz="1450" dirty="0">
                <a:solidFill>
                  <a:srgbClr val="67534F"/>
                </a:solidFill>
                <a:latin typeface="Montserrat" pitchFamily="34" charset="0"/>
                <a:ea typeface="Montserrat" pitchFamily="34" charset="-122"/>
                <a:cs typeface="Montserrat" pitchFamily="34" charset="-120"/>
              </a:rPr>
              <a:t>The question isn't whether blockchain will transform insurance, but how quickly companies can adapt to this inevitable change.</a:t>
            </a:r>
            <a:endParaRPr lang="en-US" sz="1450" dirty="0"/>
          </a:p>
        </p:txBody>
      </p:sp>
      <p:pic>
        <p:nvPicPr>
          <p:cNvPr id="28" name="Picture 27">
            <a:extLst>
              <a:ext uri="{FF2B5EF4-FFF2-40B4-BE49-F238E27FC236}">
                <a16:creationId xmlns:a16="http://schemas.microsoft.com/office/drawing/2014/main" id="{B0D7A216-6AE7-706D-4C0C-4A7B303298AE}"/>
              </a:ext>
            </a:extLst>
          </p:cNvPr>
          <p:cNvPicPr>
            <a:picLocks noChangeAspect="1"/>
          </p:cNvPicPr>
          <p:nvPr/>
        </p:nvPicPr>
        <p:blipFill>
          <a:blip r:embed="rId3"/>
          <a:stretch>
            <a:fillRect/>
          </a:stretch>
        </p:blipFill>
        <p:spPr>
          <a:xfrm>
            <a:off x="12390635" y="7769327"/>
            <a:ext cx="2239766" cy="3314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695093"/>
            <a:ext cx="12880538" cy="741759"/>
          </a:xfrm>
          <a:prstGeom prst="rect">
            <a:avLst/>
          </a:prstGeom>
          <a:noFill/>
          <a:ln/>
        </p:spPr>
        <p:txBody>
          <a:bodyPr wrap="none" lIns="0" tIns="0" rIns="0" bIns="0" rtlCol="0" anchor="t"/>
          <a:lstStyle/>
          <a:p>
            <a:pPr marL="0" indent="0" algn="l">
              <a:lnSpc>
                <a:spcPts val="5800"/>
              </a:lnSpc>
              <a:buNone/>
            </a:pPr>
            <a:r>
              <a:rPr lang="en-US" sz="4450" dirty="0">
                <a:solidFill>
                  <a:srgbClr val="532418"/>
                </a:solidFill>
                <a:latin typeface="Marcellus" pitchFamily="34" charset="0"/>
                <a:ea typeface="Marcellus" pitchFamily="34" charset="-122"/>
                <a:cs typeface="Marcellus" pitchFamily="34" charset="-120"/>
              </a:rPr>
              <a:t>Insurance Made Smarter, Faster, and More Secure</a:t>
            </a:r>
            <a:endParaRPr lang="en-US" sz="4450" dirty="0"/>
          </a:p>
        </p:txBody>
      </p:sp>
      <p:sp>
        <p:nvSpPr>
          <p:cNvPr id="3" name="Text 1"/>
          <p:cNvSpPr/>
          <p:nvPr/>
        </p:nvSpPr>
        <p:spPr>
          <a:xfrm>
            <a:off x="793790" y="2892800"/>
            <a:ext cx="13042821"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Blockchain technology promises to solve insurance's biggest problems—fraud, delays, and lack of trust. While challenges remain, the benefits are too significant to ignore. For you as future customers and potential industry professionals, understanding this transformation gives you an advantage in a rapidly changing landscape.</a:t>
            </a:r>
            <a:endParaRPr lang="en-US" sz="1550" dirty="0"/>
          </a:p>
        </p:txBody>
      </p:sp>
      <p:sp>
        <p:nvSpPr>
          <p:cNvPr id="4" name="Shape 2"/>
          <p:cNvSpPr/>
          <p:nvPr/>
        </p:nvSpPr>
        <p:spPr>
          <a:xfrm>
            <a:off x="793790" y="4133264"/>
            <a:ext cx="4215289" cy="1964293"/>
          </a:xfrm>
          <a:prstGeom prst="roundRect">
            <a:avLst>
              <a:gd name="adj" fmla="val 4244"/>
            </a:avLst>
          </a:prstGeom>
          <a:solidFill>
            <a:srgbClr val="FFFFF4"/>
          </a:solidFill>
          <a:ln w="22860">
            <a:solidFill>
              <a:srgbClr val="FFE0CC"/>
            </a:solidFill>
            <a:prstDash val="solid"/>
          </a:ln>
        </p:spPr>
        <p:txBody>
          <a:bodyPr/>
          <a:lstStyle/>
          <a:p>
            <a:endParaRPr lang="en-IN"/>
          </a:p>
        </p:txBody>
      </p:sp>
      <p:sp>
        <p:nvSpPr>
          <p:cNvPr id="5" name="Text 3"/>
          <p:cNvSpPr/>
          <p:nvPr/>
        </p:nvSpPr>
        <p:spPr>
          <a:xfrm>
            <a:off x="1015008" y="4354482"/>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000000"/>
                </a:solidFill>
                <a:latin typeface="Marcellus" pitchFamily="34" charset="0"/>
                <a:ea typeface="Marcellus" pitchFamily="34" charset="-122"/>
                <a:cs typeface="Marcellus" pitchFamily="34" charset="-120"/>
              </a:rPr>
              <a:t>💡</a:t>
            </a:r>
            <a:r>
              <a:rPr lang="en-US" sz="2200" dirty="0">
                <a:solidFill>
                  <a:srgbClr val="67534F"/>
                </a:solidFill>
                <a:latin typeface="Marcellus" pitchFamily="34" charset="0"/>
                <a:ea typeface="Marcellus" pitchFamily="34" charset="-122"/>
                <a:cs typeface="Marcellus" pitchFamily="34" charset="-120"/>
              </a:rPr>
              <a:t> The Big Idea</a:t>
            </a:r>
            <a:endParaRPr lang="en-US" sz="2200" dirty="0"/>
          </a:p>
        </p:txBody>
      </p:sp>
      <p:sp>
        <p:nvSpPr>
          <p:cNvPr id="6" name="Text 4"/>
          <p:cNvSpPr/>
          <p:nvPr/>
        </p:nvSpPr>
        <p:spPr>
          <a:xfrm>
            <a:off x="1015008" y="4844305"/>
            <a:ext cx="3772853" cy="1032034"/>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Blockchain replaces trust in institutions with trust in transparent, automated systems that work for everyone</a:t>
            </a:r>
            <a:endParaRPr lang="en-US" sz="1550" dirty="0"/>
          </a:p>
        </p:txBody>
      </p:sp>
      <p:sp>
        <p:nvSpPr>
          <p:cNvPr id="7" name="Shape 5"/>
          <p:cNvSpPr/>
          <p:nvPr/>
        </p:nvSpPr>
        <p:spPr>
          <a:xfrm>
            <a:off x="5207437" y="4133264"/>
            <a:ext cx="4215408" cy="1964293"/>
          </a:xfrm>
          <a:prstGeom prst="roundRect">
            <a:avLst>
              <a:gd name="adj" fmla="val 4244"/>
            </a:avLst>
          </a:prstGeom>
          <a:solidFill>
            <a:srgbClr val="FFFFF4"/>
          </a:solidFill>
          <a:ln w="22860">
            <a:solidFill>
              <a:srgbClr val="FFE0CC"/>
            </a:solidFill>
            <a:prstDash val="solid"/>
          </a:ln>
        </p:spPr>
        <p:txBody>
          <a:bodyPr/>
          <a:lstStyle/>
          <a:p>
            <a:endParaRPr lang="en-IN"/>
          </a:p>
        </p:txBody>
      </p:sp>
      <p:sp>
        <p:nvSpPr>
          <p:cNvPr id="8" name="Text 6"/>
          <p:cNvSpPr/>
          <p:nvPr/>
        </p:nvSpPr>
        <p:spPr>
          <a:xfrm>
            <a:off x="5428655" y="4354482"/>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000000"/>
                </a:solidFill>
                <a:latin typeface="Marcellus" pitchFamily="34" charset="0"/>
                <a:ea typeface="Marcellus" pitchFamily="34" charset="-122"/>
                <a:cs typeface="Marcellus" pitchFamily="34" charset="-120"/>
              </a:rPr>
              <a:t>⚡</a:t>
            </a:r>
            <a:r>
              <a:rPr lang="en-US" sz="2200" dirty="0">
                <a:solidFill>
                  <a:srgbClr val="67534F"/>
                </a:solidFill>
                <a:latin typeface="Marcellus" pitchFamily="34" charset="0"/>
                <a:ea typeface="Marcellus" pitchFamily="34" charset="-122"/>
                <a:cs typeface="Marcellus" pitchFamily="34" charset="-120"/>
              </a:rPr>
              <a:t> The Impact</a:t>
            </a:r>
            <a:endParaRPr lang="en-US" sz="2200" dirty="0"/>
          </a:p>
        </p:txBody>
      </p:sp>
      <p:sp>
        <p:nvSpPr>
          <p:cNvPr id="9" name="Text 7"/>
          <p:cNvSpPr/>
          <p:nvPr/>
        </p:nvSpPr>
        <p:spPr>
          <a:xfrm>
            <a:off x="5428655" y="4844305"/>
            <a:ext cx="3772972"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Faster claims, lower costs, and better protection for customers and insurers alike</a:t>
            </a:r>
            <a:endParaRPr lang="en-US" sz="1550" dirty="0"/>
          </a:p>
        </p:txBody>
      </p:sp>
      <p:sp>
        <p:nvSpPr>
          <p:cNvPr id="10" name="Shape 8"/>
          <p:cNvSpPr/>
          <p:nvPr/>
        </p:nvSpPr>
        <p:spPr>
          <a:xfrm>
            <a:off x="9621203" y="4133264"/>
            <a:ext cx="4215289" cy="1964293"/>
          </a:xfrm>
          <a:prstGeom prst="roundRect">
            <a:avLst>
              <a:gd name="adj" fmla="val 4244"/>
            </a:avLst>
          </a:prstGeom>
          <a:solidFill>
            <a:srgbClr val="FFFFF4"/>
          </a:solidFill>
          <a:ln w="22860">
            <a:solidFill>
              <a:srgbClr val="FFE0CC"/>
            </a:solidFill>
            <a:prstDash val="solid"/>
          </a:ln>
        </p:spPr>
        <p:txBody>
          <a:bodyPr/>
          <a:lstStyle/>
          <a:p>
            <a:endParaRPr lang="en-IN"/>
          </a:p>
        </p:txBody>
      </p:sp>
      <p:sp>
        <p:nvSpPr>
          <p:cNvPr id="11" name="Text 9"/>
          <p:cNvSpPr/>
          <p:nvPr/>
        </p:nvSpPr>
        <p:spPr>
          <a:xfrm>
            <a:off x="9842421" y="4354482"/>
            <a:ext cx="2852976" cy="370761"/>
          </a:xfrm>
          <a:prstGeom prst="rect">
            <a:avLst/>
          </a:prstGeom>
          <a:noFill/>
          <a:ln/>
        </p:spPr>
        <p:txBody>
          <a:bodyPr wrap="none" lIns="0" tIns="0" rIns="0" bIns="0" rtlCol="0" anchor="t"/>
          <a:lstStyle/>
          <a:p>
            <a:pPr marL="0" indent="0" algn="l">
              <a:lnSpc>
                <a:spcPts val="2900"/>
              </a:lnSpc>
              <a:buNone/>
            </a:pPr>
            <a:r>
              <a:rPr lang="en-US" sz="2200" dirty="0">
                <a:solidFill>
                  <a:srgbClr val="000000"/>
                </a:solidFill>
                <a:latin typeface="Marcellus" pitchFamily="34" charset="0"/>
                <a:ea typeface="Marcellus" pitchFamily="34" charset="-122"/>
                <a:cs typeface="Marcellus" pitchFamily="34" charset="-120"/>
              </a:rPr>
              <a:t>🚀</a:t>
            </a:r>
            <a:r>
              <a:rPr lang="en-US" sz="2200" dirty="0">
                <a:solidFill>
                  <a:srgbClr val="67534F"/>
                </a:solidFill>
                <a:latin typeface="Marcellus" pitchFamily="34" charset="0"/>
                <a:ea typeface="Marcellus" pitchFamily="34" charset="-122"/>
                <a:cs typeface="Marcellus" pitchFamily="34" charset="-120"/>
              </a:rPr>
              <a:t> The Future</a:t>
            </a:r>
            <a:endParaRPr lang="en-US" sz="2200" dirty="0"/>
          </a:p>
        </p:txBody>
      </p:sp>
      <p:sp>
        <p:nvSpPr>
          <p:cNvPr id="12" name="Text 10"/>
          <p:cNvSpPr/>
          <p:nvPr/>
        </p:nvSpPr>
        <p:spPr>
          <a:xfrm>
            <a:off x="9842421" y="4844305"/>
            <a:ext cx="3772853" cy="774025"/>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Within a decade, blockchain insurance could be as common as online banking is today</a:t>
            </a:r>
            <a:endParaRPr lang="en-US" sz="1550" dirty="0"/>
          </a:p>
        </p:txBody>
      </p:sp>
      <p:sp>
        <p:nvSpPr>
          <p:cNvPr id="13" name="Text 11"/>
          <p:cNvSpPr/>
          <p:nvPr/>
        </p:nvSpPr>
        <p:spPr>
          <a:xfrm>
            <a:off x="793790" y="6580370"/>
            <a:ext cx="13042821" cy="516017"/>
          </a:xfrm>
          <a:prstGeom prst="rect">
            <a:avLst/>
          </a:prstGeom>
          <a:noFill/>
          <a:ln/>
        </p:spPr>
        <p:txBody>
          <a:bodyPr wrap="square" lIns="0" tIns="0" rIns="0" bIns="0" rtlCol="0" anchor="t"/>
          <a:lstStyle/>
          <a:p>
            <a:pPr marL="0" indent="0" algn="l">
              <a:lnSpc>
                <a:spcPts val="2000"/>
              </a:lnSpc>
              <a:buNone/>
            </a:pPr>
            <a:r>
              <a:rPr lang="en-US" sz="1550" dirty="0">
                <a:solidFill>
                  <a:srgbClr val="67534F"/>
                </a:solidFill>
                <a:latin typeface="Montserrat" pitchFamily="34" charset="0"/>
                <a:ea typeface="Montserrat" pitchFamily="34" charset="-122"/>
                <a:cs typeface="Montserrat" pitchFamily="34" charset="-120"/>
              </a:rPr>
              <a:t>The future of insurance isn't just digital—it's decentralized, transparent, and built on blockchain. And that future is closer than you think.</a:t>
            </a:r>
            <a:endParaRPr lang="en-US" sz="1550" dirty="0"/>
          </a:p>
        </p:txBody>
      </p:sp>
      <p:pic>
        <p:nvPicPr>
          <p:cNvPr id="14" name="Picture 13">
            <a:extLst>
              <a:ext uri="{FF2B5EF4-FFF2-40B4-BE49-F238E27FC236}">
                <a16:creationId xmlns:a16="http://schemas.microsoft.com/office/drawing/2014/main" id="{C8537315-39AA-3029-74D9-8E26C09FA098}"/>
              </a:ext>
            </a:extLst>
          </p:cNvPr>
          <p:cNvPicPr>
            <a:picLocks noChangeAspect="1"/>
          </p:cNvPicPr>
          <p:nvPr/>
        </p:nvPicPr>
        <p:blipFill>
          <a:blip r:embed="rId3"/>
          <a:stretch>
            <a:fillRect/>
          </a:stretch>
        </p:blipFill>
        <p:spPr>
          <a:xfrm>
            <a:off x="12390635" y="7769327"/>
            <a:ext cx="2239766" cy="46027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1453</Words>
  <Application>Microsoft Office PowerPoint</Application>
  <PresentationFormat>Custom</PresentationFormat>
  <Paragraphs>112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Marcellus</vt:lpstr>
      <vt:lpstr>Montserrat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Diptarka Nandi</cp:lastModifiedBy>
  <cp:revision>1</cp:revision>
  <dcterms:created xsi:type="dcterms:W3CDTF">2025-10-17T08:51:57Z</dcterms:created>
  <dcterms:modified xsi:type="dcterms:W3CDTF">2025-10-17T09:12:25Z</dcterms:modified>
</cp:coreProperties>
</file>
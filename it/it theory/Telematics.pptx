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DM Sans" pitchFamily="2" charset="77"/>
      <p:regular r:id="rId12"/>
      <p:bold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732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Telematics in Insurtech: Driving the Future of Risk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concise overview for insurance professionals and product managers on leveraging telematics for better risk management and customer engagement.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0704"/>
            <a:ext cx="852606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Chapter 1: Understanding Telematics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777841"/>
            <a:ext cx="1101185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Exactly is Telematics?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793790" y="3096220"/>
            <a:ext cx="4196358" cy="4262557"/>
          </a:xfrm>
          <a:prstGeom prst="roundRect">
            <a:avLst>
              <a:gd name="adj" fmla="val 3486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3310" y="3096220"/>
            <a:ext cx="121920" cy="4262557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2524" y="335351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Definition and Components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4198263"/>
            <a:ext cx="359033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Telematics is a blend of telecommunications and informatics. It involves monitoring vehicles through GPS, on-board diagnostics (OBD), and other sensors to gather data on location, speed, driving behaviour, and vehicle health.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96220"/>
            <a:ext cx="4196358" cy="4262557"/>
          </a:xfrm>
          <a:prstGeom prst="roundRect">
            <a:avLst>
              <a:gd name="adj" fmla="val 3486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86482" y="3096220"/>
            <a:ext cx="121920" cy="4262557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65696" y="3353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Data Captured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3843933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 Braking and Acceleration Events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565696" y="4649033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Speeding Violations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565696" y="509123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Mileage and Routes Driven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565696" y="5533430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of Day Driving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3096220"/>
            <a:ext cx="4196358" cy="4262557"/>
          </a:xfrm>
          <a:prstGeom prst="roundRect">
            <a:avLst>
              <a:gd name="adj" fmla="val 3486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09653" y="3096220"/>
            <a:ext cx="121920" cy="4262557"/>
          </a:xfrm>
          <a:prstGeom prst="roundRect">
            <a:avLst>
              <a:gd name="adj" fmla="val 78139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88868" y="33535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988868" y="3843933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is collected via a device (often an OBD plug-in or built-in OEM system), transmitted wirelessly, and then processed to provide actionable insights into driver risk profiles.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3573"/>
            <a:ext cx="82888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Role of Telematics in Insurtech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74783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Telematics is a foundational technology for modern Insurtech, fundamentally shifting the insurance model from static, historical risk assessment to dynamic, real-time pricing.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367564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Usage-Based Insurance (UBI):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primary application, where premiums are directly tied to how, when, and where a vehicle is driven.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35567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Enhanced Risk Segmentation: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Insurers can move beyond traditional demographic data to create highly accurate risk pools based on actual driving behaviour.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703570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Improved Claims Management: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Accurate crash reconstruction data speeds up claim validation and reduces fraudulent activity.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25861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341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1514" y="3174087"/>
            <a:ext cx="5742146" cy="486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Chapter 2: Core Applications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81514" y="3952875"/>
            <a:ext cx="12655153" cy="83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52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Usage-Based Insurance (UBI) Models</a:t>
            </a:r>
            <a:endParaRPr lang="en-US" sz="5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499" y="5121057"/>
            <a:ext cx="292060" cy="2920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14212" y="5084683"/>
            <a:ext cx="3627477" cy="730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Pay-As-You-Drive (PAYD)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1314212" y="5931575"/>
            <a:ext cx="3627477" cy="124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Premiums are based purely on </a:t>
            </a:r>
            <a:r>
              <a:rPr lang="en-US" sz="15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mileage driven</a:t>
            </a: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This model appeals to low-mileage drivers and offers immediate transparency in pricing.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8038" y="5121057"/>
            <a:ext cx="292060" cy="2920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17751" y="5084683"/>
            <a:ext cx="3627477" cy="730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Pay-How-You-Drive (PHYD)</a:t>
            </a:r>
            <a:endParaRPr lang="en-US" sz="2250" dirty="0"/>
          </a:p>
        </p:txBody>
      </p:sp>
      <p:sp>
        <p:nvSpPr>
          <p:cNvPr id="10" name="Text 5"/>
          <p:cNvSpPr/>
          <p:nvPr/>
        </p:nvSpPr>
        <p:spPr>
          <a:xfrm>
            <a:off x="5817751" y="5931575"/>
            <a:ext cx="3627477" cy="1557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common model, where premiums are calculated based on </a:t>
            </a:r>
            <a:r>
              <a:rPr lang="en-US" sz="15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driving behaviour</a:t>
            </a: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(speeding, harsh braking, time of day). This incentivises safer driving.</a:t>
            </a:r>
            <a:endParaRPr lang="en-US" sz="15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61577" y="5121057"/>
            <a:ext cx="292060" cy="2920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321290" y="5084683"/>
            <a:ext cx="3627477" cy="730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Manage-How-You-Drive (MHYD)</a:t>
            </a:r>
            <a:endParaRPr lang="en-US" sz="2250" dirty="0"/>
          </a:p>
        </p:txBody>
      </p:sp>
      <p:sp>
        <p:nvSpPr>
          <p:cNvPr id="13" name="Text 7"/>
          <p:cNvSpPr/>
          <p:nvPr/>
        </p:nvSpPr>
        <p:spPr>
          <a:xfrm>
            <a:off x="10321290" y="5931575"/>
            <a:ext cx="3627477" cy="1246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Focuses on fleet management and commercial lines, providing coaching and feedback to drivers to proactively manage risk and maintenance.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4079"/>
            <a:ext cx="955595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Competitive Advantages for Insurers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224683"/>
            <a:ext cx="4196358" cy="3672483"/>
          </a:xfrm>
          <a:prstGeom prst="roundRect">
            <a:avLst>
              <a:gd name="adj" fmla="val 2594"/>
            </a:avLst>
          </a:prstGeom>
          <a:solidFill>
            <a:srgbClr val="F7EDD4"/>
          </a:solidFill>
          <a:ln w="7620">
            <a:solidFill>
              <a:srgbClr val="B88E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224" y="24591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646164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3663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Actuarial Precision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85679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Greater data granularity leads to refined pricing models, enabling better loss ratio management and profitability.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224683"/>
            <a:ext cx="4196358" cy="3672483"/>
          </a:xfrm>
          <a:prstGeom prst="roundRect">
            <a:avLst>
              <a:gd name="adj" fmla="val 2594"/>
            </a:avLst>
          </a:prstGeom>
          <a:solidFill>
            <a:srgbClr val="F7EDD4"/>
          </a:solidFill>
          <a:ln w="7620">
            <a:solidFill>
              <a:srgbClr val="B88E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51396" y="24591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2646164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366373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Innovation and Differentiation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21112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Telematics products allow insurers to stand out in a competitive market by offering personalised, value-added services.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224683"/>
            <a:ext cx="4196358" cy="3672483"/>
          </a:xfrm>
          <a:prstGeom prst="roundRect">
            <a:avLst>
              <a:gd name="adj" fmla="val 2594"/>
            </a:avLst>
          </a:prstGeom>
          <a:solidFill>
            <a:srgbClr val="F7EDD4"/>
          </a:solidFill>
          <a:ln w="7620">
            <a:solidFill>
              <a:srgbClr val="B88E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874568" y="245911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2646164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366373"/>
            <a:ext cx="36543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Proactive Risk Mitigation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856792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Insurers can actively encourage safer driving and potentially prevent accidents, shifting the focus from reaction to prevention.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133951" y="6407468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Leveraging telematics transforms insurance from a financial safety net into a proactive partner in risk management.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793790" y="6152317"/>
            <a:ext cx="30480" cy="873204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358" y="779621"/>
            <a:ext cx="5862042" cy="551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Benefits for the Customer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358" y="1772603"/>
            <a:ext cx="661987" cy="661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0214" y="1958697"/>
            <a:ext cx="275867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Lower Premiums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710214" y="2435900"/>
            <a:ext cx="3240048" cy="1412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Good drivers receive significant discounts, often saving 10-30% on their auto insurance costs.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6129" y="1772603"/>
            <a:ext cx="661987" cy="661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3985" y="1958697"/>
            <a:ext cx="31775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Personalised Feedback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6163985" y="2435900"/>
            <a:ext cx="3240167" cy="176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Drivers receive data-driven insights on their habits, empowering them to become safer and more efficient drivers.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80019" y="1772603"/>
            <a:ext cx="661987" cy="6619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17875" y="1958697"/>
            <a:ext cx="306252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Value-Added Services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0617875" y="2435900"/>
            <a:ext cx="3240048" cy="176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Beyond pricing, telematics enables services like stolen vehicle tracking, roadside assistance, and maintenance alerts.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3872" y="4592122"/>
            <a:ext cx="3873103" cy="26483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3425" y="4592122"/>
            <a:ext cx="3873103" cy="2648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2358" y="606862"/>
            <a:ext cx="9251633" cy="551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Chapter 3: Challenges and Disadvantages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72358" y="1599843"/>
            <a:ext cx="13085683" cy="35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Despite its benefits, the adoption of telematics faces significant hurdles, primarily centred around data and consumer trust.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2358" y="2532221"/>
            <a:ext cx="6432471" cy="2259449"/>
          </a:xfrm>
          <a:prstGeom prst="roundRect">
            <a:avLst>
              <a:gd name="adj" fmla="val 4102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2838" y="2562701"/>
            <a:ext cx="6371511" cy="220623"/>
          </a:xfrm>
          <a:prstGeom prst="roundRect">
            <a:avLst>
              <a:gd name="adj" fmla="val 25436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3461" y="3003947"/>
            <a:ext cx="3198495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Privacy Concerns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023461" y="3481149"/>
            <a:ext cx="5930265" cy="105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often hesitate due to fear of constant surveillance and how their granular data will be used or shared by the insurer.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5452" y="2201228"/>
            <a:ext cx="6432590" cy="2590443"/>
          </a:xfrm>
          <a:prstGeom prst="roundRect">
            <a:avLst>
              <a:gd name="adj" fmla="val 3578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55932" y="2231708"/>
            <a:ext cx="6371630" cy="220623"/>
          </a:xfrm>
          <a:prstGeom prst="roundRect">
            <a:avLst>
              <a:gd name="adj" fmla="val 25436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76555" y="2672953"/>
            <a:ext cx="294560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Standardisation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676555" y="3150156"/>
            <a:ext cx="5930384" cy="105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lack of uniform data formats across different OEM and aftermarket devices complicates data ingestion and processing for insurers.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2358" y="5343287"/>
            <a:ext cx="6432471" cy="2281595"/>
          </a:xfrm>
          <a:prstGeom prst="roundRect">
            <a:avLst>
              <a:gd name="adj" fmla="val 4063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2838" y="5373767"/>
            <a:ext cx="6371511" cy="220623"/>
          </a:xfrm>
          <a:prstGeom prst="roundRect">
            <a:avLst>
              <a:gd name="adj" fmla="val 25436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3461" y="5815013"/>
            <a:ext cx="403479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Integration Cost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1023461" y="6292215"/>
            <a:ext cx="5930265" cy="105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Implementing robust telematics platforms, including device distribution, connectivity, and analytics infrastructure, requires significant initial investment.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5452" y="5012293"/>
            <a:ext cx="6432590" cy="2612588"/>
          </a:xfrm>
          <a:prstGeom prst="roundRect">
            <a:avLst>
              <a:gd name="adj" fmla="val 3548"/>
            </a:avLst>
          </a:prstGeom>
          <a:solidFill>
            <a:srgbClr val="FFFDFA"/>
          </a:solidFill>
          <a:ln w="3048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55932" y="5042773"/>
            <a:ext cx="6371630" cy="220623"/>
          </a:xfrm>
          <a:prstGeom prst="roundRect">
            <a:avLst>
              <a:gd name="adj" fmla="val 25436"/>
            </a:avLst>
          </a:prstGeom>
          <a:solidFill>
            <a:srgbClr val="F7ED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76555" y="5484019"/>
            <a:ext cx="319242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Adverse Selection Risk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7676555" y="5961221"/>
            <a:ext cx="5930384" cy="1412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only safe drivers opt-in, the insurer's non-telematics pool may become disproportionately filled with high-risk drivers, potentially destabilising traditional premium models.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57188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Mitigating Implementation Roadblocks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66" y="822127"/>
            <a:ext cx="13722668" cy="5917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7264" y="5617467"/>
            <a:ext cx="3113208" cy="38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Trust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377264" y="4247656"/>
            <a:ext cx="3113208" cy="38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Security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77264" y="2891681"/>
            <a:ext cx="3113208" cy="38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77264" y="1521869"/>
            <a:ext cx="3113208" cy="38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Privacy Risks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96835" y="6867168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Overcoming these challenges requires strategic focus on transparency, secure technology, and demonstrating clear customer value beyond just discounted pricing.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96835" y="728948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Focus Areas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6835" y="7579995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communication on data usage and anonymisation.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96835" y="780109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Offering "soft" telematics solutions (e.g., smartphone apps) to reduce hardware costs.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6774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Takeaways: The Road Ahead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725460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63678" y="319325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414260" y="2952274"/>
            <a:ext cx="64223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Telematics is essential for the future of auto insurance, enabling genuine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personalisation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313158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563678" y="478095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414260" y="4539972"/>
            <a:ext cx="64223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value proposition must shift from 'surveillance' to 'safety' and 'savings' to ensure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adoption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900857"/>
            <a:ext cx="907256" cy="1360884"/>
          </a:xfrm>
          <a:prstGeom prst="roundRect">
            <a:avLst>
              <a:gd name="adj" fmla="val 360022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63678" y="63686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414260" y="6127671"/>
            <a:ext cx="64223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Insurers must invest in robust </a:t>
            </a:r>
            <a:r>
              <a:rPr lang="en-US" sz="175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 and data security</a:t>
            </a: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leverage the full potential of UBI.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723</Words>
  <Application>Microsoft Macintosh PowerPoint</Application>
  <PresentationFormat>Custom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Libre Baskerville</vt:lpstr>
      <vt:lpstr>DM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Atulit Kumar - 123162420 - MITMPL</cp:lastModifiedBy>
  <cp:revision>2</cp:revision>
  <dcterms:created xsi:type="dcterms:W3CDTF">2025-10-19T17:51:51Z</dcterms:created>
  <dcterms:modified xsi:type="dcterms:W3CDTF">2025-10-19T17:58:57Z</dcterms:modified>
</cp:coreProperties>
</file>
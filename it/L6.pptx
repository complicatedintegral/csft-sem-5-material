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8" r:id="rId3"/>
    <p:sldId id="269"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1CF213-D83C-43AD-AFB1-8EDFCC9FAA75}" type="datetimeFigureOut">
              <a:rPr lang="en-IN" smtClean="0"/>
              <a:t>03-09-2025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67A66B-B038-4B9D-A401-26F97280A2B4}" type="slidenum">
              <a:rPr lang="en-IN" smtClean="0"/>
              <a:t>‹#›</a:t>
            </a:fld>
            <a:endParaRPr lang="en-IN"/>
          </a:p>
        </p:txBody>
      </p:sp>
    </p:spTree>
    <p:extLst>
      <p:ext uri="{BB962C8B-B14F-4D97-AF65-F5344CB8AC3E}">
        <p14:creationId xmlns:p14="http://schemas.microsoft.com/office/powerpoint/2010/main" val="234422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Silent Generation (1928–1945), Baby Boomers (1946–1964), Generation X (1965–1980), Millennials (1981–1996), and Generation Z (1997–2012). The ranges are approximations, and subsequent generations include Generation Alpha (2010–2024) and Generation Beta (starting 2025). </a:t>
            </a:r>
            <a:endParaRPr lang="en-IN" dirty="0"/>
          </a:p>
        </p:txBody>
      </p:sp>
      <p:sp>
        <p:nvSpPr>
          <p:cNvPr id="4" name="Slide Number Placeholder 3"/>
          <p:cNvSpPr>
            <a:spLocks noGrp="1"/>
          </p:cNvSpPr>
          <p:nvPr>
            <p:ph type="sldNum" sz="quarter" idx="5"/>
          </p:nvPr>
        </p:nvSpPr>
        <p:spPr/>
        <p:txBody>
          <a:bodyPr/>
          <a:lstStyle/>
          <a:p>
            <a:fld id="{1267A66B-B038-4B9D-A401-26F97280A2B4}" type="slidenum">
              <a:rPr lang="en-IN" smtClean="0"/>
              <a:t>4</a:t>
            </a:fld>
            <a:endParaRPr lang="en-IN"/>
          </a:p>
        </p:txBody>
      </p:sp>
    </p:spTree>
    <p:extLst>
      <p:ext uri="{BB962C8B-B14F-4D97-AF65-F5344CB8AC3E}">
        <p14:creationId xmlns:p14="http://schemas.microsoft.com/office/powerpoint/2010/main" val="2532273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legacy system is an outdated but still functional computer system, software, hardware, or technology that relies on obsolete programming languages or components and is essential to an organization's operations. These systems are characterized by their age, lack of support and modern features, inflexibility, vulnerability to security threats, and high maintenance costs, often hindering a company's competitiveness and ability to scale. While they provide critical services, they present significant challenges for organizations, necessitating careful decisions about maintenance, redesign, or replacement with modern technologies. </a:t>
            </a:r>
            <a:endParaRPr lang="en-IN" dirty="0"/>
          </a:p>
        </p:txBody>
      </p:sp>
      <p:sp>
        <p:nvSpPr>
          <p:cNvPr id="4" name="Slide Number Placeholder 3"/>
          <p:cNvSpPr>
            <a:spLocks noGrp="1"/>
          </p:cNvSpPr>
          <p:nvPr>
            <p:ph type="sldNum" sz="quarter" idx="5"/>
          </p:nvPr>
        </p:nvSpPr>
        <p:spPr/>
        <p:txBody>
          <a:bodyPr/>
          <a:lstStyle/>
          <a:p>
            <a:fld id="{1267A66B-B038-4B9D-A401-26F97280A2B4}" type="slidenum">
              <a:rPr lang="en-IN" smtClean="0"/>
              <a:t>7</a:t>
            </a:fld>
            <a:endParaRPr lang="en-IN"/>
          </a:p>
        </p:txBody>
      </p:sp>
    </p:spTree>
    <p:extLst>
      <p:ext uri="{BB962C8B-B14F-4D97-AF65-F5344CB8AC3E}">
        <p14:creationId xmlns:p14="http://schemas.microsoft.com/office/powerpoint/2010/main" val="1919210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Insurers in all states are required to use a special accounting system when filing annual financial reports with state regulators.  This system is known as statutory accounting principles (SAP). SAP accounting is more conservative than generally accepted accounting principles (GAAP), as defined by the Financial Accounting Standards Board, and is designed to ensure that insurers have sufficient capital and surplus to cover all anticipated insurance-related obligations. The two systems differ principally in matters of timing of expenses, tax accounting, the treatment of capital gains and accounting for surplus. Simply put, SAP recognizes liabilities earlier or at a higher value and recognizes assets later or at a lower value. GAAP accounting focuses on a business as a going concern, while SAP accounting treats insurers as if they were about to be liquidated. SAP accounting is defined by state law according to uniform codes established by the National Association of Insurance Commissioners. Insurance companies reporting to the Securities and Exchange Commission must maintain and report another set of figures that meet GAAP standards.</a:t>
            </a:r>
            <a:endParaRPr lang="en-IN" dirty="0"/>
          </a:p>
        </p:txBody>
      </p:sp>
      <p:sp>
        <p:nvSpPr>
          <p:cNvPr id="4" name="Slide Number Placeholder 3"/>
          <p:cNvSpPr>
            <a:spLocks noGrp="1"/>
          </p:cNvSpPr>
          <p:nvPr>
            <p:ph type="sldNum" sz="quarter" idx="5"/>
          </p:nvPr>
        </p:nvSpPr>
        <p:spPr/>
        <p:txBody>
          <a:bodyPr/>
          <a:lstStyle/>
          <a:p>
            <a:fld id="{1267A66B-B038-4B9D-A401-26F97280A2B4}" type="slidenum">
              <a:rPr lang="en-IN" smtClean="0"/>
              <a:t>8</a:t>
            </a:fld>
            <a:endParaRPr lang="en-IN"/>
          </a:p>
        </p:txBody>
      </p:sp>
    </p:spTree>
    <p:extLst>
      <p:ext uri="{BB962C8B-B14F-4D97-AF65-F5344CB8AC3E}">
        <p14:creationId xmlns:p14="http://schemas.microsoft.com/office/powerpoint/2010/main" val="1454870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4007282-B091-4628-A496-3F99DC5321E7}"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C5125-1F54-4E95-A293-918A15D93832}"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4581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007282-B091-4628-A496-3F99DC5321E7}"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C5125-1F54-4E95-A293-918A15D93832}" type="slidenum">
              <a:rPr lang="en-IN" smtClean="0"/>
              <a:t>‹#›</a:t>
            </a:fld>
            <a:endParaRPr lang="en-IN"/>
          </a:p>
        </p:txBody>
      </p:sp>
    </p:spTree>
    <p:extLst>
      <p:ext uri="{BB962C8B-B14F-4D97-AF65-F5344CB8AC3E}">
        <p14:creationId xmlns:p14="http://schemas.microsoft.com/office/powerpoint/2010/main" val="240765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007282-B091-4628-A496-3F99DC5321E7}"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C5125-1F54-4E95-A293-918A15D93832}"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610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007282-B091-4628-A496-3F99DC5321E7}"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9C5125-1F54-4E95-A293-918A15D93832}" type="slidenum">
              <a:rPr lang="en-IN" smtClean="0"/>
              <a:t>‹#›</a:t>
            </a:fld>
            <a:endParaRPr lang="en-IN"/>
          </a:p>
        </p:txBody>
      </p:sp>
    </p:spTree>
    <p:extLst>
      <p:ext uri="{BB962C8B-B14F-4D97-AF65-F5344CB8AC3E}">
        <p14:creationId xmlns:p14="http://schemas.microsoft.com/office/powerpoint/2010/main" val="3901973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007282-B091-4628-A496-3F99DC5321E7}" type="datetimeFigureOut">
              <a:rPr lang="en-IN" smtClean="0"/>
              <a:t>03-09-2025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9C5125-1F54-4E95-A293-918A15D93832}" type="slidenum">
              <a:rPr lang="en-IN" smtClean="0"/>
              <a:t>‹#›</a:t>
            </a:fld>
            <a:endParaRPr lang="en-IN"/>
          </a:p>
        </p:txBody>
      </p:sp>
    </p:spTree>
    <p:extLst>
      <p:ext uri="{BB962C8B-B14F-4D97-AF65-F5344CB8AC3E}">
        <p14:creationId xmlns:p14="http://schemas.microsoft.com/office/powerpoint/2010/main" val="655222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007282-B091-4628-A496-3F99DC5321E7}" type="datetimeFigureOut">
              <a:rPr lang="en-IN" smtClean="0"/>
              <a:t>03-09-2025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9C5125-1F54-4E95-A293-918A15D93832}" type="slidenum">
              <a:rPr lang="en-IN" smtClean="0"/>
              <a:t>‹#›</a:t>
            </a:fld>
            <a:endParaRPr lang="en-IN"/>
          </a:p>
        </p:txBody>
      </p:sp>
    </p:spTree>
    <p:extLst>
      <p:ext uri="{BB962C8B-B14F-4D97-AF65-F5344CB8AC3E}">
        <p14:creationId xmlns:p14="http://schemas.microsoft.com/office/powerpoint/2010/main" val="913298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007282-B091-4628-A496-3F99DC5321E7}" type="datetimeFigureOut">
              <a:rPr lang="en-IN" smtClean="0"/>
              <a:t>03-09-2025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9C5125-1F54-4E95-A293-918A15D93832}" type="slidenum">
              <a:rPr lang="en-IN" smtClean="0"/>
              <a:t>‹#›</a:t>
            </a:fld>
            <a:endParaRPr lang="en-IN"/>
          </a:p>
        </p:txBody>
      </p:sp>
    </p:spTree>
    <p:extLst>
      <p:ext uri="{BB962C8B-B14F-4D97-AF65-F5344CB8AC3E}">
        <p14:creationId xmlns:p14="http://schemas.microsoft.com/office/powerpoint/2010/main" val="1229281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007282-B091-4628-A496-3F99DC5321E7}"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9C5125-1F54-4E95-A293-918A15D93832}" type="slidenum">
              <a:rPr lang="en-IN" smtClean="0"/>
              <a:t>‹#›</a:t>
            </a:fld>
            <a:endParaRPr lang="en-IN"/>
          </a:p>
        </p:txBody>
      </p:sp>
    </p:spTree>
    <p:extLst>
      <p:ext uri="{BB962C8B-B14F-4D97-AF65-F5344CB8AC3E}">
        <p14:creationId xmlns:p14="http://schemas.microsoft.com/office/powerpoint/2010/main" val="252922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007282-B091-4628-A496-3F99DC5321E7}"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9C5125-1F54-4E95-A293-918A15D93832}"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05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007282-B091-4628-A496-3F99DC5321E7}"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C5125-1F54-4E95-A293-918A15D93832}" type="slidenum">
              <a:rPr lang="en-IN" smtClean="0"/>
              <a:t>‹#›</a:t>
            </a:fld>
            <a:endParaRPr lang="en-IN"/>
          </a:p>
        </p:txBody>
      </p:sp>
    </p:spTree>
    <p:extLst>
      <p:ext uri="{BB962C8B-B14F-4D97-AF65-F5344CB8AC3E}">
        <p14:creationId xmlns:p14="http://schemas.microsoft.com/office/powerpoint/2010/main" val="193831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007282-B091-4628-A496-3F99DC5321E7}"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C5125-1F54-4E95-A293-918A15D93832}"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025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4007282-B091-4628-A496-3F99DC5321E7}" type="datetimeFigureOut">
              <a:rPr lang="en-IN" smtClean="0"/>
              <a:t>03-09-2025</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99C5125-1F54-4E95-A293-918A15D93832}"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9514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www.zippia.com/insurance-agent-jobs/demographic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pewresearch.org/short-reads/2020/04/28/millennials-overtake-baby-boomers-as-americas-largest-generation/"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gallup.com/workplace/231587/millennials-job-hopping-generation.aspx" TargetMode="External"/><Relationship Id="rId2" Type="http://schemas.openxmlformats.org/officeDocument/2006/relationships/hyperlink" Target="https://www.betterup.com/blog/generations-in-the-workplac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insurancejournal.com/news/international/2024/03/21/765932.htm" TargetMode="External"/><Relationship Id="rId2" Type="http://schemas.openxmlformats.org/officeDocument/2006/relationships/hyperlink" Target="https://www.insurancejournal.com/magazines/mag-features/2024/03/18/764909.ht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ravel essentials on a table">
            <a:extLst>
              <a:ext uri="{FF2B5EF4-FFF2-40B4-BE49-F238E27FC236}">
                <a16:creationId xmlns:a16="http://schemas.microsoft.com/office/drawing/2014/main" id="{9B9F8B89-918B-E2B0-FD04-CC6CE7E63BF3}"/>
              </a:ext>
            </a:extLst>
          </p:cNvPr>
          <p:cNvPicPr>
            <a:picLocks noChangeAspect="1"/>
          </p:cNvPicPr>
          <p:nvPr/>
        </p:nvPicPr>
        <p:blipFill>
          <a:blip r:embed="rId2">
            <a:alphaModFix amt="45000"/>
          </a:blip>
          <a:srcRect r="-1" b="15708"/>
          <a:stretch>
            <a:fillRect/>
          </a:stretch>
        </p:blipFill>
        <p:spPr>
          <a:xfrm>
            <a:off x="20" y="-1"/>
            <a:ext cx="12188932" cy="6858000"/>
          </a:xfrm>
          <a:prstGeom prst="rect">
            <a:avLst/>
          </a:prstGeom>
        </p:spPr>
      </p:pic>
      <p:sp>
        <p:nvSpPr>
          <p:cNvPr id="2" name="Title 1">
            <a:extLst>
              <a:ext uri="{FF2B5EF4-FFF2-40B4-BE49-F238E27FC236}">
                <a16:creationId xmlns:a16="http://schemas.microsoft.com/office/drawing/2014/main" id="{698434A2-335B-CCB1-EDCE-F78AAB454129}"/>
              </a:ext>
            </a:extLst>
          </p:cNvPr>
          <p:cNvSpPr>
            <a:spLocks noGrp="1"/>
          </p:cNvSpPr>
          <p:nvPr>
            <p:ph type="ctrTitle"/>
          </p:nvPr>
        </p:nvSpPr>
        <p:spPr>
          <a:xfrm>
            <a:off x="643467" y="643467"/>
            <a:ext cx="7164674" cy="5571066"/>
          </a:xfrm>
        </p:spPr>
        <p:txBody>
          <a:bodyPr>
            <a:normAutofit/>
          </a:bodyPr>
          <a:lstStyle/>
          <a:p>
            <a:r>
              <a:rPr lang="en-IN" sz="6600">
                <a:solidFill>
                  <a:schemeClr val="tx1"/>
                </a:solidFill>
              </a:rPr>
              <a:t>A Cartographer’s Dream – Exploring, and Mapping</a:t>
            </a:r>
          </a:p>
        </p:txBody>
      </p:sp>
      <p:sp>
        <p:nvSpPr>
          <p:cNvPr id="3" name="Subtitle 2">
            <a:extLst>
              <a:ext uri="{FF2B5EF4-FFF2-40B4-BE49-F238E27FC236}">
                <a16:creationId xmlns:a16="http://schemas.microsoft.com/office/drawing/2014/main" id="{CB8A3DA5-4130-DFFC-6AC0-683C861AFB39}"/>
              </a:ext>
            </a:extLst>
          </p:cNvPr>
          <p:cNvSpPr>
            <a:spLocks noGrp="1"/>
          </p:cNvSpPr>
          <p:nvPr>
            <p:ph type="subTitle" idx="1"/>
          </p:nvPr>
        </p:nvSpPr>
        <p:spPr>
          <a:xfrm>
            <a:off x="8451608" y="643467"/>
            <a:ext cx="3096926" cy="5571066"/>
          </a:xfrm>
        </p:spPr>
        <p:txBody>
          <a:bodyPr>
            <a:normAutofit/>
          </a:bodyPr>
          <a:lstStyle/>
          <a:p>
            <a:r>
              <a:rPr lang="en-US" sz="2000">
                <a:solidFill>
                  <a:schemeClr val="tx1"/>
                </a:solidFill>
              </a:rPr>
              <a:t>Dr.Sumukh S.Hungund</a:t>
            </a:r>
            <a:endParaRPr lang="en-IN" sz="2000">
              <a:solidFill>
                <a:schemeClr val="tx1"/>
              </a:solidFill>
            </a:endParaRPr>
          </a:p>
        </p:txBody>
      </p:sp>
      <p:cxnSp>
        <p:nvCxnSpPr>
          <p:cNvPr id="11" name="Straight Connector 10">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57458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F3CD5D-19F2-3A0B-42C2-5B53C7D7DD58}"/>
              </a:ext>
            </a:extLst>
          </p:cNvPr>
          <p:cNvSpPr>
            <a:spLocks noGrp="1"/>
          </p:cNvSpPr>
          <p:nvPr>
            <p:ph type="title"/>
          </p:nvPr>
        </p:nvSpPr>
        <p:spPr/>
        <p:txBody>
          <a:bodyPr/>
          <a:lstStyle/>
          <a:p>
            <a:r>
              <a:rPr lang="en-US" dirty="0"/>
              <a:t>Exploring the challenges faced by Insurance Sector</a:t>
            </a:r>
            <a:endParaRPr lang="en-IN" dirty="0"/>
          </a:p>
        </p:txBody>
      </p:sp>
      <p:sp>
        <p:nvSpPr>
          <p:cNvPr id="5" name="Content Placeholder 4">
            <a:extLst>
              <a:ext uri="{FF2B5EF4-FFF2-40B4-BE49-F238E27FC236}">
                <a16:creationId xmlns:a16="http://schemas.microsoft.com/office/drawing/2014/main" id="{70287EBF-F95C-3A53-D9C2-2C6D4A33E0A6}"/>
              </a:ext>
            </a:extLst>
          </p:cNvPr>
          <p:cNvSpPr>
            <a:spLocks noGrp="1"/>
          </p:cNvSpPr>
          <p:nvPr>
            <p:ph sz="half" idx="1"/>
          </p:nvPr>
        </p:nvSpPr>
        <p:spPr/>
        <p:txBody>
          <a:bodyPr>
            <a:normAutofit fontScale="62500" lnSpcReduction="20000"/>
          </a:bodyPr>
          <a:lstStyle/>
          <a:p>
            <a:r>
              <a:rPr lang="en-IN" sz="2600" dirty="0"/>
              <a:t>Rising customer expectations</a:t>
            </a:r>
          </a:p>
          <a:p>
            <a:r>
              <a:rPr lang="en-IN" sz="2600" dirty="0"/>
              <a:t>Cybersecurity</a:t>
            </a:r>
          </a:p>
          <a:p>
            <a:r>
              <a:rPr lang="en-IN" sz="2600" dirty="0"/>
              <a:t>Complex regulatory requirements</a:t>
            </a:r>
          </a:p>
          <a:p>
            <a:r>
              <a:rPr lang="en-IN" sz="2600" dirty="0"/>
              <a:t>Competition</a:t>
            </a:r>
          </a:p>
          <a:p>
            <a:r>
              <a:rPr lang="en-IN" sz="2600" dirty="0"/>
              <a:t>Climate change</a:t>
            </a:r>
          </a:p>
          <a:p>
            <a:r>
              <a:rPr lang="en-US" sz="2600" dirty="0"/>
              <a:t>Competition from </a:t>
            </a:r>
            <a:r>
              <a:rPr lang="en-US" sz="2600" dirty="0" err="1"/>
              <a:t>insurtech</a:t>
            </a:r>
            <a:endParaRPr lang="en-US" sz="2600" dirty="0"/>
          </a:p>
          <a:p>
            <a:r>
              <a:rPr lang="en-US" sz="2600" dirty="0"/>
              <a:t>Legacy technology</a:t>
            </a:r>
          </a:p>
          <a:p>
            <a:r>
              <a:rPr lang="en-US" sz="2600" dirty="0"/>
              <a:t>Economic conditions</a:t>
            </a:r>
          </a:p>
          <a:p>
            <a:r>
              <a:rPr lang="en-US" sz="2600" dirty="0"/>
              <a:t>Talent attraction and retention</a:t>
            </a:r>
          </a:p>
          <a:p>
            <a:r>
              <a:rPr lang="en-US" sz="2600" dirty="0"/>
              <a:t>Talent shortage</a:t>
            </a:r>
          </a:p>
          <a:p>
            <a:r>
              <a:rPr lang="en-US" sz="2600" dirty="0"/>
              <a:t>Technological change</a:t>
            </a:r>
          </a:p>
          <a:p>
            <a:endParaRPr lang="en-IN" dirty="0"/>
          </a:p>
        </p:txBody>
      </p:sp>
      <p:sp>
        <p:nvSpPr>
          <p:cNvPr id="6" name="Content Placeholder 5">
            <a:extLst>
              <a:ext uri="{FF2B5EF4-FFF2-40B4-BE49-F238E27FC236}">
                <a16:creationId xmlns:a16="http://schemas.microsoft.com/office/drawing/2014/main" id="{AD58E4ED-E090-982F-8B67-D457FB147CDA}"/>
              </a:ext>
            </a:extLst>
          </p:cNvPr>
          <p:cNvSpPr>
            <a:spLocks noGrp="1"/>
          </p:cNvSpPr>
          <p:nvPr>
            <p:ph sz="half" idx="2"/>
          </p:nvPr>
        </p:nvSpPr>
        <p:spPr/>
        <p:txBody>
          <a:bodyPr>
            <a:normAutofit fontScale="62500" lnSpcReduction="20000"/>
          </a:bodyPr>
          <a:lstStyle/>
          <a:p>
            <a:r>
              <a:rPr lang="en-US" sz="2300" dirty="0"/>
              <a:t>Escalating healthcare costs</a:t>
            </a:r>
          </a:p>
          <a:p>
            <a:r>
              <a:rPr lang="en-US" sz="2300" dirty="0"/>
              <a:t>Insurance brokers face new challenges</a:t>
            </a:r>
          </a:p>
          <a:p>
            <a:r>
              <a:rPr lang="en-US" sz="2300" dirty="0"/>
              <a:t>Insurance fraud</a:t>
            </a:r>
          </a:p>
          <a:p>
            <a:r>
              <a:rPr lang="en-US" sz="2300" dirty="0"/>
              <a:t>Lack of data standardization</a:t>
            </a:r>
          </a:p>
          <a:p>
            <a:r>
              <a:rPr lang="en-US" sz="2300" dirty="0"/>
              <a:t>Lack of trust</a:t>
            </a:r>
          </a:p>
          <a:p>
            <a:r>
              <a:rPr lang="en-US" sz="2300" dirty="0"/>
              <a:t>Natural disasters</a:t>
            </a:r>
          </a:p>
          <a:p>
            <a:r>
              <a:rPr lang="en-US" sz="2300" dirty="0"/>
              <a:t>The digital transformation</a:t>
            </a:r>
          </a:p>
          <a:p>
            <a:r>
              <a:rPr lang="en-US" sz="2300" dirty="0"/>
              <a:t>Business intelligence</a:t>
            </a:r>
          </a:p>
          <a:p>
            <a:r>
              <a:rPr lang="en-US" sz="2300" dirty="0"/>
              <a:t>Changing customer needs</a:t>
            </a:r>
          </a:p>
          <a:p>
            <a:r>
              <a:rPr lang="en-US" sz="2300" dirty="0"/>
              <a:t>Claim management</a:t>
            </a:r>
          </a:p>
          <a:p>
            <a:r>
              <a:rPr lang="en-US" sz="2300" dirty="0"/>
              <a:t>Data security: an absolute priority</a:t>
            </a:r>
          </a:p>
          <a:p>
            <a:r>
              <a:rPr lang="en-US" sz="2300" dirty="0"/>
              <a:t>Digital disruption</a:t>
            </a:r>
          </a:p>
          <a:p>
            <a:endParaRPr lang="en-IN" dirty="0"/>
          </a:p>
        </p:txBody>
      </p:sp>
    </p:spTree>
    <p:extLst>
      <p:ext uri="{BB962C8B-B14F-4D97-AF65-F5344CB8AC3E}">
        <p14:creationId xmlns:p14="http://schemas.microsoft.com/office/powerpoint/2010/main" val="136455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 calcmode="lin" valueType="num">
                                      <p:cBhvr additive="base">
                                        <p:cTn id="3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 calcmode="lin" valueType="num">
                                      <p:cBhvr additive="base">
                                        <p:cTn id="4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anim calcmode="lin" valueType="num">
                                      <p:cBhvr additive="base">
                                        <p:cTn id="4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
                                            <p:txEl>
                                              <p:pRg st="7" end="7"/>
                                            </p:txEl>
                                          </p:spTgt>
                                        </p:tgtEl>
                                        <p:attrNameLst>
                                          <p:attrName>style.visibility</p:attrName>
                                        </p:attrNameLst>
                                      </p:cBhvr>
                                      <p:to>
                                        <p:strVal val="visible"/>
                                      </p:to>
                                    </p:set>
                                    <p:anim calcmode="lin" valueType="num">
                                      <p:cBhvr additive="base">
                                        <p:cTn id="5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xEl>
                                              <p:pRg st="8" end="8"/>
                                            </p:txEl>
                                          </p:spTgt>
                                        </p:tgtEl>
                                        <p:attrNameLst>
                                          <p:attrName>style.visibility</p:attrName>
                                        </p:attrNameLst>
                                      </p:cBhvr>
                                      <p:to>
                                        <p:strVal val="visible"/>
                                      </p:to>
                                    </p:set>
                                    <p:anim calcmode="lin" valueType="num">
                                      <p:cBhvr additive="base">
                                        <p:cTn id="6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
                                            <p:txEl>
                                              <p:pRg st="9" end="9"/>
                                            </p:txEl>
                                          </p:spTgt>
                                        </p:tgtEl>
                                        <p:attrNameLst>
                                          <p:attrName>style.visibility</p:attrName>
                                        </p:attrNameLst>
                                      </p:cBhvr>
                                      <p:to>
                                        <p:strVal val="visible"/>
                                      </p:to>
                                    </p:set>
                                    <p:anim calcmode="lin" valueType="num">
                                      <p:cBhvr additive="base">
                                        <p:cTn id="6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5">
                                            <p:txEl>
                                              <p:pRg st="10" end="10"/>
                                            </p:txEl>
                                          </p:spTgt>
                                        </p:tgtEl>
                                        <p:attrNameLst>
                                          <p:attrName>style.visibility</p:attrName>
                                        </p:attrNameLst>
                                      </p:cBhvr>
                                      <p:to>
                                        <p:strVal val="visible"/>
                                      </p:to>
                                    </p:set>
                                    <p:anim calcmode="lin" valueType="num">
                                      <p:cBhvr additive="base">
                                        <p:cTn id="7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
                                            <p:txEl>
                                              <p:pRg st="0" end="0"/>
                                            </p:txEl>
                                          </p:spTgt>
                                        </p:tgtEl>
                                        <p:attrNameLst>
                                          <p:attrName>style.visibility</p:attrName>
                                        </p:attrNameLst>
                                      </p:cBhvr>
                                      <p:to>
                                        <p:strVal val="visible"/>
                                      </p:to>
                                    </p:set>
                                    <p:anim calcmode="lin" valueType="num">
                                      <p:cBhvr additive="base">
                                        <p:cTn id="7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6">
                                            <p:txEl>
                                              <p:pRg st="1" end="1"/>
                                            </p:txEl>
                                          </p:spTgt>
                                        </p:tgtEl>
                                        <p:attrNameLst>
                                          <p:attrName>style.visibility</p:attrName>
                                        </p:attrNameLst>
                                      </p:cBhvr>
                                      <p:to>
                                        <p:strVal val="visible"/>
                                      </p:to>
                                    </p:set>
                                    <p:anim calcmode="lin" valueType="num">
                                      <p:cBhvr additive="base">
                                        <p:cTn id="8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
                                            <p:txEl>
                                              <p:pRg st="2" end="2"/>
                                            </p:txEl>
                                          </p:spTgt>
                                        </p:tgtEl>
                                        <p:attrNameLst>
                                          <p:attrName>style.visibility</p:attrName>
                                        </p:attrNameLst>
                                      </p:cBhvr>
                                      <p:to>
                                        <p:strVal val="visible"/>
                                      </p:to>
                                    </p:set>
                                    <p:anim calcmode="lin" valueType="num">
                                      <p:cBhvr additive="base">
                                        <p:cTn id="9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
                                            <p:txEl>
                                              <p:pRg st="3" end="3"/>
                                            </p:txEl>
                                          </p:spTgt>
                                        </p:tgtEl>
                                        <p:attrNameLst>
                                          <p:attrName>style.visibility</p:attrName>
                                        </p:attrNameLst>
                                      </p:cBhvr>
                                      <p:to>
                                        <p:strVal val="visible"/>
                                      </p:to>
                                    </p:set>
                                    <p:anim calcmode="lin" valueType="num">
                                      <p:cBhvr additive="base">
                                        <p:cTn id="9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6">
                                            <p:txEl>
                                              <p:pRg st="4" end="4"/>
                                            </p:txEl>
                                          </p:spTgt>
                                        </p:tgtEl>
                                        <p:attrNameLst>
                                          <p:attrName>style.visibility</p:attrName>
                                        </p:attrNameLst>
                                      </p:cBhvr>
                                      <p:to>
                                        <p:strVal val="visible"/>
                                      </p:to>
                                    </p:set>
                                    <p:anim calcmode="lin" valueType="num">
                                      <p:cBhvr additive="base">
                                        <p:cTn id="10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6">
                                            <p:txEl>
                                              <p:pRg st="5" end="5"/>
                                            </p:txEl>
                                          </p:spTgt>
                                        </p:tgtEl>
                                        <p:attrNameLst>
                                          <p:attrName>style.visibility</p:attrName>
                                        </p:attrNameLst>
                                      </p:cBhvr>
                                      <p:to>
                                        <p:strVal val="visible"/>
                                      </p:to>
                                    </p:set>
                                    <p:anim calcmode="lin" valueType="num">
                                      <p:cBhvr additive="base">
                                        <p:cTn id="10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6">
                                            <p:txEl>
                                              <p:pRg st="6" end="6"/>
                                            </p:txEl>
                                          </p:spTgt>
                                        </p:tgtEl>
                                        <p:attrNameLst>
                                          <p:attrName>style.visibility</p:attrName>
                                        </p:attrNameLst>
                                      </p:cBhvr>
                                      <p:to>
                                        <p:strVal val="visible"/>
                                      </p:to>
                                    </p:set>
                                    <p:anim calcmode="lin" valueType="num">
                                      <p:cBhvr additive="base">
                                        <p:cTn id="11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6">
                                            <p:txEl>
                                              <p:pRg st="7" end="7"/>
                                            </p:txEl>
                                          </p:spTgt>
                                        </p:tgtEl>
                                        <p:attrNameLst>
                                          <p:attrName>style.visibility</p:attrName>
                                        </p:attrNameLst>
                                      </p:cBhvr>
                                      <p:to>
                                        <p:strVal val="visible"/>
                                      </p:to>
                                    </p:set>
                                    <p:anim calcmode="lin" valueType="num">
                                      <p:cBhvr additive="base">
                                        <p:cTn id="121"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6">
                                            <p:txEl>
                                              <p:pRg st="8" end="8"/>
                                            </p:txEl>
                                          </p:spTgt>
                                        </p:tgtEl>
                                        <p:attrNameLst>
                                          <p:attrName>style.visibility</p:attrName>
                                        </p:attrNameLst>
                                      </p:cBhvr>
                                      <p:to>
                                        <p:strVal val="visible"/>
                                      </p:to>
                                    </p:set>
                                    <p:anim calcmode="lin" valueType="num">
                                      <p:cBhvr additive="base">
                                        <p:cTn id="127"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6">
                                            <p:txEl>
                                              <p:pRg st="9" end="9"/>
                                            </p:txEl>
                                          </p:spTgt>
                                        </p:tgtEl>
                                        <p:attrNameLst>
                                          <p:attrName>style.visibility</p:attrName>
                                        </p:attrNameLst>
                                      </p:cBhvr>
                                      <p:to>
                                        <p:strVal val="visible"/>
                                      </p:to>
                                    </p:set>
                                    <p:anim calcmode="lin" valueType="num">
                                      <p:cBhvr additive="base">
                                        <p:cTn id="133"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6">
                                            <p:txEl>
                                              <p:pRg st="10" end="10"/>
                                            </p:txEl>
                                          </p:spTgt>
                                        </p:tgtEl>
                                        <p:attrNameLst>
                                          <p:attrName>style.visibility</p:attrName>
                                        </p:attrNameLst>
                                      </p:cBhvr>
                                      <p:to>
                                        <p:strVal val="visible"/>
                                      </p:to>
                                    </p:set>
                                    <p:anim calcmode="lin" valueType="num">
                                      <p:cBhvr additive="base">
                                        <p:cTn id="139"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6">
                                            <p:txEl>
                                              <p:pRg st="11" end="11"/>
                                            </p:txEl>
                                          </p:spTgt>
                                        </p:tgtEl>
                                        <p:attrNameLst>
                                          <p:attrName>style.visibility</p:attrName>
                                        </p:attrNameLst>
                                      </p:cBhvr>
                                      <p:to>
                                        <p:strVal val="visible"/>
                                      </p:to>
                                    </p:set>
                                    <p:anim calcmode="lin" valueType="num">
                                      <p:cBhvr additive="base">
                                        <p:cTn id="145" dur="500" fill="hold"/>
                                        <p:tgtEl>
                                          <p:spTgt spid="6">
                                            <p:txEl>
                                              <p:pRg st="11" end="11"/>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68250-A43E-BF66-2267-4C4D02707583}"/>
              </a:ext>
            </a:extLst>
          </p:cNvPr>
          <p:cNvSpPr>
            <a:spLocks noGrp="1"/>
          </p:cNvSpPr>
          <p:nvPr>
            <p:ph type="title"/>
          </p:nvPr>
        </p:nvSpPr>
        <p:spPr/>
        <p:txBody>
          <a:bodyPr/>
          <a:lstStyle/>
          <a:p>
            <a:r>
              <a:rPr lang="en-US" dirty="0"/>
              <a:t>Exploring the challenges faced by </a:t>
            </a:r>
            <a:r>
              <a:rPr lang="en-US" dirty="0" err="1"/>
              <a:t>Insuretech</a:t>
            </a:r>
            <a:r>
              <a:rPr lang="en-US" dirty="0"/>
              <a:t> industry</a:t>
            </a:r>
            <a:endParaRPr lang="en-IN" dirty="0"/>
          </a:p>
        </p:txBody>
      </p:sp>
      <p:sp>
        <p:nvSpPr>
          <p:cNvPr id="3" name="Content Placeholder 2">
            <a:extLst>
              <a:ext uri="{FF2B5EF4-FFF2-40B4-BE49-F238E27FC236}">
                <a16:creationId xmlns:a16="http://schemas.microsoft.com/office/drawing/2014/main" id="{B3145666-A4FE-FFF8-2D7B-180C5BBE60A0}"/>
              </a:ext>
            </a:extLst>
          </p:cNvPr>
          <p:cNvSpPr>
            <a:spLocks noGrp="1"/>
          </p:cNvSpPr>
          <p:nvPr>
            <p:ph sz="half" idx="1"/>
          </p:nvPr>
        </p:nvSpPr>
        <p:spPr/>
        <p:txBody>
          <a:bodyPr>
            <a:normAutofit fontScale="77500" lnSpcReduction="20000"/>
          </a:bodyPr>
          <a:lstStyle/>
          <a:p>
            <a:r>
              <a:rPr lang="en-US" dirty="0"/>
              <a:t>Cybersecurity</a:t>
            </a:r>
          </a:p>
          <a:p>
            <a:r>
              <a:rPr lang="en-US" dirty="0"/>
              <a:t>Legacy technology</a:t>
            </a:r>
          </a:p>
          <a:p>
            <a:r>
              <a:rPr lang="en-US" dirty="0"/>
              <a:t>Regulatory compliance</a:t>
            </a:r>
          </a:p>
          <a:p>
            <a:r>
              <a:rPr lang="en-US" dirty="0"/>
              <a:t>Changing consumer behavior</a:t>
            </a:r>
          </a:p>
          <a:p>
            <a:r>
              <a:rPr lang="en-US" dirty="0"/>
              <a:t>Talent shortage</a:t>
            </a:r>
          </a:p>
          <a:p>
            <a:r>
              <a:rPr lang="en-US" dirty="0"/>
              <a:t>Climate change</a:t>
            </a:r>
          </a:p>
          <a:p>
            <a:r>
              <a:rPr lang="en-US" dirty="0"/>
              <a:t>Competition </a:t>
            </a:r>
          </a:p>
          <a:p>
            <a:r>
              <a:rPr lang="en-US" dirty="0"/>
              <a:t>Data management</a:t>
            </a:r>
          </a:p>
          <a:p>
            <a:r>
              <a:rPr lang="en-US" dirty="0"/>
              <a:t>Fraud and misrepresentation</a:t>
            </a:r>
          </a:p>
          <a:p>
            <a:r>
              <a:rPr lang="en-US" dirty="0"/>
              <a:t>Personalize customer experiences</a:t>
            </a:r>
          </a:p>
          <a:p>
            <a:endParaRPr lang="en-IN" dirty="0"/>
          </a:p>
        </p:txBody>
      </p:sp>
      <p:sp>
        <p:nvSpPr>
          <p:cNvPr id="4" name="Content Placeholder 3">
            <a:extLst>
              <a:ext uri="{FF2B5EF4-FFF2-40B4-BE49-F238E27FC236}">
                <a16:creationId xmlns:a16="http://schemas.microsoft.com/office/drawing/2014/main" id="{44AFD73B-A84D-B3FF-BC4E-7FF855E785E3}"/>
              </a:ext>
            </a:extLst>
          </p:cNvPr>
          <p:cNvSpPr>
            <a:spLocks noGrp="1"/>
          </p:cNvSpPr>
          <p:nvPr>
            <p:ph sz="half" idx="2"/>
          </p:nvPr>
        </p:nvSpPr>
        <p:spPr/>
        <p:txBody>
          <a:bodyPr>
            <a:normAutofit fontScale="77500" lnSpcReduction="20000"/>
          </a:bodyPr>
          <a:lstStyle/>
          <a:p>
            <a:r>
              <a:rPr lang="en-US" dirty="0"/>
              <a:t>Regulatory environment</a:t>
            </a:r>
          </a:p>
          <a:p>
            <a:r>
              <a:rPr lang="en-US" dirty="0"/>
              <a:t>Digital transformation</a:t>
            </a:r>
          </a:p>
          <a:p>
            <a:r>
              <a:rPr lang="en-US" dirty="0"/>
              <a:t>Change management</a:t>
            </a:r>
          </a:p>
          <a:p>
            <a:r>
              <a:rPr lang="en-US" dirty="0"/>
              <a:t>Common obstacles in purchasing insurance</a:t>
            </a:r>
          </a:p>
          <a:p>
            <a:r>
              <a:rPr lang="en-US" dirty="0"/>
              <a:t>Customer engagements</a:t>
            </a:r>
          </a:p>
          <a:p>
            <a:r>
              <a:rPr lang="en-US" dirty="0"/>
              <a:t>Data ownership</a:t>
            </a:r>
          </a:p>
          <a:p>
            <a:r>
              <a:rPr lang="en-US" dirty="0"/>
              <a:t>Data privacy regulations</a:t>
            </a:r>
          </a:p>
          <a:p>
            <a:r>
              <a:rPr lang="en-US" dirty="0"/>
              <a:t>Increased competition</a:t>
            </a:r>
          </a:p>
          <a:p>
            <a:r>
              <a:rPr lang="en-US" dirty="0"/>
              <a:t>Lack of customer centricity</a:t>
            </a:r>
          </a:p>
          <a:p>
            <a:r>
              <a:rPr lang="en-US" dirty="0"/>
              <a:t>Risk mitigation</a:t>
            </a:r>
          </a:p>
          <a:p>
            <a:r>
              <a:rPr lang="en-US" dirty="0"/>
              <a:t>Technological integration</a:t>
            </a:r>
          </a:p>
          <a:p>
            <a:endParaRPr lang="en-IN" dirty="0"/>
          </a:p>
        </p:txBody>
      </p:sp>
    </p:spTree>
    <p:extLst>
      <p:ext uri="{BB962C8B-B14F-4D97-AF65-F5344CB8AC3E}">
        <p14:creationId xmlns:p14="http://schemas.microsoft.com/office/powerpoint/2010/main" val="962263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EB67-2356-3C45-BBE5-D700CEC1AAB7}"/>
              </a:ext>
            </a:extLst>
          </p:cNvPr>
          <p:cNvSpPr>
            <a:spLocks noGrp="1"/>
          </p:cNvSpPr>
          <p:nvPr>
            <p:ph type="title"/>
          </p:nvPr>
        </p:nvSpPr>
        <p:spPr/>
        <p:txBody>
          <a:bodyPr>
            <a:normAutofit/>
          </a:bodyPr>
          <a:lstStyle/>
          <a:p>
            <a:r>
              <a:rPr lang="en-US" dirty="0"/>
              <a:t>Transitioning Retiring Professionals and Attracting New Talent</a:t>
            </a:r>
            <a:endParaRPr lang="en-IN" dirty="0"/>
          </a:p>
        </p:txBody>
      </p:sp>
      <p:sp>
        <p:nvSpPr>
          <p:cNvPr id="3" name="Content Placeholder 2">
            <a:extLst>
              <a:ext uri="{FF2B5EF4-FFF2-40B4-BE49-F238E27FC236}">
                <a16:creationId xmlns:a16="http://schemas.microsoft.com/office/drawing/2014/main" id="{536D2D10-DBDC-C1A8-A238-4A70C3C80167}"/>
              </a:ext>
            </a:extLst>
          </p:cNvPr>
          <p:cNvSpPr>
            <a:spLocks noGrp="1"/>
          </p:cNvSpPr>
          <p:nvPr>
            <p:ph idx="1"/>
          </p:nvPr>
        </p:nvSpPr>
        <p:spPr/>
        <p:txBody>
          <a:bodyPr/>
          <a:lstStyle/>
          <a:p>
            <a:r>
              <a:rPr lang="en-US" u="sng" dirty="0">
                <a:hlinkClick r:id="rId3"/>
              </a:rPr>
              <a:t>The average insurance professional’s age is 46+ years old</a:t>
            </a:r>
            <a:r>
              <a:rPr lang="en-US" dirty="0"/>
              <a:t>. </a:t>
            </a:r>
          </a:p>
          <a:p>
            <a:r>
              <a:rPr lang="en-US" dirty="0"/>
              <a:t>Today, that group makes up 66% of the agent population. </a:t>
            </a:r>
          </a:p>
          <a:p>
            <a:r>
              <a:rPr lang="en-US" dirty="0"/>
              <a:t>Many baby boomers are reaching retirement age and exiting, while Gen X still has a decent amount of working years left and Millennials have a good amount of working years left</a:t>
            </a:r>
          </a:p>
          <a:p>
            <a:r>
              <a:rPr lang="en-US" dirty="0"/>
              <a:t>According to PEW research, as of 2020 </a:t>
            </a:r>
            <a:r>
              <a:rPr lang="en-US" u="sng" dirty="0">
                <a:hlinkClick r:id="rId4"/>
              </a:rPr>
              <a:t>Millennials are now the largest generation</a:t>
            </a:r>
            <a:r>
              <a:rPr lang="en-US" dirty="0"/>
              <a:t>, and that accounts for the workplace too.</a:t>
            </a:r>
          </a:p>
          <a:p>
            <a:r>
              <a:rPr lang="en-US" dirty="0"/>
              <a:t>What does this imply for insurance organizations? </a:t>
            </a:r>
          </a:p>
          <a:p>
            <a:pPr lvl="1"/>
            <a:r>
              <a:rPr lang="en-US" dirty="0"/>
              <a:t>It’s twofold. </a:t>
            </a:r>
          </a:p>
          <a:p>
            <a:endParaRPr lang="en-IN" dirty="0"/>
          </a:p>
        </p:txBody>
      </p:sp>
    </p:spTree>
    <p:extLst>
      <p:ext uri="{BB962C8B-B14F-4D97-AF65-F5344CB8AC3E}">
        <p14:creationId xmlns:p14="http://schemas.microsoft.com/office/powerpoint/2010/main" val="345037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FA613-ABB0-0134-7657-831C78CF271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2B55A3-7911-6A86-0518-81CCAE27A5C3}"/>
              </a:ext>
            </a:extLst>
          </p:cNvPr>
          <p:cNvSpPr>
            <a:spLocks noGrp="1"/>
          </p:cNvSpPr>
          <p:nvPr>
            <p:ph idx="1"/>
          </p:nvPr>
        </p:nvSpPr>
        <p:spPr/>
        <p:txBody>
          <a:bodyPr/>
          <a:lstStyle/>
          <a:p>
            <a:r>
              <a:rPr lang="en-US" dirty="0"/>
              <a:t>First, to attract millennials who are now the new workforce majority, companies will need to review and revamp benefits. </a:t>
            </a:r>
          </a:p>
          <a:p>
            <a:pPr algn="just"/>
            <a:r>
              <a:rPr lang="en-US" u="sng" dirty="0">
                <a:hlinkClick r:id="rId2"/>
              </a:rPr>
              <a:t>Millennials value more than just salary and perks</a:t>
            </a:r>
            <a:r>
              <a:rPr lang="en-US" dirty="0"/>
              <a:t>, although those certainly matter too.</a:t>
            </a:r>
            <a:br>
              <a:rPr lang="en-US" dirty="0"/>
            </a:br>
            <a:br>
              <a:rPr lang="en-US" dirty="0"/>
            </a:br>
            <a:r>
              <a:rPr lang="en-US" dirty="0"/>
              <a:t>Second, insurance companies will need to retain talent. </a:t>
            </a:r>
            <a:r>
              <a:rPr lang="en-US" u="sng" dirty="0">
                <a:hlinkClick r:id="rId3"/>
              </a:rPr>
              <a:t>Millennials are more prone to job hop</a:t>
            </a:r>
            <a:r>
              <a:rPr lang="en-US" dirty="0"/>
              <a:t> than prior generations, so it’s crucial to build a strong company culture. Without it, insurance organizations will face losing talent on both sides (recruits and retirees), crippling their effectiveness.</a:t>
            </a:r>
            <a:endParaRPr lang="en-IN" dirty="0"/>
          </a:p>
        </p:txBody>
      </p:sp>
    </p:spTree>
    <p:extLst>
      <p:ext uri="{BB962C8B-B14F-4D97-AF65-F5344CB8AC3E}">
        <p14:creationId xmlns:p14="http://schemas.microsoft.com/office/powerpoint/2010/main" val="1147191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FBEE0-2DB8-2FBA-F075-9AAE3096881A}"/>
              </a:ext>
            </a:extLst>
          </p:cNvPr>
          <p:cNvSpPr>
            <a:spLocks noGrp="1"/>
          </p:cNvSpPr>
          <p:nvPr>
            <p:ph type="title"/>
          </p:nvPr>
        </p:nvSpPr>
        <p:spPr>
          <a:xfrm>
            <a:off x="1024129" y="196596"/>
            <a:ext cx="9720072" cy="1499616"/>
          </a:xfrm>
        </p:spPr>
        <p:txBody>
          <a:bodyPr/>
          <a:lstStyle/>
          <a:p>
            <a:r>
              <a:rPr lang="en-IN" dirty="0"/>
              <a:t>Upskilling Your Team</a:t>
            </a:r>
          </a:p>
        </p:txBody>
      </p:sp>
      <p:sp>
        <p:nvSpPr>
          <p:cNvPr id="3" name="Content Placeholder 2">
            <a:extLst>
              <a:ext uri="{FF2B5EF4-FFF2-40B4-BE49-F238E27FC236}">
                <a16:creationId xmlns:a16="http://schemas.microsoft.com/office/drawing/2014/main" id="{2137BBAF-B31B-784D-ECE2-3216B2808E71}"/>
              </a:ext>
            </a:extLst>
          </p:cNvPr>
          <p:cNvSpPr>
            <a:spLocks noGrp="1"/>
          </p:cNvSpPr>
          <p:nvPr>
            <p:ph idx="1"/>
          </p:nvPr>
        </p:nvSpPr>
        <p:spPr>
          <a:xfrm>
            <a:off x="1024128" y="1885950"/>
            <a:ext cx="9720073" cy="4423410"/>
          </a:xfrm>
        </p:spPr>
        <p:txBody>
          <a:bodyPr>
            <a:normAutofit/>
          </a:bodyPr>
          <a:lstStyle/>
          <a:p>
            <a:r>
              <a:rPr lang="en-US" dirty="0"/>
              <a:t>Even when you have the right talent, making sure you give them support to upskill is just as important. Some of the benefits of fostering team skills include:</a:t>
            </a:r>
          </a:p>
          <a:p>
            <a:pPr lvl="1"/>
            <a:r>
              <a:rPr lang="en-US" b="1" dirty="0">
                <a:solidFill>
                  <a:srgbClr val="FF0000"/>
                </a:solidFill>
              </a:rPr>
              <a:t>Improved customer service because you can provide what consumers want.</a:t>
            </a:r>
          </a:p>
          <a:p>
            <a:pPr lvl="1"/>
            <a:r>
              <a:rPr lang="en-US" b="1" dirty="0">
                <a:solidFill>
                  <a:srgbClr val="FF0000"/>
                </a:solidFill>
              </a:rPr>
              <a:t>Heightened efficiency and productivity because you can leverage the latest technology.</a:t>
            </a:r>
          </a:p>
          <a:p>
            <a:pPr lvl="1"/>
            <a:r>
              <a:rPr lang="en-US" b="1" dirty="0">
                <a:solidFill>
                  <a:srgbClr val="FF0000"/>
                </a:solidFill>
              </a:rPr>
              <a:t>Enhanced innovation because employees can introduce positive changes.</a:t>
            </a:r>
          </a:p>
          <a:p>
            <a:pPr lvl="1"/>
            <a:r>
              <a:rPr lang="en-US" b="1" dirty="0">
                <a:solidFill>
                  <a:srgbClr val="FF0000"/>
                </a:solidFill>
              </a:rPr>
              <a:t>Increased retention because your talent feels valued and receives new opportunities.</a:t>
            </a:r>
          </a:p>
          <a:p>
            <a:r>
              <a:rPr lang="en-US" dirty="0"/>
              <a:t>On the flip side, putting this into practice can be a challenge. Insurance industry professionals can feel caught between the </a:t>
            </a:r>
          </a:p>
          <a:p>
            <a:pPr lvl="1"/>
            <a:r>
              <a:rPr lang="en-US" b="1" dirty="0">
                <a:solidFill>
                  <a:srgbClr val="FF0000"/>
                </a:solidFill>
              </a:rPr>
              <a:t>Fast pace of new technology</a:t>
            </a:r>
          </a:p>
          <a:p>
            <a:pPr lvl="1"/>
            <a:r>
              <a:rPr lang="en-US" b="1" dirty="0">
                <a:solidFill>
                  <a:srgbClr val="FF0000"/>
                </a:solidFill>
              </a:rPr>
              <a:t>The slow pace of legacy systems</a:t>
            </a:r>
          </a:p>
          <a:p>
            <a:pPr lvl="1"/>
            <a:r>
              <a:rPr lang="en-US" b="1" dirty="0">
                <a:solidFill>
                  <a:srgbClr val="FF0000"/>
                </a:solidFill>
              </a:rPr>
              <a:t>The limitations of strict regulations. </a:t>
            </a:r>
          </a:p>
          <a:p>
            <a:r>
              <a:rPr lang="en-US" dirty="0"/>
              <a:t>Ensure continuous learning</a:t>
            </a:r>
          </a:p>
          <a:p>
            <a:endParaRPr lang="en-IN" dirty="0"/>
          </a:p>
        </p:txBody>
      </p:sp>
    </p:spTree>
    <p:extLst>
      <p:ext uri="{BB962C8B-B14F-4D97-AF65-F5344CB8AC3E}">
        <p14:creationId xmlns:p14="http://schemas.microsoft.com/office/powerpoint/2010/main" val="3508914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08F20-BC54-1D21-19CD-3BBD5790D841}"/>
              </a:ext>
            </a:extLst>
          </p:cNvPr>
          <p:cNvSpPr>
            <a:spLocks noGrp="1"/>
          </p:cNvSpPr>
          <p:nvPr>
            <p:ph type="title"/>
          </p:nvPr>
        </p:nvSpPr>
        <p:spPr/>
        <p:txBody>
          <a:bodyPr>
            <a:normAutofit/>
          </a:bodyPr>
          <a:lstStyle/>
          <a:p>
            <a:r>
              <a:rPr lang="en-US" dirty="0"/>
              <a:t>The Technical Transformation Of Core Systems</a:t>
            </a:r>
            <a:endParaRPr lang="en-IN" dirty="0"/>
          </a:p>
        </p:txBody>
      </p:sp>
      <p:sp>
        <p:nvSpPr>
          <p:cNvPr id="3" name="Content Placeholder 2">
            <a:extLst>
              <a:ext uri="{FF2B5EF4-FFF2-40B4-BE49-F238E27FC236}">
                <a16:creationId xmlns:a16="http://schemas.microsoft.com/office/drawing/2014/main" id="{49775951-C651-6301-CB3A-7AEBFCE35B44}"/>
              </a:ext>
            </a:extLst>
          </p:cNvPr>
          <p:cNvSpPr>
            <a:spLocks noGrp="1"/>
          </p:cNvSpPr>
          <p:nvPr>
            <p:ph idx="1"/>
          </p:nvPr>
        </p:nvSpPr>
        <p:spPr/>
        <p:txBody>
          <a:bodyPr/>
          <a:lstStyle/>
          <a:p>
            <a:r>
              <a:rPr lang="en-US" dirty="0"/>
              <a:t>Make sure </a:t>
            </a:r>
            <a:r>
              <a:rPr lang="en-US" i="1" dirty="0"/>
              <a:t>all</a:t>
            </a:r>
            <a:r>
              <a:rPr lang="en-US" dirty="0"/>
              <a:t> your core systems like claims management software, policyholder portals, or administration and underwriting programs are up-to-date and cloud-based. </a:t>
            </a:r>
          </a:p>
          <a:p>
            <a:r>
              <a:rPr lang="en-US" dirty="0"/>
              <a:t>Common Issues When Updating Legacy Systems</a:t>
            </a:r>
          </a:p>
          <a:p>
            <a:endParaRPr lang="en-IN" dirty="0"/>
          </a:p>
        </p:txBody>
      </p:sp>
      <p:graphicFrame>
        <p:nvGraphicFramePr>
          <p:cNvPr id="4" name="Table 3">
            <a:extLst>
              <a:ext uri="{FF2B5EF4-FFF2-40B4-BE49-F238E27FC236}">
                <a16:creationId xmlns:a16="http://schemas.microsoft.com/office/drawing/2014/main" id="{967910C7-FD05-D0D8-550B-999D7A7743CC}"/>
              </a:ext>
            </a:extLst>
          </p:cNvPr>
          <p:cNvGraphicFramePr>
            <a:graphicFrameLocks noGrp="1"/>
          </p:cNvGraphicFramePr>
          <p:nvPr>
            <p:extLst>
              <p:ext uri="{D42A27DB-BD31-4B8C-83A1-F6EECF244321}">
                <p14:modId xmlns:p14="http://schemas.microsoft.com/office/powerpoint/2010/main" val="2809249378"/>
              </p:ext>
            </p:extLst>
          </p:nvPr>
        </p:nvGraphicFramePr>
        <p:xfrm>
          <a:off x="1300480" y="3680036"/>
          <a:ext cx="9855201" cy="3022600"/>
        </p:xfrm>
        <a:graphic>
          <a:graphicData uri="http://schemas.openxmlformats.org/drawingml/2006/table">
            <a:tbl>
              <a:tblPr firstRow="1" bandRow="1">
                <a:tableStyleId>{5C22544A-7EE6-4342-B048-85BDC9FD1C3A}</a:tableStyleId>
              </a:tblPr>
              <a:tblGrid>
                <a:gridCol w="3534410">
                  <a:extLst>
                    <a:ext uri="{9D8B030D-6E8A-4147-A177-3AD203B41FA5}">
                      <a16:colId xmlns:a16="http://schemas.microsoft.com/office/drawing/2014/main" val="1085152026"/>
                    </a:ext>
                  </a:extLst>
                </a:gridCol>
                <a:gridCol w="3035724">
                  <a:extLst>
                    <a:ext uri="{9D8B030D-6E8A-4147-A177-3AD203B41FA5}">
                      <a16:colId xmlns:a16="http://schemas.microsoft.com/office/drawing/2014/main" val="968529287"/>
                    </a:ext>
                  </a:extLst>
                </a:gridCol>
                <a:gridCol w="3285067">
                  <a:extLst>
                    <a:ext uri="{9D8B030D-6E8A-4147-A177-3AD203B41FA5}">
                      <a16:colId xmlns:a16="http://schemas.microsoft.com/office/drawing/2014/main" val="186341870"/>
                    </a:ext>
                  </a:extLst>
                </a:gridCol>
              </a:tblGrid>
              <a:tr h="370840">
                <a:tc>
                  <a:txBody>
                    <a:bodyPr/>
                    <a:lstStyle/>
                    <a:p>
                      <a:r>
                        <a:rPr lang="en-IN" sz="1800" b="1" i="0" kern="1200" dirty="0">
                          <a:solidFill>
                            <a:schemeClr val="lt1"/>
                          </a:solidFill>
                          <a:effectLst/>
                          <a:latin typeface="+mn-lt"/>
                          <a:ea typeface="+mn-ea"/>
                          <a:cs typeface="+mn-cs"/>
                        </a:rPr>
                        <a:t>Data Management</a:t>
                      </a:r>
                      <a:endParaRPr lang="en-IN" dirty="0"/>
                    </a:p>
                  </a:txBody>
                  <a:tcPr/>
                </a:tc>
                <a:tc>
                  <a:txBody>
                    <a:bodyPr/>
                    <a:lstStyle/>
                    <a:p>
                      <a:r>
                        <a:rPr lang="en-IN" sz="1800" b="1" i="0" kern="1200" dirty="0">
                          <a:solidFill>
                            <a:schemeClr val="lt1"/>
                          </a:solidFill>
                          <a:effectLst/>
                          <a:latin typeface="+mn-lt"/>
                          <a:ea typeface="+mn-ea"/>
                          <a:cs typeface="+mn-cs"/>
                        </a:rPr>
                        <a:t>Compliance Concerns</a:t>
                      </a:r>
                      <a:endParaRPr lang="en-IN" dirty="0"/>
                    </a:p>
                  </a:txBody>
                  <a:tcPr/>
                </a:tc>
                <a:tc>
                  <a:txBody>
                    <a:bodyPr/>
                    <a:lstStyle/>
                    <a:p>
                      <a:r>
                        <a:rPr lang="en-IN" sz="1800" b="1" i="0" kern="1200" dirty="0">
                          <a:solidFill>
                            <a:schemeClr val="lt1"/>
                          </a:solidFill>
                          <a:effectLst/>
                          <a:latin typeface="+mn-lt"/>
                          <a:ea typeface="+mn-ea"/>
                          <a:cs typeface="+mn-cs"/>
                        </a:rPr>
                        <a:t>Cost vs. ROI</a:t>
                      </a:r>
                      <a:endParaRPr lang="en-IN" dirty="0"/>
                    </a:p>
                  </a:txBody>
                  <a:tcPr/>
                </a:tc>
                <a:extLst>
                  <a:ext uri="{0D108BD9-81ED-4DB2-BD59-A6C34878D82A}">
                    <a16:rowId xmlns:a16="http://schemas.microsoft.com/office/drawing/2014/main" val="3769449114"/>
                  </a:ext>
                </a:extLst>
              </a:tr>
              <a:tr h="370840">
                <a:tc>
                  <a:txBody>
                    <a:bodyPr/>
                    <a:lstStyle/>
                    <a:p>
                      <a:r>
                        <a:rPr lang="en-US" sz="1800" b="0" i="0" kern="1200" dirty="0">
                          <a:solidFill>
                            <a:schemeClr val="dk1"/>
                          </a:solidFill>
                          <a:effectLst/>
                          <a:latin typeface="+mn-lt"/>
                          <a:ea typeface="+mn-ea"/>
                          <a:cs typeface="+mn-cs"/>
                        </a:rPr>
                        <a:t>Systems are complicated and inflexible, making it difficult to integrate with new technology, leading to data integration issues.</a:t>
                      </a:r>
                      <a:endParaRPr lang="en-IN" dirty="0"/>
                    </a:p>
                  </a:txBody>
                  <a:tcPr/>
                </a:tc>
                <a:tc>
                  <a:txBody>
                    <a:bodyPr/>
                    <a:lstStyle/>
                    <a:p>
                      <a:r>
                        <a:rPr lang="en-US" sz="1800" b="0" i="0" kern="1200" dirty="0">
                          <a:solidFill>
                            <a:schemeClr val="dk1"/>
                          </a:solidFill>
                          <a:effectLst/>
                          <a:latin typeface="+mn-lt"/>
                          <a:ea typeface="+mn-ea"/>
                          <a:cs typeface="+mn-cs"/>
                        </a:rPr>
                        <a:t>Insurance already has a lot of regulations you need to consider when updating.</a:t>
                      </a:r>
                      <a:endParaRPr lang="en-IN" dirty="0"/>
                    </a:p>
                  </a:txBody>
                  <a:tcPr/>
                </a:tc>
                <a:tc>
                  <a:txBody>
                    <a:bodyPr/>
                    <a:lstStyle/>
                    <a:p>
                      <a:r>
                        <a:rPr lang="en-US" sz="1800" b="0" i="0" kern="1200" dirty="0">
                          <a:solidFill>
                            <a:schemeClr val="dk1"/>
                          </a:solidFill>
                          <a:effectLst/>
                          <a:latin typeface="+mn-lt"/>
                          <a:ea typeface="+mn-ea"/>
                          <a:cs typeface="+mn-cs"/>
                        </a:rPr>
                        <a:t>Because legacy systems are inflexible, they are more expensive and time-consuming to work on.</a:t>
                      </a:r>
                      <a:endParaRPr lang="en-IN" dirty="0"/>
                    </a:p>
                  </a:txBody>
                  <a:tcPr/>
                </a:tc>
                <a:extLst>
                  <a:ext uri="{0D108BD9-81ED-4DB2-BD59-A6C34878D82A}">
                    <a16:rowId xmlns:a16="http://schemas.microsoft.com/office/drawing/2014/main" val="1632790942"/>
                  </a:ext>
                </a:extLst>
              </a:tr>
              <a:tr h="370840">
                <a:tc>
                  <a:txBody>
                    <a:bodyPr/>
                    <a:lstStyle/>
                    <a:p>
                      <a:r>
                        <a:rPr lang="en-US" sz="1800" b="0" i="0" kern="1200" dirty="0">
                          <a:solidFill>
                            <a:schemeClr val="dk1"/>
                          </a:solidFill>
                          <a:effectLst/>
                          <a:latin typeface="+mn-lt"/>
                          <a:ea typeface="+mn-ea"/>
                          <a:cs typeface="+mn-cs"/>
                        </a:rPr>
                        <a:t>There’s the risk of losing important data or critical functions in the process of upgrading.</a:t>
                      </a:r>
                      <a:endParaRPr lang="en-IN" dirty="0"/>
                    </a:p>
                  </a:txBody>
                  <a:tcPr/>
                </a:tc>
                <a:tc>
                  <a:txBody>
                    <a:bodyPr/>
                    <a:lstStyle/>
                    <a:p>
                      <a:r>
                        <a:rPr lang="en-US" sz="1800" b="0" i="0" kern="1200" dirty="0">
                          <a:solidFill>
                            <a:schemeClr val="dk1"/>
                          </a:solidFill>
                          <a:effectLst/>
                          <a:latin typeface="+mn-lt"/>
                          <a:ea typeface="+mn-ea"/>
                          <a:cs typeface="+mn-cs"/>
                        </a:rPr>
                        <a:t>Upgrading your technology means you’ll need to know and be compliant with all the latest data security and privacy regulations. </a:t>
                      </a:r>
                      <a:endParaRPr lang="en-IN" dirty="0"/>
                    </a:p>
                  </a:txBody>
                  <a:tcPr/>
                </a:tc>
                <a:tc>
                  <a:txBody>
                    <a:bodyPr/>
                    <a:lstStyle/>
                    <a:p>
                      <a:r>
                        <a:rPr lang="en-US" sz="1800" b="0" i="0" kern="1200" dirty="0">
                          <a:solidFill>
                            <a:schemeClr val="dk1"/>
                          </a:solidFill>
                          <a:effectLst/>
                          <a:latin typeface="+mn-lt"/>
                          <a:ea typeface="+mn-ea"/>
                          <a:cs typeface="+mn-cs"/>
                        </a:rPr>
                        <a:t>Upgrading only makes sense if it leads to increased efficiency, saves costs, and improves profits.</a:t>
                      </a:r>
                      <a:endParaRPr lang="en-IN" dirty="0"/>
                    </a:p>
                  </a:txBody>
                  <a:tcPr/>
                </a:tc>
                <a:extLst>
                  <a:ext uri="{0D108BD9-81ED-4DB2-BD59-A6C34878D82A}">
                    <a16:rowId xmlns:a16="http://schemas.microsoft.com/office/drawing/2014/main" val="484339649"/>
                  </a:ext>
                </a:extLst>
              </a:tr>
            </a:tbl>
          </a:graphicData>
        </a:graphic>
      </p:graphicFrame>
    </p:spTree>
    <p:extLst>
      <p:ext uri="{BB962C8B-B14F-4D97-AF65-F5344CB8AC3E}">
        <p14:creationId xmlns:p14="http://schemas.microsoft.com/office/powerpoint/2010/main" val="3612936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548E-CA81-BDF8-4864-176C796031C9}"/>
              </a:ext>
            </a:extLst>
          </p:cNvPr>
          <p:cNvSpPr>
            <a:spLocks noGrp="1"/>
          </p:cNvSpPr>
          <p:nvPr>
            <p:ph type="title"/>
          </p:nvPr>
        </p:nvSpPr>
        <p:spPr/>
        <p:txBody>
          <a:bodyPr/>
          <a:lstStyle/>
          <a:p>
            <a:r>
              <a:rPr lang="en-IN" dirty="0"/>
              <a:t> Complex Revenue Recognition Challenges</a:t>
            </a:r>
          </a:p>
        </p:txBody>
      </p:sp>
      <p:sp>
        <p:nvSpPr>
          <p:cNvPr id="3" name="Content Placeholder 2">
            <a:extLst>
              <a:ext uri="{FF2B5EF4-FFF2-40B4-BE49-F238E27FC236}">
                <a16:creationId xmlns:a16="http://schemas.microsoft.com/office/drawing/2014/main" id="{7A50DC62-7094-22E7-5F11-7711F896A5BC}"/>
              </a:ext>
            </a:extLst>
          </p:cNvPr>
          <p:cNvSpPr>
            <a:spLocks noGrp="1"/>
          </p:cNvSpPr>
          <p:nvPr>
            <p:ph idx="1"/>
          </p:nvPr>
        </p:nvSpPr>
        <p:spPr/>
        <p:txBody>
          <a:bodyPr/>
          <a:lstStyle/>
          <a:p>
            <a:r>
              <a:rPr lang="en-US" dirty="0"/>
              <a:t>Figuring out financial reporting, particularly how you recognize revenue, continues to be tricky for insurance companies. </a:t>
            </a:r>
          </a:p>
          <a:p>
            <a:r>
              <a:rPr lang="en-US" dirty="0"/>
              <a:t>Unearned premiums, policy durations, and claim reserves all play a role in that process and can all be unpredictable.</a:t>
            </a:r>
          </a:p>
          <a:p>
            <a:r>
              <a:rPr lang="en-US" dirty="0"/>
              <a:t>The complexity of factors involved in financial reporting also has a direct impact on your bottom line, so they need to be handled with careful judgment and accurate estimation.</a:t>
            </a:r>
            <a:endParaRPr lang="en-IN" dirty="0"/>
          </a:p>
        </p:txBody>
      </p:sp>
    </p:spTree>
    <p:extLst>
      <p:ext uri="{BB962C8B-B14F-4D97-AF65-F5344CB8AC3E}">
        <p14:creationId xmlns:p14="http://schemas.microsoft.com/office/powerpoint/2010/main" val="134069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592EB-DF0D-9B23-4462-AFA4211A5543}"/>
              </a:ext>
            </a:extLst>
          </p:cNvPr>
          <p:cNvSpPr>
            <a:spLocks noGrp="1"/>
          </p:cNvSpPr>
          <p:nvPr>
            <p:ph type="title"/>
          </p:nvPr>
        </p:nvSpPr>
        <p:spPr/>
        <p:txBody>
          <a:bodyPr/>
          <a:lstStyle/>
          <a:p>
            <a:r>
              <a:rPr lang="en-IN" dirty="0"/>
              <a:t>Catastrophic Claims Management</a:t>
            </a:r>
          </a:p>
        </p:txBody>
      </p:sp>
      <p:sp>
        <p:nvSpPr>
          <p:cNvPr id="3" name="Content Placeholder 2">
            <a:extLst>
              <a:ext uri="{FF2B5EF4-FFF2-40B4-BE49-F238E27FC236}">
                <a16:creationId xmlns:a16="http://schemas.microsoft.com/office/drawing/2014/main" id="{68D27662-A6EB-6672-9D71-37D8A01C9137}"/>
              </a:ext>
            </a:extLst>
          </p:cNvPr>
          <p:cNvSpPr>
            <a:spLocks noGrp="1"/>
          </p:cNvSpPr>
          <p:nvPr>
            <p:ph idx="1"/>
          </p:nvPr>
        </p:nvSpPr>
        <p:spPr/>
        <p:txBody>
          <a:bodyPr>
            <a:normAutofit/>
          </a:bodyPr>
          <a:lstStyle/>
          <a:p>
            <a:r>
              <a:rPr lang="en-US" dirty="0"/>
              <a:t>Whether it’s natural or man-made disasters, a catastrophic claims management event can significantly strain the insurance industry. </a:t>
            </a:r>
            <a:r>
              <a:rPr lang="en-US" u="sng" dirty="0">
                <a:hlinkClick r:id="rId2"/>
              </a:rPr>
              <a:t>Changing weather patterns</a:t>
            </a:r>
            <a:r>
              <a:rPr lang="en-US" dirty="0"/>
              <a:t> or </a:t>
            </a:r>
            <a:r>
              <a:rPr lang="en-US" u="sng" dirty="0">
                <a:hlinkClick r:id="rId3"/>
              </a:rPr>
              <a:t>threats of increasing violence</a:t>
            </a:r>
            <a:r>
              <a:rPr lang="en-US" dirty="0"/>
              <a:t> are all leading to increases in this area of claims and it’s important to make sure your company is ready.</a:t>
            </a:r>
          </a:p>
          <a:p>
            <a:r>
              <a:rPr lang="en-US" dirty="0"/>
              <a:t>When a catastrophic event occurs, the influx of claims coming in can quickly overwhelm your team. Because of the surge, you may:</a:t>
            </a:r>
            <a:br>
              <a:rPr lang="en-US" dirty="0"/>
            </a:br>
            <a:br>
              <a:rPr lang="en-US" dirty="0"/>
            </a:br>
            <a:endParaRPr lang="en-US" dirty="0"/>
          </a:p>
          <a:p>
            <a:pPr lvl="1"/>
            <a:r>
              <a:rPr lang="en-US" dirty="0"/>
              <a:t>Struggle to scale up service to handle serving people, especially during a time when they’re more vulnerable and emotional.</a:t>
            </a:r>
          </a:p>
          <a:p>
            <a:pPr lvl="1"/>
            <a:r>
              <a:rPr lang="en-US" dirty="0"/>
              <a:t>Encounter difficulty reaching unsafe locations that need assessing for insurance claims.</a:t>
            </a:r>
          </a:p>
          <a:p>
            <a:pPr lvl="1"/>
            <a:r>
              <a:rPr lang="en-US" dirty="0"/>
              <a:t>Deal with increased fraud activity.</a:t>
            </a:r>
          </a:p>
          <a:p>
            <a:endParaRPr lang="en-IN" dirty="0"/>
          </a:p>
        </p:txBody>
      </p:sp>
    </p:spTree>
    <p:extLst>
      <p:ext uri="{BB962C8B-B14F-4D97-AF65-F5344CB8AC3E}">
        <p14:creationId xmlns:p14="http://schemas.microsoft.com/office/powerpoint/2010/main" val="2287670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FB85E-CA6D-8BDD-8E5B-D3F8D6AE51BF}"/>
              </a:ext>
            </a:extLst>
          </p:cNvPr>
          <p:cNvSpPr>
            <a:spLocks noGrp="1"/>
          </p:cNvSpPr>
          <p:nvPr>
            <p:ph type="title"/>
          </p:nvPr>
        </p:nvSpPr>
        <p:spPr/>
        <p:txBody>
          <a:bodyPr/>
          <a:lstStyle/>
          <a:p>
            <a:r>
              <a:rPr lang="en-IN" dirty="0"/>
              <a:t>Data Silos Hindering Collaboration</a:t>
            </a:r>
          </a:p>
        </p:txBody>
      </p:sp>
      <p:sp>
        <p:nvSpPr>
          <p:cNvPr id="3" name="Content Placeholder 2">
            <a:extLst>
              <a:ext uri="{FF2B5EF4-FFF2-40B4-BE49-F238E27FC236}">
                <a16:creationId xmlns:a16="http://schemas.microsoft.com/office/drawing/2014/main" id="{493659D8-3774-B88F-41B9-100878E0E9B4}"/>
              </a:ext>
            </a:extLst>
          </p:cNvPr>
          <p:cNvSpPr>
            <a:spLocks noGrp="1"/>
          </p:cNvSpPr>
          <p:nvPr>
            <p:ph idx="1"/>
          </p:nvPr>
        </p:nvSpPr>
        <p:spPr/>
        <p:txBody>
          <a:bodyPr/>
          <a:lstStyle/>
          <a:p>
            <a:r>
              <a:rPr lang="en-US" dirty="0"/>
              <a:t>If you’ve only upgraded your systems in a few places, you’re more likely to run into data integration issues. Your old and new systems won’t talk well to each other, for example, your CRM and policy management/claims tools don’t share information, which can lead to inefficiencies.</a:t>
            </a:r>
          </a:p>
          <a:p>
            <a:r>
              <a:rPr lang="en-US" dirty="0"/>
              <a:t>As a result, each department may be collecting data using their own methods, which can lead to redundant or inconsistent information. It can also slow down data sharing because your team can’t fully leverage the features of new technology. </a:t>
            </a:r>
          </a:p>
          <a:p>
            <a:endParaRPr lang="en-IN" dirty="0"/>
          </a:p>
        </p:txBody>
      </p:sp>
    </p:spTree>
    <p:extLst>
      <p:ext uri="{BB962C8B-B14F-4D97-AF65-F5344CB8AC3E}">
        <p14:creationId xmlns:p14="http://schemas.microsoft.com/office/powerpoint/2010/main" val="1443740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1382A-38B5-B66C-A2D1-15ED6A761092}"/>
              </a:ext>
            </a:extLst>
          </p:cNvPr>
          <p:cNvSpPr>
            <a:spLocks noGrp="1"/>
          </p:cNvSpPr>
          <p:nvPr>
            <p:ph type="title"/>
          </p:nvPr>
        </p:nvSpPr>
        <p:spPr/>
        <p:txBody>
          <a:bodyPr/>
          <a:lstStyle/>
          <a:p>
            <a:r>
              <a:rPr lang="en-IN" dirty="0"/>
              <a:t>Price-Based Competition</a:t>
            </a:r>
          </a:p>
        </p:txBody>
      </p:sp>
      <p:sp>
        <p:nvSpPr>
          <p:cNvPr id="3" name="Content Placeholder 2">
            <a:extLst>
              <a:ext uri="{FF2B5EF4-FFF2-40B4-BE49-F238E27FC236}">
                <a16:creationId xmlns:a16="http://schemas.microsoft.com/office/drawing/2014/main" id="{2B1FEE2E-9291-5F54-4EDA-9E2CCD0B6E59}"/>
              </a:ext>
            </a:extLst>
          </p:cNvPr>
          <p:cNvSpPr>
            <a:spLocks noGrp="1"/>
          </p:cNvSpPr>
          <p:nvPr>
            <p:ph idx="1"/>
          </p:nvPr>
        </p:nvSpPr>
        <p:spPr/>
        <p:txBody>
          <a:bodyPr/>
          <a:lstStyle/>
          <a:p>
            <a:r>
              <a:rPr lang="en-US" dirty="0"/>
              <a:t>The rising cost of claims based on labor, materials, and other factors can make it challenging to offer attractive pricing to customers. But aside from that, the rise of price-based competition has only increased alongside the internet, which has given insurance organizations a wider reach.</a:t>
            </a:r>
            <a:br>
              <a:rPr lang="en-US" dirty="0"/>
            </a:br>
            <a:br>
              <a:rPr lang="en-US" dirty="0"/>
            </a:br>
            <a:r>
              <a:rPr lang="en-US" dirty="0"/>
              <a:t>Many of those online players have focused on commoditization, with a focus on price being their value proposition. Going head-to-head with these companies can start a dangerous price war or lead to profit loss if you’re not able to support price cuts internally. </a:t>
            </a:r>
            <a:endParaRPr lang="en-IN" dirty="0"/>
          </a:p>
        </p:txBody>
      </p:sp>
    </p:spTree>
    <p:extLst>
      <p:ext uri="{BB962C8B-B14F-4D97-AF65-F5344CB8AC3E}">
        <p14:creationId xmlns:p14="http://schemas.microsoft.com/office/powerpoint/2010/main" val="1212100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C7134-8F09-E813-9F70-64850327860A}"/>
              </a:ext>
            </a:extLst>
          </p:cNvPr>
          <p:cNvSpPr>
            <a:spLocks noGrp="1"/>
          </p:cNvSpPr>
          <p:nvPr>
            <p:ph type="title"/>
          </p:nvPr>
        </p:nvSpPr>
        <p:spPr/>
        <p:txBody>
          <a:bodyPr/>
          <a:lstStyle/>
          <a:p>
            <a:r>
              <a:rPr lang="en-IN" dirty="0"/>
              <a:t>Future Disruptions In Insurance</a:t>
            </a:r>
          </a:p>
        </p:txBody>
      </p:sp>
      <p:sp>
        <p:nvSpPr>
          <p:cNvPr id="3" name="Content Placeholder 2">
            <a:extLst>
              <a:ext uri="{FF2B5EF4-FFF2-40B4-BE49-F238E27FC236}">
                <a16:creationId xmlns:a16="http://schemas.microsoft.com/office/drawing/2014/main" id="{DA6E15E7-08DB-9B00-070F-278CD13830ED}"/>
              </a:ext>
            </a:extLst>
          </p:cNvPr>
          <p:cNvSpPr>
            <a:spLocks noGrp="1"/>
          </p:cNvSpPr>
          <p:nvPr>
            <p:ph idx="1"/>
          </p:nvPr>
        </p:nvSpPr>
        <p:spPr/>
        <p:txBody>
          <a:bodyPr/>
          <a:lstStyle/>
          <a:p>
            <a:r>
              <a:rPr lang="en-US" dirty="0"/>
              <a:t>Looking ahead, the next decade in the insurance industry is going to reward those who are agile. Factors like the economy or AI are going to demand more rapid change than prior decades.</a:t>
            </a:r>
          </a:p>
          <a:p>
            <a:r>
              <a:rPr lang="en-US" dirty="0"/>
              <a:t>Additionally, we expect to see new regulations introduced around AI and new frameworks aimed at helping maintain the solvency of insurance businesses while also protecting consumers.</a:t>
            </a:r>
          </a:p>
          <a:p>
            <a:endParaRPr lang="en-IN" dirty="0"/>
          </a:p>
        </p:txBody>
      </p:sp>
    </p:spTree>
    <p:extLst>
      <p:ext uri="{BB962C8B-B14F-4D97-AF65-F5344CB8AC3E}">
        <p14:creationId xmlns:p14="http://schemas.microsoft.com/office/powerpoint/2010/main" val="1022977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3F33-DFCA-8B7E-BAA1-C8D14C18072F}"/>
              </a:ext>
            </a:extLst>
          </p:cNvPr>
          <p:cNvSpPr>
            <a:spLocks noGrp="1"/>
          </p:cNvSpPr>
          <p:nvPr>
            <p:ph type="title"/>
          </p:nvPr>
        </p:nvSpPr>
        <p:spPr/>
        <p:txBody>
          <a:bodyPr/>
          <a:lstStyle/>
          <a:p>
            <a:r>
              <a:rPr lang="en-US" dirty="0"/>
              <a:t>Reference</a:t>
            </a:r>
            <a:endParaRPr lang="en-IN" dirty="0"/>
          </a:p>
        </p:txBody>
      </p:sp>
      <p:sp>
        <p:nvSpPr>
          <p:cNvPr id="3" name="Content Placeholder 2">
            <a:extLst>
              <a:ext uri="{FF2B5EF4-FFF2-40B4-BE49-F238E27FC236}">
                <a16:creationId xmlns:a16="http://schemas.microsoft.com/office/drawing/2014/main" id="{15D7A146-14FD-ECA0-A00B-8F58A0149314}"/>
              </a:ext>
            </a:extLst>
          </p:cNvPr>
          <p:cNvSpPr>
            <a:spLocks noGrp="1"/>
          </p:cNvSpPr>
          <p:nvPr>
            <p:ph idx="1"/>
          </p:nvPr>
        </p:nvSpPr>
        <p:spPr/>
        <p:txBody>
          <a:bodyPr/>
          <a:lstStyle/>
          <a:p>
            <a:r>
              <a:rPr lang="en-IN" dirty="0"/>
              <a:t>https://centriconsulting.com/news/blog/insurance-industry-challenges/</a:t>
            </a:r>
          </a:p>
        </p:txBody>
      </p:sp>
    </p:spTree>
    <p:extLst>
      <p:ext uri="{BB962C8B-B14F-4D97-AF65-F5344CB8AC3E}">
        <p14:creationId xmlns:p14="http://schemas.microsoft.com/office/powerpoint/2010/main" val="39853492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249</TotalTime>
  <Words>1409</Words>
  <Application>Microsoft Office PowerPoint</Application>
  <PresentationFormat>Widescreen</PresentationFormat>
  <Paragraphs>106</Paragraphs>
  <Slides>13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Tw Cen MT</vt:lpstr>
      <vt:lpstr>Tw Cen MT Condensed</vt:lpstr>
      <vt:lpstr>Wingdings 3</vt:lpstr>
      <vt:lpstr>Integral</vt:lpstr>
      <vt:lpstr>A Cartographer’s Dream – Exploring, and Mapping</vt:lpstr>
      <vt:lpstr>Exploring the challenges faced by Insurance Sector</vt:lpstr>
      <vt:lpstr>Exploring the challenges faced by Insuretech industry</vt:lpstr>
      <vt:lpstr>Transitioning Retiring Professionals and Attracting New Talent</vt:lpstr>
      <vt:lpstr>PowerPoint Presentation</vt:lpstr>
      <vt:lpstr>Upskilling Your Team</vt:lpstr>
      <vt:lpstr>The Technical Transformation Of Core Systems</vt:lpstr>
      <vt:lpstr> Complex Revenue Recognition Challenges</vt:lpstr>
      <vt:lpstr>Catastrophic Claims Management</vt:lpstr>
      <vt:lpstr>Data Silos Hindering Collaboration</vt:lpstr>
      <vt:lpstr>Price-Based Competition</vt:lpstr>
      <vt:lpstr>Future Disruptions In Insurance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Sumukh S Hungund [MAHE-MIT]</dc:creator>
  <cp:lastModifiedBy>Sumukh S Hungund [MAHE-MIT]</cp:lastModifiedBy>
  <cp:revision>3</cp:revision>
  <dcterms:created xsi:type="dcterms:W3CDTF">2025-09-03T01:15:56Z</dcterms:created>
  <dcterms:modified xsi:type="dcterms:W3CDTF">2025-09-03T07:00:27Z</dcterms:modified>
</cp:coreProperties>
</file>
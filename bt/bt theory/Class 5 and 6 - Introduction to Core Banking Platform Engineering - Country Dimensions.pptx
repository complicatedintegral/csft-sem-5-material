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5.xml" ContentType="application/vnd.openxmlformats-officedocument.theme+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7.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 id="2147483699" r:id="rId6"/>
    <p:sldMasterId id="2147483719" r:id="rId7"/>
    <p:sldMasterId id="2147483731" r:id="rId8"/>
    <p:sldMasterId id="2147483743" r:id="rId9"/>
    <p:sldMasterId id="2147483745" r:id="rId10"/>
    <p:sldMasterId id="2147483757" r:id="rId11"/>
  </p:sldMasterIdLst>
  <p:notesMasterIdLst>
    <p:notesMasterId r:id="rId109"/>
  </p:notesMasterIdLst>
  <p:sldIdLst>
    <p:sldId id="268" r:id="rId12"/>
    <p:sldId id="2147483075" r:id="rId13"/>
    <p:sldId id="2147483076" r:id="rId14"/>
    <p:sldId id="2147483104" r:id="rId15"/>
    <p:sldId id="2147483085" r:id="rId16"/>
    <p:sldId id="2563" r:id="rId17"/>
    <p:sldId id="2564" r:id="rId18"/>
    <p:sldId id="2565" r:id="rId19"/>
    <p:sldId id="2566" r:id="rId20"/>
    <p:sldId id="2567" r:id="rId21"/>
    <p:sldId id="2568" r:id="rId22"/>
    <p:sldId id="2569" r:id="rId23"/>
    <p:sldId id="2570" r:id="rId24"/>
    <p:sldId id="2147483169" r:id="rId25"/>
    <p:sldId id="2571" r:id="rId26"/>
    <p:sldId id="2572" r:id="rId27"/>
    <p:sldId id="2573" r:id="rId28"/>
    <p:sldId id="2575" r:id="rId29"/>
    <p:sldId id="2576" r:id="rId30"/>
    <p:sldId id="2577" r:id="rId31"/>
    <p:sldId id="2578" r:id="rId32"/>
    <p:sldId id="2147483105" r:id="rId33"/>
    <p:sldId id="2147483086" r:id="rId34"/>
    <p:sldId id="2147483087" r:id="rId35"/>
    <p:sldId id="2147483091" r:id="rId36"/>
    <p:sldId id="2147483092" r:id="rId37"/>
    <p:sldId id="2147483106" r:id="rId38"/>
    <p:sldId id="2147483094" r:id="rId39"/>
    <p:sldId id="2147483101" r:id="rId40"/>
    <p:sldId id="2147483102" r:id="rId41"/>
    <p:sldId id="2147483103" r:id="rId42"/>
    <p:sldId id="2147483095" r:id="rId43"/>
    <p:sldId id="2147483096" r:id="rId44"/>
    <p:sldId id="2147483097" r:id="rId45"/>
    <p:sldId id="2147483099" r:id="rId46"/>
    <p:sldId id="2147483107" r:id="rId47"/>
    <p:sldId id="2147483108" r:id="rId48"/>
    <p:sldId id="2579" r:id="rId49"/>
    <p:sldId id="2147483109" r:id="rId50"/>
    <p:sldId id="2580" r:id="rId51"/>
    <p:sldId id="2147483112" r:id="rId52"/>
    <p:sldId id="2581" r:id="rId53"/>
    <p:sldId id="2147483110" r:id="rId54"/>
    <p:sldId id="2147483111" r:id="rId55"/>
    <p:sldId id="2147483150" r:id="rId56"/>
    <p:sldId id="2147483151" r:id="rId57"/>
    <p:sldId id="2147483152" r:id="rId58"/>
    <p:sldId id="2147483162" r:id="rId59"/>
    <p:sldId id="2147483163" r:id="rId60"/>
    <p:sldId id="2147483164" r:id="rId61"/>
    <p:sldId id="2147483165" r:id="rId62"/>
    <p:sldId id="2147483166" r:id="rId63"/>
    <p:sldId id="2147483167" r:id="rId64"/>
    <p:sldId id="2147483154" r:id="rId65"/>
    <p:sldId id="2147483155" r:id="rId66"/>
    <p:sldId id="2147483156" r:id="rId67"/>
    <p:sldId id="2147483157" r:id="rId68"/>
    <p:sldId id="2147483158" r:id="rId69"/>
    <p:sldId id="2147483159" r:id="rId70"/>
    <p:sldId id="2147483160" r:id="rId71"/>
    <p:sldId id="2147483161" r:id="rId72"/>
    <p:sldId id="2147483168" r:id="rId73"/>
    <p:sldId id="2147483113" r:id="rId74"/>
    <p:sldId id="2147483114" r:id="rId75"/>
    <p:sldId id="2147483115" r:id="rId76"/>
    <p:sldId id="2147483117" r:id="rId77"/>
    <p:sldId id="2147483118" r:id="rId78"/>
    <p:sldId id="2147483119" r:id="rId79"/>
    <p:sldId id="2147483120" r:id="rId80"/>
    <p:sldId id="2147483121" r:id="rId81"/>
    <p:sldId id="2147483122" r:id="rId82"/>
    <p:sldId id="2147483123" r:id="rId83"/>
    <p:sldId id="2147483124" r:id="rId84"/>
    <p:sldId id="2147483125" r:id="rId85"/>
    <p:sldId id="2147483126" r:id="rId86"/>
    <p:sldId id="2147483127" r:id="rId87"/>
    <p:sldId id="2147483128" r:id="rId88"/>
    <p:sldId id="2147483129" r:id="rId89"/>
    <p:sldId id="2147483130" r:id="rId90"/>
    <p:sldId id="2147483131" r:id="rId91"/>
    <p:sldId id="2147483116" r:id="rId92"/>
    <p:sldId id="2147483133" r:id="rId93"/>
    <p:sldId id="2147483134" r:id="rId94"/>
    <p:sldId id="2147483136" r:id="rId95"/>
    <p:sldId id="2147483137" r:id="rId96"/>
    <p:sldId id="2147483138" r:id="rId97"/>
    <p:sldId id="2147483132" r:id="rId98"/>
    <p:sldId id="2147483139" r:id="rId99"/>
    <p:sldId id="2147483140" r:id="rId100"/>
    <p:sldId id="2147483141" r:id="rId101"/>
    <p:sldId id="2147483143" r:id="rId102"/>
    <p:sldId id="2147483144" r:id="rId103"/>
    <p:sldId id="2147483145" r:id="rId104"/>
    <p:sldId id="2147483146" r:id="rId105"/>
    <p:sldId id="2147483148" r:id="rId106"/>
    <p:sldId id="2147483149" r:id="rId107"/>
    <p:sldId id="2147483078" r:id="rId10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EC316E-1EDE-A46E-143E-CBDAE603165E}" v="1" dt="2025-11-02T05:38:09.0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84" Type="http://schemas.openxmlformats.org/officeDocument/2006/relationships/slide" Target="slides/slide73.xml"/><Relationship Id="rId89" Type="http://schemas.openxmlformats.org/officeDocument/2006/relationships/slide" Target="slides/slide78.xml"/><Relationship Id="rId112" Type="http://schemas.openxmlformats.org/officeDocument/2006/relationships/theme" Target="theme/theme1.xml"/><Relationship Id="rId16" Type="http://schemas.openxmlformats.org/officeDocument/2006/relationships/slide" Target="slides/slide5.xml"/><Relationship Id="rId107" Type="http://schemas.openxmlformats.org/officeDocument/2006/relationships/slide" Target="slides/slide96.xml"/><Relationship Id="rId11" Type="http://schemas.openxmlformats.org/officeDocument/2006/relationships/slideMaster" Target="slideMasters/slideMaster8.xml"/><Relationship Id="rId32" Type="http://schemas.openxmlformats.org/officeDocument/2006/relationships/slide" Target="slides/slide21.xml"/><Relationship Id="rId37" Type="http://schemas.openxmlformats.org/officeDocument/2006/relationships/slide" Target="slides/slide26.xml"/><Relationship Id="rId53" Type="http://schemas.openxmlformats.org/officeDocument/2006/relationships/slide" Target="slides/slide42.xml"/><Relationship Id="rId58" Type="http://schemas.openxmlformats.org/officeDocument/2006/relationships/slide" Target="slides/slide47.xml"/><Relationship Id="rId74" Type="http://schemas.openxmlformats.org/officeDocument/2006/relationships/slide" Target="slides/slide63.xml"/><Relationship Id="rId79" Type="http://schemas.openxmlformats.org/officeDocument/2006/relationships/slide" Target="slides/slide68.xml"/><Relationship Id="rId102" Type="http://schemas.openxmlformats.org/officeDocument/2006/relationships/slide" Target="slides/slide91.xml"/><Relationship Id="rId5" Type="http://schemas.openxmlformats.org/officeDocument/2006/relationships/slideMaster" Target="slideMasters/slideMaster2.xml"/><Relationship Id="rId90" Type="http://schemas.openxmlformats.org/officeDocument/2006/relationships/slide" Target="slides/slide79.xml"/><Relationship Id="rId95" Type="http://schemas.openxmlformats.org/officeDocument/2006/relationships/slide" Target="slides/slide84.xml"/><Relationship Id="rId22" Type="http://schemas.openxmlformats.org/officeDocument/2006/relationships/slide" Target="slides/slide11.xml"/><Relationship Id="rId27" Type="http://schemas.openxmlformats.org/officeDocument/2006/relationships/slide" Target="slides/slide16.xml"/><Relationship Id="rId43" Type="http://schemas.openxmlformats.org/officeDocument/2006/relationships/slide" Target="slides/slide32.xml"/><Relationship Id="rId48" Type="http://schemas.openxmlformats.org/officeDocument/2006/relationships/slide" Target="slides/slide37.xml"/><Relationship Id="rId64" Type="http://schemas.openxmlformats.org/officeDocument/2006/relationships/slide" Target="slides/slide53.xml"/><Relationship Id="rId69" Type="http://schemas.openxmlformats.org/officeDocument/2006/relationships/slide" Target="slides/slide58.xml"/><Relationship Id="rId113" Type="http://schemas.openxmlformats.org/officeDocument/2006/relationships/tableStyles" Target="tableStyles.xml"/><Relationship Id="rId80" Type="http://schemas.openxmlformats.org/officeDocument/2006/relationships/slide" Target="slides/slide69.xml"/><Relationship Id="rId85" Type="http://schemas.openxmlformats.org/officeDocument/2006/relationships/slide" Target="slides/slide74.xml"/><Relationship Id="rId12" Type="http://schemas.openxmlformats.org/officeDocument/2006/relationships/slide" Target="slides/slide1.xml"/><Relationship Id="rId17" Type="http://schemas.openxmlformats.org/officeDocument/2006/relationships/slide" Target="slides/slide6.xml"/><Relationship Id="rId33" Type="http://schemas.openxmlformats.org/officeDocument/2006/relationships/slide" Target="slides/slide22.xml"/><Relationship Id="rId38" Type="http://schemas.openxmlformats.org/officeDocument/2006/relationships/slide" Target="slides/slide27.xml"/><Relationship Id="rId59" Type="http://schemas.openxmlformats.org/officeDocument/2006/relationships/slide" Target="slides/slide48.xml"/><Relationship Id="rId103" Type="http://schemas.openxmlformats.org/officeDocument/2006/relationships/slide" Target="slides/slide92.xml"/><Relationship Id="rId108" Type="http://schemas.openxmlformats.org/officeDocument/2006/relationships/slide" Target="slides/slide97.xml"/><Relationship Id="rId54" Type="http://schemas.openxmlformats.org/officeDocument/2006/relationships/slide" Target="slides/slide43.xml"/><Relationship Id="rId70" Type="http://schemas.openxmlformats.org/officeDocument/2006/relationships/slide" Target="slides/slide59.xml"/><Relationship Id="rId75" Type="http://schemas.openxmlformats.org/officeDocument/2006/relationships/slide" Target="slides/slide64.xml"/><Relationship Id="rId91" Type="http://schemas.openxmlformats.org/officeDocument/2006/relationships/slide" Target="slides/slide80.xml"/><Relationship Id="rId96" Type="http://schemas.openxmlformats.org/officeDocument/2006/relationships/slide" Target="slides/slide85.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6" Type="http://schemas.openxmlformats.org/officeDocument/2006/relationships/slide" Target="slides/slide95.xml"/><Relationship Id="rId114" Type="http://schemas.microsoft.com/office/2016/11/relationships/changesInfo" Target="changesInfos/changesInfo1.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slide" Target="slides/slide62.xml"/><Relationship Id="rId78" Type="http://schemas.openxmlformats.org/officeDocument/2006/relationships/slide" Target="slides/slide67.xml"/><Relationship Id="rId81" Type="http://schemas.openxmlformats.org/officeDocument/2006/relationships/slide" Target="slides/slide70.xml"/><Relationship Id="rId86" Type="http://schemas.openxmlformats.org/officeDocument/2006/relationships/slide" Target="slides/slide75.xml"/><Relationship Id="rId94" Type="http://schemas.openxmlformats.org/officeDocument/2006/relationships/slide" Target="slides/slide83.xml"/><Relationship Id="rId99" Type="http://schemas.openxmlformats.org/officeDocument/2006/relationships/slide" Target="slides/slide88.xml"/><Relationship Id="rId101" Type="http://schemas.openxmlformats.org/officeDocument/2006/relationships/slide" Target="slides/slide90.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109" Type="http://schemas.openxmlformats.org/officeDocument/2006/relationships/notesMaster" Target="notesMasters/notesMaster1.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97" Type="http://schemas.openxmlformats.org/officeDocument/2006/relationships/slide" Target="slides/slide86.xml"/><Relationship Id="rId104" Type="http://schemas.openxmlformats.org/officeDocument/2006/relationships/slide" Target="slides/slide93.xml"/><Relationship Id="rId7" Type="http://schemas.openxmlformats.org/officeDocument/2006/relationships/slideMaster" Target="slideMasters/slideMaster4.xml"/><Relationship Id="rId71" Type="http://schemas.openxmlformats.org/officeDocument/2006/relationships/slide" Target="slides/slide60.xml"/><Relationship Id="rId92" Type="http://schemas.openxmlformats.org/officeDocument/2006/relationships/slide" Target="slides/slide81.xml"/><Relationship Id="rId2" Type="http://schemas.openxmlformats.org/officeDocument/2006/relationships/customXml" Target="../customXml/item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110" Type="http://schemas.openxmlformats.org/officeDocument/2006/relationships/presProps" Target="presProps.xml"/><Relationship Id="rId115" Type="http://schemas.microsoft.com/office/2015/10/relationships/revisionInfo" Target="revisionInfo.xml"/><Relationship Id="rId61" Type="http://schemas.openxmlformats.org/officeDocument/2006/relationships/slide" Target="slides/slide50.xml"/><Relationship Id="rId82" Type="http://schemas.openxmlformats.org/officeDocument/2006/relationships/slide" Target="slides/slide71.xml"/><Relationship Id="rId19" Type="http://schemas.openxmlformats.org/officeDocument/2006/relationships/slide" Target="slides/slide8.xml"/><Relationship Id="rId14" Type="http://schemas.openxmlformats.org/officeDocument/2006/relationships/slide" Target="slides/slide3.xml"/><Relationship Id="rId30" Type="http://schemas.openxmlformats.org/officeDocument/2006/relationships/slide" Target="slides/slide19.xml"/><Relationship Id="rId35" Type="http://schemas.openxmlformats.org/officeDocument/2006/relationships/slide" Target="slides/slide24.xml"/><Relationship Id="rId56" Type="http://schemas.openxmlformats.org/officeDocument/2006/relationships/slide" Target="slides/slide45.xml"/><Relationship Id="rId77" Type="http://schemas.openxmlformats.org/officeDocument/2006/relationships/slide" Target="slides/slide66.xml"/><Relationship Id="rId100" Type="http://schemas.openxmlformats.org/officeDocument/2006/relationships/slide" Target="slides/slide89.xml"/><Relationship Id="rId105" Type="http://schemas.openxmlformats.org/officeDocument/2006/relationships/slide" Target="slides/slide94.xml"/><Relationship Id="rId8" Type="http://schemas.openxmlformats.org/officeDocument/2006/relationships/slideMaster" Target="slideMasters/slideMaster5.xml"/><Relationship Id="rId51" Type="http://schemas.openxmlformats.org/officeDocument/2006/relationships/slide" Target="slides/slide40.xml"/><Relationship Id="rId72" Type="http://schemas.openxmlformats.org/officeDocument/2006/relationships/slide" Target="slides/slide61.xml"/><Relationship Id="rId93" Type="http://schemas.openxmlformats.org/officeDocument/2006/relationships/slide" Target="slides/slide82.xml"/><Relationship Id="rId98" Type="http://schemas.openxmlformats.org/officeDocument/2006/relationships/slide" Target="slides/slide87.xml"/><Relationship Id="rId3" Type="http://schemas.openxmlformats.org/officeDocument/2006/relationships/customXml" Target="../customXml/item3.xml"/><Relationship Id="rId25" Type="http://schemas.openxmlformats.org/officeDocument/2006/relationships/slide" Target="slides/slide14.xml"/><Relationship Id="rId46" Type="http://schemas.openxmlformats.org/officeDocument/2006/relationships/slide" Target="slides/slide35.xml"/><Relationship Id="rId67" Type="http://schemas.openxmlformats.org/officeDocument/2006/relationships/slide" Target="slides/slide56.xml"/><Relationship Id="rId20" Type="http://schemas.openxmlformats.org/officeDocument/2006/relationships/slide" Target="slides/slide9.xml"/><Relationship Id="rId41" Type="http://schemas.openxmlformats.org/officeDocument/2006/relationships/slide" Target="slides/slide30.xml"/><Relationship Id="rId62" Type="http://schemas.openxmlformats.org/officeDocument/2006/relationships/slide" Target="slides/slide51.xml"/><Relationship Id="rId83" Type="http://schemas.openxmlformats.org/officeDocument/2006/relationships/slide" Target="slides/slide72.xml"/><Relationship Id="rId88" Type="http://schemas.openxmlformats.org/officeDocument/2006/relationships/slide" Target="slides/slide77.xml"/><Relationship Id="rId11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NAV JALLEPALLI - 230958015 - MITMPL" userId="S::abhinav3.mitmpl2023@learner.manipal.edu::3f9d6c81-10e9-4b71-8ef7-0c2ed9c915b4" providerId="AD" clId="Web-{22EC316E-1EDE-A46E-143E-CBDAE603165E}"/>
    <pc:docChg chg="delSld">
      <pc:chgData name="ABHINAV JALLEPALLI - 230958015 - MITMPL" userId="S::abhinav3.mitmpl2023@learner.manipal.edu::3f9d6c81-10e9-4b71-8ef7-0c2ed9c915b4" providerId="AD" clId="Web-{22EC316E-1EDE-A46E-143E-CBDAE603165E}" dt="2025-11-02T05:38:09.053" v="0"/>
      <pc:docMkLst>
        <pc:docMk/>
      </pc:docMkLst>
      <pc:sldChg chg="del">
        <pc:chgData name="ABHINAV JALLEPALLI - 230958015 - MITMPL" userId="S::abhinav3.mitmpl2023@learner.manipal.edu::3f9d6c81-10e9-4b71-8ef7-0c2ed9c915b4" providerId="AD" clId="Web-{22EC316E-1EDE-A46E-143E-CBDAE603165E}" dt="2025-11-02T05:38:09.053" v="0"/>
        <pc:sldMkLst>
          <pc:docMk/>
          <pc:sldMk cId="2419103994" sldId="2147483170"/>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_rels/data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diagrams/_rels/data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image" Target="../media/image58.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image" Target="../media/image58.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EB3CED-D97B-4ABD-908F-2504159BE3C1}"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A8E38A55-AA8C-4853-B165-8C638DFBCEF1}">
      <dgm:prSet/>
      <dgm:spPr/>
      <dgm:t>
        <a:bodyPr/>
        <a:lstStyle/>
        <a:p>
          <a:pPr>
            <a:lnSpc>
              <a:spcPct val="100000"/>
            </a:lnSpc>
            <a:defRPr b="1"/>
          </a:pPr>
          <a:r>
            <a:rPr lang="en-US"/>
            <a:t>Introduction by Banking Standards</a:t>
          </a:r>
        </a:p>
      </dgm:t>
    </dgm:pt>
    <dgm:pt modelId="{6FD31256-C0B0-4E36-AB3E-DBA7B214E266}" type="parTrans" cxnId="{2923B63E-2E65-479F-8B69-B7C0D73029A8}">
      <dgm:prSet/>
      <dgm:spPr/>
      <dgm:t>
        <a:bodyPr/>
        <a:lstStyle/>
        <a:p>
          <a:endParaRPr lang="en-US"/>
        </a:p>
      </dgm:t>
    </dgm:pt>
    <dgm:pt modelId="{F5E89C50-863D-434C-A1C7-0DE3731A66D1}" type="sibTrans" cxnId="{2923B63E-2E65-479F-8B69-B7C0D73029A8}">
      <dgm:prSet/>
      <dgm:spPr/>
      <dgm:t>
        <a:bodyPr/>
        <a:lstStyle/>
        <a:p>
          <a:pPr>
            <a:lnSpc>
              <a:spcPct val="100000"/>
            </a:lnSpc>
            <a:defRPr b="1"/>
          </a:pPr>
          <a:endParaRPr lang="en-US"/>
        </a:p>
      </dgm:t>
    </dgm:pt>
    <dgm:pt modelId="{B83F223F-73D1-47E7-B152-BBE6D028D0FE}">
      <dgm:prSet/>
      <dgm:spPr/>
      <dgm:t>
        <a:bodyPr/>
        <a:lstStyle/>
        <a:p>
          <a:pPr>
            <a:lnSpc>
              <a:spcPct val="100000"/>
            </a:lnSpc>
          </a:pPr>
          <a:r>
            <a:rPr lang="en-US"/>
            <a:t>IBAN was introduced by the European Committee for Banking Standards to create uniform bank account formats.</a:t>
          </a:r>
        </a:p>
      </dgm:t>
    </dgm:pt>
    <dgm:pt modelId="{7129285E-87C1-426C-AA18-ADB50845603B}" type="parTrans" cxnId="{4BF92E37-491C-423F-9510-D0C1D337EDE2}">
      <dgm:prSet/>
      <dgm:spPr/>
      <dgm:t>
        <a:bodyPr/>
        <a:lstStyle/>
        <a:p>
          <a:endParaRPr lang="en-US"/>
        </a:p>
      </dgm:t>
    </dgm:pt>
    <dgm:pt modelId="{AE7DCEDB-8ABC-44DE-A76E-FE3268AC23D6}" type="sibTrans" cxnId="{4BF92E37-491C-423F-9510-D0C1D337EDE2}">
      <dgm:prSet/>
      <dgm:spPr/>
      <dgm:t>
        <a:bodyPr/>
        <a:lstStyle/>
        <a:p>
          <a:endParaRPr lang="en-US"/>
        </a:p>
      </dgm:t>
    </dgm:pt>
    <dgm:pt modelId="{400FECE5-1D00-4D43-B589-1CDF9499FFC4}">
      <dgm:prSet/>
      <dgm:spPr/>
      <dgm:t>
        <a:bodyPr/>
        <a:lstStyle/>
        <a:p>
          <a:pPr>
            <a:lnSpc>
              <a:spcPct val="100000"/>
            </a:lnSpc>
            <a:defRPr b="1"/>
          </a:pPr>
          <a:r>
            <a:rPr lang="en-US"/>
            <a:t>ISO Adoption</a:t>
          </a:r>
        </a:p>
      </dgm:t>
    </dgm:pt>
    <dgm:pt modelId="{CAE26B44-0077-42BA-ABFB-1A19477ED717}" type="parTrans" cxnId="{C603D047-10DE-453A-A964-17C8F307EA79}">
      <dgm:prSet/>
      <dgm:spPr/>
      <dgm:t>
        <a:bodyPr/>
        <a:lstStyle/>
        <a:p>
          <a:endParaRPr lang="en-US"/>
        </a:p>
      </dgm:t>
    </dgm:pt>
    <dgm:pt modelId="{FA28E157-B8DE-4FE4-8DAA-5D79F6BF9C74}" type="sibTrans" cxnId="{C603D047-10DE-453A-A964-17C8F307EA79}">
      <dgm:prSet/>
      <dgm:spPr/>
      <dgm:t>
        <a:bodyPr/>
        <a:lstStyle/>
        <a:p>
          <a:pPr>
            <a:lnSpc>
              <a:spcPct val="100000"/>
            </a:lnSpc>
            <a:defRPr b="1"/>
          </a:pPr>
          <a:endParaRPr lang="en-US"/>
        </a:p>
      </dgm:t>
    </dgm:pt>
    <dgm:pt modelId="{B8031209-689D-41DD-919E-6B2387682B38}">
      <dgm:prSet/>
      <dgm:spPr/>
      <dgm:t>
        <a:bodyPr/>
        <a:lstStyle/>
        <a:p>
          <a:pPr>
            <a:lnSpc>
              <a:spcPct val="100000"/>
            </a:lnSpc>
          </a:pPr>
          <a:r>
            <a:rPr lang="en-US"/>
            <a:t>The International Organization for Standardization later adopted IBAN to ensure global consistency in banking.</a:t>
          </a:r>
        </a:p>
      </dgm:t>
    </dgm:pt>
    <dgm:pt modelId="{5B56256A-E270-4B26-B8C6-06323B50504C}" type="parTrans" cxnId="{5527E3BA-99AC-42F2-8697-F33FF05AE3E9}">
      <dgm:prSet/>
      <dgm:spPr/>
      <dgm:t>
        <a:bodyPr/>
        <a:lstStyle/>
        <a:p>
          <a:endParaRPr lang="en-US"/>
        </a:p>
      </dgm:t>
    </dgm:pt>
    <dgm:pt modelId="{81C0F855-1717-4D53-B664-17FC14F5228E}" type="sibTrans" cxnId="{5527E3BA-99AC-42F2-8697-F33FF05AE3E9}">
      <dgm:prSet/>
      <dgm:spPr/>
      <dgm:t>
        <a:bodyPr/>
        <a:lstStyle/>
        <a:p>
          <a:endParaRPr lang="en-US"/>
        </a:p>
      </dgm:t>
    </dgm:pt>
    <dgm:pt modelId="{A93747B2-38F8-4EAF-A542-1868B0A2F72C}">
      <dgm:prSet/>
      <dgm:spPr/>
      <dgm:t>
        <a:bodyPr/>
        <a:lstStyle/>
        <a:p>
          <a:pPr>
            <a:lnSpc>
              <a:spcPct val="100000"/>
            </a:lnSpc>
            <a:defRPr b="1"/>
          </a:pPr>
          <a:r>
            <a:rPr lang="en-US"/>
            <a:t>Facilitates International Payments</a:t>
          </a:r>
        </a:p>
      </dgm:t>
    </dgm:pt>
    <dgm:pt modelId="{05262509-8F8F-4E73-AC23-9740719BDB77}" type="parTrans" cxnId="{2045F52D-A5E6-4B2E-89C1-D46DB8DE9A4E}">
      <dgm:prSet/>
      <dgm:spPr/>
      <dgm:t>
        <a:bodyPr/>
        <a:lstStyle/>
        <a:p>
          <a:endParaRPr lang="en-US"/>
        </a:p>
      </dgm:t>
    </dgm:pt>
    <dgm:pt modelId="{D5636735-808D-41BF-912A-10E8DB8522A5}" type="sibTrans" cxnId="{2045F52D-A5E6-4B2E-89C1-D46DB8DE9A4E}">
      <dgm:prSet/>
      <dgm:spPr/>
      <dgm:t>
        <a:bodyPr/>
        <a:lstStyle/>
        <a:p>
          <a:endParaRPr lang="en-US"/>
        </a:p>
      </dgm:t>
    </dgm:pt>
    <dgm:pt modelId="{28A3B5D1-EEB7-441B-8B59-71F7956D1281}">
      <dgm:prSet/>
      <dgm:spPr/>
      <dgm:t>
        <a:bodyPr/>
        <a:lstStyle/>
        <a:p>
          <a:pPr>
            <a:lnSpc>
              <a:spcPct val="100000"/>
            </a:lnSpc>
          </a:pPr>
          <a:r>
            <a:rPr lang="en-US"/>
            <a:t>IBAN facilitates secure and efficient cross-border payments by standardizing bank account details.</a:t>
          </a:r>
        </a:p>
      </dgm:t>
    </dgm:pt>
    <dgm:pt modelId="{F8665785-06F4-47EA-83A0-145E8B367533}" type="parTrans" cxnId="{55CCCDCE-C050-4DB7-85F4-F5099F9EC3EE}">
      <dgm:prSet/>
      <dgm:spPr/>
      <dgm:t>
        <a:bodyPr/>
        <a:lstStyle/>
        <a:p>
          <a:endParaRPr lang="en-US"/>
        </a:p>
      </dgm:t>
    </dgm:pt>
    <dgm:pt modelId="{595EA190-6911-4B1F-B5F5-5CAC76D7E5BD}" type="sibTrans" cxnId="{55CCCDCE-C050-4DB7-85F4-F5099F9EC3EE}">
      <dgm:prSet/>
      <dgm:spPr/>
      <dgm:t>
        <a:bodyPr/>
        <a:lstStyle/>
        <a:p>
          <a:endParaRPr lang="en-US"/>
        </a:p>
      </dgm:t>
    </dgm:pt>
    <dgm:pt modelId="{403AC02D-E3C0-463B-962E-E7E80768AFFB}" type="pres">
      <dgm:prSet presAssocID="{1DEB3CED-D97B-4ABD-908F-2504159BE3C1}" presName="Root" presStyleCnt="0">
        <dgm:presLayoutVars>
          <dgm:dir/>
          <dgm:resizeHandles val="exact"/>
        </dgm:presLayoutVars>
      </dgm:prSet>
      <dgm:spPr/>
    </dgm:pt>
    <dgm:pt modelId="{39ECA508-0C44-4A32-8A6B-1ED0691DE06B}" type="pres">
      <dgm:prSet presAssocID="{A8E38A55-AA8C-4853-B165-8C638DFBCEF1}" presName="Composite" presStyleCnt="0"/>
      <dgm:spPr/>
    </dgm:pt>
    <dgm:pt modelId="{3F7CA91A-52A0-4318-BE63-E26E76523D0E}" type="pres">
      <dgm:prSet presAssocID="{A8E38A55-AA8C-4853-B165-8C638DFBCEF1}"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r="33251" b="2"/>
          <a:stretch/>
        </a:blipFill>
      </dgm:spPr>
      <dgm:extLst>
        <a:ext uri="{E40237B7-FDA0-4F09-8148-C483321AD2D9}">
          <dgm14:cNvPr xmlns:dgm14="http://schemas.microsoft.com/office/drawing/2010/diagram" id="0" name="" descr="Processing Election Ballots Through a Digital Vote Tabulator Counting Machine US General Election Matching 4K Video Available (Shot with Canon 5DS 50.6mp photos professionally retouched - Lightroom / Photoshop - original size 5792 x 8688 downsampled as needed for clarity and select focus used for dramatic effect)"/>
        </a:ext>
      </dgm:extLst>
    </dgm:pt>
    <dgm:pt modelId="{B82786FA-045D-4E5E-A7E2-BFF77D41671E}" type="pres">
      <dgm:prSet presAssocID="{A8E38A55-AA8C-4853-B165-8C638DFBCEF1}" presName="Subtitle" presStyleLbl="revTx" presStyleIdx="0" presStyleCnt="6">
        <dgm:presLayoutVars>
          <dgm:chMax val="0"/>
          <dgm:bulletEnabled/>
        </dgm:presLayoutVars>
      </dgm:prSet>
      <dgm:spPr/>
    </dgm:pt>
    <dgm:pt modelId="{82BDE431-E9B8-4612-8714-B68D3FBF1074}" type="pres">
      <dgm:prSet presAssocID="{A8E38A55-AA8C-4853-B165-8C638DFBCEF1}" presName="Description" presStyleLbl="revTx" presStyleIdx="1" presStyleCnt="6">
        <dgm:presLayoutVars>
          <dgm:bulletEnabled/>
        </dgm:presLayoutVars>
      </dgm:prSet>
      <dgm:spPr/>
    </dgm:pt>
    <dgm:pt modelId="{08858796-3E1B-4708-9C08-27D2A8AB11A2}" type="pres">
      <dgm:prSet presAssocID="{F5E89C50-863D-434C-A1C7-0DE3731A66D1}" presName="sibTrans" presStyleLbl="sibTrans2D1" presStyleIdx="0" presStyleCnt="0"/>
      <dgm:spPr/>
    </dgm:pt>
    <dgm:pt modelId="{07A23437-9D36-4BA1-988B-04FB4424167C}" type="pres">
      <dgm:prSet presAssocID="{400FECE5-1D00-4D43-B589-1CDF9499FFC4}" presName="Composite" presStyleCnt="0"/>
      <dgm:spPr/>
    </dgm:pt>
    <dgm:pt modelId="{DD7478FE-4450-4B87-812F-9DEF69126075}" type="pres">
      <dgm:prSet presAssocID="{400FECE5-1D00-4D43-B589-1CDF9499FFC4}"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 r="-9" b="-8"/>
          <a:stretch/>
        </a:blipFill>
      </dgm:spPr>
      <dgm:extLst>
        <a:ext uri="{E40237B7-FDA0-4F09-8148-C483321AD2D9}">
          <dgm14:cNvPr xmlns:dgm14="http://schemas.microsoft.com/office/drawing/2010/diagram" id="0" name="" descr="http://kuaijibbs.com/istockphoto/banner/zhuce1.jpg "/>
        </a:ext>
      </dgm:extLst>
    </dgm:pt>
    <dgm:pt modelId="{505C2974-3AF6-4F90-8AD1-39B2A6F09503}" type="pres">
      <dgm:prSet presAssocID="{400FECE5-1D00-4D43-B589-1CDF9499FFC4}" presName="Subtitle" presStyleLbl="revTx" presStyleIdx="2" presStyleCnt="6">
        <dgm:presLayoutVars>
          <dgm:chMax val="0"/>
          <dgm:bulletEnabled/>
        </dgm:presLayoutVars>
      </dgm:prSet>
      <dgm:spPr/>
    </dgm:pt>
    <dgm:pt modelId="{B46C556E-B1DB-4EC5-BCB1-9A547D9B7C7C}" type="pres">
      <dgm:prSet presAssocID="{400FECE5-1D00-4D43-B589-1CDF9499FFC4}" presName="Description" presStyleLbl="revTx" presStyleIdx="3" presStyleCnt="6">
        <dgm:presLayoutVars>
          <dgm:bulletEnabled/>
        </dgm:presLayoutVars>
      </dgm:prSet>
      <dgm:spPr/>
    </dgm:pt>
    <dgm:pt modelId="{36DDED1A-41B2-44EB-B6E5-87CC9B84A3FC}" type="pres">
      <dgm:prSet presAssocID="{FA28E157-B8DE-4FE4-8DAA-5D79F6BF9C74}" presName="sibTrans" presStyleLbl="sibTrans2D1" presStyleIdx="0" presStyleCnt="0"/>
      <dgm:spPr/>
    </dgm:pt>
    <dgm:pt modelId="{0D6643F6-5156-4641-ABD2-B88B2AE176D5}" type="pres">
      <dgm:prSet presAssocID="{A93747B2-38F8-4EAF-A542-1868B0A2F72C}" presName="Composite" presStyleCnt="0"/>
      <dgm:spPr/>
    </dgm:pt>
    <dgm:pt modelId="{27D49506-F3A9-4F8C-B487-599E1B6C07A6}" type="pres">
      <dgm:prSet presAssocID="{A93747B2-38F8-4EAF-A542-1868B0A2F72C}"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288" r="22714" b="3"/>
          <a:stretch/>
        </a:blipFill>
      </dgm:spPr>
      <dgm:extLst>
        <a:ext uri="{E40237B7-FDA0-4F09-8148-C483321AD2D9}">
          <dgm14:cNvPr xmlns:dgm14="http://schemas.microsoft.com/office/drawing/2010/diagram" id="0" name="" descr="Global communication network"/>
        </a:ext>
      </dgm:extLst>
    </dgm:pt>
    <dgm:pt modelId="{5D72AD2F-9744-4C18-B9D5-70EF67F69013}" type="pres">
      <dgm:prSet presAssocID="{A93747B2-38F8-4EAF-A542-1868B0A2F72C}" presName="Subtitle" presStyleLbl="revTx" presStyleIdx="4" presStyleCnt="6">
        <dgm:presLayoutVars>
          <dgm:chMax val="0"/>
          <dgm:bulletEnabled/>
        </dgm:presLayoutVars>
      </dgm:prSet>
      <dgm:spPr/>
    </dgm:pt>
    <dgm:pt modelId="{6CFA9855-2304-4C7F-BD17-16541428A5BD}" type="pres">
      <dgm:prSet presAssocID="{A93747B2-38F8-4EAF-A542-1868B0A2F72C}" presName="Description" presStyleLbl="revTx" presStyleIdx="5" presStyleCnt="6">
        <dgm:presLayoutVars>
          <dgm:bulletEnabled/>
        </dgm:presLayoutVars>
      </dgm:prSet>
      <dgm:spPr/>
    </dgm:pt>
  </dgm:ptLst>
  <dgm:cxnLst>
    <dgm:cxn modelId="{E561B42D-642F-4A84-998B-D3B36546C226}" type="presOf" srcId="{B83F223F-73D1-47E7-B152-BBE6D028D0FE}" destId="{82BDE431-E9B8-4612-8714-B68D3FBF1074}" srcOrd="0" destOrd="0" presId="urn:microsoft.com/office/officeart/2024/3/layout/verticalVisualTextBlock1"/>
    <dgm:cxn modelId="{2045F52D-A5E6-4B2E-89C1-D46DB8DE9A4E}" srcId="{1DEB3CED-D97B-4ABD-908F-2504159BE3C1}" destId="{A93747B2-38F8-4EAF-A542-1868B0A2F72C}" srcOrd="2" destOrd="0" parTransId="{05262509-8F8F-4E73-AC23-9740719BDB77}" sibTransId="{D5636735-808D-41BF-912A-10E8DB8522A5}"/>
    <dgm:cxn modelId="{4BF92E37-491C-423F-9510-D0C1D337EDE2}" srcId="{A8E38A55-AA8C-4853-B165-8C638DFBCEF1}" destId="{B83F223F-73D1-47E7-B152-BBE6D028D0FE}" srcOrd="0" destOrd="0" parTransId="{7129285E-87C1-426C-AA18-ADB50845603B}" sibTransId="{AE7DCEDB-8ABC-44DE-A76E-FE3268AC23D6}"/>
    <dgm:cxn modelId="{2923B63E-2E65-479F-8B69-B7C0D73029A8}" srcId="{1DEB3CED-D97B-4ABD-908F-2504159BE3C1}" destId="{A8E38A55-AA8C-4853-B165-8C638DFBCEF1}" srcOrd="0" destOrd="0" parTransId="{6FD31256-C0B0-4E36-AB3E-DBA7B214E266}" sibTransId="{F5E89C50-863D-434C-A1C7-0DE3731A66D1}"/>
    <dgm:cxn modelId="{2582EF43-0A9C-4262-BB7A-CA220421F7B5}" type="presOf" srcId="{A93747B2-38F8-4EAF-A542-1868B0A2F72C}" destId="{5D72AD2F-9744-4C18-B9D5-70EF67F69013}" srcOrd="0" destOrd="0" presId="urn:microsoft.com/office/officeart/2024/3/layout/verticalVisualTextBlock1"/>
    <dgm:cxn modelId="{C603D047-10DE-453A-A964-17C8F307EA79}" srcId="{1DEB3CED-D97B-4ABD-908F-2504159BE3C1}" destId="{400FECE5-1D00-4D43-B589-1CDF9499FFC4}" srcOrd="1" destOrd="0" parTransId="{CAE26B44-0077-42BA-ABFB-1A19477ED717}" sibTransId="{FA28E157-B8DE-4FE4-8DAA-5D79F6BF9C74}"/>
    <dgm:cxn modelId="{8213824F-5B6C-451F-98AB-730574F0A9C3}" type="presOf" srcId="{28A3B5D1-EEB7-441B-8B59-71F7956D1281}" destId="{6CFA9855-2304-4C7F-BD17-16541428A5BD}" srcOrd="0" destOrd="0" presId="urn:microsoft.com/office/officeart/2024/3/layout/verticalVisualTextBlock1"/>
    <dgm:cxn modelId="{232DF97E-D6CF-4A42-9171-BE5F0170BD55}" type="presOf" srcId="{A8E38A55-AA8C-4853-B165-8C638DFBCEF1}" destId="{B82786FA-045D-4E5E-A7E2-BFF77D41671E}" srcOrd="0" destOrd="0" presId="urn:microsoft.com/office/officeart/2024/3/layout/verticalVisualTextBlock1"/>
    <dgm:cxn modelId="{1705BC9D-F3B7-4F7E-B924-C0207EF15E78}" type="presOf" srcId="{FA28E157-B8DE-4FE4-8DAA-5D79F6BF9C74}" destId="{36DDED1A-41B2-44EB-B6E5-87CC9B84A3FC}" srcOrd="0" destOrd="0" presId="urn:microsoft.com/office/officeart/2024/3/layout/verticalVisualTextBlock1"/>
    <dgm:cxn modelId="{5527E3BA-99AC-42F2-8697-F33FF05AE3E9}" srcId="{400FECE5-1D00-4D43-B589-1CDF9499FFC4}" destId="{B8031209-689D-41DD-919E-6B2387682B38}" srcOrd="0" destOrd="0" parTransId="{5B56256A-E270-4B26-B8C6-06323B50504C}" sibTransId="{81C0F855-1717-4D53-B664-17FC14F5228E}"/>
    <dgm:cxn modelId="{27B783BC-6FD8-4ECE-BBF1-8E8B9CB1D609}" type="presOf" srcId="{1DEB3CED-D97B-4ABD-908F-2504159BE3C1}" destId="{403AC02D-E3C0-463B-962E-E7E80768AFFB}" srcOrd="0" destOrd="0" presId="urn:microsoft.com/office/officeart/2024/3/layout/verticalVisualTextBlock1"/>
    <dgm:cxn modelId="{55CCCDCE-C050-4DB7-85F4-F5099F9EC3EE}" srcId="{A93747B2-38F8-4EAF-A542-1868B0A2F72C}" destId="{28A3B5D1-EEB7-441B-8B59-71F7956D1281}" srcOrd="0" destOrd="0" parTransId="{F8665785-06F4-47EA-83A0-145E8B367533}" sibTransId="{595EA190-6911-4B1F-B5F5-5CAC76D7E5BD}"/>
    <dgm:cxn modelId="{A0B9CCE5-E7C3-444A-9644-4EA7DF1A906E}" type="presOf" srcId="{B8031209-689D-41DD-919E-6B2387682B38}" destId="{B46C556E-B1DB-4EC5-BCB1-9A547D9B7C7C}" srcOrd="0" destOrd="0" presId="urn:microsoft.com/office/officeart/2024/3/layout/verticalVisualTextBlock1"/>
    <dgm:cxn modelId="{50D18BED-2D0B-4375-9BBA-39E647A8FFA5}" type="presOf" srcId="{400FECE5-1D00-4D43-B589-1CDF9499FFC4}" destId="{505C2974-3AF6-4F90-8AD1-39B2A6F09503}" srcOrd="0" destOrd="0" presId="urn:microsoft.com/office/officeart/2024/3/layout/verticalVisualTextBlock1"/>
    <dgm:cxn modelId="{FD8357FF-E195-4E15-81CA-BADF2B322537}" type="presOf" srcId="{F5E89C50-863D-434C-A1C7-0DE3731A66D1}" destId="{08858796-3E1B-4708-9C08-27D2A8AB11A2}" srcOrd="0" destOrd="0" presId="urn:microsoft.com/office/officeart/2024/3/layout/verticalVisualTextBlock1"/>
    <dgm:cxn modelId="{5A3B5870-839F-4470-9B51-E548A88F6910}" type="presParOf" srcId="{403AC02D-E3C0-463B-962E-E7E80768AFFB}" destId="{39ECA508-0C44-4A32-8A6B-1ED0691DE06B}" srcOrd="0" destOrd="0" presId="urn:microsoft.com/office/officeart/2024/3/layout/verticalVisualTextBlock1"/>
    <dgm:cxn modelId="{F64342F6-40A3-4C5B-B329-0E06481DC019}" type="presParOf" srcId="{39ECA508-0C44-4A32-8A6B-1ED0691DE06B}" destId="{3F7CA91A-52A0-4318-BE63-E26E76523D0E}" srcOrd="0" destOrd="0" presId="urn:microsoft.com/office/officeart/2024/3/layout/verticalVisualTextBlock1"/>
    <dgm:cxn modelId="{60DEB39F-9FB9-4817-BD58-4E2456F0F7C2}" type="presParOf" srcId="{39ECA508-0C44-4A32-8A6B-1ED0691DE06B}" destId="{B82786FA-045D-4E5E-A7E2-BFF77D41671E}" srcOrd="1" destOrd="0" presId="urn:microsoft.com/office/officeart/2024/3/layout/verticalVisualTextBlock1"/>
    <dgm:cxn modelId="{74F6EE6D-DD2C-491C-A94E-A3DB8C051CB2}" type="presParOf" srcId="{39ECA508-0C44-4A32-8A6B-1ED0691DE06B}" destId="{82BDE431-E9B8-4612-8714-B68D3FBF1074}" srcOrd="2" destOrd="0" presId="urn:microsoft.com/office/officeart/2024/3/layout/verticalVisualTextBlock1"/>
    <dgm:cxn modelId="{D727C76D-6A17-4C42-9A65-7021ED573128}" type="presParOf" srcId="{403AC02D-E3C0-463B-962E-E7E80768AFFB}" destId="{08858796-3E1B-4708-9C08-27D2A8AB11A2}" srcOrd="1" destOrd="0" presId="urn:microsoft.com/office/officeart/2024/3/layout/verticalVisualTextBlock1"/>
    <dgm:cxn modelId="{75A5A942-DED8-4E91-86A7-F91D169FCB96}" type="presParOf" srcId="{403AC02D-E3C0-463B-962E-E7E80768AFFB}" destId="{07A23437-9D36-4BA1-988B-04FB4424167C}" srcOrd="2" destOrd="0" presId="urn:microsoft.com/office/officeart/2024/3/layout/verticalVisualTextBlock1"/>
    <dgm:cxn modelId="{D1502A52-E49B-4634-91A7-DFD27ED880BE}" type="presParOf" srcId="{07A23437-9D36-4BA1-988B-04FB4424167C}" destId="{DD7478FE-4450-4B87-812F-9DEF69126075}" srcOrd="0" destOrd="0" presId="urn:microsoft.com/office/officeart/2024/3/layout/verticalVisualTextBlock1"/>
    <dgm:cxn modelId="{5C8AAFF0-DFDA-4BDF-93E0-784F09841AB2}" type="presParOf" srcId="{07A23437-9D36-4BA1-988B-04FB4424167C}" destId="{505C2974-3AF6-4F90-8AD1-39B2A6F09503}" srcOrd="1" destOrd="0" presId="urn:microsoft.com/office/officeart/2024/3/layout/verticalVisualTextBlock1"/>
    <dgm:cxn modelId="{1AA8F548-D570-44EA-AAE3-4B0DDB71C13B}" type="presParOf" srcId="{07A23437-9D36-4BA1-988B-04FB4424167C}" destId="{B46C556E-B1DB-4EC5-BCB1-9A547D9B7C7C}" srcOrd="2" destOrd="0" presId="urn:microsoft.com/office/officeart/2024/3/layout/verticalVisualTextBlock1"/>
    <dgm:cxn modelId="{040F60C0-DAAA-4CD0-AA4C-69E06124D4CB}" type="presParOf" srcId="{403AC02D-E3C0-463B-962E-E7E80768AFFB}" destId="{36DDED1A-41B2-44EB-B6E5-87CC9B84A3FC}" srcOrd="3" destOrd="0" presId="urn:microsoft.com/office/officeart/2024/3/layout/verticalVisualTextBlock1"/>
    <dgm:cxn modelId="{1B27FF18-9B8B-4792-B263-E829AD55E1CB}" type="presParOf" srcId="{403AC02D-E3C0-463B-962E-E7E80768AFFB}" destId="{0D6643F6-5156-4641-ABD2-B88B2AE176D5}" srcOrd="4" destOrd="0" presId="urn:microsoft.com/office/officeart/2024/3/layout/verticalVisualTextBlock1"/>
    <dgm:cxn modelId="{6FAFC498-38D9-43F1-93FC-CEBAEB9042D5}" type="presParOf" srcId="{0D6643F6-5156-4641-ABD2-B88B2AE176D5}" destId="{27D49506-F3A9-4F8C-B487-599E1B6C07A6}" srcOrd="0" destOrd="0" presId="urn:microsoft.com/office/officeart/2024/3/layout/verticalVisualTextBlock1"/>
    <dgm:cxn modelId="{5B0C35FF-5669-4C2C-BF16-3C4376B00971}" type="presParOf" srcId="{0D6643F6-5156-4641-ABD2-B88B2AE176D5}" destId="{5D72AD2F-9744-4C18-B9D5-70EF67F69013}" srcOrd="1" destOrd="0" presId="urn:microsoft.com/office/officeart/2024/3/layout/verticalVisualTextBlock1"/>
    <dgm:cxn modelId="{B545058E-42B6-4037-84DB-4F591C774C5D}" type="presParOf" srcId="{0D6643F6-5156-4641-ABD2-B88B2AE176D5}" destId="{6CFA9855-2304-4C7F-BD17-16541428A5BD}"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095D0F-DA30-4321-BAAA-1F207D0A2CB8}"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E3FD2E7F-E614-4EF5-A5E1-0C3B1F698FD3}">
      <dgm:prSet/>
      <dgm:spPr/>
      <dgm:t>
        <a:bodyPr/>
        <a:lstStyle/>
        <a:p>
          <a:pPr>
            <a:lnSpc>
              <a:spcPct val="100000"/>
            </a:lnSpc>
            <a:defRPr b="1"/>
          </a:pPr>
          <a:r>
            <a:rPr lang="en-US"/>
            <a:t>Accurate Currency Representation</a:t>
          </a:r>
        </a:p>
      </dgm:t>
    </dgm:pt>
    <dgm:pt modelId="{80DD2064-A40F-4F44-B3B7-E1310802EC77}" type="parTrans" cxnId="{3A267C59-9CB3-4D4E-A549-21E373ED5D60}">
      <dgm:prSet/>
      <dgm:spPr/>
      <dgm:t>
        <a:bodyPr/>
        <a:lstStyle/>
        <a:p>
          <a:endParaRPr lang="en-US"/>
        </a:p>
      </dgm:t>
    </dgm:pt>
    <dgm:pt modelId="{450D4B02-6AAF-40EC-A272-48FAC35952EB}" type="sibTrans" cxnId="{3A267C59-9CB3-4D4E-A549-21E373ED5D60}">
      <dgm:prSet/>
      <dgm:spPr/>
      <dgm:t>
        <a:bodyPr/>
        <a:lstStyle/>
        <a:p>
          <a:pPr>
            <a:lnSpc>
              <a:spcPct val="100000"/>
            </a:lnSpc>
            <a:defRPr b="1"/>
          </a:pPr>
          <a:endParaRPr lang="en-US"/>
        </a:p>
      </dgm:t>
    </dgm:pt>
    <dgm:pt modelId="{104E535A-2826-44A9-AF07-DFE507C9098A}">
      <dgm:prSet/>
      <dgm:spPr/>
      <dgm:t>
        <a:bodyPr/>
        <a:lstStyle/>
        <a:p>
          <a:pPr>
            <a:lnSpc>
              <a:spcPct val="100000"/>
            </a:lnSpc>
          </a:pPr>
          <a:r>
            <a:rPr lang="en-US"/>
            <a:t>Data structures should precisely represent currency values to avoid rounding errors in financial calculations.</a:t>
          </a:r>
        </a:p>
      </dgm:t>
    </dgm:pt>
    <dgm:pt modelId="{1AC36EA8-399B-4826-B478-B979A97BBCB5}" type="parTrans" cxnId="{652B2635-A49F-4150-9850-926D62521BB8}">
      <dgm:prSet/>
      <dgm:spPr/>
      <dgm:t>
        <a:bodyPr/>
        <a:lstStyle/>
        <a:p>
          <a:endParaRPr lang="en-US"/>
        </a:p>
      </dgm:t>
    </dgm:pt>
    <dgm:pt modelId="{E6BD997C-B51B-499F-AFC1-125740542CAF}" type="sibTrans" cxnId="{652B2635-A49F-4150-9850-926D62521BB8}">
      <dgm:prSet/>
      <dgm:spPr/>
      <dgm:t>
        <a:bodyPr/>
        <a:lstStyle/>
        <a:p>
          <a:endParaRPr lang="en-US"/>
        </a:p>
      </dgm:t>
    </dgm:pt>
    <dgm:pt modelId="{F7DDF0FA-B44C-4D61-B2BB-4607E8FFC030}">
      <dgm:prSet/>
      <dgm:spPr/>
      <dgm:t>
        <a:bodyPr/>
        <a:lstStyle/>
        <a:p>
          <a:pPr>
            <a:lnSpc>
              <a:spcPct val="100000"/>
            </a:lnSpc>
            <a:defRPr b="1"/>
          </a:pPr>
          <a:r>
            <a:rPr lang="en-US"/>
            <a:t>Importance of Formatting</a:t>
          </a:r>
        </a:p>
      </dgm:t>
    </dgm:pt>
    <dgm:pt modelId="{824C54B5-92B4-4621-BCE8-99DDB34CC4F4}" type="parTrans" cxnId="{4749899A-DB68-4B77-8548-1995915105D1}">
      <dgm:prSet/>
      <dgm:spPr/>
      <dgm:t>
        <a:bodyPr/>
        <a:lstStyle/>
        <a:p>
          <a:endParaRPr lang="en-US"/>
        </a:p>
      </dgm:t>
    </dgm:pt>
    <dgm:pt modelId="{8CFBD8C5-0E3B-49D0-80EF-C647A6B6FF4E}" type="sibTrans" cxnId="{4749899A-DB68-4B77-8548-1995915105D1}">
      <dgm:prSet/>
      <dgm:spPr/>
      <dgm:t>
        <a:bodyPr/>
        <a:lstStyle/>
        <a:p>
          <a:pPr>
            <a:lnSpc>
              <a:spcPct val="100000"/>
            </a:lnSpc>
            <a:defRPr b="1"/>
          </a:pPr>
          <a:endParaRPr lang="en-US"/>
        </a:p>
      </dgm:t>
    </dgm:pt>
    <dgm:pt modelId="{6AD40F9C-F449-4D99-9FE8-BDEF9C69FB3E}">
      <dgm:prSet/>
      <dgm:spPr/>
      <dgm:t>
        <a:bodyPr/>
        <a:lstStyle/>
        <a:p>
          <a:pPr>
            <a:lnSpc>
              <a:spcPct val="100000"/>
            </a:lnSpc>
          </a:pPr>
          <a:r>
            <a:rPr lang="en-US"/>
            <a:t>Proper formatting of currency values ensures clarity and adherence to financial standards across platforms.</a:t>
          </a:r>
        </a:p>
      </dgm:t>
    </dgm:pt>
    <dgm:pt modelId="{8980D4B1-886D-43C2-9AC4-EFC46FD7D425}" type="parTrans" cxnId="{D6C87E9C-16BB-41CF-BC38-4C32195A6F96}">
      <dgm:prSet/>
      <dgm:spPr/>
      <dgm:t>
        <a:bodyPr/>
        <a:lstStyle/>
        <a:p>
          <a:endParaRPr lang="en-US"/>
        </a:p>
      </dgm:t>
    </dgm:pt>
    <dgm:pt modelId="{7A5B19B9-D648-4691-B39E-6210D74024C2}" type="sibTrans" cxnId="{D6C87E9C-16BB-41CF-BC38-4C32195A6F96}">
      <dgm:prSet/>
      <dgm:spPr/>
      <dgm:t>
        <a:bodyPr/>
        <a:lstStyle/>
        <a:p>
          <a:endParaRPr lang="en-US"/>
        </a:p>
      </dgm:t>
    </dgm:pt>
    <dgm:pt modelId="{F0FE8481-260C-4DCC-86F6-B212198527CE}">
      <dgm:prSet/>
      <dgm:spPr/>
      <dgm:t>
        <a:bodyPr/>
        <a:lstStyle/>
        <a:p>
          <a:pPr>
            <a:lnSpc>
              <a:spcPct val="100000"/>
            </a:lnSpc>
            <a:defRPr b="1"/>
          </a:pPr>
          <a:r>
            <a:rPr lang="en-US"/>
            <a:t>Maintaining Financial Integrity</a:t>
          </a:r>
        </a:p>
      </dgm:t>
    </dgm:pt>
    <dgm:pt modelId="{6CE6D1AA-2F0E-4F63-8D9F-B3ADBB17B098}" type="parTrans" cxnId="{B39068C8-1F5A-4E58-8DD5-B658ACABB14B}">
      <dgm:prSet/>
      <dgm:spPr/>
      <dgm:t>
        <a:bodyPr/>
        <a:lstStyle/>
        <a:p>
          <a:endParaRPr lang="en-US"/>
        </a:p>
      </dgm:t>
    </dgm:pt>
    <dgm:pt modelId="{418C4C23-4C94-4333-A7F7-F67195F49AE8}" type="sibTrans" cxnId="{B39068C8-1F5A-4E58-8DD5-B658ACABB14B}">
      <dgm:prSet/>
      <dgm:spPr/>
      <dgm:t>
        <a:bodyPr/>
        <a:lstStyle/>
        <a:p>
          <a:endParaRPr lang="en-US"/>
        </a:p>
      </dgm:t>
    </dgm:pt>
    <dgm:pt modelId="{F994D1E5-A262-4C97-A651-C43864E0BDAE}">
      <dgm:prSet/>
      <dgm:spPr/>
      <dgm:t>
        <a:bodyPr/>
        <a:lstStyle/>
        <a:p>
          <a:pPr>
            <a:lnSpc>
              <a:spcPct val="100000"/>
            </a:lnSpc>
          </a:pPr>
          <a:r>
            <a:rPr lang="en-US"/>
            <a:t>Using appropriate data structures prevents errors, ensuring reliable and trustworthy financial transactions.</a:t>
          </a:r>
        </a:p>
      </dgm:t>
    </dgm:pt>
    <dgm:pt modelId="{51227D93-5485-42AD-A16F-4CF9A7FE5D93}" type="parTrans" cxnId="{E3E959FE-D10F-4B2D-8DBC-C3BCF35AA1AF}">
      <dgm:prSet/>
      <dgm:spPr/>
      <dgm:t>
        <a:bodyPr/>
        <a:lstStyle/>
        <a:p>
          <a:endParaRPr lang="en-US"/>
        </a:p>
      </dgm:t>
    </dgm:pt>
    <dgm:pt modelId="{E846D693-98F4-4484-99A4-3C4138820273}" type="sibTrans" cxnId="{E3E959FE-D10F-4B2D-8DBC-C3BCF35AA1AF}">
      <dgm:prSet/>
      <dgm:spPr/>
      <dgm:t>
        <a:bodyPr/>
        <a:lstStyle/>
        <a:p>
          <a:endParaRPr lang="en-US"/>
        </a:p>
      </dgm:t>
    </dgm:pt>
    <dgm:pt modelId="{6E6E1526-3C86-4931-BD97-6E2D1D97A44B}" type="pres">
      <dgm:prSet presAssocID="{32095D0F-DA30-4321-BAAA-1F207D0A2CB8}" presName="Root" presStyleCnt="0">
        <dgm:presLayoutVars>
          <dgm:dir/>
          <dgm:resizeHandles val="exact"/>
        </dgm:presLayoutVars>
      </dgm:prSet>
      <dgm:spPr/>
    </dgm:pt>
    <dgm:pt modelId="{C7875A42-9719-4638-A357-DBEBD25EED36}" type="pres">
      <dgm:prSet presAssocID="{E3FD2E7F-E614-4EF5-A5E1-0C3B1F698FD3}" presName="Composite" presStyleCnt="0"/>
      <dgm:spPr/>
    </dgm:pt>
    <dgm:pt modelId="{166FAA24-CD6A-4D08-AAB3-E31878C87147}" type="pres">
      <dgm:prSet presAssocID="{E3FD2E7F-E614-4EF5-A5E1-0C3B1F698FD3}"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5357" r="22141" b="-3"/>
          <a:stretch/>
        </a:blipFill>
      </dgm:spPr>
      <dgm:extLst>
        <a:ext uri="{E40237B7-FDA0-4F09-8148-C483321AD2D9}">
          <dgm14:cNvPr xmlns:dgm14="http://schemas.microsoft.com/office/drawing/2010/diagram" id="0" name="" descr="Financial graphs on a dark display"/>
        </a:ext>
      </dgm:extLst>
    </dgm:pt>
    <dgm:pt modelId="{063AF4BA-E4A9-4D4E-936C-164B150AEED8}" type="pres">
      <dgm:prSet presAssocID="{E3FD2E7F-E614-4EF5-A5E1-0C3B1F698FD3}" presName="Subtitle" presStyleLbl="revTx" presStyleIdx="0" presStyleCnt="6">
        <dgm:presLayoutVars>
          <dgm:chMax val="0"/>
          <dgm:bulletEnabled/>
        </dgm:presLayoutVars>
      </dgm:prSet>
      <dgm:spPr/>
    </dgm:pt>
    <dgm:pt modelId="{01042C08-850A-447B-9D78-E8F2D15FF1E1}" type="pres">
      <dgm:prSet presAssocID="{E3FD2E7F-E614-4EF5-A5E1-0C3B1F698FD3}" presName="Description" presStyleLbl="revTx" presStyleIdx="1" presStyleCnt="6">
        <dgm:presLayoutVars>
          <dgm:bulletEnabled/>
        </dgm:presLayoutVars>
      </dgm:prSet>
      <dgm:spPr/>
    </dgm:pt>
    <dgm:pt modelId="{6B8F5CD6-A73D-4F55-A128-44A8A9525FB7}" type="pres">
      <dgm:prSet presAssocID="{450D4B02-6AAF-40EC-A272-48FAC35952EB}" presName="sibTrans" presStyleLbl="sibTrans2D1" presStyleIdx="0" presStyleCnt="0"/>
      <dgm:spPr/>
    </dgm:pt>
    <dgm:pt modelId="{4580B542-3F87-44E9-8BF5-82F2A6C9E74D}" type="pres">
      <dgm:prSet presAssocID="{F7DDF0FA-B44C-4D61-B2BB-4607E8FFC030}" presName="Composite" presStyleCnt="0"/>
      <dgm:spPr/>
    </dgm:pt>
    <dgm:pt modelId="{37315B2C-E046-4F87-BC17-2AF394C9E94F}" type="pres">
      <dgm:prSet presAssocID="{F7DDF0FA-B44C-4D61-B2BB-4607E8FFC030}"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0345" r="14657" b="3"/>
          <a:stretch/>
        </a:blipFill>
      </dgm:spPr>
      <dgm:extLst>
        <a:ext uri="{E40237B7-FDA0-4F09-8148-C483321AD2D9}">
          <dgm14:cNvPr xmlns:dgm14="http://schemas.microsoft.com/office/drawing/2010/diagram" id="0" name="" descr="Numbers"/>
        </a:ext>
      </dgm:extLst>
    </dgm:pt>
    <dgm:pt modelId="{57835DDB-B359-4B7B-B9E5-34E56EC3820C}" type="pres">
      <dgm:prSet presAssocID="{F7DDF0FA-B44C-4D61-B2BB-4607E8FFC030}" presName="Subtitle" presStyleLbl="revTx" presStyleIdx="2" presStyleCnt="6">
        <dgm:presLayoutVars>
          <dgm:chMax val="0"/>
          <dgm:bulletEnabled/>
        </dgm:presLayoutVars>
      </dgm:prSet>
      <dgm:spPr/>
    </dgm:pt>
    <dgm:pt modelId="{B5B8CCA5-6B8B-4345-8936-D9D0ADF20302}" type="pres">
      <dgm:prSet presAssocID="{F7DDF0FA-B44C-4D61-B2BB-4607E8FFC030}" presName="Description" presStyleLbl="revTx" presStyleIdx="3" presStyleCnt="6">
        <dgm:presLayoutVars>
          <dgm:bulletEnabled/>
        </dgm:presLayoutVars>
      </dgm:prSet>
      <dgm:spPr/>
    </dgm:pt>
    <dgm:pt modelId="{C4F5EF9F-B748-4460-9AD8-8004BC16012D}" type="pres">
      <dgm:prSet presAssocID="{8CFBD8C5-0E3B-49D0-80EF-C647A6B6FF4E}" presName="sibTrans" presStyleLbl="sibTrans2D1" presStyleIdx="0" presStyleCnt="0"/>
      <dgm:spPr/>
    </dgm:pt>
    <dgm:pt modelId="{492B9C2E-416D-4572-9447-14728B105030}" type="pres">
      <dgm:prSet presAssocID="{F0FE8481-260C-4DCC-86F6-B212198527CE}" presName="Composite" presStyleCnt="0"/>
      <dgm:spPr/>
    </dgm:pt>
    <dgm:pt modelId="{4B02F84F-FE9D-4E24-AF8A-8DEF80145A07}" type="pres">
      <dgm:prSet presAssocID="{F0FE8481-260C-4DCC-86F6-B212198527CE}"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2387" r="20864" b="2"/>
          <a:stretch/>
        </a:blipFill>
      </dgm:spPr>
      <dgm:extLst>
        <a:ext uri="{E40237B7-FDA0-4F09-8148-C483321AD2D9}">
          <dgm14:cNvPr xmlns:dgm14="http://schemas.microsoft.com/office/drawing/2010/diagram" id="0" name="" descr="Internet of Things Concept"/>
        </a:ext>
      </dgm:extLst>
    </dgm:pt>
    <dgm:pt modelId="{9F0127FF-7774-4C45-890C-412E308442C4}" type="pres">
      <dgm:prSet presAssocID="{F0FE8481-260C-4DCC-86F6-B212198527CE}" presName="Subtitle" presStyleLbl="revTx" presStyleIdx="4" presStyleCnt="6">
        <dgm:presLayoutVars>
          <dgm:chMax val="0"/>
          <dgm:bulletEnabled/>
        </dgm:presLayoutVars>
      </dgm:prSet>
      <dgm:spPr/>
    </dgm:pt>
    <dgm:pt modelId="{3AF86664-E1F0-44BE-9075-70C8D68EAFCB}" type="pres">
      <dgm:prSet presAssocID="{F0FE8481-260C-4DCC-86F6-B212198527CE}" presName="Description" presStyleLbl="revTx" presStyleIdx="5" presStyleCnt="6">
        <dgm:presLayoutVars>
          <dgm:bulletEnabled/>
        </dgm:presLayoutVars>
      </dgm:prSet>
      <dgm:spPr/>
    </dgm:pt>
  </dgm:ptLst>
  <dgm:cxnLst>
    <dgm:cxn modelId="{FBC4941E-1CBD-4E9D-A172-369F85A47996}" type="presOf" srcId="{450D4B02-6AAF-40EC-A272-48FAC35952EB}" destId="{6B8F5CD6-A73D-4F55-A128-44A8A9525FB7}" srcOrd="0" destOrd="0" presId="urn:microsoft.com/office/officeart/2024/3/layout/verticalVisualTextBlock1"/>
    <dgm:cxn modelId="{71E4FE2D-083D-43E9-B524-5AF2E3BFABC2}" type="presOf" srcId="{32095D0F-DA30-4321-BAAA-1F207D0A2CB8}" destId="{6E6E1526-3C86-4931-BD97-6E2D1D97A44B}" srcOrd="0" destOrd="0" presId="urn:microsoft.com/office/officeart/2024/3/layout/verticalVisualTextBlock1"/>
    <dgm:cxn modelId="{305F6834-AA09-4D56-8833-DFBC43EA7816}" type="presOf" srcId="{6AD40F9C-F449-4D99-9FE8-BDEF9C69FB3E}" destId="{B5B8CCA5-6B8B-4345-8936-D9D0ADF20302}" srcOrd="0" destOrd="0" presId="urn:microsoft.com/office/officeart/2024/3/layout/verticalVisualTextBlock1"/>
    <dgm:cxn modelId="{652B2635-A49F-4150-9850-926D62521BB8}" srcId="{E3FD2E7F-E614-4EF5-A5E1-0C3B1F698FD3}" destId="{104E535A-2826-44A9-AF07-DFE507C9098A}" srcOrd="0" destOrd="0" parTransId="{1AC36EA8-399B-4826-B478-B979A97BBCB5}" sibTransId="{E6BD997C-B51B-499F-AFC1-125740542CAF}"/>
    <dgm:cxn modelId="{68925D4D-D5E9-4306-9FC2-650A11A5BDD8}" type="presOf" srcId="{F0FE8481-260C-4DCC-86F6-B212198527CE}" destId="{9F0127FF-7774-4C45-890C-412E308442C4}" srcOrd="0" destOrd="0" presId="urn:microsoft.com/office/officeart/2024/3/layout/verticalVisualTextBlock1"/>
    <dgm:cxn modelId="{DA5C3F71-3801-4099-9C4F-9DE81DA064B1}" type="presOf" srcId="{F7DDF0FA-B44C-4D61-B2BB-4607E8FFC030}" destId="{57835DDB-B359-4B7B-B9E5-34E56EC3820C}" srcOrd="0" destOrd="0" presId="urn:microsoft.com/office/officeart/2024/3/layout/verticalVisualTextBlock1"/>
    <dgm:cxn modelId="{3A267C59-9CB3-4D4E-A549-21E373ED5D60}" srcId="{32095D0F-DA30-4321-BAAA-1F207D0A2CB8}" destId="{E3FD2E7F-E614-4EF5-A5E1-0C3B1F698FD3}" srcOrd="0" destOrd="0" parTransId="{80DD2064-A40F-4F44-B3B7-E1310802EC77}" sibTransId="{450D4B02-6AAF-40EC-A272-48FAC35952EB}"/>
    <dgm:cxn modelId="{9213175A-0C8B-40DD-B251-28E0AF5633FE}" type="presOf" srcId="{E3FD2E7F-E614-4EF5-A5E1-0C3B1F698FD3}" destId="{063AF4BA-E4A9-4D4E-936C-164B150AEED8}" srcOrd="0" destOrd="0" presId="urn:microsoft.com/office/officeart/2024/3/layout/verticalVisualTextBlock1"/>
    <dgm:cxn modelId="{4749899A-DB68-4B77-8548-1995915105D1}" srcId="{32095D0F-DA30-4321-BAAA-1F207D0A2CB8}" destId="{F7DDF0FA-B44C-4D61-B2BB-4607E8FFC030}" srcOrd="1" destOrd="0" parTransId="{824C54B5-92B4-4621-BCE8-99DDB34CC4F4}" sibTransId="{8CFBD8C5-0E3B-49D0-80EF-C647A6B6FF4E}"/>
    <dgm:cxn modelId="{D6C87E9C-16BB-41CF-BC38-4C32195A6F96}" srcId="{F7DDF0FA-B44C-4D61-B2BB-4607E8FFC030}" destId="{6AD40F9C-F449-4D99-9FE8-BDEF9C69FB3E}" srcOrd="0" destOrd="0" parTransId="{8980D4B1-886D-43C2-9AC4-EFC46FD7D425}" sibTransId="{7A5B19B9-D648-4691-B39E-6210D74024C2}"/>
    <dgm:cxn modelId="{BB4800A3-6285-458E-B2E4-57AE31B15323}" type="presOf" srcId="{F994D1E5-A262-4C97-A651-C43864E0BDAE}" destId="{3AF86664-E1F0-44BE-9075-70C8D68EAFCB}" srcOrd="0" destOrd="0" presId="urn:microsoft.com/office/officeart/2024/3/layout/verticalVisualTextBlock1"/>
    <dgm:cxn modelId="{32E119AE-F877-4ACD-91B8-139A8D69DF44}" type="presOf" srcId="{8CFBD8C5-0E3B-49D0-80EF-C647A6B6FF4E}" destId="{C4F5EF9F-B748-4460-9AD8-8004BC16012D}" srcOrd="0" destOrd="0" presId="urn:microsoft.com/office/officeart/2024/3/layout/verticalVisualTextBlock1"/>
    <dgm:cxn modelId="{C8B19BC7-9C39-484C-8F73-0D13E64F9AA0}" type="presOf" srcId="{104E535A-2826-44A9-AF07-DFE507C9098A}" destId="{01042C08-850A-447B-9D78-E8F2D15FF1E1}" srcOrd="0" destOrd="0" presId="urn:microsoft.com/office/officeart/2024/3/layout/verticalVisualTextBlock1"/>
    <dgm:cxn modelId="{B39068C8-1F5A-4E58-8DD5-B658ACABB14B}" srcId="{32095D0F-DA30-4321-BAAA-1F207D0A2CB8}" destId="{F0FE8481-260C-4DCC-86F6-B212198527CE}" srcOrd="2" destOrd="0" parTransId="{6CE6D1AA-2F0E-4F63-8D9F-B3ADBB17B098}" sibTransId="{418C4C23-4C94-4333-A7F7-F67195F49AE8}"/>
    <dgm:cxn modelId="{E3E959FE-D10F-4B2D-8DBC-C3BCF35AA1AF}" srcId="{F0FE8481-260C-4DCC-86F6-B212198527CE}" destId="{F994D1E5-A262-4C97-A651-C43864E0BDAE}" srcOrd="0" destOrd="0" parTransId="{51227D93-5485-42AD-A16F-4CF9A7FE5D93}" sibTransId="{E846D693-98F4-4484-99A4-3C4138820273}"/>
    <dgm:cxn modelId="{70B942A3-C1C1-44C8-89F0-A4F8532D3A17}" type="presParOf" srcId="{6E6E1526-3C86-4931-BD97-6E2D1D97A44B}" destId="{C7875A42-9719-4638-A357-DBEBD25EED36}" srcOrd="0" destOrd="0" presId="urn:microsoft.com/office/officeart/2024/3/layout/verticalVisualTextBlock1"/>
    <dgm:cxn modelId="{BCCA6A04-957B-4497-AA82-9067B68BD38B}" type="presParOf" srcId="{C7875A42-9719-4638-A357-DBEBD25EED36}" destId="{166FAA24-CD6A-4D08-AAB3-E31878C87147}" srcOrd="0" destOrd="0" presId="urn:microsoft.com/office/officeart/2024/3/layout/verticalVisualTextBlock1"/>
    <dgm:cxn modelId="{01201F11-47F9-4ABA-9C5E-CC37958EFF47}" type="presParOf" srcId="{C7875A42-9719-4638-A357-DBEBD25EED36}" destId="{063AF4BA-E4A9-4D4E-936C-164B150AEED8}" srcOrd="1" destOrd="0" presId="urn:microsoft.com/office/officeart/2024/3/layout/verticalVisualTextBlock1"/>
    <dgm:cxn modelId="{8E467EC7-B9F2-419E-800F-20BE2DADD923}" type="presParOf" srcId="{C7875A42-9719-4638-A357-DBEBD25EED36}" destId="{01042C08-850A-447B-9D78-E8F2D15FF1E1}" srcOrd="2" destOrd="0" presId="urn:microsoft.com/office/officeart/2024/3/layout/verticalVisualTextBlock1"/>
    <dgm:cxn modelId="{3A0B472E-13CF-4A29-99A6-AA21C5CA8525}" type="presParOf" srcId="{6E6E1526-3C86-4931-BD97-6E2D1D97A44B}" destId="{6B8F5CD6-A73D-4F55-A128-44A8A9525FB7}" srcOrd="1" destOrd="0" presId="urn:microsoft.com/office/officeart/2024/3/layout/verticalVisualTextBlock1"/>
    <dgm:cxn modelId="{556D6DFF-F919-4A79-A388-7906F15B1E0F}" type="presParOf" srcId="{6E6E1526-3C86-4931-BD97-6E2D1D97A44B}" destId="{4580B542-3F87-44E9-8BF5-82F2A6C9E74D}" srcOrd="2" destOrd="0" presId="urn:microsoft.com/office/officeart/2024/3/layout/verticalVisualTextBlock1"/>
    <dgm:cxn modelId="{0C10F654-4BA3-4A44-9069-C079BB78D906}" type="presParOf" srcId="{4580B542-3F87-44E9-8BF5-82F2A6C9E74D}" destId="{37315B2C-E046-4F87-BC17-2AF394C9E94F}" srcOrd="0" destOrd="0" presId="urn:microsoft.com/office/officeart/2024/3/layout/verticalVisualTextBlock1"/>
    <dgm:cxn modelId="{7025DE4F-6061-4786-AF89-7E286E3BAC13}" type="presParOf" srcId="{4580B542-3F87-44E9-8BF5-82F2A6C9E74D}" destId="{57835DDB-B359-4B7B-B9E5-34E56EC3820C}" srcOrd="1" destOrd="0" presId="urn:microsoft.com/office/officeart/2024/3/layout/verticalVisualTextBlock1"/>
    <dgm:cxn modelId="{ECE248B6-A383-48BD-8B0D-A83C0904F115}" type="presParOf" srcId="{4580B542-3F87-44E9-8BF5-82F2A6C9E74D}" destId="{B5B8CCA5-6B8B-4345-8936-D9D0ADF20302}" srcOrd="2" destOrd="0" presId="urn:microsoft.com/office/officeart/2024/3/layout/verticalVisualTextBlock1"/>
    <dgm:cxn modelId="{C3204AEB-2324-4530-8874-1E0510A2D51C}" type="presParOf" srcId="{6E6E1526-3C86-4931-BD97-6E2D1D97A44B}" destId="{C4F5EF9F-B748-4460-9AD8-8004BC16012D}" srcOrd="3" destOrd="0" presId="urn:microsoft.com/office/officeart/2024/3/layout/verticalVisualTextBlock1"/>
    <dgm:cxn modelId="{46037F25-2338-4AB5-8515-F482D119F076}" type="presParOf" srcId="{6E6E1526-3C86-4931-BD97-6E2D1D97A44B}" destId="{492B9C2E-416D-4572-9447-14728B105030}" srcOrd="4" destOrd="0" presId="urn:microsoft.com/office/officeart/2024/3/layout/verticalVisualTextBlock1"/>
    <dgm:cxn modelId="{478FB911-60A7-4642-B5F6-ED53DB2EF750}" type="presParOf" srcId="{492B9C2E-416D-4572-9447-14728B105030}" destId="{4B02F84F-FE9D-4E24-AF8A-8DEF80145A07}" srcOrd="0" destOrd="0" presId="urn:microsoft.com/office/officeart/2024/3/layout/verticalVisualTextBlock1"/>
    <dgm:cxn modelId="{0EC37CDC-E69E-411D-AB78-3B9491898AF9}" type="presParOf" srcId="{492B9C2E-416D-4572-9447-14728B105030}" destId="{9F0127FF-7774-4C45-890C-412E308442C4}" srcOrd="1" destOrd="0" presId="urn:microsoft.com/office/officeart/2024/3/layout/verticalVisualTextBlock1"/>
    <dgm:cxn modelId="{D2198754-0973-4F03-8644-F548E7775B0E}" type="presParOf" srcId="{492B9C2E-416D-4572-9447-14728B105030}" destId="{3AF86664-E1F0-44BE-9075-70C8D68EAFCB}"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D9D460-71DA-4DD3-8144-A7720F509C30}"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B71144D4-1D07-48E9-BA6C-0D8B8F29803A}">
      <dgm:prSet/>
      <dgm:spPr/>
      <dgm:t>
        <a:bodyPr/>
        <a:lstStyle/>
        <a:p>
          <a:pPr>
            <a:lnSpc>
              <a:spcPct val="100000"/>
            </a:lnSpc>
            <a:defRPr b="1"/>
          </a:pPr>
          <a:r>
            <a:rPr lang="en-US">
              <a:latin typeface="Aptos Display" panose="02110004020202020204"/>
            </a:rPr>
            <a:t>Configurable</a:t>
          </a:r>
          <a:r>
            <a:rPr lang="en-US"/>
            <a:t> Tax Rules</a:t>
          </a:r>
        </a:p>
      </dgm:t>
    </dgm:pt>
    <dgm:pt modelId="{9AC98E55-CE8E-4765-9C58-789034DD52C3}" type="parTrans" cxnId="{614CA513-8D04-4823-80B4-0164A5AC4135}">
      <dgm:prSet/>
      <dgm:spPr/>
      <dgm:t>
        <a:bodyPr/>
        <a:lstStyle/>
        <a:p>
          <a:endParaRPr lang="en-US"/>
        </a:p>
      </dgm:t>
    </dgm:pt>
    <dgm:pt modelId="{3C59E2C4-E02D-4822-AD79-A6DBF031293E}" type="sibTrans" cxnId="{614CA513-8D04-4823-80B4-0164A5AC4135}">
      <dgm:prSet/>
      <dgm:spPr/>
      <dgm:t>
        <a:bodyPr/>
        <a:lstStyle/>
        <a:p>
          <a:pPr>
            <a:lnSpc>
              <a:spcPct val="100000"/>
            </a:lnSpc>
            <a:defRPr b="1"/>
          </a:pPr>
          <a:endParaRPr lang="en-US"/>
        </a:p>
      </dgm:t>
    </dgm:pt>
    <dgm:pt modelId="{5D30C57E-7D86-4D7A-849E-4870EAC67573}">
      <dgm:prSet/>
      <dgm:spPr/>
      <dgm:t>
        <a:bodyPr/>
        <a:lstStyle/>
        <a:p>
          <a:pPr>
            <a:lnSpc>
              <a:spcPct val="100000"/>
            </a:lnSpc>
          </a:pPr>
          <a:r>
            <a:rPr lang="en-US"/>
            <a:t>Tax engines must allow configuration of tax rules and rates to respond swiftly to regulatory changes.</a:t>
          </a:r>
        </a:p>
      </dgm:t>
    </dgm:pt>
    <dgm:pt modelId="{6D167CB8-6AAD-4470-807A-EC380F99893E}" type="parTrans" cxnId="{9934EFB9-5AE1-4747-BBEC-7B17CE175A6A}">
      <dgm:prSet/>
      <dgm:spPr/>
      <dgm:t>
        <a:bodyPr/>
        <a:lstStyle/>
        <a:p>
          <a:endParaRPr lang="en-US"/>
        </a:p>
      </dgm:t>
    </dgm:pt>
    <dgm:pt modelId="{ADA1495C-E9FC-4DFE-91F1-5C4643E734DD}" type="sibTrans" cxnId="{9934EFB9-5AE1-4747-BBEC-7B17CE175A6A}">
      <dgm:prSet/>
      <dgm:spPr/>
      <dgm:t>
        <a:bodyPr/>
        <a:lstStyle/>
        <a:p>
          <a:endParaRPr lang="en-US"/>
        </a:p>
      </dgm:t>
    </dgm:pt>
    <dgm:pt modelId="{B71AB2EA-1DF4-4F95-A98A-E04D6183E48D}">
      <dgm:prSet/>
      <dgm:spPr/>
      <dgm:t>
        <a:bodyPr/>
        <a:lstStyle/>
        <a:p>
          <a:pPr>
            <a:lnSpc>
              <a:spcPct val="100000"/>
            </a:lnSpc>
            <a:defRPr b="1"/>
          </a:pPr>
          <a:r>
            <a:rPr lang="en-US"/>
            <a:t>Adaptable Calculation Logic</a:t>
          </a:r>
        </a:p>
      </dgm:t>
    </dgm:pt>
    <dgm:pt modelId="{0C2ECEA1-10A7-4A53-95C8-3C94FB2D4E4C}" type="parTrans" cxnId="{AFAF0AC3-F7E8-4059-A3F8-5D331A6843E4}">
      <dgm:prSet/>
      <dgm:spPr/>
      <dgm:t>
        <a:bodyPr/>
        <a:lstStyle/>
        <a:p>
          <a:endParaRPr lang="en-US"/>
        </a:p>
      </dgm:t>
    </dgm:pt>
    <dgm:pt modelId="{6B5570A6-3D0F-484A-8FB0-17DA5C30C063}" type="sibTrans" cxnId="{AFAF0AC3-F7E8-4059-A3F8-5D331A6843E4}">
      <dgm:prSet/>
      <dgm:spPr/>
      <dgm:t>
        <a:bodyPr/>
        <a:lstStyle/>
        <a:p>
          <a:pPr>
            <a:lnSpc>
              <a:spcPct val="100000"/>
            </a:lnSpc>
            <a:defRPr b="1"/>
          </a:pPr>
          <a:endParaRPr lang="en-US"/>
        </a:p>
      </dgm:t>
    </dgm:pt>
    <dgm:pt modelId="{DAF4A4EC-64EE-4836-9DFA-30F9A779CE26}">
      <dgm:prSet/>
      <dgm:spPr/>
      <dgm:t>
        <a:bodyPr/>
        <a:lstStyle/>
        <a:p>
          <a:pPr>
            <a:lnSpc>
              <a:spcPct val="100000"/>
            </a:lnSpc>
          </a:pPr>
          <a:r>
            <a:rPr lang="en-US"/>
            <a:t>Calculation logic in tax engines should be flexible to accommodate the various taxation scenarios.</a:t>
          </a:r>
        </a:p>
      </dgm:t>
    </dgm:pt>
    <dgm:pt modelId="{53F5B495-E0A0-4504-84E5-7B281A4B07FD}" type="parTrans" cxnId="{C8B1A251-3159-43DF-8076-8C417F1473AA}">
      <dgm:prSet/>
      <dgm:spPr/>
      <dgm:t>
        <a:bodyPr/>
        <a:lstStyle/>
        <a:p>
          <a:endParaRPr lang="en-US"/>
        </a:p>
      </dgm:t>
    </dgm:pt>
    <dgm:pt modelId="{70DA7DEE-CF27-4B26-8E69-EE663AFB6548}" type="sibTrans" cxnId="{C8B1A251-3159-43DF-8076-8C417F1473AA}">
      <dgm:prSet/>
      <dgm:spPr/>
      <dgm:t>
        <a:bodyPr/>
        <a:lstStyle/>
        <a:p>
          <a:endParaRPr lang="en-US"/>
        </a:p>
      </dgm:t>
    </dgm:pt>
    <dgm:pt modelId="{6B404CE8-2C50-446F-9EA7-526C1708230B}">
      <dgm:prSet/>
      <dgm:spPr/>
      <dgm:t>
        <a:bodyPr/>
        <a:lstStyle/>
        <a:p>
          <a:pPr>
            <a:lnSpc>
              <a:spcPct val="100000"/>
            </a:lnSpc>
            <a:defRPr b="1"/>
          </a:pPr>
          <a:r>
            <a:rPr lang="en-US"/>
            <a:t>Scalability and Compliance</a:t>
          </a:r>
        </a:p>
      </dgm:t>
    </dgm:pt>
    <dgm:pt modelId="{097D7007-7F5E-4F43-B4D8-F5FFB424E491}" type="parTrans" cxnId="{8DA71F7E-989E-4ACB-8CD7-9A0857BF7AF8}">
      <dgm:prSet/>
      <dgm:spPr/>
      <dgm:t>
        <a:bodyPr/>
        <a:lstStyle/>
        <a:p>
          <a:endParaRPr lang="en-US"/>
        </a:p>
      </dgm:t>
    </dgm:pt>
    <dgm:pt modelId="{D057F1EF-EAB0-450E-BE20-B9219E30B278}" type="sibTrans" cxnId="{8DA71F7E-989E-4ACB-8CD7-9A0857BF7AF8}">
      <dgm:prSet/>
      <dgm:spPr/>
      <dgm:t>
        <a:bodyPr/>
        <a:lstStyle/>
        <a:p>
          <a:endParaRPr lang="en-US"/>
        </a:p>
      </dgm:t>
    </dgm:pt>
    <dgm:pt modelId="{4FA56E1D-547B-436B-978E-3D541E23AF7B}">
      <dgm:prSet/>
      <dgm:spPr/>
      <dgm:t>
        <a:bodyPr/>
        <a:lstStyle/>
        <a:p>
          <a:pPr>
            <a:lnSpc>
              <a:spcPct val="100000"/>
            </a:lnSpc>
          </a:pPr>
          <a:r>
            <a:rPr lang="en-US"/>
            <a:t>Flexible tax engines support scalability while ensuring compliance with varying tax regulations.</a:t>
          </a:r>
        </a:p>
      </dgm:t>
    </dgm:pt>
    <dgm:pt modelId="{D8C3FB72-234D-4DC0-8374-4DCDFECB3472}" type="parTrans" cxnId="{94428B59-05C8-4806-8121-C3F41D6F51A1}">
      <dgm:prSet/>
      <dgm:spPr/>
      <dgm:t>
        <a:bodyPr/>
        <a:lstStyle/>
        <a:p>
          <a:endParaRPr lang="en-US"/>
        </a:p>
      </dgm:t>
    </dgm:pt>
    <dgm:pt modelId="{E9B7F15A-6477-4218-8145-BDF6CE1818AA}" type="sibTrans" cxnId="{94428B59-05C8-4806-8121-C3F41D6F51A1}">
      <dgm:prSet/>
      <dgm:spPr/>
      <dgm:t>
        <a:bodyPr/>
        <a:lstStyle/>
        <a:p>
          <a:endParaRPr lang="en-US"/>
        </a:p>
      </dgm:t>
    </dgm:pt>
    <dgm:pt modelId="{71F23DD9-EC9C-40E3-896E-27EC364AD943}" type="pres">
      <dgm:prSet presAssocID="{D1D9D460-71DA-4DD3-8144-A7720F509C30}" presName="Root" presStyleCnt="0">
        <dgm:presLayoutVars>
          <dgm:dir/>
          <dgm:resizeHandles val="exact"/>
        </dgm:presLayoutVars>
      </dgm:prSet>
      <dgm:spPr/>
    </dgm:pt>
    <dgm:pt modelId="{1E843EC8-B70E-444D-8C4B-E1140B45BCE7}" type="pres">
      <dgm:prSet presAssocID="{B71144D4-1D07-48E9-BA6C-0D8B8F29803A}" presName="Composite" presStyleCnt="0"/>
      <dgm:spPr/>
    </dgm:pt>
    <dgm:pt modelId="{E2ECDEDB-0695-4D1D-9346-6A5AD4CF2D6E}" type="pres">
      <dgm:prSet presAssocID="{B71144D4-1D07-48E9-BA6C-0D8B8F29803A}"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6096" r="17155" b="2"/>
          <a:stretch/>
        </a:blipFill>
      </dgm:spPr>
      <dgm:extLst>
        <a:ext uri="{E40237B7-FDA0-4F09-8148-C483321AD2D9}">
          <dgm14:cNvPr xmlns:dgm14="http://schemas.microsoft.com/office/drawing/2010/diagram" id="0" name="" descr="Tax spreadsheet with copper tax cubic in radial blur"/>
        </a:ext>
      </dgm:extLst>
    </dgm:pt>
    <dgm:pt modelId="{A0C735DF-9322-414A-B642-C0E7CCBFC13E}" type="pres">
      <dgm:prSet presAssocID="{B71144D4-1D07-48E9-BA6C-0D8B8F29803A}" presName="Subtitle" presStyleLbl="revTx" presStyleIdx="0" presStyleCnt="6">
        <dgm:presLayoutVars>
          <dgm:chMax val="0"/>
          <dgm:bulletEnabled/>
        </dgm:presLayoutVars>
      </dgm:prSet>
      <dgm:spPr/>
    </dgm:pt>
    <dgm:pt modelId="{E6468E9A-B770-412D-A47E-7C87666EF2A7}" type="pres">
      <dgm:prSet presAssocID="{B71144D4-1D07-48E9-BA6C-0D8B8F29803A}" presName="Description" presStyleLbl="revTx" presStyleIdx="1" presStyleCnt="6">
        <dgm:presLayoutVars>
          <dgm:bulletEnabled/>
        </dgm:presLayoutVars>
      </dgm:prSet>
      <dgm:spPr/>
    </dgm:pt>
    <dgm:pt modelId="{B31D3725-B3AA-4623-8E2C-99D1033E9911}" type="pres">
      <dgm:prSet presAssocID="{3C59E2C4-E02D-4822-AD79-A6DBF031293E}" presName="sibTrans" presStyleLbl="sibTrans2D1" presStyleIdx="0" presStyleCnt="0"/>
      <dgm:spPr/>
    </dgm:pt>
    <dgm:pt modelId="{8868B14F-E870-40FB-BF8A-613C38C698D5}" type="pres">
      <dgm:prSet presAssocID="{B71AB2EA-1DF4-4F95-A98A-E04D6183E48D}" presName="Composite" presStyleCnt="0"/>
      <dgm:spPr/>
    </dgm:pt>
    <dgm:pt modelId="{A9659BF5-735F-49FD-A081-5962DB075AD3}" type="pres">
      <dgm:prSet presAssocID="{B71AB2EA-1DF4-4F95-A98A-E04D6183E48D}"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0240" r="14762" b="3"/>
          <a:stretch/>
        </a:blipFill>
      </dgm:spPr>
      <dgm:extLst>
        <a:ext uri="{E40237B7-FDA0-4F09-8148-C483321AD2D9}">
          <dgm14:cNvPr xmlns:dgm14="http://schemas.microsoft.com/office/drawing/2010/diagram" id="0" name="" descr="Tax payment pie chart"/>
        </a:ext>
      </dgm:extLst>
    </dgm:pt>
    <dgm:pt modelId="{63946C91-14BA-4D95-9BAB-7CFAEA6123FF}" type="pres">
      <dgm:prSet presAssocID="{B71AB2EA-1DF4-4F95-A98A-E04D6183E48D}" presName="Subtitle" presStyleLbl="revTx" presStyleIdx="2" presStyleCnt="6">
        <dgm:presLayoutVars>
          <dgm:chMax val="0"/>
          <dgm:bulletEnabled/>
        </dgm:presLayoutVars>
      </dgm:prSet>
      <dgm:spPr/>
    </dgm:pt>
    <dgm:pt modelId="{0A979B70-D769-4928-A005-1CE6D97620F9}" type="pres">
      <dgm:prSet presAssocID="{B71AB2EA-1DF4-4F95-A98A-E04D6183E48D}" presName="Description" presStyleLbl="revTx" presStyleIdx="3" presStyleCnt="6">
        <dgm:presLayoutVars>
          <dgm:bulletEnabled/>
        </dgm:presLayoutVars>
      </dgm:prSet>
      <dgm:spPr/>
    </dgm:pt>
    <dgm:pt modelId="{3A99DDF4-3ECF-4363-B7C4-83993D9EA495}" type="pres">
      <dgm:prSet presAssocID="{6B5570A6-3D0F-484A-8FB0-17DA5C30C063}" presName="sibTrans" presStyleLbl="sibTrans2D1" presStyleIdx="0" presStyleCnt="0"/>
      <dgm:spPr/>
    </dgm:pt>
    <dgm:pt modelId="{568E4AD0-EBDB-45F2-BD9D-600CB3137F42}" type="pres">
      <dgm:prSet presAssocID="{6B404CE8-2C50-446F-9EA7-526C1708230B}" presName="Composite" presStyleCnt="0"/>
      <dgm:spPr/>
    </dgm:pt>
    <dgm:pt modelId="{D7093B55-BD29-48F8-9BD8-FBA8424A7323}" type="pres">
      <dgm:prSet presAssocID="{6B404CE8-2C50-446F-9EA7-526C1708230B}"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5210" r="9792" b="3"/>
          <a:stretch/>
        </a:blipFill>
      </dgm:spPr>
      <dgm:extLst>
        <a:ext uri="{E40237B7-FDA0-4F09-8148-C483321AD2D9}">
          <dgm14:cNvPr xmlns:dgm14="http://schemas.microsoft.com/office/drawing/2010/diagram" id="0" name="" descr="Computer network internet cloud computing"/>
        </a:ext>
      </dgm:extLst>
    </dgm:pt>
    <dgm:pt modelId="{F77C67EE-9156-4BEB-9E7B-4F86BE25584D}" type="pres">
      <dgm:prSet presAssocID="{6B404CE8-2C50-446F-9EA7-526C1708230B}" presName="Subtitle" presStyleLbl="revTx" presStyleIdx="4" presStyleCnt="6">
        <dgm:presLayoutVars>
          <dgm:chMax val="0"/>
          <dgm:bulletEnabled/>
        </dgm:presLayoutVars>
      </dgm:prSet>
      <dgm:spPr/>
    </dgm:pt>
    <dgm:pt modelId="{C1DE411E-B779-496F-9E93-A4A4048C11BB}" type="pres">
      <dgm:prSet presAssocID="{6B404CE8-2C50-446F-9EA7-526C1708230B}" presName="Description" presStyleLbl="revTx" presStyleIdx="5" presStyleCnt="6">
        <dgm:presLayoutVars>
          <dgm:bulletEnabled/>
        </dgm:presLayoutVars>
      </dgm:prSet>
      <dgm:spPr/>
    </dgm:pt>
  </dgm:ptLst>
  <dgm:cxnLst>
    <dgm:cxn modelId="{614CA513-8D04-4823-80B4-0164A5AC4135}" srcId="{D1D9D460-71DA-4DD3-8144-A7720F509C30}" destId="{B71144D4-1D07-48E9-BA6C-0D8B8F29803A}" srcOrd="0" destOrd="0" parTransId="{9AC98E55-CE8E-4765-9C58-789034DD52C3}" sibTransId="{3C59E2C4-E02D-4822-AD79-A6DBF031293E}"/>
    <dgm:cxn modelId="{2740CF40-9F75-4EB9-80CD-A590D9E65DEB}" type="presOf" srcId="{D1D9D460-71DA-4DD3-8144-A7720F509C30}" destId="{71F23DD9-EC9C-40E3-896E-27EC364AD943}" srcOrd="0" destOrd="0" presId="urn:microsoft.com/office/officeart/2024/3/layout/verticalVisualTextBlock1"/>
    <dgm:cxn modelId="{9F1AA467-F865-4E88-894E-866C87DB3DB4}" type="presOf" srcId="{DAF4A4EC-64EE-4836-9DFA-30F9A779CE26}" destId="{0A979B70-D769-4928-A005-1CE6D97620F9}" srcOrd="0" destOrd="0" presId="urn:microsoft.com/office/officeart/2024/3/layout/verticalVisualTextBlock1"/>
    <dgm:cxn modelId="{6170E449-FC56-4A0F-A526-FDC43E16EB74}" type="presOf" srcId="{6B5570A6-3D0F-484A-8FB0-17DA5C30C063}" destId="{3A99DDF4-3ECF-4363-B7C4-83993D9EA495}" srcOrd="0" destOrd="0" presId="urn:microsoft.com/office/officeart/2024/3/layout/verticalVisualTextBlock1"/>
    <dgm:cxn modelId="{6E62B64E-CD1F-49CD-8249-E9339D43AA0C}" type="presOf" srcId="{B71144D4-1D07-48E9-BA6C-0D8B8F29803A}" destId="{A0C735DF-9322-414A-B642-C0E7CCBFC13E}" srcOrd="0" destOrd="0" presId="urn:microsoft.com/office/officeart/2024/3/layout/verticalVisualTextBlock1"/>
    <dgm:cxn modelId="{C8B1A251-3159-43DF-8076-8C417F1473AA}" srcId="{B71AB2EA-1DF4-4F95-A98A-E04D6183E48D}" destId="{DAF4A4EC-64EE-4836-9DFA-30F9A779CE26}" srcOrd="0" destOrd="0" parTransId="{53F5B495-E0A0-4504-84E5-7B281A4B07FD}" sibTransId="{70DA7DEE-CF27-4B26-8E69-EE663AFB6548}"/>
    <dgm:cxn modelId="{94428B59-05C8-4806-8121-C3F41D6F51A1}" srcId="{6B404CE8-2C50-446F-9EA7-526C1708230B}" destId="{4FA56E1D-547B-436B-978E-3D541E23AF7B}" srcOrd="0" destOrd="0" parTransId="{D8C3FB72-234D-4DC0-8374-4DCDFECB3472}" sibTransId="{E9B7F15A-6477-4218-8145-BDF6CE1818AA}"/>
    <dgm:cxn modelId="{8DA71F7E-989E-4ACB-8CD7-9A0857BF7AF8}" srcId="{D1D9D460-71DA-4DD3-8144-A7720F509C30}" destId="{6B404CE8-2C50-446F-9EA7-526C1708230B}" srcOrd="2" destOrd="0" parTransId="{097D7007-7F5E-4F43-B4D8-F5FFB424E491}" sibTransId="{D057F1EF-EAB0-450E-BE20-B9219E30B278}"/>
    <dgm:cxn modelId="{8C0B209C-7D10-4796-9438-8FDF984709C0}" type="presOf" srcId="{3C59E2C4-E02D-4822-AD79-A6DBF031293E}" destId="{B31D3725-B3AA-4623-8E2C-99D1033E9911}" srcOrd="0" destOrd="0" presId="urn:microsoft.com/office/officeart/2024/3/layout/verticalVisualTextBlock1"/>
    <dgm:cxn modelId="{E66A1FB4-D1D2-4BDB-A07E-DD738A2F6056}" type="presOf" srcId="{B71AB2EA-1DF4-4F95-A98A-E04D6183E48D}" destId="{63946C91-14BA-4D95-9BAB-7CFAEA6123FF}" srcOrd="0" destOrd="0" presId="urn:microsoft.com/office/officeart/2024/3/layout/verticalVisualTextBlock1"/>
    <dgm:cxn modelId="{08C7DAB6-1184-47D3-92F1-CCD0DF43B50B}" type="presOf" srcId="{6B404CE8-2C50-446F-9EA7-526C1708230B}" destId="{F77C67EE-9156-4BEB-9E7B-4F86BE25584D}" srcOrd="0" destOrd="0" presId="urn:microsoft.com/office/officeart/2024/3/layout/verticalVisualTextBlock1"/>
    <dgm:cxn modelId="{9934EFB9-5AE1-4747-BBEC-7B17CE175A6A}" srcId="{B71144D4-1D07-48E9-BA6C-0D8B8F29803A}" destId="{5D30C57E-7D86-4D7A-849E-4870EAC67573}" srcOrd="0" destOrd="0" parTransId="{6D167CB8-6AAD-4470-807A-EC380F99893E}" sibTransId="{ADA1495C-E9FC-4DFE-91F1-5C4643E734DD}"/>
    <dgm:cxn modelId="{AFAF0AC3-F7E8-4059-A3F8-5D331A6843E4}" srcId="{D1D9D460-71DA-4DD3-8144-A7720F509C30}" destId="{B71AB2EA-1DF4-4F95-A98A-E04D6183E48D}" srcOrd="1" destOrd="0" parTransId="{0C2ECEA1-10A7-4A53-95C8-3C94FB2D4E4C}" sibTransId="{6B5570A6-3D0F-484A-8FB0-17DA5C30C063}"/>
    <dgm:cxn modelId="{F519A1CF-AE0B-4FC5-8CF5-F9F5DB01483D}" type="presOf" srcId="{5D30C57E-7D86-4D7A-849E-4870EAC67573}" destId="{E6468E9A-B770-412D-A47E-7C87666EF2A7}" srcOrd="0" destOrd="0" presId="urn:microsoft.com/office/officeart/2024/3/layout/verticalVisualTextBlock1"/>
    <dgm:cxn modelId="{C72296D9-F281-47EE-916B-ADCED5E40DD1}" type="presOf" srcId="{4FA56E1D-547B-436B-978E-3D541E23AF7B}" destId="{C1DE411E-B779-496F-9E93-A4A4048C11BB}" srcOrd="0" destOrd="0" presId="urn:microsoft.com/office/officeart/2024/3/layout/verticalVisualTextBlock1"/>
    <dgm:cxn modelId="{D990864F-1906-4B63-B5F5-3E1D58AEFFA5}" type="presParOf" srcId="{71F23DD9-EC9C-40E3-896E-27EC364AD943}" destId="{1E843EC8-B70E-444D-8C4B-E1140B45BCE7}" srcOrd="0" destOrd="0" presId="urn:microsoft.com/office/officeart/2024/3/layout/verticalVisualTextBlock1"/>
    <dgm:cxn modelId="{B5036675-89B8-49BB-A782-3C01F39DACAA}" type="presParOf" srcId="{1E843EC8-B70E-444D-8C4B-E1140B45BCE7}" destId="{E2ECDEDB-0695-4D1D-9346-6A5AD4CF2D6E}" srcOrd="0" destOrd="0" presId="urn:microsoft.com/office/officeart/2024/3/layout/verticalVisualTextBlock1"/>
    <dgm:cxn modelId="{D8CC2C52-8BED-485C-BE49-610D30E931B2}" type="presParOf" srcId="{1E843EC8-B70E-444D-8C4B-E1140B45BCE7}" destId="{A0C735DF-9322-414A-B642-C0E7CCBFC13E}" srcOrd="1" destOrd="0" presId="urn:microsoft.com/office/officeart/2024/3/layout/verticalVisualTextBlock1"/>
    <dgm:cxn modelId="{20FEF891-E8FC-4BD8-AFC9-BE64CA57428C}" type="presParOf" srcId="{1E843EC8-B70E-444D-8C4B-E1140B45BCE7}" destId="{E6468E9A-B770-412D-A47E-7C87666EF2A7}" srcOrd="2" destOrd="0" presId="urn:microsoft.com/office/officeart/2024/3/layout/verticalVisualTextBlock1"/>
    <dgm:cxn modelId="{F43ECC8B-5B10-45C0-8657-DA46617033EB}" type="presParOf" srcId="{71F23DD9-EC9C-40E3-896E-27EC364AD943}" destId="{B31D3725-B3AA-4623-8E2C-99D1033E9911}" srcOrd="1" destOrd="0" presId="urn:microsoft.com/office/officeart/2024/3/layout/verticalVisualTextBlock1"/>
    <dgm:cxn modelId="{9D3486DA-8E65-4BC4-8DA6-00E6646183EB}" type="presParOf" srcId="{71F23DD9-EC9C-40E3-896E-27EC364AD943}" destId="{8868B14F-E870-40FB-BF8A-613C38C698D5}" srcOrd="2" destOrd="0" presId="urn:microsoft.com/office/officeart/2024/3/layout/verticalVisualTextBlock1"/>
    <dgm:cxn modelId="{3694FD3F-BA27-41DA-917E-63CA78633656}" type="presParOf" srcId="{8868B14F-E870-40FB-BF8A-613C38C698D5}" destId="{A9659BF5-735F-49FD-A081-5962DB075AD3}" srcOrd="0" destOrd="0" presId="urn:microsoft.com/office/officeart/2024/3/layout/verticalVisualTextBlock1"/>
    <dgm:cxn modelId="{C229E6DB-8449-4858-8169-1787F515489B}" type="presParOf" srcId="{8868B14F-E870-40FB-BF8A-613C38C698D5}" destId="{63946C91-14BA-4D95-9BAB-7CFAEA6123FF}" srcOrd="1" destOrd="0" presId="urn:microsoft.com/office/officeart/2024/3/layout/verticalVisualTextBlock1"/>
    <dgm:cxn modelId="{4BBB1D15-0FF8-4603-97A8-DDE5D67C4547}" type="presParOf" srcId="{8868B14F-E870-40FB-BF8A-613C38C698D5}" destId="{0A979B70-D769-4928-A005-1CE6D97620F9}" srcOrd="2" destOrd="0" presId="urn:microsoft.com/office/officeart/2024/3/layout/verticalVisualTextBlock1"/>
    <dgm:cxn modelId="{F3414755-9DF3-4680-AEC1-7A6EA43978D6}" type="presParOf" srcId="{71F23DD9-EC9C-40E3-896E-27EC364AD943}" destId="{3A99DDF4-3ECF-4363-B7C4-83993D9EA495}" srcOrd="3" destOrd="0" presId="urn:microsoft.com/office/officeart/2024/3/layout/verticalVisualTextBlock1"/>
    <dgm:cxn modelId="{2D85FDAF-1F3F-4C9C-9F66-D3C15DFB63B1}" type="presParOf" srcId="{71F23DD9-EC9C-40E3-896E-27EC364AD943}" destId="{568E4AD0-EBDB-45F2-BD9D-600CB3137F42}" srcOrd="4" destOrd="0" presId="urn:microsoft.com/office/officeart/2024/3/layout/verticalVisualTextBlock1"/>
    <dgm:cxn modelId="{E3B64D63-053F-4EE5-9CAC-A8C277EF7DF1}" type="presParOf" srcId="{568E4AD0-EBDB-45F2-BD9D-600CB3137F42}" destId="{D7093B55-BD29-48F8-9BD8-FBA8424A7323}" srcOrd="0" destOrd="0" presId="urn:microsoft.com/office/officeart/2024/3/layout/verticalVisualTextBlock1"/>
    <dgm:cxn modelId="{0B4FD1D1-DE45-4672-B198-500A3A940E52}" type="presParOf" srcId="{568E4AD0-EBDB-45F2-BD9D-600CB3137F42}" destId="{F77C67EE-9156-4BEB-9E7B-4F86BE25584D}" srcOrd="1" destOrd="0" presId="urn:microsoft.com/office/officeart/2024/3/layout/verticalVisualTextBlock1"/>
    <dgm:cxn modelId="{779E2F58-C7F8-4E6A-AFB7-129555CCB803}" type="presParOf" srcId="{568E4AD0-EBDB-45F2-BD9D-600CB3137F42}" destId="{C1DE411E-B779-496F-9E93-A4A4048C11BB}"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7CA91A-52A0-4318-BE63-E26E76523D0E}">
      <dsp:nvSpPr>
        <dsp:cNvPr id="0" name=""/>
        <dsp:cNvSpPr/>
      </dsp:nvSpPr>
      <dsp:spPr>
        <a:xfrm>
          <a:off x="0" y="0"/>
          <a:ext cx="1390914" cy="139091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r="33251" b="2"/>
          <a:stretch/>
        </a:blipFill>
        <a:ln>
          <a:noFill/>
        </a:ln>
        <a:effectLst/>
      </dsp:spPr>
      <dsp:style>
        <a:lnRef idx="0">
          <a:scrgbClr r="0" g="0" b="0"/>
        </a:lnRef>
        <a:fillRef idx="3">
          <a:scrgbClr r="0" g="0" b="0"/>
        </a:fillRef>
        <a:effectRef idx="2">
          <a:scrgbClr r="0" g="0" b="0"/>
        </a:effectRef>
        <a:fontRef idx="minor">
          <a:schemeClr val="lt1"/>
        </a:fontRef>
      </dsp:style>
    </dsp:sp>
    <dsp:sp modelId="{B82786FA-045D-4E5E-A7E2-BFF77D41671E}">
      <dsp:nvSpPr>
        <dsp:cNvPr id="0" name=""/>
        <dsp:cNvSpPr/>
      </dsp:nvSpPr>
      <dsp:spPr>
        <a:xfrm>
          <a:off x="1570914" y="0"/>
          <a:ext cx="3071420" cy="615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Introduction by Banking Standards</a:t>
          </a:r>
        </a:p>
      </dsp:txBody>
      <dsp:txXfrm>
        <a:off x="1570914" y="0"/>
        <a:ext cx="3071420" cy="615737"/>
      </dsp:txXfrm>
    </dsp:sp>
    <dsp:sp modelId="{82BDE431-E9B8-4612-8714-B68D3FBF1074}">
      <dsp:nvSpPr>
        <dsp:cNvPr id="0" name=""/>
        <dsp:cNvSpPr/>
      </dsp:nvSpPr>
      <dsp:spPr>
        <a:xfrm>
          <a:off x="1570914" y="615737"/>
          <a:ext cx="3071420" cy="771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IBAN was introduced by the European Committee for Banking Standards to create uniform bank account formats.</a:t>
          </a:r>
        </a:p>
      </dsp:txBody>
      <dsp:txXfrm>
        <a:off x="1570914" y="615737"/>
        <a:ext cx="3071420" cy="771931"/>
      </dsp:txXfrm>
    </dsp:sp>
    <dsp:sp modelId="{DD7478FE-4450-4B87-812F-9DEF69126075}">
      <dsp:nvSpPr>
        <dsp:cNvPr id="0" name=""/>
        <dsp:cNvSpPr/>
      </dsp:nvSpPr>
      <dsp:spPr>
        <a:xfrm>
          <a:off x="0" y="1502188"/>
          <a:ext cx="1390914" cy="1390914"/>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 r="-9" b="-8"/>
          <a:stretch/>
        </a:blipFill>
        <a:ln>
          <a:noFill/>
        </a:ln>
        <a:effectLst/>
      </dsp:spPr>
      <dsp:style>
        <a:lnRef idx="0">
          <a:scrgbClr r="0" g="0" b="0"/>
        </a:lnRef>
        <a:fillRef idx="3">
          <a:scrgbClr r="0" g="0" b="0"/>
        </a:fillRef>
        <a:effectRef idx="2">
          <a:scrgbClr r="0" g="0" b="0"/>
        </a:effectRef>
        <a:fontRef idx="minor">
          <a:schemeClr val="lt1"/>
        </a:fontRef>
      </dsp:style>
    </dsp:sp>
    <dsp:sp modelId="{505C2974-3AF6-4F90-8AD1-39B2A6F09503}">
      <dsp:nvSpPr>
        <dsp:cNvPr id="0" name=""/>
        <dsp:cNvSpPr/>
      </dsp:nvSpPr>
      <dsp:spPr>
        <a:xfrm>
          <a:off x="1570914" y="1502188"/>
          <a:ext cx="3071420" cy="34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ISO Adoption</a:t>
          </a:r>
        </a:p>
      </dsp:txBody>
      <dsp:txXfrm>
        <a:off x="1570914" y="1502188"/>
        <a:ext cx="3071420" cy="343368"/>
      </dsp:txXfrm>
    </dsp:sp>
    <dsp:sp modelId="{B46C556E-B1DB-4EC5-BCB1-9A547D9B7C7C}">
      <dsp:nvSpPr>
        <dsp:cNvPr id="0" name=""/>
        <dsp:cNvSpPr/>
      </dsp:nvSpPr>
      <dsp:spPr>
        <a:xfrm>
          <a:off x="1570914" y="1845556"/>
          <a:ext cx="3071420" cy="104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International Organization for Standardization later adopted IBAN to ensure global consistency in banking.</a:t>
          </a:r>
        </a:p>
      </dsp:txBody>
      <dsp:txXfrm>
        <a:off x="1570914" y="1845556"/>
        <a:ext cx="3071420" cy="1047546"/>
      </dsp:txXfrm>
    </dsp:sp>
    <dsp:sp modelId="{27D49506-F3A9-4F8C-B487-599E1B6C07A6}">
      <dsp:nvSpPr>
        <dsp:cNvPr id="0" name=""/>
        <dsp:cNvSpPr/>
      </dsp:nvSpPr>
      <dsp:spPr>
        <a:xfrm>
          <a:off x="0" y="3004376"/>
          <a:ext cx="1390914" cy="139091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288" r="22714" b="3"/>
          <a:stretch/>
        </a:blipFill>
        <a:ln>
          <a:noFill/>
        </a:ln>
        <a:effectLst/>
      </dsp:spPr>
      <dsp:style>
        <a:lnRef idx="0">
          <a:scrgbClr r="0" g="0" b="0"/>
        </a:lnRef>
        <a:fillRef idx="3">
          <a:scrgbClr r="0" g="0" b="0"/>
        </a:fillRef>
        <a:effectRef idx="2">
          <a:scrgbClr r="0" g="0" b="0"/>
        </a:effectRef>
        <a:fontRef idx="minor">
          <a:schemeClr val="lt1"/>
        </a:fontRef>
      </dsp:style>
    </dsp:sp>
    <dsp:sp modelId="{5D72AD2F-9744-4C18-B9D5-70EF67F69013}">
      <dsp:nvSpPr>
        <dsp:cNvPr id="0" name=""/>
        <dsp:cNvSpPr/>
      </dsp:nvSpPr>
      <dsp:spPr>
        <a:xfrm>
          <a:off x="1570914" y="3004376"/>
          <a:ext cx="3071420" cy="615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Facilitates International Payments</a:t>
          </a:r>
        </a:p>
      </dsp:txBody>
      <dsp:txXfrm>
        <a:off x="1570914" y="3004376"/>
        <a:ext cx="3071420" cy="615737"/>
      </dsp:txXfrm>
    </dsp:sp>
    <dsp:sp modelId="{6CFA9855-2304-4C7F-BD17-16541428A5BD}">
      <dsp:nvSpPr>
        <dsp:cNvPr id="0" name=""/>
        <dsp:cNvSpPr/>
      </dsp:nvSpPr>
      <dsp:spPr>
        <a:xfrm>
          <a:off x="1570914" y="3620113"/>
          <a:ext cx="3071420" cy="771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IBAN facilitates secure and efficient cross-border payments by standardizing bank account details.</a:t>
          </a:r>
        </a:p>
      </dsp:txBody>
      <dsp:txXfrm>
        <a:off x="1570914" y="3620113"/>
        <a:ext cx="3071420" cy="7719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6FAA24-CD6A-4D08-AAB3-E31878C87147}">
      <dsp:nvSpPr>
        <dsp:cNvPr id="0" name=""/>
        <dsp:cNvSpPr/>
      </dsp:nvSpPr>
      <dsp:spPr>
        <a:xfrm>
          <a:off x="0" y="0"/>
          <a:ext cx="1390914" cy="139091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5357" r="22141" b="-3"/>
          <a:stretch/>
        </a:blipFill>
        <a:ln>
          <a:noFill/>
        </a:ln>
        <a:effectLst/>
      </dsp:spPr>
      <dsp:style>
        <a:lnRef idx="0">
          <a:scrgbClr r="0" g="0" b="0"/>
        </a:lnRef>
        <a:fillRef idx="3">
          <a:scrgbClr r="0" g="0" b="0"/>
        </a:fillRef>
        <a:effectRef idx="2">
          <a:scrgbClr r="0" g="0" b="0"/>
        </a:effectRef>
        <a:fontRef idx="minor">
          <a:schemeClr val="lt1"/>
        </a:fontRef>
      </dsp:style>
    </dsp:sp>
    <dsp:sp modelId="{063AF4BA-E4A9-4D4E-936C-164B150AEED8}">
      <dsp:nvSpPr>
        <dsp:cNvPr id="0" name=""/>
        <dsp:cNvSpPr/>
      </dsp:nvSpPr>
      <dsp:spPr>
        <a:xfrm>
          <a:off x="1570914" y="0"/>
          <a:ext cx="3071420" cy="581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Accurate Currency Representation</a:t>
          </a:r>
        </a:p>
      </dsp:txBody>
      <dsp:txXfrm>
        <a:off x="1570914" y="0"/>
        <a:ext cx="3071420" cy="581691"/>
      </dsp:txXfrm>
    </dsp:sp>
    <dsp:sp modelId="{01042C08-850A-447B-9D78-E8F2D15FF1E1}">
      <dsp:nvSpPr>
        <dsp:cNvPr id="0" name=""/>
        <dsp:cNvSpPr/>
      </dsp:nvSpPr>
      <dsp:spPr>
        <a:xfrm>
          <a:off x="1570914" y="581691"/>
          <a:ext cx="3071420" cy="771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Data structures should precisely represent currency values to avoid rounding errors in financial calculations.</a:t>
          </a:r>
        </a:p>
      </dsp:txBody>
      <dsp:txXfrm>
        <a:off x="1570914" y="581691"/>
        <a:ext cx="3071420" cy="771931"/>
      </dsp:txXfrm>
    </dsp:sp>
    <dsp:sp modelId="{37315B2C-E046-4F87-BC17-2AF394C9E94F}">
      <dsp:nvSpPr>
        <dsp:cNvPr id="0" name=""/>
        <dsp:cNvSpPr/>
      </dsp:nvSpPr>
      <dsp:spPr>
        <a:xfrm>
          <a:off x="0" y="1502188"/>
          <a:ext cx="1390914" cy="1390914"/>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0345" r="14657" b="3"/>
          <a:stretch/>
        </a:blipFill>
        <a:ln>
          <a:noFill/>
        </a:ln>
        <a:effectLst/>
      </dsp:spPr>
      <dsp:style>
        <a:lnRef idx="0">
          <a:scrgbClr r="0" g="0" b="0"/>
        </a:lnRef>
        <a:fillRef idx="3">
          <a:scrgbClr r="0" g="0" b="0"/>
        </a:fillRef>
        <a:effectRef idx="2">
          <a:scrgbClr r="0" g="0" b="0"/>
        </a:effectRef>
        <a:fontRef idx="minor">
          <a:schemeClr val="lt1"/>
        </a:fontRef>
      </dsp:style>
    </dsp:sp>
    <dsp:sp modelId="{57835DDB-B359-4B7B-B9E5-34E56EC3820C}">
      <dsp:nvSpPr>
        <dsp:cNvPr id="0" name=""/>
        <dsp:cNvSpPr/>
      </dsp:nvSpPr>
      <dsp:spPr>
        <a:xfrm>
          <a:off x="1570914" y="1502188"/>
          <a:ext cx="3071420" cy="309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Importance of Formatting</a:t>
          </a:r>
        </a:p>
      </dsp:txBody>
      <dsp:txXfrm>
        <a:off x="1570914" y="1502188"/>
        <a:ext cx="3071420" cy="309322"/>
      </dsp:txXfrm>
    </dsp:sp>
    <dsp:sp modelId="{B5B8CCA5-6B8B-4345-8936-D9D0ADF20302}">
      <dsp:nvSpPr>
        <dsp:cNvPr id="0" name=""/>
        <dsp:cNvSpPr/>
      </dsp:nvSpPr>
      <dsp:spPr>
        <a:xfrm>
          <a:off x="1570914" y="1811510"/>
          <a:ext cx="3071420" cy="10815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Proper formatting of currency values ensures clarity and adherence to financial standards across platforms.</a:t>
          </a:r>
        </a:p>
      </dsp:txBody>
      <dsp:txXfrm>
        <a:off x="1570914" y="1811510"/>
        <a:ext cx="3071420" cy="1081592"/>
      </dsp:txXfrm>
    </dsp:sp>
    <dsp:sp modelId="{4B02F84F-FE9D-4E24-AF8A-8DEF80145A07}">
      <dsp:nvSpPr>
        <dsp:cNvPr id="0" name=""/>
        <dsp:cNvSpPr/>
      </dsp:nvSpPr>
      <dsp:spPr>
        <a:xfrm>
          <a:off x="0" y="3004376"/>
          <a:ext cx="1390914" cy="139091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2387" r="20864" b="2"/>
          <a:stretch/>
        </a:blipFill>
        <a:ln>
          <a:noFill/>
        </a:ln>
        <a:effectLst/>
      </dsp:spPr>
      <dsp:style>
        <a:lnRef idx="0">
          <a:scrgbClr r="0" g="0" b="0"/>
        </a:lnRef>
        <a:fillRef idx="3">
          <a:scrgbClr r="0" g="0" b="0"/>
        </a:fillRef>
        <a:effectRef idx="2">
          <a:scrgbClr r="0" g="0" b="0"/>
        </a:effectRef>
        <a:fontRef idx="minor">
          <a:schemeClr val="lt1"/>
        </a:fontRef>
      </dsp:style>
    </dsp:sp>
    <dsp:sp modelId="{9F0127FF-7774-4C45-890C-412E308442C4}">
      <dsp:nvSpPr>
        <dsp:cNvPr id="0" name=""/>
        <dsp:cNvSpPr/>
      </dsp:nvSpPr>
      <dsp:spPr>
        <a:xfrm>
          <a:off x="1570914" y="3004376"/>
          <a:ext cx="3071420" cy="309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Maintaining Financial Integrity</a:t>
          </a:r>
        </a:p>
      </dsp:txBody>
      <dsp:txXfrm>
        <a:off x="1570914" y="3004376"/>
        <a:ext cx="3071420" cy="309322"/>
      </dsp:txXfrm>
    </dsp:sp>
    <dsp:sp modelId="{3AF86664-E1F0-44BE-9075-70C8D68EAFCB}">
      <dsp:nvSpPr>
        <dsp:cNvPr id="0" name=""/>
        <dsp:cNvSpPr/>
      </dsp:nvSpPr>
      <dsp:spPr>
        <a:xfrm>
          <a:off x="1570914" y="3313698"/>
          <a:ext cx="3071420" cy="1059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Using appropriate data structures prevents errors, ensuring reliable and trustworthy financial transactions.</a:t>
          </a:r>
        </a:p>
      </dsp:txBody>
      <dsp:txXfrm>
        <a:off x="1570914" y="3313698"/>
        <a:ext cx="3071420" cy="10598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ECDEDB-0695-4D1D-9346-6A5AD4CF2D6E}">
      <dsp:nvSpPr>
        <dsp:cNvPr id="0" name=""/>
        <dsp:cNvSpPr/>
      </dsp:nvSpPr>
      <dsp:spPr>
        <a:xfrm>
          <a:off x="0" y="0"/>
          <a:ext cx="1390914" cy="139091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6096" r="17155" b="2"/>
          <a:stretch/>
        </a:blipFill>
        <a:ln>
          <a:noFill/>
        </a:ln>
        <a:effectLst/>
      </dsp:spPr>
      <dsp:style>
        <a:lnRef idx="0">
          <a:scrgbClr r="0" g="0" b="0"/>
        </a:lnRef>
        <a:fillRef idx="3">
          <a:scrgbClr r="0" g="0" b="0"/>
        </a:fillRef>
        <a:effectRef idx="2">
          <a:scrgbClr r="0" g="0" b="0"/>
        </a:effectRef>
        <a:fontRef idx="minor">
          <a:schemeClr val="lt1"/>
        </a:fontRef>
      </dsp:style>
    </dsp:sp>
    <dsp:sp modelId="{A0C735DF-9322-414A-B642-C0E7CCBFC13E}">
      <dsp:nvSpPr>
        <dsp:cNvPr id="0" name=""/>
        <dsp:cNvSpPr/>
      </dsp:nvSpPr>
      <dsp:spPr>
        <a:xfrm>
          <a:off x="1570914" y="0"/>
          <a:ext cx="3071420" cy="34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latin typeface="Aptos Display" panose="02110004020202020204"/>
            </a:rPr>
            <a:t>Configurable</a:t>
          </a:r>
          <a:r>
            <a:rPr lang="en-US" sz="1800" kern="1200"/>
            <a:t> Tax Rules</a:t>
          </a:r>
        </a:p>
      </dsp:txBody>
      <dsp:txXfrm>
        <a:off x="1570914" y="0"/>
        <a:ext cx="3071420" cy="343368"/>
      </dsp:txXfrm>
    </dsp:sp>
    <dsp:sp modelId="{E6468E9A-B770-412D-A47E-7C87666EF2A7}">
      <dsp:nvSpPr>
        <dsp:cNvPr id="0" name=""/>
        <dsp:cNvSpPr/>
      </dsp:nvSpPr>
      <dsp:spPr>
        <a:xfrm>
          <a:off x="1570914" y="343368"/>
          <a:ext cx="3071420" cy="104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Tax engines must allow configuration of tax rules and rates to respond swiftly to regulatory changes.</a:t>
          </a:r>
        </a:p>
      </dsp:txBody>
      <dsp:txXfrm>
        <a:off x="1570914" y="343368"/>
        <a:ext cx="3071420" cy="1047546"/>
      </dsp:txXfrm>
    </dsp:sp>
    <dsp:sp modelId="{A9659BF5-735F-49FD-A081-5962DB075AD3}">
      <dsp:nvSpPr>
        <dsp:cNvPr id="0" name=""/>
        <dsp:cNvSpPr/>
      </dsp:nvSpPr>
      <dsp:spPr>
        <a:xfrm>
          <a:off x="0" y="1502188"/>
          <a:ext cx="1390914" cy="1390914"/>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0240" r="14762" b="3"/>
          <a:stretch/>
        </a:blipFill>
        <a:ln>
          <a:noFill/>
        </a:ln>
        <a:effectLst/>
      </dsp:spPr>
      <dsp:style>
        <a:lnRef idx="0">
          <a:scrgbClr r="0" g="0" b="0"/>
        </a:lnRef>
        <a:fillRef idx="3">
          <a:scrgbClr r="0" g="0" b="0"/>
        </a:fillRef>
        <a:effectRef idx="2">
          <a:scrgbClr r="0" g="0" b="0"/>
        </a:effectRef>
        <a:fontRef idx="minor">
          <a:schemeClr val="lt1"/>
        </a:fontRef>
      </dsp:style>
    </dsp:sp>
    <dsp:sp modelId="{63946C91-14BA-4D95-9BAB-7CFAEA6123FF}">
      <dsp:nvSpPr>
        <dsp:cNvPr id="0" name=""/>
        <dsp:cNvSpPr/>
      </dsp:nvSpPr>
      <dsp:spPr>
        <a:xfrm>
          <a:off x="1570914" y="1502188"/>
          <a:ext cx="3071420" cy="331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Adaptable Calculation Logic</a:t>
          </a:r>
        </a:p>
      </dsp:txBody>
      <dsp:txXfrm>
        <a:off x="1570914" y="1502188"/>
        <a:ext cx="3071420" cy="331048"/>
      </dsp:txXfrm>
    </dsp:sp>
    <dsp:sp modelId="{0A979B70-D769-4928-A005-1CE6D97620F9}">
      <dsp:nvSpPr>
        <dsp:cNvPr id="0" name=""/>
        <dsp:cNvSpPr/>
      </dsp:nvSpPr>
      <dsp:spPr>
        <a:xfrm>
          <a:off x="1570914" y="1833236"/>
          <a:ext cx="3071420" cy="1059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Calculation logic in tax engines should be flexible to accommodate the various taxation scenarios.</a:t>
          </a:r>
        </a:p>
      </dsp:txBody>
      <dsp:txXfrm>
        <a:off x="1570914" y="1833236"/>
        <a:ext cx="3071420" cy="1059866"/>
      </dsp:txXfrm>
    </dsp:sp>
    <dsp:sp modelId="{D7093B55-BD29-48F8-9BD8-FBA8424A7323}">
      <dsp:nvSpPr>
        <dsp:cNvPr id="0" name=""/>
        <dsp:cNvSpPr/>
      </dsp:nvSpPr>
      <dsp:spPr>
        <a:xfrm>
          <a:off x="0" y="3004376"/>
          <a:ext cx="1390914" cy="139091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5210" r="9792" b="3"/>
          <a:stretch/>
        </a:blipFill>
        <a:ln>
          <a:noFill/>
        </a:ln>
        <a:effectLst/>
      </dsp:spPr>
      <dsp:style>
        <a:lnRef idx="0">
          <a:scrgbClr r="0" g="0" b="0"/>
        </a:lnRef>
        <a:fillRef idx="3">
          <a:scrgbClr r="0" g="0" b="0"/>
        </a:fillRef>
        <a:effectRef idx="2">
          <a:scrgbClr r="0" g="0" b="0"/>
        </a:effectRef>
        <a:fontRef idx="minor">
          <a:schemeClr val="lt1"/>
        </a:fontRef>
      </dsp:style>
    </dsp:sp>
    <dsp:sp modelId="{F77C67EE-9156-4BEB-9E7B-4F86BE25584D}">
      <dsp:nvSpPr>
        <dsp:cNvPr id="0" name=""/>
        <dsp:cNvSpPr/>
      </dsp:nvSpPr>
      <dsp:spPr>
        <a:xfrm>
          <a:off x="1570914" y="3004376"/>
          <a:ext cx="3071420" cy="343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Scalability and Compliance</a:t>
          </a:r>
        </a:p>
      </dsp:txBody>
      <dsp:txXfrm>
        <a:off x="1570914" y="3004376"/>
        <a:ext cx="3071420" cy="343368"/>
      </dsp:txXfrm>
    </dsp:sp>
    <dsp:sp modelId="{C1DE411E-B779-496F-9E93-A4A4048C11BB}">
      <dsp:nvSpPr>
        <dsp:cNvPr id="0" name=""/>
        <dsp:cNvSpPr/>
      </dsp:nvSpPr>
      <dsp:spPr>
        <a:xfrm>
          <a:off x="1570914" y="3347744"/>
          <a:ext cx="3071420" cy="104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Flexible tax engines support scalability while ensuring compliance with varying tax regulations.</a:t>
          </a:r>
        </a:p>
      </dsp:txBody>
      <dsp:txXfrm>
        <a:off x="1570914" y="3347744"/>
        <a:ext cx="3071420" cy="1047546"/>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747C09-EF49-431C-9130-D275A1087224}" type="datetimeFigureOut">
              <a:rPr lang="en-IN" smtClean="0"/>
              <a:t>01-11-2025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34C477-2865-4ED5-9118-BCE3F3A21B91}" type="slidenum">
              <a:rPr lang="en-IN" smtClean="0"/>
              <a:t>‹#›</a:t>
            </a:fld>
            <a:endParaRPr lang="en-IN"/>
          </a:p>
        </p:txBody>
      </p:sp>
    </p:spTree>
    <p:extLst>
      <p:ext uri="{BB962C8B-B14F-4D97-AF65-F5344CB8AC3E}">
        <p14:creationId xmlns:p14="http://schemas.microsoft.com/office/powerpoint/2010/main" val="1260563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60477-26A8-DE33-35F7-B7CF7B993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B737B-0C43-964E-F732-CEB597B16223}"/>
              </a:ext>
            </a:extLst>
          </p:cNvPr>
          <p:cNvSpPr>
            <a:spLocks noGrp="1" noRot="1" noChangeAspect="1"/>
          </p:cNvSpPr>
          <p:nvPr>
            <p:ph type="sldImg"/>
          </p:nvPr>
        </p:nvSpPr>
        <p:spPr>
          <a:xfrm>
            <a:off x="1143000" y="685800"/>
            <a:ext cx="4572000" cy="3429000"/>
          </a:xfrm>
          <a:prstGeom prst="rect">
            <a:avLst/>
          </a:prstGeom>
        </p:spPr>
      </p:sp>
      <p:sp>
        <p:nvSpPr>
          <p:cNvPr id="3" name="Notes Placeholder 2">
            <a:extLst>
              <a:ext uri="{FF2B5EF4-FFF2-40B4-BE49-F238E27FC236}">
                <a16:creationId xmlns:a16="http://schemas.microsoft.com/office/drawing/2014/main" id="{5E169E1C-64E2-3E04-7BD4-3B71E1FB2264}"/>
              </a:ext>
            </a:extLst>
          </p:cNvPr>
          <p:cNvSpPr>
            <a:spLocks noGrp="1"/>
          </p:cNvSpPr>
          <p:nvPr>
            <p:ph type="body" idx="1"/>
          </p:nvPr>
        </p:nvSpPr>
        <p:spPr>
          <a:xfrm>
            <a:off x="685800" y="4343400"/>
            <a:ext cx="5486400" cy="411480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F9EF10AC-A483-8313-CE61-29BA04F25AD9}"/>
              </a:ext>
            </a:extLst>
          </p:cNvPr>
          <p:cNvSpPr>
            <a:spLocks noGrp="1"/>
          </p:cNvSpPr>
          <p:nvPr>
            <p:ph type="sldNum" sz="quarter" idx="10"/>
          </p:nvPr>
        </p:nvSpPr>
        <p:spPr>
          <a:xfrm>
            <a:off x="3884084" y="8685213"/>
            <a:ext cx="2971800" cy="457200"/>
          </a:xfrm>
          <a:prstGeom prst="rect">
            <a:avLst/>
          </a:prstGeom>
        </p:spPr>
        <p:txBody>
          <a:bodyPr/>
          <a:lstStyle/>
          <a:p>
            <a:fld id="{F7021451-1387-4CA6-816F-3879F97B5CBC}" type="slidenum">
              <a:rPr lang="en-US">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2430830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Account numbering schemes serve as essential identifiers for banking transactions worldwide. This section covers their purpose, the global landscape of account identification, and the roles played by banks, regulators, and customers in maintaining secure and efficient systems.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0154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Account numbers uniquely identify customer accounts within financial institutions. They facilitate accurate routing of funds, reduce errors in transactions, and ensure the security and traceability of payments.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47834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Around the world, various numbering schemes exist to identify bank accounts, ranging from simple numeric sequences to complex international standards like IBAN. These systems enable smooth domestic and cross-border banking operations.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3093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Banks issue and maintain account numbers, regulators enforce standards to promote interoperability and security, and customers rely on these identifiers for their daily financial activities, making collaboration critical for system integrity.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8946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Traditional account numbers have served as the primary means of account identification within banks. This section explains their definition, structural variations across countries, and the challenges they pose in today’s interconnected financial environment.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70236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Typically, traditional account numbers are numeric or alphanumeric sequences assigned by banks to identify individual accounts. Their length and format can vary widely depending on the issuing bank and country.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986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There is no universal format for traditional account numbers; some banks use short numeric codes while others incorporate branch codes or check digits, making cross-border transactions complex and error-prone.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3433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Traditional systems often lack standardization, leading to difficulties in international transfers, increased processing times, and higher risks of errors or fraud due to inconsistent formats and verification methods.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15779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IBAN was developed to harmonize and simplify international banking transactions. This section covers its origin, structure, how validation works, and the advantages it provides for cross-border payments.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3577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Introduced by the European Committee for Banking Standards and later adopted by the International Organization for Standardization, IBAN provides a standardized format for bank account numbers across many countries to facilitate international payments.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43147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An IBAN starts with a two-letter country code, followed by two check digits and a basic bank account number. Validation uses a mathematical algorithm to detect errors, ensuring accurate and efficient processing of transactions.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856523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CLABE is Mexico’s standardized bank account numbering system designed to improve payment accuracy and security within the Mexican banking system. This section examines CLABE’s purpose, structure, and role.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8754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CLABE (Clave Bancaria Estandarizada) was created to standardize Mexican bank account numbers, reduce errors in transfers, and enhance the security and efficiency of electronic payments in Mexico.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17966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 CLABE is an 18-digit numeric code consisting of a bank code, branch code, account number, and a check digit. The check digit is calculated using a specific algorithm to verify the correctness of the entire number.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603754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CLABE serves as the mandatory identifier for all interbank electronic payments in Mexico, ensuring efficient processing, reducing fraud, and supporting compliance with regulatory requirements.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C213-B264-4D9A-99BA-60F1BFC5E1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805583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Customer numbering schemes are essential for uniquely identifying customers within core banking systems. This section explains what they are, their objectives, and common types of numbering schemes used.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A85561-BCA1-4A39-893C-3955E4355CA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242565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 customer numbering scheme is a structured method to assign a unique identifier to each customer. This identifier helps track all customer accounts and transactions accurately within the banking system.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A85561-BCA1-4A39-893C-3955E4355CA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974318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Banks assign unique customer numbers at onboarding to ensure consistent identification across all products and services. These numbers are critical for linking customer data and transactions accurately.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A85561-BCA1-4A39-893C-3955E4355CA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720477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Customer numbering schemes must integrate seamlessly with CRM systems to provide a unified view of customer interactions, enabling personalized service and effective relationship management.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A85561-BCA1-4A39-893C-3955E4355CA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230440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covers the foundational aspects of currency management including multi-currency support, data representation, and exchange rate handling within banking platforms.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6A3D5E-4D83-4722-9A90-F00003F7319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26358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Currencies are often represented using a combination of numeric values and alphabetic codes, with decimals indicating fractional units, enabling precise financial calculations.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75E646-CE00-4F7C-88A2-F1AC6654E04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73199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ISO 4217 defines internationally recognized three-letter codes for currencies, facilitating consistent identification and exchange across global banking and finance sectors.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75E646-CE00-4F7C-88A2-F1AC6654E04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85240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Currencies vary in decimal structure; for instance, the US Dollar uses two decimal places, the Japanese Yen uses none, and some currencies have three decimal places, reflecting regional monetary conventions.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75E646-CE00-4F7C-88A2-F1AC6654E04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72422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Supporting multiple currencies involves handling different denominations, symbols, and formats while ensuring transactions are processed correctly across varied currency types.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6A3D5E-4D83-4722-9A90-F00003F7319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86311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Proper data structures must accurately represent currency values with attention to precision and formatting to maintain financial integrity and prevent errors.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6A3D5E-4D83-4722-9A90-F00003F7319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66229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Efficient handling of currency conversion requires up-to-date exchange rates and algorithms to apply conversions accurately during transactions and reconciliations.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6A3D5E-4D83-4722-9A90-F00003F7319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41145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Dealing with monetary values demands exact precision and careful rounding strategies to avoid financial discrepancies and ensure compliance with monetary rules.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6A3D5E-4D83-4722-9A90-F00003F7319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317240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presents real-world examples illustrating how banks incorporate various calendar systems into their products, reporting, and operations to effectively serve multinational clientele.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762FE2-2EEC-438B-B683-663CB83A704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421827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Gregorian calendar, introduced in 1582, is the internationally accepted civil calendar. It corrected inaccuracies of the Julian calendar and is widely used for financial transactions and reporting worldwide.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762FE2-2EEC-438B-B683-663CB83A704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562617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Banks use calendars to schedule loan repayments, interest accruals, and account statement cycles. Tailoring these products to calendar systems ensures accurate and culturally relevant financial services.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762FE2-2EEC-438B-B683-663CB83A704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692166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 calendar year runs from January 1 to December 31, while a financial year is a 12-month period chosen for accounting and reporting, often differing from the calendar year. The financial year varies by country and organization based on regulatory and business needs.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98E5BD-0882-45A2-B90E-D3B22C3F05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852762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Accurate calendar management underpins timely financial reporting, compliance filings, and operational scheduling, which are critical for transparency and regulatory adherence in banking.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762FE2-2EEC-438B-B683-663CB83A704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056768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Managing different calendar systems requires complex date conversions, accurate holiday calculations, and consistency across platforms, which can increase system complexity and risk of errors.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762FE2-2EEC-438B-B683-663CB83A704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776122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Language localization in core banking platforms ensures that users interact in their preferred language, improving accessibility and reducing misunderstandings.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389B97-E6CD-4992-9F27-6BD7FA9717F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431950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Supporting multiple languages in the user interface is key to serving diverse customer bases. It requires intuitive design and seamless language switching to provide a consistent experience.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389B97-E6CD-4992-9F27-6BD7FA9717F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59709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Effective translation management involves using centralized tools, glossary maintenance, and regular updates to maintain consistency and accuracy across all customer touchpoints.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389B97-E6CD-4992-9F27-6BD7FA9717F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59738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focuses on SBCS, covering their definition, common examples, and the benefits and drawbacks they present in handling text data.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AB4D2D-4F8F-4574-8EE2-164F731E57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460861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Single Byte Character Sets use one byte (8 bits) to represent each character. This limits the character repertoire to 256 symbols, making them suitable mostly for languages with small alphabets.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AB4D2D-4F8F-4574-8EE2-164F731E57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998716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DBCS use two bytes (16 bits) for each character, allowing over 65,000 unique characters. This capacity supports the complex scripts of languages such as Chinese, Japanese, and Korean.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AB4D2D-4F8F-4574-8EE2-164F731E57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6759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main differences lie in byte length per character, character repertoire size, and applicability. SBCS suits simpler alphabets; DBCS handles complex, large character sets.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AB4D2D-4F8F-4574-8EE2-164F731E57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904140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Unicode unifies multiple character sets into a comprehensive standard using variable-length encoding. This transition enables universal text representation across diverse languages and systems.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AB4D2D-4F8F-4574-8EE2-164F731E57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7227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Accurate character encoding is vital for seamless communication, data exchange, and software interoperability worldwide. Understanding SBCS, DBCS, and Unicode ensures robust digital communication.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AB4D2D-4F8F-4574-8EE2-164F731E57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13885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Date and time formats vary widely across countries and affect data entry, display, and reporting in banking platforms. Proper localization ensures clarity and compliance.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389B97-E6CD-4992-9F27-6BD7FA9717F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86420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Different countries use formats like DD/MM/YYYY, MM/DD/YYYY, or YYYY-MM-DD, and 12-hour or 24-hour clocks. Banking systems must support these variations correctly.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389B97-E6CD-4992-9F27-6BD7FA9717F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008501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Incorrect date or time formats can cause transaction errors and compliance issues. Validation must be robust to prevent data inconsistencies and reporting inaccuracies.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389B97-E6CD-4992-9F27-6BD7FA9717F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584201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Banking operations require synchronized timestamps across regions, accounting for time zones and daylight saving changes to ensure accurate transaction timing and audit trails.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389B97-E6CD-4992-9F27-6BD7FA9717F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578842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Properly localizing amount and currency formats is essential for clarity and regulatory compliance in financial transactions and statements.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389B97-E6CD-4992-9F27-6BD7FA9717F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814422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Countries use commas or dots to separate decimals and thousands differently. Banking platforms must adapt formatting to local conventions to avoid misinterpretation.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389B97-E6CD-4992-9F27-6BD7FA9717F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872992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Currency symbols and their placement vary by locale, and using ISO currency codes ensures unambiguous identification of currencies in systems and documents.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389B97-E6CD-4992-9F27-6BD7FA9717F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5661525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Statements and receipts must reflect local formatting standards for amounts and currencies to maintain professionalism and regulatory compliance.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389B97-E6CD-4992-9F27-6BD7FA9717F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561788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Modern payment schemes are systems that enable electronic transfer of funds, enhancing efficiency and security. This section covers the definition and significance of payment schemes, key features of electronic payment systems, and global trends in payments.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2273110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Payment schemes are structured frameworks established by financial institutions to facilitate payment transactions. They are essential for ensuring secure, reliable, and standardized transfer of money between parties in a timely manner.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48470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Electronic payment systems offer features such as speed, interoperability, security, and convenience. They reduce reliance on cash and enable real-time or batch processing of transactions across multiple platforms.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1397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India has developed robust payment schemes to support its large and diverse economy. Key schemes focus on real-time transfers, interoperability, and catering to both low and high-value transactions.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6493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UPI is a real-time payment system that enables instant fund transfers between bank accounts via mobile devices. It promotes interoperability among banks, enhancing accessibility and user convenience.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471158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IMPS provides instant 24/7 inter-bank electronic fund transfers, supporting lower value transactions with high speed and availability, making it widely used for everyday payments.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098130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RTGS is designed for high-value and time-critical transactions, providing real-time settlement without batching. It is primarily used by businesses and banks for large payments.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581868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US payment ecosystem includes traditional and emerging schemes facilitating both batch and real-time payments. These schemes cater to various transaction values and speed requirements.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39161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ACH processes large volumes of low-value payments in batches, typically used for payroll, direct debits, and bill payments. Settlement usually occurs within one to two business days.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62665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Fedwire offers real-time gross settlement primarily for high-value and time-sensitive transactions between financial institutions, ensuring immediate finality and security.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192729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FedNow is a new instant payment service enabling real-time fund transfers 24/7, aimed at increasing payment speed and accessibility for consumers and businesses.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648875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UK's payment infrastructure comprises established and innovative systems supporting scheduled, urgent, and real-time payments, balancing security with speed.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5539766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BACS is a legacy system used for scheduled payments such as salaries and direct debits. It processes payments in batches with settlement taking up to three business days.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192979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CHAPS is a real-time gross settlement system for high-value or urgent payments, frequently used by businesses and financial institutions requiring immediate clearance.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371525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Faster Payments Service enables near-instantaneous transfer of low-value payments, available 24/7, greatly enhancing convenience for retail customers and businesses.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0732600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examines differences and similarities among payment schemes in speed, security, and accessibility, alongside their impact on stakeholders and emerging future technologies.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598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While all regions aim to improve speed and security, approaches differ. India leads in real-time mobile payments with UPI, the US shows a mix of batch and real-time systems, and the UK balances legacy and instant payments.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989796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Enhanced payment schemes improve cash flow, convenience, and financial inclusion for consumers and businesses. Instant payments reduce delays and support modern digital commerce.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1434363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Global payment trends include the growth of instant payments, adoption of mobile wallets, increasing emphasis on security through biometrics, and the integration of emerging technologies like blockchain and AI.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517B9C-7E73-45DB-AED2-044FFA65F71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1776070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Payments hubs serve as centralized platforms to manage multiple payment channels and types. This section explains what payments hubs are, their key features, benefits, and current trends shaping payments processing.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9BC98E-94ED-43C1-AC92-700B4036497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5691093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 payments hub is a unified platform that consolidates payment processing across different methods and channels. It streamlines payments operations, enabling banks to efficiently manage domestic and international transactions from a single system.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9BC98E-94ED-43C1-AC92-700B4036497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530637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APIs enable flexible, standardized communication between systems, supporting modular integration. API-led connectivity facilitates real-time data exchange and scalability across banking and payment environments.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5B9B1A-1A34-439C-8D2C-8FE32830D10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4430207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Discrepancies often arise from inconsistent data formats, delays in transaction recording, and limitations within legacy systems impacting reconciliation accuracy.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A0F03D-A25F-44B1-BB4F-DB581C3563B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931397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AI and machine learning enable enhanced anomaly detection, predictive analytics, and smarter exception management, improving reconciliation speed and accuracy.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A0F03D-A25F-44B1-BB4F-DB581C3563B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9344226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Taxation requirements vary widely between countries and significantly impact banking operations. This section reviews the types of taxes, legal variations, and compliance obligations banks must manage.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135B6B-8615-4A17-A7C6-BE2F79E343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194405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Banks face various taxes including corporate income tax, withholding tax, value-added tax on services, and transaction taxes. Each tax type affects financial reporting, customer transactions, and profitability.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135B6B-8615-4A17-A7C6-BE2F79E343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933978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Tax laws and rates differ considerably worldwide, with unique rules on taxability, exemptions, and reporting. Banks operating internationally must navigate these complexities to avoid penalties and ensure compliance.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135B6B-8615-4A17-A7C6-BE2F79E343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516812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handle country-specific tax rules, core banking platforms must be designed to flexibly incorporate diverse taxation requirements. This section covers design and operational considerations.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135B6B-8615-4A17-A7C6-BE2F79E343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7602204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Tax engines within core systems must support configurable tax rules, rates, and calculation logic that can be adapted quickly as regulations evolve. Flexibility ensures global scalability and compliance.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135B6B-8615-4A17-A7C6-BE2F79E343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999958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Banks need efficient tools to update tax parameters, manage exemptions, and configure country-specific rules without extensive redevelopment. This reduces downtime and operational risks.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135B6B-8615-4A17-A7C6-BE2F79E343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0735674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Automating tax processes minimizes errors and ensures timely reporting. Integration with tax authorities’ reporting systems streamlines compliance and audit readiness.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135B6B-8615-4A17-A7C6-BE2F79E343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54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Tax laws change frequently, requiring rapid system updates. Engineering solutions include modular tax engines, rule abstraction, and automated update mechanisms to ensure agility and accuracy.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135B6B-8615-4A17-A7C6-BE2F79E343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3014352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F265-03A3-D79E-F3B4-9D29C68DA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2D57B-D0DA-C974-8128-59C602AC097B}"/>
              </a:ext>
            </a:extLst>
          </p:cNvPr>
          <p:cNvSpPr>
            <a:spLocks noGrp="1" noRot="1" noChangeAspect="1"/>
          </p:cNvSpPr>
          <p:nvPr>
            <p:ph type="sldImg"/>
          </p:nvPr>
        </p:nvSpPr>
        <p:spPr>
          <a:xfrm>
            <a:off x="1143000" y="685800"/>
            <a:ext cx="4572000" cy="3429000"/>
          </a:xfrm>
          <a:prstGeom prst="rect">
            <a:avLst/>
          </a:prstGeom>
        </p:spPr>
      </p:sp>
      <p:sp>
        <p:nvSpPr>
          <p:cNvPr id="3" name="Notes Placeholder 2">
            <a:extLst>
              <a:ext uri="{FF2B5EF4-FFF2-40B4-BE49-F238E27FC236}">
                <a16:creationId xmlns:a16="http://schemas.microsoft.com/office/drawing/2014/main" id="{E9C18AC9-E55B-5721-2BDF-6C9D19BB8B8E}"/>
              </a:ext>
            </a:extLst>
          </p:cNvPr>
          <p:cNvSpPr>
            <a:spLocks noGrp="1"/>
          </p:cNvSpPr>
          <p:nvPr>
            <p:ph type="body" idx="1"/>
          </p:nvPr>
        </p:nvSpPr>
        <p:spPr>
          <a:xfrm>
            <a:off x="685800" y="4343400"/>
            <a:ext cx="5486400" cy="411480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04D3744-AF3B-AADE-B563-5385F53322FE}"/>
              </a:ext>
            </a:extLst>
          </p:cNvPr>
          <p:cNvSpPr>
            <a:spLocks noGrp="1"/>
          </p:cNvSpPr>
          <p:nvPr>
            <p:ph type="sldNum" sz="quarter" idx="5"/>
          </p:nvPr>
        </p:nvSpPr>
        <p:spPr>
          <a:xfrm>
            <a:off x="3884084" y="8685213"/>
            <a:ext cx="2971800" cy="457200"/>
          </a:xfrm>
          <a:prstGeom prst="rect">
            <a:avLst/>
          </a:prstGeom>
        </p:spPr>
        <p:txBody>
          <a:bodyPr/>
          <a:lstStyle/>
          <a:p>
            <a:fld id="{AAF189DA-CA4E-4D36-BE12-459EB63527FD}" type="slidenum">
              <a:rPr lang="en-US" smtClean="0">
                <a:solidFill>
                  <a:prstClr val="black"/>
                </a:solidFill>
              </a:rPr>
              <a:pPr/>
              <a:t>97</a:t>
            </a:fld>
            <a:endParaRPr lang="en-US">
              <a:solidFill>
                <a:prstClr val="black"/>
              </a:solidFill>
            </a:endParaRPr>
          </a:p>
        </p:txBody>
      </p:sp>
    </p:spTree>
    <p:extLst>
      <p:ext uri="{BB962C8B-B14F-4D97-AF65-F5344CB8AC3E}">
        <p14:creationId xmlns:p14="http://schemas.microsoft.com/office/powerpoint/2010/main" val="509148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9"/>
            <a:ext cx="6858000" cy="1641491"/>
          </a:xfrm>
        </p:spPr>
        <p:txBody>
          <a:bodyPr wrap="none" anchor="t">
            <a:normAutofit/>
          </a:bodyPr>
          <a:lstStyle>
            <a:lvl1pPr algn="r">
              <a:defRPr sz="7200" b="0" spc="-225">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3" name="Subtitle 2"/>
          <p:cNvSpPr>
            <a:spLocks noGrp="1"/>
          </p:cNvSpPr>
          <p:nvPr>
            <p:ph type="subTitle" idx="1"/>
          </p:nvPr>
        </p:nvSpPr>
        <p:spPr>
          <a:xfrm>
            <a:off x="1657349" y="3694381"/>
            <a:ext cx="6858000" cy="754025"/>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7" name="Date Placeholder 6"/>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8" name="Footer Placeholder 7"/>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7784054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940321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9"/>
            <a:ext cx="6858000" cy="1641491"/>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8" name="Subtitle 2"/>
          <p:cNvSpPr>
            <a:spLocks noGrp="1"/>
          </p:cNvSpPr>
          <p:nvPr>
            <p:ph type="subTitle" idx="1"/>
          </p:nvPr>
        </p:nvSpPr>
        <p:spPr>
          <a:xfrm>
            <a:off x="640899" y="3693679"/>
            <a:ext cx="6858000" cy="754025"/>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55193391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40000" y="1825625"/>
            <a:ext cx="3768912"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39880" y="1825625"/>
            <a:ext cx="377547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6FF9F0C5-380F-41C2-899A-BAC0F0927E16}"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72118661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840000" y="1681163"/>
            <a:ext cx="3768912" cy="823912"/>
          </a:xfrm>
        </p:spPr>
        <p:txBody>
          <a:bodyPr anchor="b"/>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0000" y="2505075"/>
            <a:ext cx="376891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39887" y="1681163"/>
            <a:ext cx="3776661" cy="823912"/>
          </a:xfrm>
        </p:spPr>
        <p:txBody>
          <a:bodyPr vert="horz" lIns="91440" tIns="45720" rIns="91440" bIns="45720" rtlCol="0" anchor="b">
            <a:norm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4739887" y="2505075"/>
            <a:ext cx="377666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8" name="Footer Placeholder 7"/>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Slide Number Placeholder 8"/>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63521688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4435501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3" name="Footer Placeholder 2"/>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3133874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30"/>
            <a:ext cx="462915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3"/>
            <a:ext cx="2739019" cy="3811588"/>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519954A3-9DFD-4C44-94BA-B95130A3BA1C}"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11959799"/>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987430"/>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40007" y="2057403"/>
            <a:ext cx="2739019" cy="3811588"/>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25146451"/>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0"/>
            <a:ext cx="7886700" cy="819355"/>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629841" y="987430"/>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8"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347043496"/>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en-US"/>
              <a:t>Click to edit Master title style</a:t>
            </a:r>
          </a:p>
        </p:txBody>
      </p:sp>
      <p:sp>
        <p:nvSpPr>
          <p:cNvPr id="4" name="Text Placeholder 3"/>
          <p:cNvSpPr>
            <a:spLocks noGrp="1"/>
          </p:cNvSpPr>
          <p:nvPr>
            <p:ph type="body" sz="half" idx="2"/>
          </p:nvPr>
        </p:nvSpPr>
        <p:spPr>
          <a:xfrm>
            <a:off x="629848" y="4489401"/>
            <a:ext cx="7885509" cy="150182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350661879"/>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en-US"/>
              <a:t>Click to edit Master title style</a:t>
            </a:r>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6000">
                <a:solidFill>
                  <a:prstClr val="white"/>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6000">
                <a:solidFill>
                  <a:prstClr val="white"/>
                </a:solidFill>
                <a:effectLst/>
              </a:rPr>
              <a:t>”</a:t>
            </a:r>
          </a:p>
        </p:txBody>
      </p:sp>
    </p:spTree>
    <p:extLst>
      <p:ext uri="{BB962C8B-B14F-4D97-AF65-F5344CB8AC3E}">
        <p14:creationId xmlns:p14="http://schemas.microsoft.com/office/powerpoint/2010/main" val="2605199056"/>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9"/>
            <a:ext cx="7886700" cy="2511835"/>
          </a:xfrm>
        </p:spPr>
        <p:txBody>
          <a:bodyPr anchor="b">
            <a:normAutofit/>
          </a:bodyPr>
          <a:lstStyle>
            <a:lvl1pPr>
              <a:defRPr sz="4050"/>
            </a:lvl1pPr>
          </a:lstStyle>
          <a:p>
            <a:r>
              <a:rPr lang="en-US"/>
              <a:t>Click to edit Master title style</a:t>
            </a:r>
          </a:p>
        </p:txBody>
      </p:sp>
      <p:sp>
        <p:nvSpPr>
          <p:cNvPr id="4" name="Text Placeholder 3"/>
          <p:cNvSpPr>
            <a:spLocks noGrp="1"/>
          </p:cNvSpPr>
          <p:nvPr>
            <p:ph type="body" sz="half" idx="2"/>
          </p:nvPr>
        </p:nvSpPr>
        <p:spPr>
          <a:xfrm>
            <a:off x="629848" y="4850583"/>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44052041"/>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5"/>
            <a:ext cx="7886700" cy="1325563"/>
          </a:xfrm>
        </p:spPr>
        <p:txBody>
          <a:bodyPr/>
          <a:lstStyle/>
          <a:p>
            <a:r>
              <a:rPr lang="en-US"/>
              <a:t>Click to edit Master title style</a:t>
            </a:r>
          </a:p>
        </p:txBody>
      </p:sp>
      <p:sp>
        <p:nvSpPr>
          <p:cNvPr id="7" name="Text Placeholder 2"/>
          <p:cNvSpPr>
            <a:spLocks noGrp="1"/>
          </p:cNvSpPr>
          <p:nvPr>
            <p:ph type="body" idx="1"/>
          </p:nvPr>
        </p:nvSpPr>
        <p:spPr>
          <a:xfrm>
            <a:off x="1002961" y="1885954"/>
            <a:ext cx="2210150" cy="576263"/>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1017605" y="2571749"/>
            <a:ext cx="2195513"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441003" y="1885954"/>
            <a:ext cx="2202181" cy="576263"/>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3433081" y="2571749"/>
            <a:ext cx="2210096"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71784" y="1885954"/>
            <a:ext cx="2199085" cy="576263"/>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5871784" y="2571749"/>
            <a:ext cx="2199085"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13740670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5"/>
            <a:ext cx="7886700" cy="1325563"/>
          </a:xfrm>
        </p:spPr>
        <p:txBody>
          <a:bodyPr/>
          <a:lstStyle/>
          <a:p>
            <a:r>
              <a:rPr lang="en-US"/>
              <a:t>Click to edit Master title style</a:t>
            </a:r>
          </a:p>
        </p:txBody>
      </p:sp>
      <p:sp>
        <p:nvSpPr>
          <p:cNvPr id="19" name="Text Placeholder 2"/>
          <p:cNvSpPr>
            <a:spLocks noGrp="1"/>
          </p:cNvSpPr>
          <p:nvPr>
            <p:ph type="body" idx="1"/>
          </p:nvPr>
        </p:nvSpPr>
        <p:spPr>
          <a:xfrm>
            <a:off x="999064" y="4297507"/>
            <a:ext cx="2205038"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999064" y="2256355"/>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1" name="Text Placeholder 3"/>
          <p:cNvSpPr>
            <a:spLocks noGrp="1"/>
          </p:cNvSpPr>
          <p:nvPr>
            <p:ph type="body" sz="half" idx="18"/>
          </p:nvPr>
        </p:nvSpPr>
        <p:spPr>
          <a:xfrm>
            <a:off x="999064" y="4873768"/>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426748" y="4297507"/>
            <a:ext cx="2197894"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2256355"/>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4" name="Text Placeholder 3"/>
          <p:cNvSpPr>
            <a:spLocks noGrp="1"/>
          </p:cNvSpPr>
          <p:nvPr>
            <p:ph type="body" sz="half" idx="19"/>
          </p:nvPr>
        </p:nvSpPr>
        <p:spPr>
          <a:xfrm>
            <a:off x="3425740" y="4873764"/>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53249" y="4297507"/>
            <a:ext cx="2199085"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53248" y="2256355"/>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4126879000"/>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89333C77-0158-454C-844F-B7AB9BD7DAD4}"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29833803"/>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30"/>
            <a:ext cx="1971675"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7" y="365130"/>
            <a:ext cx="5800725"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4184064950"/>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75575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ext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a:xfrm>
            <a:off x="8615276" y="6502114"/>
            <a:ext cx="141064" cy="184665"/>
          </a:xfrm>
        </p:spPr>
        <p:txBody>
          <a:bodyPr/>
          <a:lstStyle/>
          <a:p>
            <a:fld id="{C60C2248-B95D-984B-A0F4-42B9A4652AA7}"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Content Placeholder 2"/>
          <p:cNvSpPr>
            <a:spLocks noGrp="1"/>
          </p:cNvSpPr>
          <p:nvPr>
            <p:ph idx="1"/>
          </p:nvPr>
        </p:nvSpPr>
        <p:spPr>
          <a:xfrm>
            <a:off x="392112" y="1655765"/>
            <a:ext cx="4068000" cy="4511675"/>
          </a:xfrm>
          <a:prstGeom prst="rect">
            <a:avLst/>
          </a:prstGeom>
        </p:spPr>
        <p:txBody>
          <a:bodyPr/>
          <a:lstStyle/>
          <a:p>
            <a:pPr lvl="0"/>
            <a:r>
              <a:rPr lang="en-US"/>
              <a:t>Click to edit Master text styles</a:t>
            </a:r>
          </a:p>
          <a:p>
            <a:pPr lvl="1"/>
            <a:r>
              <a:rPr lang="en-US"/>
              <a:t>Second level</a:t>
            </a:r>
          </a:p>
          <a:p>
            <a:pPr lvl="2"/>
            <a:r>
              <a:rPr lang="en-US"/>
              <a:t>Third level</a:t>
            </a:r>
          </a:p>
        </p:txBody>
      </p:sp>
      <p:sp>
        <p:nvSpPr>
          <p:cNvPr id="14" name="Picture Placeholder 12"/>
          <p:cNvSpPr>
            <a:spLocks noGrp="1"/>
          </p:cNvSpPr>
          <p:nvPr>
            <p:ph type="pic" sz="quarter" idx="13" hasCustomPrompt="1"/>
          </p:nvPr>
        </p:nvSpPr>
        <p:spPr>
          <a:xfrm>
            <a:off x="4691008" y="1655765"/>
            <a:ext cx="4052750" cy="4511675"/>
          </a:xfrm>
          <a:prstGeom prst="rect">
            <a:avLst/>
          </a:prstGeom>
          <a:solidFill>
            <a:schemeClr val="accent3">
              <a:lumMod val="20000"/>
              <a:lumOff val="80000"/>
            </a:schemeClr>
          </a:solidFill>
        </p:spPr>
        <p:txBody>
          <a:bodyPr/>
          <a:lstStyle>
            <a:lvl1pPr marL="0" marR="0" indent="0" algn="l" defTabSz="514350" rtl="0" eaLnBrk="1" fontAlgn="auto" latinLnBrk="0" hangingPunct="1">
              <a:lnSpc>
                <a:spcPct val="110000"/>
              </a:lnSpc>
              <a:spcBef>
                <a:spcPts val="0"/>
              </a:spcBef>
              <a:spcAft>
                <a:spcPts val="0"/>
              </a:spcAft>
              <a:buClr>
                <a:srgbClr val="8DC63F"/>
              </a:buClr>
              <a:buSzTx/>
              <a:buFont typeface="Calibri" panose="020F0502020204030204" pitchFamily="34" charset="0"/>
              <a:buNone/>
              <a:tabLst/>
              <a:defRPr/>
            </a:lvl1pPr>
          </a:lstStyle>
          <a:p>
            <a:r>
              <a:rPr lang="fi-FI"/>
              <a:t>Click icon to add picture</a:t>
            </a:r>
            <a:br>
              <a:rPr lang="fi-FI"/>
            </a:br>
            <a:br>
              <a:rPr lang="fi-FI"/>
            </a:br>
            <a:r>
              <a:rPr lang="en-US" cap="none" baseline="0"/>
              <a:t>Go to the speaker notes of this slide for instructions on how to add pictures</a:t>
            </a:r>
            <a:endParaRPr lang="fi-FI"/>
          </a:p>
        </p:txBody>
      </p:sp>
    </p:spTree>
    <p:extLst>
      <p:ext uri="{BB962C8B-B14F-4D97-AF65-F5344CB8AC3E}">
        <p14:creationId xmlns:p14="http://schemas.microsoft.com/office/powerpoint/2010/main" val="28941560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8"/>
            <a:ext cx="6858000" cy="1641491"/>
          </a:xfrm>
        </p:spPr>
        <p:txBody>
          <a:bodyPr wrap="none" anchor="t">
            <a:normAutofit/>
          </a:bodyPr>
          <a:lstStyle>
            <a:lvl1pPr algn="r">
              <a:defRPr sz="7200" b="0" spc="-225">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3" name="Subtitle 2"/>
          <p:cNvSpPr>
            <a:spLocks noGrp="1"/>
          </p:cNvSpPr>
          <p:nvPr>
            <p:ph type="subTitle" idx="1"/>
          </p:nvPr>
        </p:nvSpPr>
        <p:spPr>
          <a:xfrm>
            <a:off x="1657349" y="3694377"/>
            <a:ext cx="6858000" cy="754025"/>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7" name="Date Placeholder 6"/>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8" name="Footer Placeholder 7"/>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2369828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1629161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8"/>
            <a:ext cx="6858000" cy="1641491"/>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p>
        </p:txBody>
      </p:sp>
      <p:sp>
        <p:nvSpPr>
          <p:cNvPr id="8" name="Subtitle 2"/>
          <p:cNvSpPr>
            <a:spLocks noGrp="1"/>
          </p:cNvSpPr>
          <p:nvPr>
            <p:ph type="subTitle" idx="1"/>
          </p:nvPr>
        </p:nvSpPr>
        <p:spPr>
          <a:xfrm>
            <a:off x="640899" y="3693676"/>
            <a:ext cx="6858000" cy="754025"/>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820875544"/>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40000" y="1825625"/>
            <a:ext cx="3768912"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39880" y="1825625"/>
            <a:ext cx="377547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6FF9F0C5-380F-41C2-899A-BAC0F0927E16}"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260927307"/>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840000" y="1681163"/>
            <a:ext cx="3768912" cy="823912"/>
          </a:xfrm>
        </p:spPr>
        <p:txBody>
          <a:bodyPr anchor="b"/>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0000" y="2505075"/>
            <a:ext cx="376891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39881" y="1681163"/>
            <a:ext cx="3776661" cy="823912"/>
          </a:xfrm>
        </p:spPr>
        <p:txBody>
          <a:bodyPr vert="horz" lIns="91440" tIns="45720" rIns="91440" bIns="45720" rtlCol="0" anchor="b">
            <a:norm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4739881" y="2505075"/>
            <a:ext cx="377666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8" name="Footer Placeholder 7"/>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Slide Number Placeholder 8"/>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007430635"/>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742362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3" name="Footer Placeholder 2"/>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8576247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1" y="2057401"/>
            <a:ext cx="2739019" cy="3811588"/>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519954A3-9DFD-4C44-94BA-B95130A3BA1C}"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4094942096"/>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40001" y="2057401"/>
            <a:ext cx="2739019" cy="3811588"/>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338840418"/>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0"/>
            <a:ext cx="7886700" cy="819355"/>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629841" y="987426"/>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2"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4065558681"/>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en-US"/>
              <a:t>Click to edit Master title style</a:t>
            </a:r>
          </a:p>
        </p:txBody>
      </p:sp>
      <p:sp>
        <p:nvSpPr>
          <p:cNvPr id="4" name="Text Placeholder 3"/>
          <p:cNvSpPr>
            <a:spLocks noGrp="1"/>
          </p:cNvSpPr>
          <p:nvPr>
            <p:ph type="body" sz="half" idx="2"/>
          </p:nvPr>
        </p:nvSpPr>
        <p:spPr>
          <a:xfrm>
            <a:off x="629842" y="4489399"/>
            <a:ext cx="7885509" cy="150182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595871674"/>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en-US"/>
              <a:t>Click to edit Master title style</a:t>
            </a:r>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6000">
                <a:solidFill>
                  <a:prstClr val="white"/>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6000">
                <a:solidFill>
                  <a:prstClr val="white"/>
                </a:solidFill>
                <a:effectLst/>
              </a:rPr>
              <a:t>”</a:t>
            </a:r>
          </a:p>
        </p:txBody>
      </p:sp>
    </p:spTree>
    <p:extLst>
      <p:ext uri="{BB962C8B-B14F-4D97-AF65-F5344CB8AC3E}">
        <p14:creationId xmlns:p14="http://schemas.microsoft.com/office/powerpoint/2010/main" val="35807439"/>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8"/>
            <a:ext cx="7886700" cy="2511835"/>
          </a:xfrm>
        </p:spPr>
        <p:txBody>
          <a:bodyPr anchor="b">
            <a:normAutofit/>
          </a:bodyPr>
          <a:lstStyle>
            <a:lvl1pPr>
              <a:defRPr sz="4050"/>
            </a:lvl1pPr>
          </a:lstStyle>
          <a:p>
            <a:r>
              <a:rPr lang="en-US"/>
              <a:t>Click to edit Master title style</a:t>
            </a:r>
          </a:p>
        </p:txBody>
      </p:sp>
      <p:sp>
        <p:nvSpPr>
          <p:cNvPr id="4" name="Text Placeholder 3"/>
          <p:cNvSpPr>
            <a:spLocks noGrp="1"/>
          </p:cNvSpPr>
          <p:nvPr>
            <p:ph type="body" sz="half" idx="2"/>
          </p:nvPr>
        </p:nvSpPr>
        <p:spPr>
          <a:xfrm>
            <a:off x="629842" y="4850582"/>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642701731"/>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5"/>
            <a:ext cx="7886700" cy="1325563"/>
          </a:xfrm>
        </p:spPr>
        <p:txBody>
          <a:bodyPr/>
          <a:lstStyle/>
          <a:p>
            <a:r>
              <a:rPr lang="en-US"/>
              <a:t>Click to edit Master title style</a:t>
            </a:r>
          </a:p>
        </p:txBody>
      </p:sp>
      <p:sp>
        <p:nvSpPr>
          <p:cNvPr id="7" name="Text Placeholder 2"/>
          <p:cNvSpPr>
            <a:spLocks noGrp="1"/>
          </p:cNvSpPr>
          <p:nvPr>
            <p:ph type="body" idx="1"/>
          </p:nvPr>
        </p:nvSpPr>
        <p:spPr>
          <a:xfrm>
            <a:off x="1002961" y="1885950"/>
            <a:ext cx="2210150" cy="576263"/>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1017599" y="2571749"/>
            <a:ext cx="2195513"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440997" y="1885950"/>
            <a:ext cx="2202181" cy="576263"/>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3433081" y="2571749"/>
            <a:ext cx="2210096"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71778" y="1885950"/>
            <a:ext cx="2199085" cy="576263"/>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5871778" y="2571749"/>
            <a:ext cx="2199085"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44194631"/>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5"/>
            <a:ext cx="7886700" cy="1325563"/>
          </a:xfrm>
        </p:spPr>
        <p:txBody>
          <a:bodyPr/>
          <a:lstStyle/>
          <a:p>
            <a:r>
              <a:rPr lang="en-US"/>
              <a:t>Click to edit Master title style</a:t>
            </a:r>
          </a:p>
        </p:txBody>
      </p:sp>
      <p:sp>
        <p:nvSpPr>
          <p:cNvPr id="19" name="Text Placeholder 2"/>
          <p:cNvSpPr>
            <a:spLocks noGrp="1"/>
          </p:cNvSpPr>
          <p:nvPr>
            <p:ph type="body" idx="1"/>
          </p:nvPr>
        </p:nvSpPr>
        <p:spPr>
          <a:xfrm>
            <a:off x="999064" y="4297503"/>
            <a:ext cx="2205038"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999064" y="2256355"/>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1" name="Text Placeholder 3"/>
          <p:cNvSpPr>
            <a:spLocks noGrp="1"/>
          </p:cNvSpPr>
          <p:nvPr>
            <p:ph type="body" sz="half" idx="18"/>
          </p:nvPr>
        </p:nvSpPr>
        <p:spPr>
          <a:xfrm>
            <a:off x="999064" y="4873766"/>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426748" y="4297503"/>
            <a:ext cx="2197894"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2256355"/>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4" name="Text Placeholder 3"/>
          <p:cNvSpPr>
            <a:spLocks noGrp="1"/>
          </p:cNvSpPr>
          <p:nvPr>
            <p:ph type="body" sz="half" idx="19"/>
          </p:nvPr>
        </p:nvSpPr>
        <p:spPr>
          <a:xfrm>
            <a:off x="3425734" y="4873764"/>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53243" y="4297503"/>
            <a:ext cx="2199085"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53242" y="2256355"/>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82430385"/>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89333C77-0158-454C-844F-B7AB9BD7DAD4}"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10545372"/>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6"/>
            <a:ext cx="1971675"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365126"/>
            <a:ext cx="5800725"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610493422"/>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ext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a:xfrm>
            <a:off x="8615276" y="6502110"/>
            <a:ext cx="141064" cy="184665"/>
          </a:xfrm>
        </p:spPr>
        <p:txBody>
          <a:bodyPr/>
          <a:lstStyle/>
          <a:p>
            <a:fld id="{C60C2248-B95D-984B-A0F4-42B9A4652AA7}"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Content Placeholder 2"/>
          <p:cNvSpPr>
            <a:spLocks noGrp="1"/>
          </p:cNvSpPr>
          <p:nvPr>
            <p:ph idx="1"/>
          </p:nvPr>
        </p:nvSpPr>
        <p:spPr>
          <a:xfrm>
            <a:off x="392112" y="1655765"/>
            <a:ext cx="4068000" cy="4511675"/>
          </a:xfrm>
          <a:prstGeom prst="rect">
            <a:avLst/>
          </a:prstGeom>
        </p:spPr>
        <p:txBody>
          <a:bodyPr/>
          <a:lstStyle/>
          <a:p>
            <a:pPr lvl="0"/>
            <a:r>
              <a:rPr lang="en-US"/>
              <a:t>Click to edit Master text styles</a:t>
            </a:r>
          </a:p>
          <a:p>
            <a:pPr lvl="1"/>
            <a:r>
              <a:rPr lang="en-US"/>
              <a:t>Second level</a:t>
            </a:r>
          </a:p>
          <a:p>
            <a:pPr lvl="2"/>
            <a:r>
              <a:rPr lang="en-US"/>
              <a:t>Third level</a:t>
            </a:r>
          </a:p>
        </p:txBody>
      </p:sp>
      <p:sp>
        <p:nvSpPr>
          <p:cNvPr id="14" name="Picture Placeholder 12"/>
          <p:cNvSpPr>
            <a:spLocks noGrp="1"/>
          </p:cNvSpPr>
          <p:nvPr>
            <p:ph type="pic" sz="quarter" idx="13" hasCustomPrompt="1"/>
          </p:nvPr>
        </p:nvSpPr>
        <p:spPr>
          <a:xfrm>
            <a:off x="4691008" y="1655765"/>
            <a:ext cx="4052750" cy="4511675"/>
          </a:xfrm>
          <a:prstGeom prst="rect">
            <a:avLst/>
          </a:prstGeom>
          <a:solidFill>
            <a:schemeClr val="accent3">
              <a:lumMod val="20000"/>
              <a:lumOff val="80000"/>
            </a:schemeClr>
          </a:solidFill>
        </p:spPr>
        <p:txBody>
          <a:bodyPr/>
          <a:lstStyle>
            <a:lvl1pPr marL="0" marR="0" indent="0" algn="l" defTabSz="514350" rtl="0" eaLnBrk="1" fontAlgn="auto" latinLnBrk="0" hangingPunct="1">
              <a:lnSpc>
                <a:spcPct val="110000"/>
              </a:lnSpc>
              <a:spcBef>
                <a:spcPts val="0"/>
              </a:spcBef>
              <a:spcAft>
                <a:spcPts val="0"/>
              </a:spcAft>
              <a:buClr>
                <a:srgbClr val="8DC63F"/>
              </a:buClr>
              <a:buSzTx/>
              <a:buFont typeface="Calibri" panose="020F0502020204030204" pitchFamily="34" charset="0"/>
              <a:buNone/>
              <a:tabLst/>
              <a:defRPr/>
            </a:lvl1pPr>
          </a:lstStyle>
          <a:p>
            <a:r>
              <a:rPr lang="fi-FI"/>
              <a:t>Click icon to add picture</a:t>
            </a:r>
            <a:br>
              <a:rPr lang="fi-FI"/>
            </a:br>
            <a:br>
              <a:rPr lang="fi-FI"/>
            </a:br>
            <a:r>
              <a:rPr lang="en-US" cap="none" baseline="0"/>
              <a:t>Go to the speaker notes of this slide for instructions on how to add pictures</a:t>
            </a:r>
            <a:endParaRPr lang="fi-FI"/>
          </a:p>
        </p:txBody>
      </p:sp>
    </p:spTree>
    <p:extLst>
      <p:ext uri="{BB962C8B-B14F-4D97-AF65-F5344CB8AC3E}">
        <p14:creationId xmlns:p14="http://schemas.microsoft.com/office/powerpoint/2010/main" val="20882683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410D3-8A2D-242C-BD85-ADADD7ADF67D}"/>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97646E1E-B988-84F6-AD8C-8F2198BCAA6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8869B00-71C8-193B-863E-2B0804792F08}"/>
              </a:ext>
            </a:extLst>
          </p:cNvPr>
          <p:cNvSpPr>
            <a:spLocks noGrp="1"/>
          </p:cNvSpPr>
          <p:nvPr>
            <p:ph type="dt" sz="half" idx="10"/>
          </p:nvPr>
        </p:nvSpPr>
        <p:spPr/>
        <p:txBody>
          <a:bodyPr/>
          <a:lstStyle/>
          <a:p>
            <a:fld id="{5C3B904F-E99B-42AC-B9A5-EF0EE69FF626}" type="datetimeFigureOut">
              <a:rPr lang="en-US" smtClean="0"/>
              <a:t>11/1/2025</a:t>
            </a:fld>
            <a:endParaRPr lang="en-US"/>
          </a:p>
        </p:txBody>
      </p:sp>
      <p:sp>
        <p:nvSpPr>
          <p:cNvPr id="5" name="Footer Placeholder 4">
            <a:extLst>
              <a:ext uri="{FF2B5EF4-FFF2-40B4-BE49-F238E27FC236}">
                <a16:creationId xmlns:a16="http://schemas.microsoft.com/office/drawing/2014/main" id="{76041194-1AB4-0DDC-7095-BFA75D5D0E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D7A9D-BB7F-2346-A108-69D719CDCD69}"/>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6841223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F4DCE-A7A4-746F-60F3-3A212F4D35F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66FB261-5BBB-62AB-7CB1-D89D0774982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8CF896-BAFF-7D0B-3E65-93C39A196697}"/>
              </a:ext>
            </a:extLst>
          </p:cNvPr>
          <p:cNvSpPr>
            <a:spLocks noGrp="1"/>
          </p:cNvSpPr>
          <p:nvPr>
            <p:ph type="dt" sz="half" idx="10"/>
          </p:nvPr>
        </p:nvSpPr>
        <p:spPr/>
        <p:txBody>
          <a:bodyPr/>
          <a:lstStyle/>
          <a:p>
            <a:fld id="{5C3B904F-E99B-42AC-B9A5-EF0EE69FF626}" type="datetimeFigureOut">
              <a:rPr lang="en-US" smtClean="0"/>
              <a:t>11/1/2025</a:t>
            </a:fld>
            <a:endParaRPr lang="en-US"/>
          </a:p>
        </p:txBody>
      </p:sp>
      <p:sp>
        <p:nvSpPr>
          <p:cNvPr id="5" name="Footer Placeholder 4">
            <a:extLst>
              <a:ext uri="{FF2B5EF4-FFF2-40B4-BE49-F238E27FC236}">
                <a16:creationId xmlns:a16="http://schemas.microsoft.com/office/drawing/2014/main" id="{B56A7FF5-ACC4-7EA3-CD64-58EAB57E13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08D6FA-FA90-6635-0BDC-9BE449E6F4AD}"/>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7754803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26B35-9270-7F50-8897-987BE5E805DA}"/>
              </a:ext>
            </a:extLst>
          </p:cNvPr>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375897C-B203-BAF8-AD89-AA95E9CB00F8}"/>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76DCF2E-E539-2C6E-DF5F-41368F954E79}"/>
              </a:ext>
            </a:extLst>
          </p:cNvPr>
          <p:cNvSpPr>
            <a:spLocks noGrp="1"/>
          </p:cNvSpPr>
          <p:nvPr>
            <p:ph type="dt" sz="half" idx="10"/>
          </p:nvPr>
        </p:nvSpPr>
        <p:spPr/>
        <p:txBody>
          <a:bodyPr/>
          <a:lstStyle/>
          <a:p>
            <a:fld id="{5C3B904F-E99B-42AC-B9A5-EF0EE69FF626}" type="datetimeFigureOut">
              <a:rPr lang="en-US" smtClean="0"/>
              <a:t>11/1/2025</a:t>
            </a:fld>
            <a:endParaRPr lang="en-US"/>
          </a:p>
        </p:txBody>
      </p:sp>
      <p:sp>
        <p:nvSpPr>
          <p:cNvPr id="5" name="Footer Placeholder 4">
            <a:extLst>
              <a:ext uri="{FF2B5EF4-FFF2-40B4-BE49-F238E27FC236}">
                <a16:creationId xmlns:a16="http://schemas.microsoft.com/office/drawing/2014/main" id="{31C960A5-C84E-7FB9-79A2-B1617EA72A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25BF24-66A5-A04B-495D-431D71281852}"/>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42250713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D6BE1-1446-9708-E056-C1298FF3FA2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849E3C1-164F-FDDA-307D-8331DBD06477}"/>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4A10F13-0617-A2B3-8E67-B21306C7E9A5}"/>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1B0799C-3210-F9A8-42CF-4F1978AE29E5}"/>
              </a:ext>
            </a:extLst>
          </p:cNvPr>
          <p:cNvSpPr>
            <a:spLocks noGrp="1"/>
          </p:cNvSpPr>
          <p:nvPr>
            <p:ph type="dt" sz="half" idx="10"/>
          </p:nvPr>
        </p:nvSpPr>
        <p:spPr/>
        <p:txBody>
          <a:bodyPr/>
          <a:lstStyle/>
          <a:p>
            <a:fld id="{5C3B904F-E99B-42AC-B9A5-EF0EE69FF626}" type="datetimeFigureOut">
              <a:rPr lang="en-US" smtClean="0"/>
              <a:t>11/1/2025</a:t>
            </a:fld>
            <a:endParaRPr lang="en-US"/>
          </a:p>
        </p:txBody>
      </p:sp>
      <p:sp>
        <p:nvSpPr>
          <p:cNvPr id="6" name="Footer Placeholder 5">
            <a:extLst>
              <a:ext uri="{FF2B5EF4-FFF2-40B4-BE49-F238E27FC236}">
                <a16:creationId xmlns:a16="http://schemas.microsoft.com/office/drawing/2014/main" id="{BD92C640-770E-6301-14E4-5E4FD751A4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33A294-85F2-A049-A541-71D8A6963282}"/>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15829816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E0682-8CC8-4D91-C5CA-EE8D96F04682}"/>
              </a:ext>
            </a:extLst>
          </p:cNvPr>
          <p:cNvSpPr>
            <a:spLocks noGrp="1"/>
          </p:cNvSpPr>
          <p:nvPr>
            <p:ph type="title"/>
          </p:nvPr>
        </p:nvSpPr>
        <p:spPr>
          <a:xfrm>
            <a:off x="629841" y="365126"/>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D720FD2-E1D4-F563-BB2B-6A23BD604E4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5D1A9DB8-194C-D729-086D-C07508319CB9}"/>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FBF4FCB-FEB0-59F2-7FEF-A8546446DAA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3C938955-9187-3C97-C818-0E01B8B7E956}"/>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B10273B-1ED8-EDC0-9740-B101D335201B}"/>
              </a:ext>
            </a:extLst>
          </p:cNvPr>
          <p:cNvSpPr>
            <a:spLocks noGrp="1"/>
          </p:cNvSpPr>
          <p:nvPr>
            <p:ph type="dt" sz="half" idx="10"/>
          </p:nvPr>
        </p:nvSpPr>
        <p:spPr/>
        <p:txBody>
          <a:bodyPr/>
          <a:lstStyle/>
          <a:p>
            <a:fld id="{5C3B904F-E99B-42AC-B9A5-EF0EE69FF626}" type="datetimeFigureOut">
              <a:rPr lang="en-US" smtClean="0"/>
              <a:t>11/1/2025</a:t>
            </a:fld>
            <a:endParaRPr lang="en-US"/>
          </a:p>
        </p:txBody>
      </p:sp>
      <p:sp>
        <p:nvSpPr>
          <p:cNvPr id="8" name="Footer Placeholder 7">
            <a:extLst>
              <a:ext uri="{FF2B5EF4-FFF2-40B4-BE49-F238E27FC236}">
                <a16:creationId xmlns:a16="http://schemas.microsoft.com/office/drawing/2014/main" id="{4E3612E5-076C-00D4-0935-DD2FFC6C6D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BB903E-B929-32C3-89AD-70CE5C247FD9}"/>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341427299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708F0-3FDF-9CEF-A082-E3617E35797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62C8A6E-1B04-320D-CF8E-1462F12C6B1F}"/>
              </a:ext>
            </a:extLst>
          </p:cNvPr>
          <p:cNvSpPr>
            <a:spLocks noGrp="1"/>
          </p:cNvSpPr>
          <p:nvPr>
            <p:ph type="dt" sz="half" idx="10"/>
          </p:nvPr>
        </p:nvSpPr>
        <p:spPr/>
        <p:txBody>
          <a:bodyPr/>
          <a:lstStyle/>
          <a:p>
            <a:fld id="{5C3B904F-E99B-42AC-B9A5-EF0EE69FF626}" type="datetimeFigureOut">
              <a:rPr lang="en-US" smtClean="0"/>
              <a:t>11/1/2025</a:t>
            </a:fld>
            <a:endParaRPr lang="en-US"/>
          </a:p>
        </p:txBody>
      </p:sp>
      <p:sp>
        <p:nvSpPr>
          <p:cNvPr id="4" name="Footer Placeholder 3">
            <a:extLst>
              <a:ext uri="{FF2B5EF4-FFF2-40B4-BE49-F238E27FC236}">
                <a16:creationId xmlns:a16="http://schemas.microsoft.com/office/drawing/2014/main" id="{DF077183-6CC4-9B69-978E-7663993BB4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8A6056-DDF0-1D9B-A4BD-2922FCD05049}"/>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42924122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C11BE9-4E01-221E-B125-4C6FCE00EA1D}"/>
              </a:ext>
            </a:extLst>
          </p:cNvPr>
          <p:cNvSpPr>
            <a:spLocks noGrp="1"/>
          </p:cNvSpPr>
          <p:nvPr>
            <p:ph type="dt" sz="half" idx="10"/>
          </p:nvPr>
        </p:nvSpPr>
        <p:spPr/>
        <p:txBody>
          <a:bodyPr/>
          <a:lstStyle/>
          <a:p>
            <a:fld id="{5C3B904F-E99B-42AC-B9A5-EF0EE69FF626}" type="datetimeFigureOut">
              <a:rPr lang="en-US" smtClean="0"/>
              <a:t>11/1/2025</a:t>
            </a:fld>
            <a:endParaRPr lang="en-US"/>
          </a:p>
        </p:txBody>
      </p:sp>
      <p:sp>
        <p:nvSpPr>
          <p:cNvPr id="3" name="Footer Placeholder 2">
            <a:extLst>
              <a:ext uri="{FF2B5EF4-FFF2-40B4-BE49-F238E27FC236}">
                <a16:creationId xmlns:a16="http://schemas.microsoft.com/office/drawing/2014/main" id="{FA913922-F4FF-18D7-8794-DE5E465F78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7A3B3D-8D80-6EBD-B972-66E8CDAD4133}"/>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80628735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913F8-90A6-4D91-4761-E286345AA6F4}"/>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88CE499-DEE4-7813-D2EE-C7E681222CE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DA8C620-ED49-283D-7BF7-FD85A08A6C4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B632D932-A5B8-DFE5-B216-6548AB3C8688}"/>
              </a:ext>
            </a:extLst>
          </p:cNvPr>
          <p:cNvSpPr>
            <a:spLocks noGrp="1"/>
          </p:cNvSpPr>
          <p:nvPr>
            <p:ph type="dt" sz="half" idx="10"/>
          </p:nvPr>
        </p:nvSpPr>
        <p:spPr/>
        <p:txBody>
          <a:bodyPr/>
          <a:lstStyle/>
          <a:p>
            <a:fld id="{5C3B904F-E99B-42AC-B9A5-EF0EE69FF626}" type="datetimeFigureOut">
              <a:rPr lang="en-US" smtClean="0"/>
              <a:t>11/1/2025</a:t>
            </a:fld>
            <a:endParaRPr lang="en-US"/>
          </a:p>
        </p:txBody>
      </p:sp>
      <p:sp>
        <p:nvSpPr>
          <p:cNvPr id="6" name="Footer Placeholder 5">
            <a:extLst>
              <a:ext uri="{FF2B5EF4-FFF2-40B4-BE49-F238E27FC236}">
                <a16:creationId xmlns:a16="http://schemas.microsoft.com/office/drawing/2014/main" id="{2FCEB42F-28F8-438A-83F5-FB3AA4CEA1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205D66-052B-E9BD-BB06-74B2C84989BB}"/>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23730613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71EAF-C080-4E93-C2CE-83075188D22A}"/>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FB78983-B32D-8832-2A97-50720D22C1D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E9593F7-2FA4-377E-4FBA-4A4F16E0421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1FF95F54-38B0-CEED-D3D9-5647C5BFA400}"/>
              </a:ext>
            </a:extLst>
          </p:cNvPr>
          <p:cNvSpPr>
            <a:spLocks noGrp="1"/>
          </p:cNvSpPr>
          <p:nvPr>
            <p:ph type="dt" sz="half" idx="10"/>
          </p:nvPr>
        </p:nvSpPr>
        <p:spPr/>
        <p:txBody>
          <a:bodyPr/>
          <a:lstStyle/>
          <a:p>
            <a:fld id="{5C3B904F-E99B-42AC-B9A5-EF0EE69FF626}" type="datetimeFigureOut">
              <a:rPr lang="en-US" smtClean="0"/>
              <a:t>11/1/2025</a:t>
            </a:fld>
            <a:endParaRPr lang="en-US"/>
          </a:p>
        </p:txBody>
      </p:sp>
      <p:sp>
        <p:nvSpPr>
          <p:cNvPr id="6" name="Footer Placeholder 5">
            <a:extLst>
              <a:ext uri="{FF2B5EF4-FFF2-40B4-BE49-F238E27FC236}">
                <a16:creationId xmlns:a16="http://schemas.microsoft.com/office/drawing/2014/main" id="{4EEA5183-3DF3-0AF9-9E4C-FA35703EA4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407B4-DC64-66ED-B95A-C5CF00F6BAE6}"/>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374092254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CD457-0A53-C6C6-1213-AB16DF39B6A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514D5B1-31B1-30E9-3067-6D3BBF1E046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96CEFCB-AD83-322B-9311-33D96DE052EC}"/>
              </a:ext>
            </a:extLst>
          </p:cNvPr>
          <p:cNvSpPr>
            <a:spLocks noGrp="1"/>
          </p:cNvSpPr>
          <p:nvPr>
            <p:ph type="dt" sz="half" idx="10"/>
          </p:nvPr>
        </p:nvSpPr>
        <p:spPr/>
        <p:txBody>
          <a:bodyPr/>
          <a:lstStyle/>
          <a:p>
            <a:fld id="{5C3B904F-E99B-42AC-B9A5-EF0EE69FF626}" type="datetimeFigureOut">
              <a:rPr lang="en-US" smtClean="0"/>
              <a:t>11/1/2025</a:t>
            </a:fld>
            <a:endParaRPr lang="en-US"/>
          </a:p>
        </p:txBody>
      </p:sp>
      <p:sp>
        <p:nvSpPr>
          <p:cNvPr id="5" name="Footer Placeholder 4">
            <a:extLst>
              <a:ext uri="{FF2B5EF4-FFF2-40B4-BE49-F238E27FC236}">
                <a16:creationId xmlns:a16="http://schemas.microsoft.com/office/drawing/2014/main" id="{587B29E0-0092-2EEA-5590-39BBAFF176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65A91-7299-3F23-4A9D-4A677B051599}"/>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14809243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1D1B05-D8ED-EF7F-1249-831C555CD2AC}"/>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49E9A4F-7B3E-02EB-9BAB-ADCE4555BD65}"/>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0437384-ABEB-EA8B-DE43-A6761F20B052}"/>
              </a:ext>
            </a:extLst>
          </p:cNvPr>
          <p:cNvSpPr>
            <a:spLocks noGrp="1"/>
          </p:cNvSpPr>
          <p:nvPr>
            <p:ph type="dt" sz="half" idx="10"/>
          </p:nvPr>
        </p:nvSpPr>
        <p:spPr/>
        <p:txBody>
          <a:bodyPr/>
          <a:lstStyle/>
          <a:p>
            <a:fld id="{5C3B904F-E99B-42AC-B9A5-EF0EE69FF626}" type="datetimeFigureOut">
              <a:rPr lang="en-US" smtClean="0"/>
              <a:t>11/1/2025</a:t>
            </a:fld>
            <a:endParaRPr lang="en-US"/>
          </a:p>
        </p:txBody>
      </p:sp>
      <p:sp>
        <p:nvSpPr>
          <p:cNvPr id="5" name="Footer Placeholder 4">
            <a:extLst>
              <a:ext uri="{FF2B5EF4-FFF2-40B4-BE49-F238E27FC236}">
                <a16:creationId xmlns:a16="http://schemas.microsoft.com/office/drawing/2014/main" id="{C3E7809A-C9AC-4D0F-A32B-D6DD76655B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00E5B-8259-27FD-1CAE-5163F18D0197}"/>
              </a:ext>
            </a:extLst>
          </p:cNvPr>
          <p:cNvSpPr>
            <a:spLocks noGrp="1"/>
          </p:cNvSpPr>
          <p:nvPr>
            <p:ph type="sldNum" sz="quarter" idx="12"/>
          </p:nvPr>
        </p:nvSpPr>
        <p:spPr/>
        <p:txBody>
          <a:bodyPr/>
          <a:lstStyle/>
          <a:p>
            <a:fld id="{AD40A64F-5A3B-4B8B-9BB1-F66D26477557}" type="slidenum">
              <a:rPr lang="en-US" smtClean="0"/>
              <a:t>‹#›</a:t>
            </a:fld>
            <a:endParaRPr lang="en-US"/>
          </a:p>
        </p:txBody>
      </p:sp>
    </p:spTree>
    <p:extLst>
      <p:ext uri="{BB962C8B-B14F-4D97-AF65-F5344CB8AC3E}">
        <p14:creationId xmlns:p14="http://schemas.microsoft.com/office/powerpoint/2010/main" val="25271607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0458A-64C5-05FC-1A2B-F13C2D9859BE}"/>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CAA8BD29-4AA7-0B49-3350-C66EB0EB14A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E09F084-9307-4BC5-9A76-7150D4ED60C0}"/>
              </a:ext>
            </a:extLst>
          </p:cNvPr>
          <p:cNvSpPr>
            <a:spLocks noGrp="1"/>
          </p:cNvSpPr>
          <p:nvPr>
            <p:ph type="dt" sz="half" idx="10"/>
          </p:nvPr>
        </p:nvSpPr>
        <p:spPr/>
        <p:txBody>
          <a:bodyPr/>
          <a:lstStyle/>
          <a:p>
            <a:fld id="{739CF31B-A188-4348-974A-9E41D11CE69E}" type="datetimeFigureOut">
              <a:rPr lang="en-US" smtClean="0"/>
              <a:t>11/1/2025</a:t>
            </a:fld>
            <a:endParaRPr lang="en-US"/>
          </a:p>
        </p:txBody>
      </p:sp>
      <p:sp>
        <p:nvSpPr>
          <p:cNvPr id="5" name="Footer Placeholder 4">
            <a:extLst>
              <a:ext uri="{FF2B5EF4-FFF2-40B4-BE49-F238E27FC236}">
                <a16:creationId xmlns:a16="http://schemas.microsoft.com/office/drawing/2014/main" id="{8B83764A-2E08-2F0A-1EA5-6190F72102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C259F6-019E-0DA7-C1E2-C71173889FBA}"/>
              </a:ext>
            </a:extLst>
          </p:cNvPr>
          <p:cNvSpPr>
            <a:spLocks noGrp="1"/>
          </p:cNvSpPr>
          <p:nvPr>
            <p:ph type="sldNum" sz="quarter" idx="12"/>
          </p:nvPr>
        </p:nvSpPr>
        <p:spPr/>
        <p:txBody>
          <a:bodyPr/>
          <a:lstStyle/>
          <a:p>
            <a:fld id="{031428B4-A5A4-4B6A-AD3B-E686E0AA9813}" type="slidenum">
              <a:rPr lang="en-US" smtClean="0"/>
              <a:t>‹#›</a:t>
            </a:fld>
            <a:endParaRPr lang="en-US"/>
          </a:p>
        </p:txBody>
      </p:sp>
    </p:spTree>
    <p:extLst>
      <p:ext uri="{BB962C8B-B14F-4D97-AF65-F5344CB8AC3E}">
        <p14:creationId xmlns:p14="http://schemas.microsoft.com/office/powerpoint/2010/main" val="396920650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FBA1A-F938-10FC-E7C0-FFFB3EB1404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968AAB9-9B38-7AE1-7CAB-0B99EC5F2A7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39CABFF-59AA-4A9A-890A-4D9CEA0768AC}"/>
              </a:ext>
            </a:extLst>
          </p:cNvPr>
          <p:cNvSpPr>
            <a:spLocks noGrp="1"/>
          </p:cNvSpPr>
          <p:nvPr>
            <p:ph type="dt" sz="half" idx="10"/>
          </p:nvPr>
        </p:nvSpPr>
        <p:spPr/>
        <p:txBody>
          <a:bodyPr/>
          <a:lstStyle/>
          <a:p>
            <a:fld id="{739CF31B-A188-4348-974A-9E41D11CE69E}" type="datetimeFigureOut">
              <a:rPr lang="en-US" smtClean="0"/>
              <a:t>11/1/2025</a:t>
            </a:fld>
            <a:endParaRPr lang="en-US"/>
          </a:p>
        </p:txBody>
      </p:sp>
      <p:sp>
        <p:nvSpPr>
          <p:cNvPr id="5" name="Footer Placeholder 4">
            <a:extLst>
              <a:ext uri="{FF2B5EF4-FFF2-40B4-BE49-F238E27FC236}">
                <a16:creationId xmlns:a16="http://schemas.microsoft.com/office/drawing/2014/main" id="{1A8E6413-4ED9-FCD3-80AD-B78813688B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39121E-2F01-6E55-3F4C-BC206793FA0F}"/>
              </a:ext>
            </a:extLst>
          </p:cNvPr>
          <p:cNvSpPr>
            <a:spLocks noGrp="1"/>
          </p:cNvSpPr>
          <p:nvPr>
            <p:ph type="sldNum" sz="quarter" idx="12"/>
          </p:nvPr>
        </p:nvSpPr>
        <p:spPr/>
        <p:txBody>
          <a:bodyPr/>
          <a:lstStyle/>
          <a:p>
            <a:fld id="{031428B4-A5A4-4B6A-AD3B-E686E0AA9813}" type="slidenum">
              <a:rPr lang="en-US" smtClean="0"/>
              <a:t>‹#›</a:t>
            </a:fld>
            <a:endParaRPr lang="en-US"/>
          </a:p>
        </p:txBody>
      </p:sp>
    </p:spTree>
    <p:extLst>
      <p:ext uri="{BB962C8B-B14F-4D97-AF65-F5344CB8AC3E}">
        <p14:creationId xmlns:p14="http://schemas.microsoft.com/office/powerpoint/2010/main" val="310208129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D1BB1-8FB1-9666-4918-BA66EB70E217}"/>
              </a:ext>
            </a:extLst>
          </p:cNvPr>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17BD000-F7A6-309E-B633-E981316559D8}"/>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8D84723-1507-9D24-22D5-717C297E42D4}"/>
              </a:ext>
            </a:extLst>
          </p:cNvPr>
          <p:cNvSpPr>
            <a:spLocks noGrp="1"/>
          </p:cNvSpPr>
          <p:nvPr>
            <p:ph type="dt" sz="half" idx="10"/>
          </p:nvPr>
        </p:nvSpPr>
        <p:spPr/>
        <p:txBody>
          <a:bodyPr/>
          <a:lstStyle/>
          <a:p>
            <a:fld id="{739CF31B-A188-4348-974A-9E41D11CE69E}" type="datetimeFigureOut">
              <a:rPr lang="en-US" smtClean="0"/>
              <a:t>11/1/2025</a:t>
            </a:fld>
            <a:endParaRPr lang="en-US"/>
          </a:p>
        </p:txBody>
      </p:sp>
      <p:sp>
        <p:nvSpPr>
          <p:cNvPr id="5" name="Footer Placeholder 4">
            <a:extLst>
              <a:ext uri="{FF2B5EF4-FFF2-40B4-BE49-F238E27FC236}">
                <a16:creationId xmlns:a16="http://schemas.microsoft.com/office/drawing/2014/main" id="{400F1A83-2632-CC7B-3CE5-5CFCC1DB0A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8C0AA9-64B0-1EAA-04B9-A06684E7187A}"/>
              </a:ext>
            </a:extLst>
          </p:cNvPr>
          <p:cNvSpPr>
            <a:spLocks noGrp="1"/>
          </p:cNvSpPr>
          <p:nvPr>
            <p:ph type="sldNum" sz="quarter" idx="12"/>
          </p:nvPr>
        </p:nvSpPr>
        <p:spPr/>
        <p:txBody>
          <a:bodyPr/>
          <a:lstStyle/>
          <a:p>
            <a:fld id="{031428B4-A5A4-4B6A-AD3B-E686E0AA9813}" type="slidenum">
              <a:rPr lang="en-US" smtClean="0"/>
              <a:t>‹#›</a:t>
            </a:fld>
            <a:endParaRPr lang="en-US"/>
          </a:p>
        </p:txBody>
      </p:sp>
    </p:spTree>
    <p:extLst>
      <p:ext uri="{BB962C8B-B14F-4D97-AF65-F5344CB8AC3E}">
        <p14:creationId xmlns:p14="http://schemas.microsoft.com/office/powerpoint/2010/main" val="91809826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DEAAA-53DF-C493-28F4-9B2B791DECC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EF73B41-DF94-BE87-D35A-FEF1B3223C91}"/>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9E5DD8B-885A-26C8-C496-2474F14F2434}"/>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260A664-2220-9C9C-4C5E-1747EA6547EF}"/>
              </a:ext>
            </a:extLst>
          </p:cNvPr>
          <p:cNvSpPr>
            <a:spLocks noGrp="1"/>
          </p:cNvSpPr>
          <p:nvPr>
            <p:ph type="dt" sz="half" idx="10"/>
          </p:nvPr>
        </p:nvSpPr>
        <p:spPr/>
        <p:txBody>
          <a:bodyPr/>
          <a:lstStyle/>
          <a:p>
            <a:fld id="{739CF31B-A188-4348-974A-9E41D11CE69E}" type="datetimeFigureOut">
              <a:rPr lang="en-US" smtClean="0"/>
              <a:t>11/1/2025</a:t>
            </a:fld>
            <a:endParaRPr lang="en-US"/>
          </a:p>
        </p:txBody>
      </p:sp>
      <p:sp>
        <p:nvSpPr>
          <p:cNvPr id="6" name="Footer Placeholder 5">
            <a:extLst>
              <a:ext uri="{FF2B5EF4-FFF2-40B4-BE49-F238E27FC236}">
                <a16:creationId xmlns:a16="http://schemas.microsoft.com/office/drawing/2014/main" id="{BD929EED-AFFF-6AAB-A90B-5FFE7E886A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F2D1A-75DB-5CEA-BB74-B2AFCD1501E6}"/>
              </a:ext>
            </a:extLst>
          </p:cNvPr>
          <p:cNvSpPr>
            <a:spLocks noGrp="1"/>
          </p:cNvSpPr>
          <p:nvPr>
            <p:ph type="sldNum" sz="quarter" idx="12"/>
          </p:nvPr>
        </p:nvSpPr>
        <p:spPr/>
        <p:txBody>
          <a:bodyPr/>
          <a:lstStyle/>
          <a:p>
            <a:fld id="{031428B4-A5A4-4B6A-AD3B-E686E0AA9813}" type="slidenum">
              <a:rPr lang="en-US" smtClean="0"/>
              <a:t>‹#›</a:t>
            </a:fld>
            <a:endParaRPr lang="en-US"/>
          </a:p>
        </p:txBody>
      </p:sp>
    </p:spTree>
    <p:extLst>
      <p:ext uri="{BB962C8B-B14F-4D97-AF65-F5344CB8AC3E}">
        <p14:creationId xmlns:p14="http://schemas.microsoft.com/office/powerpoint/2010/main" val="7891816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C7DB-3F77-9D54-5486-21B5E4B8A31F}"/>
              </a:ext>
            </a:extLst>
          </p:cNvPr>
          <p:cNvSpPr>
            <a:spLocks noGrp="1"/>
          </p:cNvSpPr>
          <p:nvPr>
            <p:ph type="title"/>
          </p:nvPr>
        </p:nvSpPr>
        <p:spPr>
          <a:xfrm>
            <a:off x="629841" y="365126"/>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3435EE4-4275-FDFC-3D00-886DEC3B8A92}"/>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989198F0-0814-1968-CABD-2A4A599BA2CE}"/>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50EA7A2-A716-B2EA-750F-C879652D3D9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98E78163-010B-FD8D-806E-A38477F9EF03}"/>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5550EC6-BF24-7A6F-7343-BE13ABC042D9}"/>
              </a:ext>
            </a:extLst>
          </p:cNvPr>
          <p:cNvSpPr>
            <a:spLocks noGrp="1"/>
          </p:cNvSpPr>
          <p:nvPr>
            <p:ph type="dt" sz="half" idx="10"/>
          </p:nvPr>
        </p:nvSpPr>
        <p:spPr/>
        <p:txBody>
          <a:bodyPr/>
          <a:lstStyle/>
          <a:p>
            <a:fld id="{739CF31B-A188-4348-974A-9E41D11CE69E}" type="datetimeFigureOut">
              <a:rPr lang="en-US" smtClean="0"/>
              <a:t>11/1/2025</a:t>
            </a:fld>
            <a:endParaRPr lang="en-US"/>
          </a:p>
        </p:txBody>
      </p:sp>
      <p:sp>
        <p:nvSpPr>
          <p:cNvPr id="8" name="Footer Placeholder 7">
            <a:extLst>
              <a:ext uri="{FF2B5EF4-FFF2-40B4-BE49-F238E27FC236}">
                <a16:creationId xmlns:a16="http://schemas.microsoft.com/office/drawing/2014/main" id="{97B4E7AA-6998-87C8-E7BE-997AC1BE3A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6AB6F5-8266-8590-6A80-118B905CEBC0}"/>
              </a:ext>
            </a:extLst>
          </p:cNvPr>
          <p:cNvSpPr>
            <a:spLocks noGrp="1"/>
          </p:cNvSpPr>
          <p:nvPr>
            <p:ph type="sldNum" sz="quarter" idx="12"/>
          </p:nvPr>
        </p:nvSpPr>
        <p:spPr/>
        <p:txBody>
          <a:bodyPr/>
          <a:lstStyle/>
          <a:p>
            <a:fld id="{031428B4-A5A4-4B6A-AD3B-E686E0AA9813}" type="slidenum">
              <a:rPr lang="en-US" smtClean="0"/>
              <a:t>‹#›</a:t>
            </a:fld>
            <a:endParaRPr lang="en-US"/>
          </a:p>
        </p:txBody>
      </p:sp>
    </p:spTree>
    <p:extLst>
      <p:ext uri="{BB962C8B-B14F-4D97-AF65-F5344CB8AC3E}">
        <p14:creationId xmlns:p14="http://schemas.microsoft.com/office/powerpoint/2010/main" val="224889981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8BE5-2FC5-F267-D0A4-577B5657FF6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25FB25C-E151-34E7-6D95-10C504872E4F}"/>
              </a:ext>
            </a:extLst>
          </p:cNvPr>
          <p:cNvSpPr>
            <a:spLocks noGrp="1"/>
          </p:cNvSpPr>
          <p:nvPr>
            <p:ph type="dt" sz="half" idx="10"/>
          </p:nvPr>
        </p:nvSpPr>
        <p:spPr/>
        <p:txBody>
          <a:bodyPr/>
          <a:lstStyle/>
          <a:p>
            <a:fld id="{739CF31B-A188-4348-974A-9E41D11CE69E}" type="datetimeFigureOut">
              <a:rPr lang="en-US" smtClean="0"/>
              <a:t>11/1/2025</a:t>
            </a:fld>
            <a:endParaRPr lang="en-US"/>
          </a:p>
        </p:txBody>
      </p:sp>
      <p:sp>
        <p:nvSpPr>
          <p:cNvPr id="4" name="Footer Placeholder 3">
            <a:extLst>
              <a:ext uri="{FF2B5EF4-FFF2-40B4-BE49-F238E27FC236}">
                <a16:creationId xmlns:a16="http://schemas.microsoft.com/office/drawing/2014/main" id="{99187769-9C15-B801-A182-7C67F0F3D3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693419-E59A-A196-11D9-48A57F4591F0}"/>
              </a:ext>
            </a:extLst>
          </p:cNvPr>
          <p:cNvSpPr>
            <a:spLocks noGrp="1"/>
          </p:cNvSpPr>
          <p:nvPr>
            <p:ph type="sldNum" sz="quarter" idx="12"/>
          </p:nvPr>
        </p:nvSpPr>
        <p:spPr/>
        <p:txBody>
          <a:bodyPr/>
          <a:lstStyle/>
          <a:p>
            <a:fld id="{031428B4-A5A4-4B6A-AD3B-E686E0AA9813}" type="slidenum">
              <a:rPr lang="en-US" smtClean="0"/>
              <a:t>‹#›</a:t>
            </a:fld>
            <a:endParaRPr lang="en-US"/>
          </a:p>
        </p:txBody>
      </p:sp>
    </p:spTree>
    <p:extLst>
      <p:ext uri="{BB962C8B-B14F-4D97-AF65-F5344CB8AC3E}">
        <p14:creationId xmlns:p14="http://schemas.microsoft.com/office/powerpoint/2010/main" val="26980736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7D9E65-D081-FB7A-D1A3-AE2359BB7B66}"/>
              </a:ext>
            </a:extLst>
          </p:cNvPr>
          <p:cNvSpPr>
            <a:spLocks noGrp="1"/>
          </p:cNvSpPr>
          <p:nvPr>
            <p:ph type="dt" sz="half" idx="10"/>
          </p:nvPr>
        </p:nvSpPr>
        <p:spPr/>
        <p:txBody>
          <a:bodyPr/>
          <a:lstStyle/>
          <a:p>
            <a:fld id="{739CF31B-A188-4348-974A-9E41D11CE69E}" type="datetimeFigureOut">
              <a:rPr lang="en-US" smtClean="0"/>
              <a:t>11/1/2025</a:t>
            </a:fld>
            <a:endParaRPr lang="en-US"/>
          </a:p>
        </p:txBody>
      </p:sp>
      <p:sp>
        <p:nvSpPr>
          <p:cNvPr id="3" name="Footer Placeholder 2">
            <a:extLst>
              <a:ext uri="{FF2B5EF4-FFF2-40B4-BE49-F238E27FC236}">
                <a16:creationId xmlns:a16="http://schemas.microsoft.com/office/drawing/2014/main" id="{285FA6E6-2D59-5DBE-A89E-10393A8CBE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1246EB-2075-D455-C140-7AC9F5068D67}"/>
              </a:ext>
            </a:extLst>
          </p:cNvPr>
          <p:cNvSpPr>
            <a:spLocks noGrp="1"/>
          </p:cNvSpPr>
          <p:nvPr>
            <p:ph type="sldNum" sz="quarter" idx="12"/>
          </p:nvPr>
        </p:nvSpPr>
        <p:spPr/>
        <p:txBody>
          <a:bodyPr/>
          <a:lstStyle/>
          <a:p>
            <a:fld id="{031428B4-A5A4-4B6A-AD3B-E686E0AA9813}" type="slidenum">
              <a:rPr lang="en-US" smtClean="0"/>
              <a:t>‹#›</a:t>
            </a:fld>
            <a:endParaRPr lang="en-US"/>
          </a:p>
        </p:txBody>
      </p:sp>
    </p:spTree>
    <p:extLst>
      <p:ext uri="{BB962C8B-B14F-4D97-AF65-F5344CB8AC3E}">
        <p14:creationId xmlns:p14="http://schemas.microsoft.com/office/powerpoint/2010/main" val="49665232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A3CA9-4999-A634-1009-8002C62F6A3E}"/>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2EC3F87-21DD-FA90-9C10-167A7F8690E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592A41F-2F3E-2953-6697-274D1333B05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E24FA5BD-695B-D921-9931-55E26E337D9F}"/>
              </a:ext>
            </a:extLst>
          </p:cNvPr>
          <p:cNvSpPr>
            <a:spLocks noGrp="1"/>
          </p:cNvSpPr>
          <p:nvPr>
            <p:ph type="dt" sz="half" idx="10"/>
          </p:nvPr>
        </p:nvSpPr>
        <p:spPr/>
        <p:txBody>
          <a:bodyPr/>
          <a:lstStyle/>
          <a:p>
            <a:fld id="{739CF31B-A188-4348-974A-9E41D11CE69E}" type="datetimeFigureOut">
              <a:rPr lang="en-US" smtClean="0"/>
              <a:t>11/1/2025</a:t>
            </a:fld>
            <a:endParaRPr lang="en-US"/>
          </a:p>
        </p:txBody>
      </p:sp>
      <p:sp>
        <p:nvSpPr>
          <p:cNvPr id="6" name="Footer Placeholder 5">
            <a:extLst>
              <a:ext uri="{FF2B5EF4-FFF2-40B4-BE49-F238E27FC236}">
                <a16:creationId xmlns:a16="http://schemas.microsoft.com/office/drawing/2014/main" id="{7E2D006C-DC2C-E4A9-800C-621439E022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F8BA18-5969-338B-6181-1E92D9D71540}"/>
              </a:ext>
            </a:extLst>
          </p:cNvPr>
          <p:cNvSpPr>
            <a:spLocks noGrp="1"/>
          </p:cNvSpPr>
          <p:nvPr>
            <p:ph type="sldNum" sz="quarter" idx="12"/>
          </p:nvPr>
        </p:nvSpPr>
        <p:spPr/>
        <p:txBody>
          <a:bodyPr/>
          <a:lstStyle/>
          <a:p>
            <a:fld id="{031428B4-A5A4-4B6A-AD3B-E686E0AA9813}" type="slidenum">
              <a:rPr lang="en-US" smtClean="0"/>
              <a:t>‹#›</a:t>
            </a:fld>
            <a:endParaRPr lang="en-US"/>
          </a:p>
        </p:txBody>
      </p:sp>
    </p:spTree>
    <p:extLst>
      <p:ext uri="{BB962C8B-B14F-4D97-AF65-F5344CB8AC3E}">
        <p14:creationId xmlns:p14="http://schemas.microsoft.com/office/powerpoint/2010/main" val="77904598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3E31-1310-F9B4-AAD6-E16E84BD2170}"/>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240BF73-535C-5ACE-5F87-5D3C381EF568}"/>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E9F29E5A-068E-7F26-66A6-11C3A4433A3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BDB9F6BB-F063-0A91-B631-D97801D70D73}"/>
              </a:ext>
            </a:extLst>
          </p:cNvPr>
          <p:cNvSpPr>
            <a:spLocks noGrp="1"/>
          </p:cNvSpPr>
          <p:nvPr>
            <p:ph type="dt" sz="half" idx="10"/>
          </p:nvPr>
        </p:nvSpPr>
        <p:spPr/>
        <p:txBody>
          <a:bodyPr/>
          <a:lstStyle/>
          <a:p>
            <a:fld id="{739CF31B-A188-4348-974A-9E41D11CE69E}" type="datetimeFigureOut">
              <a:rPr lang="en-US" smtClean="0"/>
              <a:t>11/1/2025</a:t>
            </a:fld>
            <a:endParaRPr lang="en-US"/>
          </a:p>
        </p:txBody>
      </p:sp>
      <p:sp>
        <p:nvSpPr>
          <p:cNvPr id="6" name="Footer Placeholder 5">
            <a:extLst>
              <a:ext uri="{FF2B5EF4-FFF2-40B4-BE49-F238E27FC236}">
                <a16:creationId xmlns:a16="http://schemas.microsoft.com/office/drawing/2014/main" id="{472B875C-8386-66B9-2341-D3527C677B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661620-1802-8E9E-2294-3C79F39C4E77}"/>
              </a:ext>
            </a:extLst>
          </p:cNvPr>
          <p:cNvSpPr>
            <a:spLocks noGrp="1"/>
          </p:cNvSpPr>
          <p:nvPr>
            <p:ph type="sldNum" sz="quarter" idx="12"/>
          </p:nvPr>
        </p:nvSpPr>
        <p:spPr/>
        <p:txBody>
          <a:bodyPr/>
          <a:lstStyle/>
          <a:p>
            <a:fld id="{031428B4-A5A4-4B6A-AD3B-E686E0AA9813}" type="slidenum">
              <a:rPr lang="en-US" smtClean="0"/>
              <a:t>‹#›</a:t>
            </a:fld>
            <a:endParaRPr lang="en-US"/>
          </a:p>
        </p:txBody>
      </p:sp>
    </p:spTree>
    <p:extLst>
      <p:ext uri="{BB962C8B-B14F-4D97-AF65-F5344CB8AC3E}">
        <p14:creationId xmlns:p14="http://schemas.microsoft.com/office/powerpoint/2010/main" val="130103824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FBFAF-A6D7-E594-09C6-814BDD15659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936D855-8F5C-4E28-BCEB-83F34A6B448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989DD7D-AE61-7FDF-6074-424E558D5AA8}"/>
              </a:ext>
            </a:extLst>
          </p:cNvPr>
          <p:cNvSpPr>
            <a:spLocks noGrp="1"/>
          </p:cNvSpPr>
          <p:nvPr>
            <p:ph type="dt" sz="half" idx="10"/>
          </p:nvPr>
        </p:nvSpPr>
        <p:spPr/>
        <p:txBody>
          <a:bodyPr/>
          <a:lstStyle/>
          <a:p>
            <a:fld id="{739CF31B-A188-4348-974A-9E41D11CE69E}" type="datetimeFigureOut">
              <a:rPr lang="en-US" smtClean="0"/>
              <a:t>11/1/2025</a:t>
            </a:fld>
            <a:endParaRPr lang="en-US"/>
          </a:p>
        </p:txBody>
      </p:sp>
      <p:sp>
        <p:nvSpPr>
          <p:cNvPr id="5" name="Footer Placeholder 4">
            <a:extLst>
              <a:ext uri="{FF2B5EF4-FFF2-40B4-BE49-F238E27FC236}">
                <a16:creationId xmlns:a16="http://schemas.microsoft.com/office/drawing/2014/main" id="{47826B65-1E18-D984-E735-8EEE0D753C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7FD7DE-A91F-ED97-B51B-F1E37DC9CD93}"/>
              </a:ext>
            </a:extLst>
          </p:cNvPr>
          <p:cNvSpPr>
            <a:spLocks noGrp="1"/>
          </p:cNvSpPr>
          <p:nvPr>
            <p:ph type="sldNum" sz="quarter" idx="12"/>
          </p:nvPr>
        </p:nvSpPr>
        <p:spPr/>
        <p:txBody>
          <a:bodyPr/>
          <a:lstStyle/>
          <a:p>
            <a:fld id="{031428B4-A5A4-4B6A-AD3B-E686E0AA9813}" type="slidenum">
              <a:rPr lang="en-US" smtClean="0"/>
              <a:t>‹#›</a:t>
            </a:fld>
            <a:endParaRPr lang="en-US"/>
          </a:p>
        </p:txBody>
      </p:sp>
    </p:spTree>
    <p:extLst>
      <p:ext uri="{BB962C8B-B14F-4D97-AF65-F5344CB8AC3E}">
        <p14:creationId xmlns:p14="http://schemas.microsoft.com/office/powerpoint/2010/main" val="92791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9266F-84D8-0CF7-C2FA-52285A9D2944}"/>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B7805FB-3553-B7AA-4708-92B14149D6EC}"/>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370153F-BDF5-4AE7-031B-7BE25277C7FE}"/>
              </a:ext>
            </a:extLst>
          </p:cNvPr>
          <p:cNvSpPr>
            <a:spLocks noGrp="1"/>
          </p:cNvSpPr>
          <p:nvPr>
            <p:ph type="dt" sz="half" idx="10"/>
          </p:nvPr>
        </p:nvSpPr>
        <p:spPr/>
        <p:txBody>
          <a:bodyPr/>
          <a:lstStyle/>
          <a:p>
            <a:fld id="{739CF31B-A188-4348-974A-9E41D11CE69E}" type="datetimeFigureOut">
              <a:rPr lang="en-US" smtClean="0"/>
              <a:t>11/1/2025</a:t>
            </a:fld>
            <a:endParaRPr lang="en-US"/>
          </a:p>
        </p:txBody>
      </p:sp>
      <p:sp>
        <p:nvSpPr>
          <p:cNvPr id="5" name="Footer Placeholder 4">
            <a:extLst>
              <a:ext uri="{FF2B5EF4-FFF2-40B4-BE49-F238E27FC236}">
                <a16:creationId xmlns:a16="http://schemas.microsoft.com/office/drawing/2014/main" id="{6EF6759E-0707-3376-C24D-6C4D85FF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2D45CA-5844-5A5C-3B2D-90C762FE71D4}"/>
              </a:ext>
            </a:extLst>
          </p:cNvPr>
          <p:cNvSpPr>
            <a:spLocks noGrp="1"/>
          </p:cNvSpPr>
          <p:nvPr>
            <p:ph type="sldNum" sz="quarter" idx="12"/>
          </p:nvPr>
        </p:nvSpPr>
        <p:spPr/>
        <p:txBody>
          <a:bodyPr/>
          <a:lstStyle/>
          <a:p>
            <a:fld id="{031428B4-A5A4-4B6A-AD3B-E686E0AA9813}" type="slidenum">
              <a:rPr lang="en-US" smtClean="0"/>
              <a:t>‹#›</a:t>
            </a:fld>
            <a:endParaRPr lang="en-US"/>
          </a:p>
        </p:txBody>
      </p:sp>
    </p:spTree>
    <p:extLst>
      <p:ext uri="{BB962C8B-B14F-4D97-AF65-F5344CB8AC3E}">
        <p14:creationId xmlns:p14="http://schemas.microsoft.com/office/powerpoint/2010/main" val="246673617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580509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77452-0CD4-9606-37B7-6207BD8CFAE2}"/>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F2AA28BA-B026-4895-7857-4E4F518A43ED}"/>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DF8D72B-AC00-B2F8-6484-0DA591084CB1}"/>
              </a:ext>
            </a:extLst>
          </p:cNvPr>
          <p:cNvSpPr>
            <a:spLocks noGrp="1"/>
          </p:cNvSpPr>
          <p:nvPr>
            <p:ph type="dt" sz="half" idx="10"/>
          </p:nvPr>
        </p:nvSpPr>
        <p:spPr/>
        <p:txBody>
          <a:bodyPr/>
          <a:lstStyle/>
          <a:p>
            <a:fld id="{B0BF3D07-F43A-4BE0-9A73-A33E1284A7A6}" type="datetimeFigureOut">
              <a:rPr lang="en-US" smtClean="0"/>
              <a:t>11/1/2025</a:t>
            </a:fld>
            <a:endParaRPr lang="en-US"/>
          </a:p>
        </p:txBody>
      </p:sp>
      <p:sp>
        <p:nvSpPr>
          <p:cNvPr id="5" name="Footer Placeholder 4">
            <a:extLst>
              <a:ext uri="{FF2B5EF4-FFF2-40B4-BE49-F238E27FC236}">
                <a16:creationId xmlns:a16="http://schemas.microsoft.com/office/drawing/2014/main" id="{644E7DE1-5483-863A-9B3D-2EFC40A4F4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A0EB97-FFA1-8CE1-DAD4-52FBAFF9D00D}"/>
              </a:ext>
            </a:extLst>
          </p:cNvPr>
          <p:cNvSpPr>
            <a:spLocks noGrp="1"/>
          </p:cNvSpPr>
          <p:nvPr>
            <p:ph type="sldNum" sz="quarter" idx="12"/>
          </p:nvPr>
        </p:nvSpPr>
        <p:spPr/>
        <p:txBody>
          <a:bodyPr/>
          <a:lstStyle/>
          <a:p>
            <a:fld id="{66429E04-EBB5-448A-AD54-CE716A3068C0}" type="slidenum">
              <a:rPr lang="en-US" smtClean="0"/>
              <a:t>‹#›</a:t>
            </a:fld>
            <a:endParaRPr lang="en-US"/>
          </a:p>
        </p:txBody>
      </p:sp>
    </p:spTree>
    <p:extLst>
      <p:ext uri="{BB962C8B-B14F-4D97-AF65-F5344CB8AC3E}">
        <p14:creationId xmlns:p14="http://schemas.microsoft.com/office/powerpoint/2010/main" val="343691383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A2B01-AF51-6362-7959-0045122754E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F115156-15B4-F5C8-AC13-5DBE4573FA2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DC3D6A-59E4-100C-0A23-4CE10F73A59F}"/>
              </a:ext>
            </a:extLst>
          </p:cNvPr>
          <p:cNvSpPr>
            <a:spLocks noGrp="1"/>
          </p:cNvSpPr>
          <p:nvPr>
            <p:ph type="dt" sz="half" idx="10"/>
          </p:nvPr>
        </p:nvSpPr>
        <p:spPr/>
        <p:txBody>
          <a:bodyPr/>
          <a:lstStyle/>
          <a:p>
            <a:fld id="{B0BF3D07-F43A-4BE0-9A73-A33E1284A7A6}" type="datetimeFigureOut">
              <a:rPr lang="en-US" smtClean="0"/>
              <a:t>11/1/2025</a:t>
            </a:fld>
            <a:endParaRPr lang="en-US"/>
          </a:p>
        </p:txBody>
      </p:sp>
      <p:sp>
        <p:nvSpPr>
          <p:cNvPr id="5" name="Footer Placeholder 4">
            <a:extLst>
              <a:ext uri="{FF2B5EF4-FFF2-40B4-BE49-F238E27FC236}">
                <a16:creationId xmlns:a16="http://schemas.microsoft.com/office/drawing/2014/main" id="{CB00FB03-005C-8AF0-7331-77882FDAB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7C63F6-1A88-30F8-BBB3-8F7E535635B4}"/>
              </a:ext>
            </a:extLst>
          </p:cNvPr>
          <p:cNvSpPr>
            <a:spLocks noGrp="1"/>
          </p:cNvSpPr>
          <p:nvPr>
            <p:ph type="sldNum" sz="quarter" idx="12"/>
          </p:nvPr>
        </p:nvSpPr>
        <p:spPr/>
        <p:txBody>
          <a:bodyPr/>
          <a:lstStyle/>
          <a:p>
            <a:fld id="{66429E04-EBB5-448A-AD54-CE716A3068C0}" type="slidenum">
              <a:rPr lang="en-US" smtClean="0"/>
              <a:t>‹#›</a:t>
            </a:fld>
            <a:endParaRPr lang="en-US"/>
          </a:p>
        </p:txBody>
      </p:sp>
    </p:spTree>
    <p:extLst>
      <p:ext uri="{BB962C8B-B14F-4D97-AF65-F5344CB8AC3E}">
        <p14:creationId xmlns:p14="http://schemas.microsoft.com/office/powerpoint/2010/main" val="146671395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F61BD-AC0B-6243-5B8F-7BA497D7A354}"/>
              </a:ext>
            </a:extLst>
          </p:cNvPr>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839F827-7839-A958-D336-66615F6E2BDC}"/>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D3D8A08-85E5-600D-8C4F-B00E90CD1DBC}"/>
              </a:ext>
            </a:extLst>
          </p:cNvPr>
          <p:cNvSpPr>
            <a:spLocks noGrp="1"/>
          </p:cNvSpPr>
          <p:nvPr>
            <p:ph type="dt" sz="half" idx="10"/>
          </p:nvPr>
        </p:nvSpPr>
        <p:spPr/>
        <p:txBody>
          <a:bodyPr/>
          <a:lstStyle/>
          <a:p>
            <a:fld id="{B0BF3D07-F43A-4BE0-9A73-A33E1284A7A6}" type="datetimeFigureOut">
              <a:rPr lang="en-US" smtClean="0"/>
              <a:t>11/1/2025</a:t>
            </a:fld>
            <a:endParaRPr lang="en-US"/>
          </a:p>
        </p:txBody>
      </p:sp>
      <p:sp>
        <p:nvSpPr>
          <p:cNvPr id="5" name="Footer Placeholder 4">
            <a:extLst>
              <a:ext uri="{FF2B5EF4-FFF2-40B4-BE49-F238E27FC236}">
                <a16:creationId xmlns:a16="http://schemas.microsoft.com/office/drawing/2014/main" id="{32BCE852-B8B8-169B-6B4D-3B47C6CCD3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D60752-CA81-37C3-B5FA-94561DB7EB48}"/>
              </a:ext>
            </a:extLst>
          </p:cNvPr>
          <p:cNvSpPr>
            <a:spLocks noGrp="1"/>
          </p:cNvSpPr>
          <p:nvPr>
            <p:ph type="sldNum" sz="quarter" idx="12"/>
          </p:nvPr>
        </p:nvSpPr>
        <p:spPr/>
        <p:txBody>
          <a:bodyPr/>
          <a:lstStyle/>
          <a:p>
            <a:fld id="{66429E04-EBB5-448A-AD54-CE716A3068C0}" type="slidenum">
              <a:rPr lang="en-US" smtClean="0"/>
              <a:t>‹#›</a:t>
            </a:fld>
            <a:endParaRPr lang="en-US"/>
          </a:p>
        </p:txBody>
      </p:sp>
    </p:spTree>
    <p:extLst>
      <p:ext uri="{BB962C8B-B14F-4D97-AF65-F5344CB8AC3E}">
        <p14:creationId xmlns:p14="http://schemas.microsoft.com/office/powerpoint/2010/main" val="217463180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41AAC-F98B-D039-6F7F-361805F4C4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290FB8E-CE55-A73C-D105-93AA1506F911}"/>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B3B092B-9E42-BC76-C60C-F1CE65C35283}"/>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C85B850-560E-F9C9-324C-758071BE7D9D}"/>
              </a:ext>
            </a:extLst>
          </p:cNvPr>
          <p:cNvSpPr>
            <a:spLocks noGrp="1"/>
          </p:cNvSpPr>
          <p:nvPr>
            <p:ph type="dt" sz="half" idx="10"/>
          </p:nvPr>
        </p:nvSpPr>
        <p:spPr/>
        <p:txBody>
          <a:bodyPr/>
          <a:lstStyle/>
          <a:p>
            <a:fld id="{B0BF3D07-F43A-4BE0-9A73-A33E1284A7A6}" type="datetimeFigureOut">
              <a:rPr lang="en-US" smtClean="0"/>
              <a:t>11/1/2025</a:t>
            </a:fld>
            <a:endParaRPr lang="en-US"/>
          </a:p>
        </p:txBody>
      </p:sp>
      <p:sp>
        <p:nvSpPr>
          <p:cNvPr id="6" name="Footer Placeholder 5">
            <a:extLst>
              <a:ext uri="{FF2B5EF4-FFF2-40B4-BE49-F238E27FC236}">
                <a16:creationId xmlns:a16="http://schemas.microsoft.com/office/drawing/2014/main" id="{D21F4A97-4031-1837-8F31-14C47E8E12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55DFAA-38BE-FD06-CC16-9C2ED268FDEB}"/>
              </a:ext>
            </a:extLst>
          </p:cNvPr>
          <p:cNvSpPr>
            <a:spLocks noGrp="1"/>
          </p:cNvSpPr>
          <p:nvPr>
            <p:ph type="sldNum" sz="quarter" idx="12"/>
          </p:nvPr>
        </p:nvSpPr>
        <p:spPr/>
        <p:txBody>
          <a:bodyPr/>
          <a:lstStyle/>
          <a:p>
            <a:fld id="{66429E04-EBB5-448A-AD54-CE716A3068C0}" type="slidenum">
              <a:rPr lang="en-US" smtClean="0"/>
              <a:t>‹#›</a:t>
            </a:fld>
            <a:endParaRPr lang="en-US"/>
          </a:p>
        </p:txBody>
      </p:sp>
    </p:spTree>
    <p:extLst>
      <p:ext uri="{BB962C8B-B14F-4D97-AF65-F5344CB8AC3E}">
        <p14:creationId xmlns:p14="http://schemas.microsoft.com/office/powerpoint/2010/main" val="306275974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42970-CF61-E73D-5652-6E4581C64062}"/>
              </a:ext>
            </a:extLst>
          </p:cNvPr>
          <p:cNvSpPr>
            <a:spLocks noGrp="1"/>
          </p:cNvSpPr>
          <p:nvPr>
            <p:ph type="title"/>
          </p:nvPr>
        </p:nvSpPr>
        <p:spPr>
          <a:xfrm>
            <a:off x="629841" y="365126"/>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D1E6AB9-7FAF-A883-E7C0-DFDC63FD0DB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A2016F6B-33CF-C3EE-5E24-29F201152757}"/>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8148675-1141-3BA6-283B-9E6089B5782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2D42BB57-B4C9-E3C4-6FFD-CDA0D464F14C}"/>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2970E47-16D5-38C7-D2A2-F5E8997C8853}"/>
              </a:ext>
            </a:extLst>
          </p:cNvPr>
          <p:cNvSpPr>
            <a:spLocks noGrp="1"/>
          </p:cNvSpPr>
          <p:nvPr>
            <p:ph type="dt" sz="half" idx="10"/>
          </p:nvPr>
        </p:nvSpPr>
        <p:spPr/>
        <p:txBody>
          <a:bodyPr/>
          <a:lstStyle/>
          <a:p>
            <a:fld id="{B0BF3D07-F43A-4BE0-9A73-A33E1284A7A6}" type="datetimeFigureOut">
              <a:rPr lang="en-US" smtClean="0"/>
              <a:t>11/1/2025</a:t>
            </a:fld>
            <a:endParaRPr lang="en-US"/>
          </a:p>
        </p:txBody>
      </p:sp>
      <p:sp>
        <p:nvSpPr>
          <p:cNvPr id="8" name="Footer Placeholder 7">
            <a:extLst>
              <a:ext uri="{FF2B5EF4-FFF2-40B4-BE49-F238E27FC236}">
                <a16:creationId xmlns:a16="http://schemas.microsoft.com/office/drawing/2014/main" id="{2929EE15-E652-68C0-1C52-75EF3E5DC4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854D92-72D3-E455-C555-09ADBC291C1D}"/>
              </a:ext>
            </a:extLst>
          </p:cNvPr>
          <p:cNvSpPr>
            <a:spLocks noGrp="1"/>
          </p:cNvSpPr>
          <p:nvPr>
            <p:ph type="sldNum" sz="quarter" idx="12"/>
          </p:nvPr>
        </p:nvSpPr>
        <p:spPr/>
        <p:txBody>
          <a:bodyPr/>
          <a:lstStyle/>
          <a:p>
            <a:fld id="{66429E04-EBB5-448A-AD54-CE716A3068C0}" type="slidenum">
              <a:rPr lang="en-US" smtClean="0"/>
              <a:t>‹#›</a:t>
            </a:fld>
            <a:endParaRPr lang="en-US"/>
          </a:p>
        </p:txBody>
      </p:sp>
    </p:spTree>
    <p:extLst>
      <p:ext uri="{BB962C8B-B14F-4D97-AF65-F5344CB8AC3E}">
        <p14:creationId xmlns:p14="http://schemas.microsoft.com/office/powerpoint/2010/main" val="233888766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4E76E-AD1F-A53F-7A2F-75F504B1E0B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B17BF7E-EC25-292C-4E83-051853F94EA3}"/>
              </a:ext>
            </a:extLst>
          </p:cNvPr>
          <p:cNvSpPr>
            <a:spLocks noGrp="1"/>
          </p:cNvSpPr>
          <p:nvPr>
            <p:ph type="dt" sz="half" idx="10"/>
          </p:nvPr>
        </p:nvSpPr>
        <p:spPr/>
        <p:txBody>
          <a:bodyPr/>
          <a:lstStyle/>
          <a:p>
            <a:fld id="{B0BF3D07-F43A-4BE0-9A73-A33E1284A7A6}" type="datetimeFigureOut">
              <a:rPr lang="en-US" smtClean="0"/>
              <a:t>11/1/2025</a:t>
            </a:fld>
            <a:endParaRPr lang="en-US"/>
          </a:p>
        </p:txBody>
      </p:sp>
      <p:sp>
        <p:nvSpPr>
          <p:cNvPr id="4" name="Footer Placeholder 3">
            <a:extLst>
              <a:ext uri="{FF2B5EF4-FFF2-40B4-BE49-F238E27FC236}">
                <a16:creationId xmlns:a16="http://schemas.microsoft.com/office/drawing/2014/main" id="{59EB67FF-EB97-CD7D-04C7-ECEEC73618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65145D-CF1C-7A7A-6601-A2A62CF37317}"/>
              </a:ext>
            </a:extLst>
          </p:cNvPr>
          <p:cNvSpPr>
            <a:spLocks noGrp="1"/>
          </p:cNvSpPr>
          <p:nvPr>
            <p:ph type="sldNum" sz="quarter" idx="12"/>
          </p:nvPr>
        </p:nvSpPr>
        <p:spPr/>
        <p:txBody>
          <a:bodyPr/>
          <a:lstStyle/>
          <a:p>
            <a:fld id="{66429E04-EBB5-448A-AD54-CE716A3068C0}" type="slidenum">
              <a:rPr lang="en-US" smtClean="0"/>
              <a:t>‹#›</a:t>
            </a:fld>
            <a:endParaRPr lang="en-US"/>
          </a:p>
        </p:txBody>
      </p:sp>
    </p:spTree>
    <p:extLst>
      <p:ext uri="{BB962C8B-B14F-4D97-AF65-F5344CB8AC3E}">
        <p14:creationId xmlns:p14="http://schemas.microsoft.com/office/powerpoint/2010/main" val="194352527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986C52-30E7-EEFD-8FE3-31FC163BE07C}"/>
              </a:ext>
            </a:extLst>
          </p:cNvPr>
          <p:cNvSpPr>
            <a:spLocks noGrp="1"/>
          </p:cNvSpPr>
          <p:nvPr>
            <p:ph type="dt" sz="half" idx="10"/>
          </p:nvPr>
        </p:nvSpPr>
        <p:spPr/>
        <p:txBody>
          <a:bodyPr/>
          <a:lstStyle/>
          <a:p>
            <a:fld id="{B0BF3D07-F43A-4BE0-9A73-A33E1284A7A6}" type="datetimeFigureOut">
              <a:rPr lang="en-US" smtClean="0"/>
              <a:t>11/1/2025</a:t>
            </a:fld>
            <a:endParaRPr lang="en-US"/>
          </a:p>
        </p:txBody>
      </p:sp>
      <p:sp>
        <p:nvSpPr>
          <p:cNvPr id="3" name="Footer Placeholder 2">
            <a:extLst>
              <a:ext uri="{FF2B5EF4-FFF2-40B4-BE49-F238E27FC236}">
                <a16:creationId xmlns:a16="http://schemas.microsoft.com/office/drawing/2014/main" id="{AF829C4E-1578-7021-9204-94CC03AFF7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43238B-DF9F-451D-E5C3-A0A53E492DDD}"/>
              </a:ext>
            </a:extLst>
          </p:cNvPr>
          <p:cNvSpPr>
            <a:spLocks noGrp="1"/>
          </p:cNvSpPr>
          <p:nvPr>
            <p:ph type="sldNum" sz="quarter" idx="12"/>
          </p:nvPr>
        </p:nvSpPr>
        <p:spPr/>
        <p:txBody>
          <a:bodyPr/>
          <a:lstStyle/>
          <a:p>
            <a:fld id="{66429E04-EBB5-448A-AD54-CE716A3068C0}" type="slidenum">
              <a:rPr lang="en-US" smtClean="0"/>
              <a:t>‹#›</a:t>
            </a:fld>
            <a:endParaRPr lang="en-US"/>
          </a:p>
        </p:txBody>
      </p:sp>
    </p:spTree>
    <p:extLst>
      <p:ext uri="{BB962C8B-B14F-4D97-AF65-F5344CB8AC3E}">
        <p14:creationId xmlns:p14="http://schemas.microsoft.com/office/powerpoint/2010/main" val="299129991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7B772-EEE0-2EB0-B65B-325576B13D56}"/>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BD5C8AA-D044-B6DB-A5EA-50D687BE085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1233D05-90D8-4A46-1DCD-A6A58694919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9E2E786A-7901-EC3F-989D-64CF2C73AF02}"/>
              </a:ext>
            </a:extLst>
          </p:cNvPr>
          <p:cNvSpPr>
            <a:spLocks noGrp="1"/>
          </p:cNvSpPr>
          <p:nvPr>
            <p:ph type="dt" sz="half" idx="10"/>
          </p:nvPr>
        </p:nvSpPr>
        <p:spPr/>
        <p:txBody>
          <a:bodyPr/>
          <a:lstStyle/>
          <a:p>
            <a:fld id="{B0BF3D07-F43A-4BE0-9A73-A33E1284A7A6}" type="datetimeFigureOut">
              <a:rPr lang="en-US" smtClean="0"/>
              <a:t>11/1/2025</a:t>
            </a:fld>
            <a:endParaRPr lang="en-US"/>
          </a:p>
        </p:txBody>
      </p:sp>
      <p:sp>
        <p:nvSpPr>
          <p:cNvPr id="6" name="Footer Placeholder 5">
            <a:extLst>
              <a:ext uri="{FF2B5EF4-FFF2-40B4-BE49-F238E27FC236}">
                <a16:creationId xmlns:a16="http://schemas.microsoft.com/office/drawing/2014/main" id="{08AA93A2-EC92-4C0D-AE4C-21977E5362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AF6816-A0EF-EBF0-5A5A-5EEDA34FAE88}"/>
              </a:ext>
            </a:extLst>
          </p:cNvPr>
          <p:cNvSpPr>
            <a:spLocks noGrp="1"/>
          </p:cNvSpPr>
          <p:nvPr>
            <p:ph type="sldNum" sz="quarter" idx="12"/>
          </p:nvPr>
        </p:nvSpPr>
        <p:spPr/>
        <p:txBody>
          <a:bodyPr/>
          <a:lstStyle/>
          <a:p>
            <a:fld id="{66429E04-EBB5-448A-AD54-CE716A3068C0}" type="slidenum">
              <a:rPr lang="en-US" smtClean="0"/>
              <a:t>‹#›</a:t>
            </a:fld>
            <a:endParaRPr lang="en-US"/>
          </a:p>
        </p:txBody>
      </p:sp>
    </p:spTree>
    <p:extLst>
      <p:ext uri="{BB962C8B-B14F-4D97-AF65-F5344CB8AC3E}">
        <p14:creationId xmlns:p14="http://schemas.microsoft.com/office/powerpoint/2010/main" val="216117706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F6E0F-CD0D-BA5E-156F-0E15EA8316D1}"/>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99B2876-8347-D8B9-0222-9EF5499EB1A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01C9100-2FFB-68E9-8B57-E72183BFBCB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45D44524-EA8D-405B-922D-774530B8AF18}"/>
              </a:ext>
            </a:extLst>
          </p:cNvPr>
          <p:cNvSpPr>
            <a:spLocks noGrp="1"/>
          </p:cNvSpPr>
          <p:nvPr>
            <p:ph type="dt" sz="half" idx="10"/>
          </p:nvPr>
        </p:nvSpPr>
        <p:spPr/>
        <p:txBody>
          <a:bodyPr/>
          <a:lstStyle/>
          <a:p>
            <a:fld id="{B0BF3D07-F43A-4BE0-9A73-A33E1284A7A6}" type="datetimeFigureOut">
              <a:rPr lang="en-US" smtClean="0"/>
              <a:t>11/1/2025</a:t>
            </a:fld>
            <a:endParaRPr lang="en-US"/>
          </a:p>
        </p:txBody>
      </p:sp>
      <p:sp>
        <p:nvSpPr>
          <p:cNvPr id="6" name="Footer Placeholder 5">
            <a:extLst>
              <a:ext uri="{FF2B5EF4-FFF2-40B4-BE49-F238E27FC236}">
                <a16:creationId xmlns:a16="http://schemas.microsoft.com/office/drawing/2014/main" id="{9B34727F-70C9-BEF7-AB12-DF5349ECAD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5F7537-2118-4AD6-E9A1-91129CA13144}"/>
              </a:ext>
            </a:extLst>
          </p:cNvPr>
          <p:cNvSpPr>
            <a:spLocks noGrp="1"/>
          </p:cNvSpPr>
          <p:nvPr>
            <p:ph type="sldNum" sz="quarter" idx="12"/>
          </p:nvPr>
        </p:nvSpPr>
        <p:spPr/>
        <p:txBody>
          <a:bodyPr/>
          <a:lstStyle/>
          <a:p>
            <a:fld id="{66429E04-EBB5-448A-AD54-CE716A3068C0}" type="slidenum">
              <a:rPr lang="en-US" smtClean="0"/>
              <a:t>‹#›</a:t>
            </a:fld>
            <a:endParaRPr lang="en-US"/>
          </a:p>
        </p:txBody>
      </p:sp>
    </p:spTree>
    <p:extLst>
      <p:ext uri="{BB962C8B-B14F-4D97-AF65-F5344CB8AC3E}">
        <p14:creationId xmlns:p14="http://schemas.microsoft.com/office/powerpoint/2010/main" val="265803769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BD1C7-A90E-BCF6-AD00-751A518B24E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CE035F1-39A4-EF82-1B1C-78EE18B80D5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A768132-EE18-9708-CB46-4C64E3C60CB6}"/>
              </a:ext>
            </a:extLst>
          </p:cNvPr>
          <p:cNvSpPr>
            <a:spLocks noGrp="1"/>
          </p:cNvSpPr>
          <p:nvPr>
            <p:ph type="dt" sz="half" idx="10"/>
          </p:nvPr>
        </p:nvSpPr>
        <p:spPr/>
        <p:txBody>
          <a:bodyPr/>
          <a:lstStyle/>
          <a:p>
            <a:fld id="{B0BF3D07-F43A-4BE0-9A73-A33E1284A7A6}" type="datetimeFigureOut">
              <a:rPr lang="en-US" smtClean="0"/>
              <a:t>11/1/2025</a:t>
            </a:fld>
            <a:endParaRPr lang="en-US"/>
          </a:p>
        </p:txBody>
      </p:sp>
      <p:sp>
        <p:nvSpPr>
          <p:cNvPr id="5" name="Footer Placeholder 4">
            <a:extLst>
              <a:ext uri="{FF2B5EF4-FFF2-40B4-BE49-F238E27FC236}">
                <a16:creationId xmlns:a16="http://schemas.microsoft.com/office/drawing/2014/main" id="{60CAA32E-18FA-442A-2891-22F9B668EB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96B46B-BD9C-1AAE-0020-1BF56CA89275}"/>
              </a:ext>
            </a:extLst>
          </p:cNvPr>
          <p:cNvSpPr>
            <a:spLocks noGrp="1"/>
          </p:cNvSpPr>
          <p:nvPr>
            <p:ph type="sldNum" sz="quarter" idx="12"/>
          </p:nvPr>
        </p:nvSpPr>
        <p:spPr/>
        <p:txBody>
          <a:bodyPr/>
          <a:lstStyle/>
          <a:p>
            <a:fld id="{66429E04-EBB5-448A-AD54-CE716A3068C0}" type="slidenum">
              <a:rPr lang="en-US" smtClean="0"/>
              <a:t>‹#›</a:t>
            </a:fld>
            <a:endParaRPr lang="en-US"/>
          </a:p>
        </p:txBody>
      </p:sp>
    </p:spTree>
    <p:extLst>
      <p:ext uri="{BB962C8B-B14F-4D97-AF65-F5344CB8AC3E}">
        <p14:creationId xmlns:p14="http://schemas.microsoft.com/office/powerpoint/2010/main" val="20388656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C19D7D-E973-4B20-EB4F-2E40FA05A2C5}"/>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D286B81-92DB-B484-CC2E-9D8F56C4AE8A}"/>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397D8A-DEB7-5E15-F649-4D54088979EF}"/>
              </a:ext>
            </a:extLst>
          </p:cNvPr>
          <p:cNvSpPr>
            <a:spLocks noGrp="1"/>
          </p:cNvSpPr>
          <p:nvPr>
            <p:ph type="dt" sz="half" idx="10"/>
          </p:nvPr>
        </p:nvSpPr>
        <p:spPr/>
        <p:txBody>
          <a:bodyPr/>
          <a:lstStyle/>
          <a:p>
            <a:fld id="{B0BF3D07-F43A-4BE0-9A73-A33E1284A7A6}" type="datetimeFigureOut">
              <a:rPr lang="en-US" smtClean="0"/>
              <a:t>11/1/2025</a:t>
            </a:fld>
            <a:endParaRPr lang="en-US"/>
          </a:p>
        </p:txBody>
      </p:sp>
      <p:sp>
        <p:nvSpPr>
          <p:cNvPr id="5" name="Footer Placeholder 4">
            <a:extLst>
              <a:ext uri="{FF2B5EF4-FFF2-40B4-BE49-F238E27FC236}">
                <a16:creationId xmlns:a16="http://schemas.microsoft.com/office/drawing/2014/main" id="{5254E17A-AC93-15BA-13F9-ACE65E5B00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A291B-910B-50C6-8367-A767A152820C}"/>
              </a:ext>
            </a:extLst>
          </p:cNvPr>
          <p:cNvSpPr>
            <a:spLocks noGrp="1"/>
          </p:cNvSpPr>
          <p:nvPr>
            <p:ph type="sldNum" sz="quarter" idx="12"/>
          </p:nvPr>
        </p:nvSpPr>
        <p:spPr/>
        <p:txBody>
          <a:bodyPr/>
          <a:lstStyle/>
          <a:p>
            <a:fld id="{66429E04-EBB5-448A-AD54-CE716A3068C0}" type="slidenum">
              <a:rPr lang="en-US" smtClean="0"/>
              <a:t>‹#›</a:t>
            </a:fld>
            <a:endParaRPr lang="en-US"/>
          </a:p>
        </p:txBody>
      </p:sp>
    </p:spTree>
    <p:extLst>
      <p:ext uri="{BB962C8B-B14F-4D97-AF65-F5344CB8AC3E}">
        <p14:creationId xmlns:p14="http://schemas.microsoft.com/office/powerpoint/2010/main" val="112877642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AE33A-C2B1-EAD3-DF35-5B5E1E6C9B9A}"/>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02E69485-BCCF-1915-1CA2-62DC4006AC2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49B9FE8-2FB1-C118-35CD-DF6BDD6B1C79}"/>
              </a:ext>
            </a:extLst>
          </p:cNvPr>
          <p:cNvSpPr>
            <a:spLocks noGrp="1"/>
          </p:cNvSpPr>
          <p:nvPr>
            <p:ph type="dt" sz="half" idx="10"/>
          </p:nvPr>
        </p:nvSpPr>
        <p:spPr/>
        <p:txBody>
          <a:bodyPr/>
          <a:lstStyle/>
          <a:p>
            <a:fld id="{3E5AD6E7-76D1-41D8-92F6-FBA5FB3126B3}" type="datetimeFigureOut">
              <a:rPr lang="en-US" smtClean="0"/>
              <a:t>11/1/2025</a:t>
            </a:fld>
            <a:endParaRPr lang="en-US"/>
          </a:p>
        </p:txBody>
      </p:sp>
      <p:sp>
        <p:nvSpPr>
          <p:cNvPr id="5" name="Footer Placeholder 4">
            <a:extLst>
              <a:ext uri="{FF2B5EF4-FFF2-40B4-BE49-F238E27FC236}">
                <a16:creationId xmlns:a16="http://schemas.microsoft.com/office/drawing/2014/main" id="{B14B1569-8631-406B-05AD-10D009FB33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61F5D1-4C64-C84D-D626-F1CCDDFE2188}"/>
              </a:ext>
            </a:extLst>
          </p:cNvPr>
          <p:cNvSpPr>
            <a:spLocks noGrp="1"/>
          </p:cNvSpPr>
          <p:nvPr>
            <p:ph type="sldNum" sz="quarter" idx="12"/>
          </p:nvPr>
        </p:nvSpPr>
        <p:spPr/>
        <p:txBody>
          <a:bodyPr/>
          <a:lstStyle/>
          <a:p>
            <a:fld id="{7AC4896A-22AA-4F23-9D3D-CB723AB6A05D}" type="slidenum">
              <a:rPr lang="en-US" smtClean="0"/>
              <a:t>‹#›</a:t>
            </a:fld>
            <a:endParaRPr lang="en-US"/>
          </a:p>
        </p:txBody>
      </p:sp>
    </p:spTree>
    <p:extLst>
      <p:ext uri="{BB962C8B-B14F-4D97-AF65-F5344CB8AC3E}">
        <p14:creationId xmlns:p14="http://schemas.microsoft.com/office/powerpoint/2010/main" val="370317617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15382-DE09-E813-11FB-57F76C6BB1E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A4658F3-DEEF-D064-AEDA-7523EACDC15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42715D4-4C78-3BB3-1AD6-F6CA810994D6}"/>
              </a:ext>
            </a:extLst>
          </p:cNvPr>
          <p:cNvSpPr>
            <a:spLocks noGrp="1"/>
          </p:cNvSpPr>
          <p:nvPr>
            <p:ph type="dt" sz="half" idx="10"/>
          </p:nvPr>
        </p:nvSpPr>
        <p:spPr/>
        <p:txBody>
          <a:bodyPr/>
          <a:lstStyle/>
          <a:p>
            <a:fld id="{3E5AD6E7-76D1-41D8-92F6-FBA5FB3126B3}" type="datetimeFigureOut">
              <a:rPr lang="en-US" smtClean="0"/>
              <a:t>11/1/2025</a:t>
            </a:fld>
            <a:endParaRPr lang="en-US"/>
          </a:p>
        </p:txBody>
      </p:sp>
      <p:sp>
        <p:nvSpPr>
          <p:cNvPr id="5" name="Footer Placeholder 4">
            <a:extLst>
              <a:ext uri="{FF2B5EF4-FFF2-40B4-BE49-F238E27FC236}">
                <a16:creationId xmlns:a16="http://schemas.microsoft.com/office/drawing/2014/main" id="{4E630D30-4E48-5327-A72A-053A98F392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871E28-BDD0-7E45-EBB7-A3ADF456731E}"/>
              </a:ext>
            </a:extLst>
          </p:cNvPr>
          <p:cNvSpPr>
            <a:spLocks noGrp="1"/>
          </p:cNvSpPr>
          <p:nvPr>
            <p:ph type="sldNum" sz="quarter" idx="12"/>
          </p:nvPr>
        </p:nvSpPr>
        <p:spPr/>
        <p:txBody>
          <a:bodyPr/>
          <a:lstStyle/>
          <a:p>
            <a:fld id="{7AC4896A-22AA-4F23-9D3D-CB723AB6A05D}" type="slidenum">
              <a:rPr lang="en-US" smtClean="0"/>
              <a:t>‹#›</a:t>
            </a:fld>
            <a:endParaRPr lang="en-US"/>
          </a:p>
        </p:txBody>
      </p:sp>
    </p:spTree>
    <p:extLst>
      <p:ext uri="{BB962C8B-B14F-4D97-AF65-F5344CB8AC3E}">
        <p14:creationId xmlns:p14="http://schemas.microsoft.com/office/powerpoint/2010/main" val="377788869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836C4-9506-F3BB-20CB-C2DA8620015C}"/>
              </a:ext>
            </a:extLst>
          </p:cNvPr>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FB84526-7A97-B68C-A14C-9A7D676E42B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CD15212-423E-3953-F5FD-7F3DE980EBA7}"/>
              </a:ext>
            </a:extLst>
          </p:cNvPr>
          <p:cNvSpPr>
            <a:spLocks noGrp="1"/>
          </p:cNvSpPr>
          <p:nvPr>
            <p:ph type="dt" sz="half" idx="10"/>
          </p:nvPr>
        </p:nvSpPr>
        <p:spPr/>
        <p:txBody>
          <a:bodyPr/>
          <a:lstStyle/>
          <a:p>
            <a:fld id="{3E5AD6E7-76D1-41D8-92F6-FBA5FB3126B3}" type="datetimeFigureOut">
              <a:rPr lang="en-US" smtClean="0"/>
              <a:t>11/1/2025</a:t>
            </a:fld>
            <a:endParaRPr lang="en-US"/>
          </a:p>
        </p:txBody>
      </p:sp>
      <p:sp>
        <p:nvSpPr>
          <p:cNvPr id="5" name="Footer Placeholder 4">
            <a:extLst>
              <a:ext uri="{FF2B5EF4-FFF2-40B4-BE49-F238E27FC236}">
                <a16:creationId xmlns:a16="http://schemas.microsoft.com/office/drawing/2014/main" id="{71227B93-7594-5293-A3DC-5AC2FB0CB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794C7B-D75C-1ABF-6B7F-ECE9BBD051C2}"/>
              </a:ext>
            </a:extLst>
          </p:cNvPr>
          <p:cNvSpPr>
            <a:spLocks noGrp="1"/>
          </p:cNvSpPr>
          <p:nvPr>
            <p:ph type="sldNum" sz="quarter" idx="12"/>
          </p:nvPr>
        </p:nvSpPr>
        <p:spPr/>
        <p:txBody>
          <a:bodyPr/>
          <a:lstStyle/>
          <a:p>
            <a:fld id="{7AC4896A-22AA-4F23-9D3D-CB723AB6A05D}" type="slidenum">
              <a:rPr lang="en-US" smtClean="0"/>
              <a:t>‹#›</a:t>
            </a:fld>
            <a:endParaRPr lang="en-US"/>
          </a:p>
        </p:txBody>
      </p:sp>
    </p:spTree>
    <p:extLst>
      <p:ext uri="{BB962C8B-B14F-4D97-AF65-F5344CB8AC3E}">
        <p14:creationId xmlns:p14="http://schemas.microsoft.com/office/powerpoint/2010/main" val="77287453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821CC-5A58-8B8F-B8BB-9D537D197CA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FD7102F-7EC1-4EEC-EE7D-A8868F97018A}"/>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58AF175-3DA9-759F-C04E-CC9A06FF580E}"/>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57AB3A9-7FE0-68C1-355B-37731A2A4068}"/>
              </a:ext>
            </a:extLst>
          </p:cNvPr>
          <p:cNvSpPr>
            <a:spLocks noGrp="1"/>
          </p:cNvSpPr>
          <p:nvPr>
            <p:ph type="dt" sz="half" idx="10"/>
          </p:nvPr>
        </p:nvSpPr>
        <p:spPr/>
        <p:txBody>
          <a:bodyPr/>
          <a:lstStyle/>
          <a:p>
            <a:fld id="{3E5AD6E7-76D1-41D8-92F6-FBA5FB3126B3}" type="datetimeFigureOut">
              <a:rPr lang="en-US" smtClean="0"/>
              <a:t>11/1/2025</a:t>
            </a:fld>
            <a:endParaRPr lang="en-US"/>
          </a:p>
        </p:txBody>
      </p:sp>
      <p:sp>
        <p:nvSpPr>
          <p:cNvPr id="6" name="Footer Placeholder 5">
            <a:extLst>
              <a:ext uri="{FF2B5EF4-FFF2-40B4-BE49-F238E27FC236}">
                <a16:creationId xmlns:a16="http://schemas.microsoft.com/office/drawing/2014/main" id="{791B08AA-4D79-BDD4-7018-6033E07BC6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889667-79A2-21C4-85E0-9AE60B814EA1}"/>
              </a:ext>
            </a:extLst>
          </p:cNvPr>
          <p:cNvSpPr>
            <a:spLocks noGrp="1"/>
          </p:cNvSpPr>
          <p:nvPr>
            <p:ph type="sldNum" sz="quarter" idx="12"/>
          </p:nvPr>
        </p:nvSpPr>
        <p:spPr/>
        <p:txBody>
          <a:bodyPr/>
          <a:lstStyle/>
          <a:p>
            <a:fld id="{7AC4896A-22AA-4F23-9D3D-CB723AB6A05D}" type="slidenum">
              <a:rPr lang="en-US" smtClean="0"/>
              <a:t>‹#›</a:t>
            </a:fld>
            <a:endParaRPr lang="en-US"/>
          </a:p>
        </p:txBody>
      </p:sp>
    </p:spTree>
    <p:extLst>
      <p:ext uri="{BB962C8B-B14F-4D97-AF65-F5344CB8AC3E}">
        <p14:creationId xmlns:p14="http://schemas.microsoft.com/office/powerpoint/2010/main" val="253797548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B967B-3E55-7DA3-FAFA-7BBDC7C269BA}"/>
              </a:ext>
            </a:extLst>
          </p:cNvPr>
          <p:cNvSpPr>
            <a:spLocks noGrp="1"/>
          </p:cNvSpPr>
          <p:nvPr>
            <p:ph type="title"/>
          </p:nvPr>
        </p:nvSpPr>
        <p:spPr>
          <a:xfrm>
            <a:off x="629841" y="365126"/>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B77133D-6EF5-362C-C305-E9DAD1DDC9B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54059ABB-4D10-F5E3-E005-1D741AC60981}"/>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DFA1510-0C8E-FED7-8095-CA6CF77A3C8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658D904B-BD18-EE47-E150-228D2172F54C}"/>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230554E-3C77-3745-7E0A-16CCBC1399C2}"/>
              </a:ext>
            </a:extLst>
          </p:cNvPr>
          <p:cNvSpPr>
            <a:spLocks noGrp="1"/>
          </p:cNvSpPr>
          <p:nvPr>
            <p:ph type="dt" sz="half" idx="10"/>
          </p:nvPr>
        </p:nvSpPr>
        <p:spPr/>
        <p:txBody>
          <a:bodyPr/>
          <a:lstStyle/>
          <a:p>
            <a:fld id="{3E5AD6E7-76D1-41D8-92F6-FBA5FB3126B3}" type="datetimeFigureOut">
              <a:rPr lang="en-US" smtClean="0"/>
              <a:t>11/1/2025</a:t>
            </a:fld>
            <a:endParaRPr lang="en-US"/>
          </a:p>
        </p:txBody>
      </p:sp>
      <p:sp>
        <p:nvSpPr>
          <p:cNvPr id="8" name="Footer Placeholder 7">
            <a:extLst>
              <a:ext uri="{FF2B5EF4-FFF2-40B4-BE49-F238E27FC236}">
                <a16:creationId xmlns:a16="http://schemas.microsoft.com/office/drawing/2014/main" id="{4963C1DC-FF83-BC56-80F0-26BE374CD2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0359F6-CDA0-B535-3C2D-9DEE29608ED5}"/>
              </a:ext>
            </a:extLst>
          </p:cNvPr>
          <p:cNvSpPr>
            <a:spLocks noGrp="1"/>
          </p:cNvSpPr>
          <p:nvPr>
            <p:ph type="sldNum" sz="quarter" idx="12"/>
          </p:nvPr>
        </p:nvSpPr>
        <p:spPr/>
        <p:txBody>
          <a:bodyPr/>
          <a:lstStyle/>
          <a:p>
            <a:fld id="{7AC4896A-22AA-4F23-9D3D-CB723AB6A05D}" type="slidenum">
              <a:rPr lang="en-US" smtClean="0"/>
              <a:t>‹#›</a:t>
            </a:fld>
            <a:endParaRPr lang="en-US"/>
          </a:p>
        </p:txBody>
      </p:sp>
    </p:spTree>
    <p:extLst>
      <p:ext uri="{BB962C8B-B14F-4D97-AF65-F5344CB8AC3E}">
        <p14:creationId xmlns:p14="http://schemas.microsoft.com/office/powerpoint/2010/main" val="199688014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12E35-4F1A-F1CD-E2B2-427B05C441E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709ADCE-63ED-38BA-3CBE-5014C3AA0461}"/>
              </a:ext>
            </a:extLst>
          </p:cNvPr>
          <p:cNvSpPr>
            <a:spLocks noGrp="1"/>
          </p:cNvSpPr>
          <p:nvPr>
            <p:ph type="dt" sz="half" idx="10"/>
          </p:nvPr>
        </p:nvSpPr>
        <p:spPr/>
        <p:txBody>
          <a:bodyPr/>
          <a:lstStyle/>
          <a:p>
            <a:fld id="{3E5AD6E7-76D1-41D8-92F6-FBA5FB3126B3}" type="datetimeFigureOut">
              <a:rPr lang="en-US" smtClean="0"/>
              <a:t>11/1/2025</a:t>
            </a:fld>
            <a:endParaRPr lang="en-US"/>
          </a:p>
        </p:txBody>
      </p:sp>
      <p:sp>
        <p:nvSpPr>
          <p:cNvPr id="4" name="Footer Placeholder 3">
            <a:extLst>
              <a:ext uri="{FF2B5EF4-FFF2-40B4-BE49-F238E27FC236}">
                <a16:creationId xmlns:a16="http://schemas.microsoft.com/office/drawing/2014/main" id="{00119B8C-8FAA-B138-8F23-9525008884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9D29A9-0BF5-4047-F081-E18235A7D2CE}"/>
              </a:ext>
            </a:extLst>
          </p:cNvPr>
          <p:cNvSpPr>
            <a:spLocks noGrp="1"/>
          </p:cNvSpPr>
          <p:nvPr>
            <p:ph type="sldNum" sz="quarter" idx="12"/>
          </p:nvPr>
        </p:nvSpPr>
        <p:spPr/>
        <p:txBody>
          <a:bodyPr/>
          <a:lstStyle/>
          <a:p>
            <a:fld id="{7AC4896A-22AA-4F23-9D3D-CB723AB6A05D}" type="slidenum">
              <a:rPr lang="en-US" smtClean="0"/>
              <a:t>‹#›</a:t>
            </a:fld>
            <a:endParaRPr lang="en-US"/>
          </a:p>
        </p:txBody>
      </p:sp>
    </p:spTree>
    <p:extLst>
      <p:ext uri="{BB962C8B-B14F-4D97-AF65-F5344CB8AC3E}">
        <p14:creationId xmlns:p14="http://schemas.microsoft.com/office/powerpoint/2010/main" val="407023867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A45459-A7CB-21C3-4078-4933B70AB96F}"/>
              </a:ext>
            </a:extLst>
          </p:cNvPr>
          <p:cNvSpPr>
            <a:spLocks noGrp="1"/>
          </p:cNvSpPr>
          <p:nvPr>
            <p:ph type="dt" sz="half" idx="10"/>
          </p:nvPr>
        </p:nvSpPr>
        <p:spPr/>
        <p:txBody>
          <a:bodyPr/>
          <a:lstStyle/>
          <a:p>
            <a:fld id="{3E5AD6E7-76D1-41D8-92F6-FBA5FB3126B3}" type="datetimeFigureOut">
              <a:rPr lang="en-US" smtClean="0"/>
              <a:t>11/1/2025</a:t>
            </a:fld>
            <a:endParaRPr lang="en-US"/>
          </a:p>
        </p:txBody>
      </p:sp>
      <p:sp>
        <p:nvSpPr>
          <p:cNvPr id="3" name="Footer Placeholder 2">
            <a:extLst>
              <a:ext uri="{FF2B5EF4-FFF2-40B4-BE49-F238E27FC236}">
                <a16:creationId xmlns:a16="http://schemas.microsoft.com/office/drawing/2014/main" id="{25A6685F-16B0-C52F-9E7E-6F24D3F42F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637588-EA17-BBFA-F313-0353637A9AD2}"/>
              </a:ext>
            </a:extLst>
          </p:cNvPr>
          <p:cNvSpPr>
            <a:spLocks noGrp="1"/>
          </p:cNvSpPr>
          <p:nvPr>
            <p:ph type="sldNum" sz="quarter" idx="12"/>
          </p:nvPr>
        </p:nvSpPr>
        <p:spPr/>
        <p:txBody>
          <a:bodyPr/>
          <a:lstStyle/>
          <a:p>
            <a:fld id="{7AC4896A-22AA-4F23-9D3D-CB723AB6A05D}" type="slidenum">
              <a:rPr lang="en-US" smtClean="0"/>
              <a:t>‹#›</a:t>
            </a:fld>
            <a:endParaRPr lang="en-US"/>
          </a:p>
        </p:txBody>
      </p:sp>
    </p:spTree>
    <p:extLst>
      <p:ext uri="{BB962C8B-B14F-4D97-AF65-F5344CB8AC3E}">
        <p14:creationId xmlns:p14="http://schemas.microsoft.com/office/powerpoint/2010/main" val="142943244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9DD53-10E3-7538-E244-00CCCFDE633E}"/>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160403E-A079-C83A-590E-CFB63437FE0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E4D137D-1550-11D5-1A0B-71609E784AC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ED90DA87-5739-F648-F1A5-90C6E230C242}"/>
              </a:ext>
            </a:extLst>
          </p:cNvPr>
          <p:cNvSpPr>
            <a:spLocks noGrp="1"/>
          </p:cNvSpPr>
          <p:nvPr>
            <p:ph type="dt" sz="half" idx="10"/>
          </p:nvPr>
        </p:nvSpPr>
        <p:spPr/>
        <p:txBody>
          <a:bodyPr/>
          <a:lstStyle/>
          <a:p>
            <a:fld id="{3E5AD6E7-76D1-41D8-92F6-FBA5FB3126B3}" type="datetimeFigureOut">
              <a:rPr lang="en-US" smtClean="0"/>
              <a:t>11/1/2025</a:t>
            </a:fld>
            <a:endParaRPr lang="en-US"/>
          </a:p>
        </p:txBody>
      </p:sp>
      <p:sp>
        <p:nvSpPr>
          <p:cNvPr id="6" name="Footer Placeholder 5">
            <a:extLst>
              <a:ext uri="{FF2B5EF4-FFF2-40B4-BE49-F238E27FC236}">
                <a16:creationId xmlns:a16="http://schemas.microsoft.com/office/drawing/2014/main" id="{A85665E1-2C46-9BAF-D33F-03270BDE7D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7CA14F-E528-677B-9580-4CBFD2935093}"/>
              </a:ext>
            </a:extLst>
          </p:cNvPr>
          <p:cNvSpPr>
            <a:spLocks noGrp="1"/>
          </p:cNvSpPr>
          <p:nvPr>
            <p:ph type="sldNum" sz="quarter" idx="12"/>
          </p:nvPr>
        </p:nvSpPr>
        <p:spPr/>
        <p:txBody>
          <a:bodyPr/>
          <a:lstStyle/>
          <a:p>
            <a:fld id="{7AC4896A-22AA-4F23-9D3D-CB723AB6A05D}" type="slidenum">
              <a:rPr lang="en-US" smtClean="0"/>
              <a:t>‹#›</a:t>
            </a:fld>
            <a:endParaRPr lang="en-US"/>
          </a:p>
        </p:txBody>
      </p:sp>
    </p:spTree>
    <p:extLst>
      <p:ext uri="{BB962C8B-B14F-4D97-AF65-F5344CB8AC3E}">
        <p14:creationId xmlns:p14="http://schemas.microsoft.com/office/powerpoint/2010/main" val="378408920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41BBE-ADBA-2A90-E7AC-93B395CB20CB}"/>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3E2698B-9F14-FAEA-7A9C-45D8E5DDAD02}"/>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784967C-DEFA-E505-5451-0E0BCB9A48A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5AF9947F-D67F-6E55-B1F3-F13DC88920BF}"/>
              </a:ext>
            </a:extLst>
          </p:cNvPr>
          <p:cNvSpPr>
            <a:spLocks noGrp="1"/>
          </p:cNvSpPr>
          <p:nvPr>
            <p:ph type="dt" sz="half" idx="10"/>
          </p:nvPr>
        </p:nvSpPr>
        <p:spPr/>
        <p:txBody>
          <a:bodyPr/>
          <a:lstStyle/>
          <a:p>
            <a:fld id="{3E5AD6E7-76D1-41D8-92F6-FBA5FB3126B3}" type="datetimeFigureOut">
              <a:rPr lang="en-US" smtClean="0"/>
              <a:t>11/1/2025</a:t>
            </a:fld>
            <a:endParaRPr lang="en-US"/>
          </a:p>
        </p:txBody>
      </p:sp>
      <p:sp>
        <p:nvSpPr>
          <p:cNvPr id="6" name="Footer Placeholder 5">
            <a:extLst>
              <a:ext uri="{FF2B5EF4-FFF2-40B4-BE49-F238E27FC236}">
                <a16:creationId xmlns:a16="http://schemas.microsoft.com/office/drawing/2014/main" id="{DF506980-5C6E-2A15-1ABF-B473270013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7193CC-393C-5957-3030-922ACE802D44}"/>
              </a:ext>
            </a:extLst>
          </p:cNvPr>
          <p:cNvSpPr>
            <a:spLocks noGrp="1"/>
          </p:cNvSpPr>
          <p:nvPr>
            <p:ph type="sldNum" sz="quarter" idx="12"/>
          </p:nvPr>
        </p:nvSpPr>
        <p:spPr/>
        <p:txBody>
          <a:bodyPr/>
          <a:lstStyle/>
          <a:p>
            <a:fld id="{7AC4896A-22AA-4F23-9D3D-CB723AB6A05D}" type="slidenum">
              <a:rPr lang="en-US" smtClean="0"/>
              <a:t>‹#›</a:t>
            </a:fld>
            <a:endParaRPr lang="en-US"/>
          </a:p>
        </p:txBody>
      </p:sp>
    </p:spTree>
    <p:extLst>
      <p:ext uri="{BB962C8B-B14F-4D97-AF65-F5344CB8AC3E}">
        <p14:creationId xmlns:p14="http://schemas.microsoft.com/office/powerpoint/2010/main" val="325695994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E8C6-4D1D-5C2E-6541-7265912CF4F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54C358D-CB1E-3422-524C-6F73C546090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0AA60E9-142D-E3C5-86CD-FA6AA2C6C780}"/>
              </a:ext>
            </a:extLst>
          </p:cNvPr>
          <p:cNvSpPr>
            <a:spLocks noGrp="1"/>
          </p:cNvSpPr>
          <p:nvPr>
            <p:ph type="dt" sz="half" idx="10"/>
          </p:nvPr>
        </p:nvSpPr>
        <p:spPr/>
        <p:txBody>
          <a:bodyPr/>
          <a:lstStyle/>
          <a:p>
            <a:fld id="{3E5AD6E7-76D1-41D8-92F6-FBA5FB3126B3}" type="datetimeFigureOut">
              <a:rPr lang="en-US" smtClean="0"/>
              <a:t>11/1/2025</a:t>
            </a:fld>
            <a:endParaRPr lang="en-US"/>
          </a:p>
        </p:txBody>
      </p:sp>
      <p:sp>
        <p:nvSpPr>
          <p:cNvPr id="5" name="Footer Placeholder 4">
            <a:extLst>
              <a:ext uri="{FF2B5EF4-FFF2-40B4-BE49-F238E27FC236}">
                <a16:creationId xmlns:a16="http://schemas.microsoft.com/office/drawing/2014/main" id="{B3DEF127-5DB3-BA51-3C92-09BC808F15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9D82CB-132B-4FF9-58CC-3043EC425476}"/>
              </a:ext>
            </a:extLst>
          </p:cNvPr>
          <p:cNvSpPr>
            <a:spLocks noGrp="1"/>
          </p:cNvSpPr>
          <p:nvPr>
            <p:ph type="sldNum" sz="quarter" idx="12"/>
          </p:nvPr>
        </p:nvSpPr>
        <p:spPr/>
        <p:txBody>
          <a:bodyPr/>
          <a:lstStyle/>
          <a:p>
            <a:fld id="{7AC4896A-22AA-4F23-9D3D-CB723AB6A05D}" type="slidenum">
              <a:rPr lang="en-US" smtClean="0"/>
              <a:t>‹#›</a:t>
            </a:fld>
            <a:endParaRPr lang="en-US"/>
          </a:p>
        </p:txBody>
      </p:sp>
    </p:spTree>
    <p:extLst>
      <p:ext uri="{BB962C8B-B14F-4D97-AF65-F5344CB8AC3E}">
        <p14:creationId xmlns:p14="http://schemas.microsoft.com/office/powerpoint/2010/main" val="70080247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80324F-1908-F8A1-5BD6-662B541E6650}"/>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B9CDC57-5BC7-DCD1-9C55-157F0303981C}"/>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13365C9-EE17-9205-BC2F-CB305D14C434}"/>
              </a:ext>
            </a:extLst>
          </p:cNvPr>
          <p:cNvSpPr>
            <a:spLocks noGrp="1"/>
          </p:cNvSpPr>
          <p:nvPr>
            <p:ph type="dt" sz="half" idx="10"/>
          </p:nvPr>
        </p:nvSpPr>
        <p:spPr/>
        <p:txBody>
          <a:bodyPr/>
          <a:lstStyle/>
          <a:p>
            <a:fld id="{3E5AD6E7-76D1-41D8-92F6-FBA5FB3126B3}" type="datetimeFigureOut">
              <a:rPr lang="en-US" smtClean="0"/>
              <a:t>11/1/2025</a:t>
            </a:fld>
            <a:endParaRPr lang="en-US"/>
          </a:p>
        </p:txBody>
      </p:sp>
      <p:sp>
        <p:nvSpPr>
          <p:cNvPr id="5" name="Footer Placeholder 4">
            <a:extLst>
              <a:ext uri="{FF2B5EF4-FFF2-40B4-BE49-F238E27FC236}">
                <a16:creationId xmlns:a16="http://schemas.microsoft.com/office/drawing/2014/main" id="{D3533E3B-0597-7CAD-8167-1E4B144871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C11A86-1A18-360E-3B9C-8C5F2FC45612}"/>
              </a:ext>
            </a:extLst>
          </p:cNvPr>
          <p:cNvSpPr>
            <a:spLocks noGrp="1"/>
          </p:cNvSpPr>
          <p:nvPr>
            <p:ph type="sldNum" sz="quarter" idx="12"/>
          </p:nvPr>
        </p:nvSpPr>
        <p:spPr/>
        <p:txBody>
          <a:bodyPr/>
          <a:lstStyle/>
          <a:p>
            <a:fld id="{7AC4896A-22AA-4F23-9D3D-CB723AB6A05D}" type="slidenum">
              <a:rPr lang="en-US" smtClean="0"/>
              <a:t>‹#›</a:t>
            </a:fld>
            <a:endParaRPr lang="en-US"/>
          </a:p>
        </p:txBody>
      </p:sp>
    </p:spTree>
    <p:extLst>
      <p:ext uri="{BB962C8B-B14F-4D97-AF65-F5344CB8AC3E}">
        <p14:creationId xmlns:p14="http://schemas.microsoft.com/office/powerpoint/2010/main" val="337569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image" Target="../media/image1.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image" Target="../media/image1.png"/><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19" Type="http://schemas.openxmlformats.org/officeDocument/2006/relationships/theme" Target="../theme/theme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4.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theme" Target="../theme/theme5.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7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theme" Target="../theme/theme7.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0.xml"/><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theme" Target="../theme/theme8.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11/1/2025</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40000" y="1825625"/>
            <a:ext cx="767535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2"/>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3"/>
          </p:nvPr>
        </p:nvSpPr>
        <p:spPr>
          <a:xfrm>
            <a:off x="3028950" y="6356352"/>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4"/>
          </p:nvPr>
        </p:nvSpPr>
        <p:spPr>
          <a:xfrm>
            <a:off x="6457950" y="6356352"/>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85052679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sldNum="0" hdr="0" ftr="0" dt="0"/>
  <p:txStyles>
    <p:titleStyle>
      <a:lvl1pPr algn="l" defTabSz="685800" rtl="0" eaLnBrk="1" latinLnBrk="0" hangingPunct="1">
        <a:lnSpc>
          <a:spcPct val="90000"/>
        </a:lnSpc>
        <a:spcBef>
          <a:spcPct val="0"/>
        </a:spcBef>
        <a:buNone/>
        <a:defRPr sz="405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40000" y="1825625"/>
            <a:ext cx="767535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11/1/2025</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513439954"/>
      </p:ext>
    </p:extLst>
  </p:cSld>
  <p:clrMap bg1="dk1" tx1="lt1" bg2="dk2"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8" r:id="rId18"/>
  </p:sldLayoutIdLst>
  <p:hf sldNum="0" hdr="0" ftr="0" dt="0"/>
  <p:txStyles>
    <p:titleStyle>
      <a:lvl1pPr algn="l" defTabSz="685800" rtl="0" eaLnBrk="1" latinLnBrk="0" hangingPunct="1">
        <a:lnSpc>
          <a:spcPct val="90000"/>
        </a:lnSpc>
        <a:spcBef>
          <a:spcPct val="0"/>
        </a:spcBef>
        <a:buNone/>
        <a:defRPr sz="405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32422-5301-9196-8091-2FD4EF33B9D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97A3C78-8ACA-0E6A-BB84-A07078AB386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3CDDF69-013A-EEDC-51C0-6ED6BFB6F2D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5C3B904F-E99B-42AC-B9A5-EF0EE69FF626}" type="datetimeFigureOut">
              <a:rPr lang="en-US" smtClean="0"/>
              <a:t>11/1/2025</a:t>
            </a:fld>
            <a:endParaRPr lang="en-US"/>
          </a:p>
        </p:txBody>
      </p:sp>
      <p:sp>
        <p:nvSpPr>
          <p:cNvPr id="5" name="Footer Placeholder 4">
            <a:extLst>
              <a:ext uri="{FF2B5EF4-FFF2-40B4-BE49-F238E27FC236}">
                <a16:creationId xmlns:a16="http://schemas.microsoft.com/office/drawing/2014/main" id="{37E5EC2D-48DF-AD0F-17D0-554A519B848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6CE2F63-D155-D414-6F54-EB09B628C083}"/>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AD40A64F-5A3B-4B8B-9BB1-F66D26477557}" type="slidenum">
              <a:rPr lang="en-US" smtClean="0"/>
              <a:t>‹#›</a:t>
            </a:fld>
            <a:endParaRPr lang="en-US"/>
          </a:p>
        </p:txBody>
      </p:sp>
    </p:spTree>
    <p:extLst>
      <p:ext uri="{BB962C8B-B14F-4D97-AF65-F5344CB8AC3E}">
        <p14:creationId xmlns:p14="http://schemas.microsoft.com/office/powerpoint/2010/main" val="3402628753"/>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8ECB1C-175D-6AF8-2DCC-C04B168E0F1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EFB29AD-F79B-C599-9EF1-C66C5DB3110B}"/>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B0CCBE-36C1-E4D1-0508-59A5474E332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739CF31B-A188-4348-974A-9E41D11CE69E}" type="datetimeFigureOut">
              <a:rPr lang="en-US" smtClean="0"/>
              <a:t>11/1/2025</a:t>
            </a:fld>
            <a:endParaRPr lang="en-US"/>
          </a:p>
        </p:txBody>
      </p:sp>
      <p:sp>
        <p:nvSpPr>
          <p:cNvPr id="5" name="Footer Placeholder 4">
            <a:extLst>
              <a:ext uri="{FF2B5EF4-FFF2-40B4-BE49-F238E27FC236}">
                <a16:creationId xmlns:a16="http://schemas.microsoft.com/office/drawing/2014/main" id="{72AC4760-510B-D773-C700-F90473F0BA28}"/>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8B01FEF-C513-B50C-AA29-CEE38AEE893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031428B4-A5A4-4B6A-AD3B-E686E0AA9813}" type="slidenum">
              <a:rPr lang="en-US" smtClean="0"/>
              <a:t>‹#›</a:t>
            </a:fld>
            <a:endParaRPr lang="en-US"/>
          </a:p>
        </p:txBody>
      </p:sp>
    </p:spTree>
    <p:extLst>
      <p:ext uri="{BB962C8B-B14F-4D97-AF65-F5344CB8AC3E}">
        <p14:creationId xmlns:p14="http://schemas.microsoft.com/office/powerpoint/2010/main" val="1346976653"/>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1737222"/>
      </p:ext>
    </p:extLst>
  </p:cSld>
  <p:clrMap bg1="lt1" tx1="dk1" bg2="lt2" tx2="dk2" accent1="accent1" accent2="accent2" accent3="accent3" accent4="accent4" accent5="accent5" accent6="accent6" hlink="hlink" folHlink="folHlink"/>
  <p:sldLayoutIdLst>
    <p:sldLayoutId id="2147483744"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CF4062-2B1A-D6A9-1DAC-39B82FBFD0F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12B3745-15DD-E02E-B038-6B7FD871A11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AF8E88A-631B-9B01-B5F7-2A90CC3BB34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B0BF3D07-F43A-4BE0-9A73-A33E1284A7A6}" type="datetimeFigureOut">
              <a:rPr lang="en-US" smtClean="0"/>
              <a:t>11/1/2025</a:t>
            </a:fld>
            <a:endParaRPr lang="en-US"/>
          </a:p>
        </p:txBody>
      </p:sp>
      <p:sp>
        <p:nvSpPr>
          <p:cNvPr id="5" name="Footer Placeholder 4">
            <a:extLst>
              <a:ext uri="{FF2B5EF4-FFF2-40B4-BE49-F238E27FC236}">
                <a16:creationId xmlns:a16="http://schemas.microsoft.com/office/drawing/2014/main" id="{51882F34-A59B-D4FA-1DB4-36881902C1B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5D97D26-C189-ED34-1E07-7A2AD3E7E263}"/>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66429E04-EBB5-448A-AD54-CE716A3068C0}" type="slidenum">
              <a:rPr lang="en-US" smtClean="0"/>
              <a:t>‹#›</a:t>
            </a:fld>
            <a:endParaRPr lang="en-US"/>
          </a:p>
        </p:txBody>
      </p:sp>
    </p:spTree>
    <p:extLst>
      <p:ext uri="{BB962C8B-B14F-4D97-AF65-F5344CB8AC3E}">
        <p14:creationId xmlns:p14="http://schemas.microsoft.com/office/powerpoint/2010/main" val="942790766"/>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04D086-384C-FDA8-5143-8DFF6B15D3C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824B5EF-1419-C43D-9E3D-2D2F395F3AA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0E64474-3989-85BC-EDC5-FCA5BA565FD6}"/>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3E5AD6E7-76D1-41D8-92F6-FBA5FB3126B3}" type="datetimeFigureOut">
              <a:rPr lang="en-US" smtClean="0"/>
              <a:t>11/1/2025</a:t>
            </a:fld>
            <a:endParaRPr lang="en-US"/>
          </a:p>
        </p:txBody>
      </p:sp>
      <p:sp>
        <p:nvSpPr>
          <p:cNvPr id="5" name="Footer Placeholder 4">
            <a:extLst>
              <a:ext uri="{FF2B5EF4-FFF2-40B4-BE49-F238E27FC236}">
                <a16:creationId xmlns:a16="http://schemas.microsoft.com/office/drawing/2014/main" id="{46E31CEE-57B1-95E1-8B47-9E0DB4C3748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E85F2C5-5939-1D79-06B2-75D5A1C695DA}"/>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7AC4896A-22AA-4F23-9D3D-CB723AB6A05D}" type="slidenum">
              <a:rPr lang="en-US" smtClean="0"/>
              <a:t>‹#›</a:t>
            </a:fld>
            <a:endParaRPr lang="en-US"/>
          </a:p>
        </p:txBody>
      </p:sp>
    </p:spTree>
    <p:extLst>
      <p:ext uri="{BB962C8B-B14F-4D97-AF65-F5344CB8AC3E}">
        <p14:creationId xmlns:p14="http://schemas.microsoft.com/office/powerpoint/2010/main" val="1942749746"/>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5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9.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5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5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9.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5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9.xml"/></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63.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4.xml"/><Relationship Id="rId1" Type="http://schemas.openxmlformats.org/officeDocument/2006/relationships/slideLayout" Target="../slideLayouts/slideLayout63.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5.xml"/><Relationship Id="rId1" Type="http://schemas.openxmlformats.org/officeDocument/2006/relationships/slideLayout" Target="../slideLayouts/slideLayout63.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6.xml"/><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7.xml"/><Relationship Id="rId1" Type="http://schemas.openxmlformats.org/officeDocument/2006/relationships/slideLayout" Target="../slideLayouts/slideLayout5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8.xml"/><Relationship Id="rId1" Type="http://schemas.openxmlformats.org/officeDocument/2006/relationships/slideLayout" Target="../slideLayouts/slideLayout52.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9.xml"/><Relationship Id="rId1" Type="http://schemas.openxmlformats.org/officeDocument/2006/relationships/slideLayout" Target="../slideLayouts/slideLayout5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9.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1.xml"/><Relationship Id="rId1" Type="http://schemas.openxmlformats.org/officeDocument/2006/relationships/slideLayout" Target="../slideLayouts/slideLayout52.xml"/></Relationships>
</file>

<file path=ppt/slides/_rels/slide4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2.xml"/><Relationship Id="rId1" Type="http://schemas.openxmlformats.org/officeDocument/2006/relationships/slideLayout" Target="../slideLayouts/slideLayout52.xml"/></Relationships>
</file>

<file path=ppt/slides/_rels/slide4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3.xml"/><Relationship Id="rId1" Type="http://schemas.openxmlformats.org/officeDocument/2006/relationships/slideLayout" Target="../slideLayouts/slideLayout71.xml"/></Relationships>
</file>

<file path=ppt/slides/_rels/slide4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4.xml"/><Relationship Id="rId1" Type="http://schemas.openxmlformats.org/officeDocument/2006/relationships/slideLayout" Target="../slideLayouts/slideLayout52.xml"/></Relationships>
</file>

<file path=ppt/slides/_rels/slide4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5.xml"/><Relationship Id="rId1" Type="http://schemas.openxmlformats.org/officeDocument/2006/relationships/slideLayout" Target="../slideLayouts/slideLayout5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9.xml"/></Relationships>
</file>

<file path=ppt/slides/_rels/slide4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7.xml"/><Relationship Id="rId1" Type="http://schemas.openxmlformats.org/officeDocument/2006/relationships/slideLayout" Target="../slideLayouts/slideLayout52.xml"/></Relationships>
</file>

<file path=ppt/slides/_rels/slide4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8.xml"/><Relationship Id="rId1" Type="http://schemas.openxmlformats.org/officeDocument/2006/relationships/slideLayout" Target="../slideLayouts/slideLayout5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3.xml"/></Relationships>
</file>

<file path=ppt/slides/_rels/slide4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0.xml"/><Relationship Id="rId1" Type="http://schemas.openxmlformats.org/officeDocument/2006/relationships/slideLayout" Target="../slideLayouts/slideLayout86.xml"/></Relationships>
</file>

<file path=ppt/slides/_rels/slide5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1.xml"/><Relationship Id="rId1" Type="http://schemas.openxmlformats.org/officeDocument/2006/relationships/slideLayout" Target="../slideLayouts/slideLayout86.xml"/></Relationships>
</file>

<file path=ppt/slides/_rels/slide5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2.xml"/><Relationship Id="rId1" Type="http://schemas.openxmlformats.org/officeDocument/2006/relationships/slideLayout" Target="../slideLayouts/slideLayout86.xml"/></Relationships>
</file>

<file path=ppt/slides/_rels/slide5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3.xml"/><Relationship Id="rId1" Type="http://schemas.openxmlformats.org/officeDocument/2006/relationships/slideLayout" Target="../slideLayouts/slideLayout86.xml"/></Relationships>
</file>

<file path=ppt/slides/_rels/slide5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4.xml"/><Relationship Id="rId1" Type="http://schemas.openxmlformats.org/officeDocument/2006/relationships/slideLayout" Target="../slideLayouts/slideLayout8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9.xml"/></Relationships>
</file>

<file path=ppt/slides/_rels/slide5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6.xml"/><Relationship Id="rId1" Type="http://schemas.openxmlformats.org/officeDocument/2006/relationships/slideLayout" Target="../slideLayouts/slideLayout52.xml"/></Relationships>
</file>

<file path=ppt/slides/_rels/slide5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7.xml"/><Relationship Id="rId1" Type="http://schemas.openxmlformats.org/officeDocument/2006/relationships/slideLayout" Target="../slideLayouts/slideLayout52.xml"/></Relationships>
</file>

<file path=ppt/slides/_rels/slide5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8.xml"/><Relationship Id="rId1" Type="http://schemas.openxmlformats.org/officeDocument/2006/relationships/slideLayout" Target="../slideLayouts/slideLayout5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9.xml"/></Relationships>
</file>

<file path=ppt/slides/_rels/slide5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0.xml"/><Relationship Id="rId1" Type="http://schemas.openxmlformats.org/officeDocument/2006/relationships/slideLayout" Target="../slideLayouts/slideLayout52.xml"/></Relationships>
</file>

<file path=ppt/slides/_rels/slide6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1.xml"/><Relationship Id="rId1" Type="http://schemas.openxmlformats.org/officeDocument/2006/relationships/slideLayout" Target="../slideLayouts/slideLayout52.xml"/></Relationships>
</file>

<file path=ppt/slides/_rels/slide6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2.xml"/><Relationship Id="rId1" Type="http://schemas.openxmlformats.org/officeDocument/2006/relationships/slideLayout" Target="../slideLayouts/slideLayout5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9.xml"/></Relationships>
</file>

<file path=ppt/slides/_rels/slide6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4.xml"/><Relationship Id="rId1" Type="http://schemas.openxmlformats.org/officeDocument/2006/relationships/slideLayout" Target="../slideLayouts/slideLayout52.xml"/></Relationships>
</file>

<file path=ppt/slides/_rels/slide6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5.xml"/><Relationship Id="rId1" Type="http://schemas.openxmlformats.org/officeDocument/2006/relationships/slideLayout" Target="../slideLayouts/slideLayout5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9.xml"/></Relationships>
</file>

<file path=ppt/slides/_rels/slide6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7.xml"/><Relationship Id="rId1" Type="http://schemas.openxmlformats.org/officeDocument/2006/relationships/slideLayout" Target="../slideLayouts/slideLayout52.xml"/></Relationships>
</file>

<file path=ppt/slides/_rels/slide6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8.xml"/><Relationship Id="rId1" Type="http://schemas.openxmlformats.org/officeDocument/2006/relationships/slideLayout" Target="../slideLayouts/slideLayout52.xml"/></Relationships>
</file>

<file path=ppt/slides/_rels/slide6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9.xml"/><Relationship Id="rId1" Type="http://schemas.openxmlformats.org/officeDocument/2006/relationships/slideLayout" Target="../slideLayouts/slideLayout5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9.xml"/></Relationships>
</file>

<file path=ppt/slides/_rels/slide7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1.xml"/><Relationship Id="rId1" Type="http://schemas.openxmlformats.org/officeDocument/2006/relationships/slideLayout" Target="../slideLayouts/slideLayout52.xml"/></Relationships>
</file>

<file path=ppt/slides/_rels/slide7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2.xml"/><Relationship Id="rId1" Type="http://schemas.openxmlformats.org/officeDocument/2006/relationships/slideLayout" Target="../slideLayouts/slideLayout52.xml"/></Relationships>
</file>

<file path=ppt/slides/_rels/slide7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63.xml"/><Relationship Id="rId1" Type="http://schemas.openxmlformats.org/officeDocument/2006/relationships/slideLayout" Target="../slideLayouts/slideLayout5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9.xml"/></Relationships>
</file>

<file path=ppt/slides/_rels/slide7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65.xml"/><Relationship Id="rId1" Type="http://schemas.openxmlformats.org/officeDocument/2006/relationships/slideLayout" Target="../slideLayouts/slideLayout52.xml"/></Relationships>
</file>

<file path=ppt/slides/_rels/slide7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6.xml"/><Relationship Id="rId1" Type="http://schemas.openxmlformats.org/officeDocument/2006/relationships/slideLayout" Target="../slideLayouts/slideLayout52.xml"/></Relationships>
</file>

<file path=ppt/slides/_rels/slide7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7.xml"/><Relationship Id="rId1" Type="http://schemas.openxmlformats.org/officeDocument/2006/relationships/slideLayout" Target="../slideLayouts/slideLayout5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9.xml"/></Relationships>
</file>

<file path=ppt/slides/_rels/slide7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9.xml"/><Relationship Id="rId1" Type="http://schemas.openxmlformats.org/officeDocument/2006/relationships/slideLayout" Target="../slideLayouts/slideLayout52.xml"/></Relationships>
</file>

<file path=ppt/slides/_rels/slide8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70.xml"/><Relationship Id="rId1" Type="http://schemas.openxmlformats.org/officeDocument/2006/relationships/slideLayout" Target="../slideLayouts/slideLayout52.xml"/></Relationships>
</file>

<file path=ppt/slides/_rels/slide8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71.xml"/><Relationship Id="rId1" Type="http://schemas.openxmlformats.org/officeDocument/2006/relationships/slideLayout" Target="../slideLayouts/slideLayout5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2.xml"/></Relationships>
</file>

<file path=ppt/slides/_rels/slide8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73.xml"/><Relationship Id="rId1" Type="http://schemas.openxmlformats.org/officeDocument/2006/relationships/slideLayout" Target="../slideLayouts/slideLayout75.xml"/></Relationships>
</file>

<file path=ppt/slides/_rels/slide8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4.xml"/><Relationship Id="rId1" Type="http://schemas.openxmlformats.org/officeDocument/2006/relationships/slideLayout" Target="../slideLayouts/slideLayout75.xml"/></Relationships>
</file>

<file path=ppt/slides/_rels/slide8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5.xml"/><Relationship Id="rId1" Type="http://schemas.openxmlformats.org/officeDocument/2006/relationships/slideLayout" Target="../slideLayouts/slideLayout75.xml"/></Relationships>
</file>

<file path=ppt/slides/_rels/slide8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76.xml"/><Relationship Id="rId1" Type="http://schemas.openxmlformats.org/officeDocument/2006/relationships/slideLayout" Target="../slideLayouts/slideLayout7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9.xml"/></Relationships>
</file>

<file path=ppt/slides/_rels/slide8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8.xml"/><Relationship Id="rId1" Type="http://schemas.openxmlformats.org/officeDocument/2006/relationships/slideLayout" Target="../slideLayouts/slideLayout52.xml"/></Relationships>
</file>

<file path=ppt/slides/_rels/slide90.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79.xml"/><Relationship Id="rId1" Type="http://schemas.openxmlformats.org/officeDocument/2006/relationships/slideLayout" Target="../slideLayouts/slideLayout5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9.xml"/></Relationships>
</file>

<file path=ppt/slides/_rels/slide9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1.xml"/><Relationship Id="rId1" Type="http://schemas.openxmlformats.org/officeDocument/2006/relationships/slideLayout" Target="../slideLayouts/slideLayout5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82.xml"/><Relationship Id="rId1" Type="http://schemas.openxmlformats.org/officeDocument/2006/relationships/slideLayout" Target="../slideLayouts/slideLayout52.xml"/></Relationships>
</file>

<file path=ppt/slides/_rels/slide9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83.xml"/><Relationship Id="rId1" Type="http://schemas.openxmlformats.org/officeDocument/2006/relationships/slideLayout" Target="../slideLayouts/slideLayout52.xml"/></Relationships>
</file>

<file path=ppt/slides/_rels/slide9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84.xml"/><Relationship Id="rId1" Type="http://schemas.openxmlformats.org/officeDocument/2006/relationships/slideLayout" Target="../slideLayouts/slideLayout5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9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5.xml"/><Relationship Id="rId1" Type="http://schemas.openxmlformats.org/officeDocument/2006/relationships/slideLayout" Target="../slideLayouts/slideLayout31.xml"/><Relationship Id="rId4" Type="http://schemas.openxmlformats.org/officeDocument/2006/relationships/image" Target="../media/image6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57201" y="250218"/>
            <a:ext cx="7168181" cy="311624"/>
          </a:xfrm>
          <a:prstGeom prst="rect">
            <a:avLst/>
          </a:prstGeom>
          <a:noFill/>
          <a:ln/>
        </p:spPr>
        <p:txBody>
          <a:bodyPr wrap="none" lIns="0" tIns="0" rIns="0" bIns="0" rtlCol="0" anchor="ctr">
            <a:spAutoFit/>
          </a:bodyPr>
          <a:lstStyle/>
          <a:p>
            <a:r>
              <a:rPr lang="en-US" sz="2025" b="1">
                <a:solidFill>
                  <a:srgbClr val="7AE582"/>
                </a:solidFill>
                <a:latin typeface="Segoe UI" pitchFamily="34" charset="0"/>
                <a:ea typeface="Segoe UI" pitchFamily="34" charset="-122"/>
                <a:cs typeface="Segoe UI" pitchFamily="34" charset="-120"/>
              </a:rPr>
              <a:t>Agenda – Class 5 (10:30 to 12:30) and Class 6 (2:00 to 3:15)</a:t>
            </a:r>
            <a:endParaRPr lang="en-US" sz="2025">
              <a:solidFill>
                <a:prstClr val="white"/>
              </a:solidFill>
            </a:endParaRPr>
          </a:p>
        </p:txBody>
      </p:sp>
      <p:sp>
        <p:nvSpPr>
          <p:cNvPr id="4" name="Text 1"/>
          <p:cNvSpPr/>
          <p:nvPr/>
        </p:nvSpPr>
        <p:spPr>
          <a:xfrm>
            <a:off x="201922" y="821528"/>
            <a:ext cx="8758443" cy="5539978"/>
          </a:xfrm>
          <a:prstGeom prst="rect">
            <a:avLst/>
          </a:prstGeom>
          <a:noFill/>
          <a:ln/>
        </p:spPr>
        <p:txBody>
          <a:bodyPr wrap="square" lIns="0" tIns="0" rIns="0" bIns="0" rtlCol="0" anchor="ctr">
            <a:spAutoFit/>
          </a:bodyPr>
          <a:lstStyle/>
          <a:p>
            <a:endParaRPr lang="en-US" sz="135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endParaRPr lang="en-US" sz="135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Starter Quiz</a:t>
            </a:r>
          </a:p>
          <a:p>
            <a:endParaRPr lang="en-US" sz="135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3 Students – Banking Experience Talk</a:t>
            </a:r>
          </a:p>
          <a:p>
            <a:pPr marL="285750" indent="-285750">
              <a:buFont typeface="Arial" panose="020B0604020202020204" pitchFamily="34" charset="0"/>
              <a:buChar char="•"/>
            </a:pPr>
            <a:endParaRPr lang="en-US" sz="135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Core Banking Feature Layering</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Global</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Country Specific </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Client Specific </a:t>
            </a:r>
          </a:p>
          <a:p>
            <a:pPr marL="285750" indent="-285750">
              <a:buFont typeface="Arial" panose="020B0604020202020204" pitchFamily="34" charset="0"/>
              <a:buChar char="•"/>
            </a:pPr>
            <a:endParaRPr lang="en-US" sz="135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Core Banking Platform Engineering : Country Dimensions </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Account Numbering Schemes</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Customer Numbering Schemes</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Currencies</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Calendars</a:t>
            </a:r>
          </a:p>
          <a:p>
            <a:pPr marL="1200150" lvl="2"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Financial Year Vs Calendar Year</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Country Language Localization </a:t>
            </a:r>
          </a:p>
          <a:p>
            <a:pPr marL="1200150" lvl="2"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Character Sets – SGCS, DBCS </a:t>
            </a:r>
          </a:p>
          <a:p>
            <a:pPr marL="1200150" lvl="2"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Date and Amount Formats</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Payment Schemes</a:t>
            </a:r>
          </a:p>
          <a:p>
            <a:pPr marL="742950" lvl="1" indent="-285750">
              <a:buFont typeface="Arial" panose="020B0604020202020204" pitchFamily="34" charset="0"/>
              <a:buChar char="•"/>
            </a:pPr>
            <a:r>
              <a:rPr lang="en-US" sz="1350">
                <a:solidFill>
                  <a:srgbClr val="FFFFFF"/>
                </a:solidFill>
                <a:latin typeface="Segoe UI" pitchFamily="34" charset="0"/>
                <a:ea typeface="Segoe UI" pitchFamily="34" charset="-122"/>
                <a:cs typeface="Segoe UI" pitchFamily="34" charset="-120"/>
              </a:rPr>
              <a:t>Taxation </a:t>
            </a:r>
          </a:p>
          <a:p>
            <a:pPr marL="285750" indent="-285750">
              <a:buFont typeface="Arial" panose="020B0604020202020204" pitchFamily="34" charset="0"/>
              <a:buChar char="•"/>
            </a:pPr>
            <a:endParaRPr lang="en-US" sz="1350">
              <a:solidFill>
                <a:srgbClr val="FFFFFF"/>
              </a:solidFill>
              <a:latin typeface="Segoe UI" pitchFamily="34" charset="0"/>
              <a:cs typeface="Segoe UI" pitchFamily="34" charset="-120"/>
            </a:endParaRPr>
          </a:p>
          <a:p>
            <a:pPr>
              <a:defRPr/>
            </a:pPr>
            <a:r>
              <a:rPr kumimoji="0" lang="en-US" sz="1200" b="0" i="0" u="none" strike="noStrike" kern="1200" cap="none" spc="0" normalizeH="0" baseline="0" noProof="0">
                <a:ln>
                  <a:noFill/>
                </a:ln>
                <a:solidFill>
                  <a:srgbClr val="FFFFFF"/>
                </a:solidFill>
                <a:effectLst/>
                <a:uLnTx/>
                <a:uFillTx/>
                <a:latin typeface="Segoe UI" pitchFamily="34" charset="0"/>
                <a:ea typeface="Segoe UI" pitchFamily="34" charset="-122"/>
                <a:cs typeface="Segoe UI" pitchFamily="34" charset="-120"/>
              </a:rPr>
              <a:t>Note: </a:t>
            </a:r>
          </a:p>
          <a:p>
            <a:pPr marL="285750" indent="-285750">
              <a:buFont typeface="Arial" pitchFamily="34" charset="0"/>
              <a:buChar char="•"/>
              <a:defRPr/>
            </a:pPr>
            <a:r>
              <a:rPr kumimoji="0" lang="en-US" sz="1200" b="0" i="0" u="none" strike="noStrike" kern="1200" cap="none" spc="0" normalizeH="0" baseline="0" noProof="0">
                <a:ln>
                  <a:noFill/>
                </a:ln>
                <a:solidFill>
                  <a:srgbClr val="FFFFFF"/>
                </a:solidFill>
                <a:effectLst/>
                <a:uLnTx/>
                <a:uFillTx/>
                <a:latin typeface="Segoe UI" pitchFamily="34" charset="0"/>
                <a:ea typeface="Segoe UI" pitchFamily="34" charset="-122"/>
                <a:cs typeface="Segoe UI" pitchFamily="34" charset="-120"/>
              </a:rPr>
              <a:t>Mobile Phones – Do not bring to class or Completely Switch off </a:t>
            </a:r>
          </a:p>
          <a:p>
            <a:pPr marL="285750" indent="-285750">
              <a:buFont typeface="Arial" pitchFamily="34" charset="0"/>
              <a:buChar char="•"/>
              <a:defRPr/>
            </a:pPr>
            <a:r>
              <a:rPr kumimoji="0" lang="en-US" sz="1200" b="0" i="0" u="none" strike="noStrike" kern="1200" cap="none" spc="0" normalizeH="0" baseline="0" noProof="0">
                <a:ln>
                  <a:noFill/>
                </a:ln>
                <a:solidFill>
                  <a:srgbClr val="FFFFFF"/>
                </a:solidFill>
                <a:effectLst/>
                <a:uLnTx/>
                <a:uFillTx/>
                <a:latin typeface="Segoe UI" pitchFamily="34" charset="0"/>
                <a:ea typeface="Segoe UI" pitchFamily="34" charset="-122"/>
                <a:cs typeface="Segoe UI" pitchFamily="34" charset="-120"/>
              </a:rPr>
              <a:t>If students have any specific topic they want to discuss, share the topic and we can try to schedule </a:t>
            </a:r>
          </a:p>
          <a:p>
            <a:endParaRPr lang="en-US" sz="1350">
              <a:solidFill>
                <a:prstClr val="white"/>
              </a:solidFill>
            </a:endParaRPr>
          </a:p>
        </p:txBody>
      </p:sp>
    </p:spTree>
    <p:extLst>
      <p:ext uri="{BB962C8B-B14F-4D97-AF65-F5344CB8AC3E}">
        <p14:creationId xmlns:p14="http://schemas.microsoft.com/office/powerpoint/2010/main" val="32068866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B3F3C-055C-0ED7-F6C1-62AA9EFD7067}"/>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8749868-6E60-B9B4-83B8-74C46E27C1AC}"/>
              </a:ext>
            </a:extLst>
          </p:cNvPr>
          <p:cNvSpPr/>
          <p:nvPr/>
        </p:nvSpPr>
        <p:spPr>
          <a:xfrm>
            <a:off x="457200" y="710962"/>
            <a:ext cx="1530868" cy="311624"/>
          </a:xfrm>
          <a:prstGeom prst="rect">
            <a:avLst/>
          </a:prstGeom>
          <a:noFill/>
          <a:ln/>
        </p:spPr>
        <p:txBody>
          <a:bodyPr wrap="none" lIns="0" tIns="0" rIns="0" bIns="0" rtlCol="0" anchor="ctr">
            <a:spAutoFit/>
          </a:bodyPr>
          <a:lstStyle/>
          <a:p>
            <a:r>
              <a:rPr lang="en-US" sz="2025" b="1">
                <a:solidFill>
                  <a:srgbClr val="7AE582"/>
                </a:solidFill>
                <a:latin typeface="Segoe UI" pitchFamily="34" charset="0"/>
                <a:ea typeface="Segoe UI" pitchFamily="34" charset="-122"/>
                <a:cs typeface="Segoe UI" pitchFamily="34" charset="-120"/>
              </a:rPr>
              <a:t>Starter  Quiz</a:t>
            </a:r>
            <a:endParaRPr lang="en-US" sz="2025">
              <a:solidFill>
                <a:prstClr val="white"/>
              </a:solidFill>
            </a:endParaRPr>
          </a:p>
        </p:txBody>
      </p:sp>
      <p:sp>
        <p:nvSpPr>
          <p:cNvPr id="4" name="Text 1">
            <a:extLst>
              <a:ext uri="{FF2B5EF4-FFF2-40B4-BE49-F238E27FC236}">
                <a16:creationId xmlns:a16="http://schemas.microsoft.com/office/drawing/2014/main" id="{D935D455-8FE0-8207-6D02-2D6CB942A828}"/>
              </a:ext>
            </a:extLst>
          </p:cNvPr>
          <p:cNvSpPr/>
          <p:nvPr/>
        </p:nvSpPr>
        <p:spPr>
          <a:xfrm>
            <a:off x="290052" y="360866"/>
            <a:ext cx="8391832" cy="5640006"/>
          </a:xfrm>
          <a:prstGeom prst="rect">
            <a:avLst/>
          </a:prstGeom>
          <a:noFill/>
          <a:ln/>
        </p:spPr>
        <p:txBody>
          <a:bodyPr wrap="square" lIns="0" tIns="0" rIns="0" bIns="0" rtlCol="0" anchor="ctr">
            <a:spAutoFit/>
          </a:bodyPr>
          <a:lstStyle/>
          <a:p>
            <a:endParaRPr lang="en-US" sz="240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endParaRPr lang="en-US" sz="240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r>
              <a:rPr lang="en-US" sz="2400">
                <a:solidFill>
                  <a:srgbClr val="FFFFFF"/>
                </a:solidFill>
                <a:latin typeface="Segoe UI" pitchFamily="34" charset="0"/>
                <a:ea typeface="Segoe UI" pitchFamily="34" charset="-122"/>
                <a:cs typeface="Segoe UI" pitchFamily="34" charset="-120"/>
              </a:rPr>
              <a:t>What technology lets you pay by tapping your phone without touching anything?</a:t>
            </a:r>
          </a:p>
          <a:p>
            <a:pPr marL="742950" lvl="1" indent="-285750">
              <a:buFont typeface="Arial" panose="020B0604020202020204" pitchFamily="34" charset="0"/>
              <a:buChar char="•"/>
            </a:pPr>
            <a:r>
              <a:rPr lang="en-US" sz="1000">
                <a:solidFill>
                  <a:srgbClr val="FFFFFF"/>
                </a:solidFill>
                <a:latin typeface="Segoe UI" pitchFamily="34" charset="0"/>
                <a:ea typeface="Segoe UI" pitchFamily="34" charset="-122"/>
                <a:cs typeface="Segoe UI" pitchFamily="34" charset="-120"/>
              </a:rPr>
              <a:t>The technology that makes this easy, quick, and secure is called NFC, or Near Field Communication.</a:t>
            </a:r>
          </a:p>
          <a:p>
            <a:pPr marL="742950" lvl="1" indent="-285750">
              <a:buFont typeface="Arial" panose="020B0604020202020204" pitchFamily="34" charset="0"/>
              <a:buChar char="•"/>
            </a:pPr>
            <a:r>
              <a:rPr lang="en-US" sz="1000">
                <a:solidFill>
                  <a:srgbClr val="FFFFFF"/>
                </a:solidFill>
                <a:latin typeface="Segoe UI" pitchFamily="34" charset="0"/>
                <a:ea typeface="Segoe UI" pitchFamily="34" charset="-122"/>
                <a:cs typeface="Segoe UI" pitchFamily="34" charset="-120"/>
              </a:rPr>
              <a:t>NFC works by allowing two devices—like your phone and a payment terminal—to communicate wirelessly when they are very close to each other, usually just a few centimeters apart. This short distance helps keep payments safe because the devices need to be almost touching. Your phone sends payment information to the terminal, completing the transaction without needing to swipe a card or enter a PIN every time.</a:t>
            </a:r>
          </a:p>
          <a:p>
            <a:pPr marL="742950" lvl="1" indent="-285750">
              <a:buFont typeface="Arial" panose="020B0604020202020204" pitchFamily="34" charset="0"/>
              <a:buChar char="•"/>
            </a:pPr>
            <a:r>
              <a:rPr lang="en-US" sz="1000">
                <a:solidFill>
                  <a:srgbClr val="FFFFFF"/>
                </a:solidFill>
                <a:latin typeface="Segoe UI" pitchFamily="34" charset="0"/>
                <a:ea typeface="Segoe UI" pitchFamily="34" charset="-122"/>
                <a:cs typeface="Segoe UI" pitchFamily="34" charset="-120"/>
              </a:rPr>
              <a:t>Think of NFC like a handshake: when two people meet, they briefly reach out and connect to greet each other. NFC devices also “reach out” very briefly and closely to share information. It’s a quick and simple interaction, but one that requires being very close, just like a handshake.</a:t>
            </a:r>
          </a:p>
          <a:p>
            <a:pPr marL="742950" lvl="1" indent="-285750">
              <a:buFont typeface="Arial" panose="020B0604020202020204" pitchFamily="34" charset="0"/>
              <a:buChar char="•"/>
            </a:pPr>
            <a:r>
              <a:rPr lang="en-US" sz="1000">
                <a:solidFill>
                  <a:srgbClr val="FFFFFF"/>
                </a:solidFill>
                <a:latin typeface="Segoe UI" pitchFamily="34" charset="0"/>
                <a:ea typeface="Segoe UI" pitchFamily="34" charset="-122"/>
                <a:cs typeface="Segoe UI" pitchFamily="34" charset="-120"/>
              </a:rPr>
              <a:t>A common misconception is that Bluetooth or RFID powers contactless payments. While RFID is related to how NFC works under the hood, NFC is a specific type of short-range communication designed for two-way data exchange and security. Bluetooth works at longer distances and isn’t typically used for mobile payment because it consumes more power and is less secure for quick transactions.</a:t>
            </a:r>
          </a:p>
          <a:p>
            <a:pPr marL="285750" indent="-285750">
              <a:buFont typeface="Arial" panose="020B0604020202020204" pitchFamily="34" charset="0"/>
              <a:buChar char="•"/>
            </a:pPr>
            <a:endParaRPr lang="en-US" sz="240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endParaRPr lang="en-US" sz="2400">
              <a:solidFill>
                <a:srgbClr val="FFFFFF"/>
              </a:solidFill>
              <a:latin typeface="Segoe UI" pitchFamily="34" charset="0"/>
              <a:ea typeface="Segoe UI" pitchFamily="34" charset="-122"/>
              <a:cs typeface="Segoe UI" pitchFamily="34" charset="-120"/>
            </a:endParaRPr>
          </a:p>
          <a:p>
            <a:pPr marL="285750" indent="-285750">
              <a:buFont typeface="Arial" panose="020B0604020202020204" pitchFamily="34" charset="0"/>
              <a:buChar char="•"/>
            </a:pPr>
            <a:r>
              <a:rPr lang="en-US" sz="2400">
                <a:solidFill>
                  <a:srgbClr val="FFFFFF"/>
                </a:solidFill>
                <a:latin typeface="Segoe UI" pitchFamily="34" charset="0"/>
                <a:ea typeface="Segoe UI" pitchFamily="34" charset="-122"/>
                <a:cs typeface="Segoe UI" pitchFamily="34" charset="-120"/>
              </a:rPr>
              <a:t>Top 2 UPI Payment Apps by Transaction Volume, which one is No 1 and which one is No 2 </a:t>
            </a:r>
          </a:p>
          <a:p>
            <a:pPr marL="285750" indent="-285750">
              <a:buFont typeface="Arial" panose="020B0604020202020204" pitchFamily="34" charset="0"/>
              <a:buChar char="•"/>
            </a:pPr>
            <a:endParaRPr lang="en-US" sz="2400">
              <a:solidFill>
                <a:srgbClr val="FFFFFF"/>
              </a:solidFill>
              <a:latin typeface="Segoe UI" pitchFamily="34" charset="0"/>
              <a:ea typeface="Segoe UI" pitchFamily="34" charset="-122"/>
              <a:cs typeface="Segoe UI" pitchFamily="34" charset="-120"/>
            </a:endParaRPr>
          </a:p>
          <a:p>
            <a:pPr marL="742950" lvl="1" indent="-285750">
              <a:buFont typeface="Arial" panose="020B0604020202020204" pitchFamily="34" charset="0"/>
              <a:buChar char="•"/>
            </a:pPr>
            <a:endParaRPr lang="en-US" sz="1350">
              <a:solidFill>
                <a:srgbClr val="FFFFFF"/>
              </a:solidFill>
              <a:latin typeface="Segoe UI" pitchFamily="34" charset="0"/>
              <a:ea typeface="Segoe UI" pitchFamily="34" charset="-122"/>
              <a:cs typeface="Segoe UI" pitchFamily="34" charset="-120"/>
            </a:endParaRPr>
          </a:p>
          <a:p>
            <a:pPr marL="742950" lvl="1" indent="-285750">
              <a:buFont typeface="Arial" panose="020B0604020202020204" pitchFamily="34" charset="0"/>
              <a:buChar char="•"/>
            </a:pPr>
            <a:endParaRPr lang="en-US" sz="1350">
              <a:solidFill>
                <a:srgbClr val="FFFFFF"/>
              </a:solidFill>
              <a:latin typeface="Segoe UI" pitchFamily="34" charset="0"/>
              <a:ea typeface="Segoe UI" pitchFamily="34" charset="-122"/>
              <a:cs typeface="Segoe UI" pitchFamily="34" charset="-120"/>
            </a:endParaRPr>
          </a:p>
          <a:p>
            <a:endParaRPr lang="en-US" sz="1350">
              <a:solidFill>
                <a:srgbClr val="FFFFFF"/>
              </a:solidFill>
              <a:latin typeface="Segoe UI" pitchFamily="34" charset="0"/>
              <a:ea typeface="Segoe UI" pitchFamily="34" charset="-122"/>
              <a:cs typeface="Segoe UI" pitchFamily="34" charset="-120"/>
            </a:endParaRPr>
          </a:p>
        </p:txBody>
      </p:sp>
    </p:spTree>
    <p:extLst>
      <p:ext uri="{BB962C8B-B14F-4D97-AF65-F5344CB8AC3E}">
        <p14:creationId xmlns:p14="http://schemas.microsoft.com/office/powerpoint/2010/main" val="377424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 calcmode="lin" valueType="num">
                                      <p:cBhvr additive="base">
                                        <p:cTn id="1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 calcmode="lin" valueType="num">
                                      <p:cBhvr additive="base">
                                        <p:cTn id="1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 calcmode="lin" valueType="num">
                                      <p:cBhvr additive="base">
                                        <p:cTn id="2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anim calcmode="lin" valueType="num">
                                      <p:cBhvr additive="base">
                                        <p:cTn id="3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2CFD6-6E82-1AA7-2257-4B3036581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E2D11-3D57-96E5-1057-C7F3B2469F44}"/>
              </a:ext>
            </a:extLst>
          </p:cNvPr>
          <p:cNvSpPr>
            <a:spLocks noGrp="1"/>
          </p:cNvSpPr>
          <p:nvPr>
            <p:ph type="title"/>
          </p:nvPr>
        </p:nvSpPr>
        <p:spPr>
          <a:xfrm>
            <a:off x="182400" y="114416"/>
            <a:ext cx="8835527" cy="772045"/>
          </a:xfrm>
        </p:spPr>
        <p:txBody>
          <a:bodyPr anchor="b">
            <a:normAutofit/>
          </a:bodyPr>
          <a:lstStyle/>
          <a:p>
            <a:r>
              <a:rPr lang="en-US" sz="3500"/>
              <a:t>Student 1,2,3 – Banking Experience Talk  </a:t>
            </a:r>
            <a:endParaRPr lang="en-US" sz="3500">
              <a:solidFill>
                <a:srgbClr val="FFFFFF"/>
              </a:solidFill>
            </a:endParaRPr>
          </a:p>
        </p:txBody>
      </p:sp>
      <p:sp>
        <p:nvSpPr>
          <p:cNvPr id="3" name="Rectangle 2">
            <a:extLst>
              <a:ext uri="{FF2B5EF4-FFF2-40B4-BE49-F238E27FC236}">
                <a16:creationId xmlns:a16="http://schemas.microsoft.com/office/drawing/2014/main" id="{39D597F1-6828-2FEE-8700-C221E2F9087D}"/>
              </a:ext>
            </a:extLst>
          </p:cNvPr>
          <p:cNvSpPr/>
          <p:nvPr/>
        </p:nvSpPr>
        <p:spPr>
          <a:xfrm>
            <a:off x="0" y="1044949"/>
            <a:ext cx="8835528" cy="6740307"/>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solidFill>
                  <a:prstClr val="black"/>
                </a:solidFill>
                <a:latin typeface="Calibri"/>
              </a:rPr>
              <a:t>T</a:t>
            </a:r>
            <a:r>
              <a:rPr kumimoji="0" lang="en-GB" sz="1800" b="0" i="0" u="none" strike="noStrike" kern="1200" cap="none" spc="0" normalizeH="0" baseline="0" noProof="0">
                <a:ln>
                  <a:noFill/>
                </a:ln>
                <a:solidFill>
                  <a:prstClr val="black"/>
                </a:solidFill>
                <a:effectLst/>
                <a:uLnTx/>
                <a:uFillTx/>
                <a:latin typeface="Calibri"/>
                <a:ea typeface="+mn-ea"/>
                <a:cs typeface="+mn-cs"/>
              </a:rPr>
              <a:t>wo Student’s per class for each day (August 19</a:t>
            </a:r>
            <a:r>
              <a:rPr kumimoji="0" lang="en-GB" sz="1800" b="0" i="0" u="none" strike="noStrike" kern="1200" cap="none" spc="0" normalizeH="0" baseline="30000" noProof="0">
                <a:ln>
                  <a:noFill/>
                </a:ln>
                <a:solidFill>
                  <a:prstClr val="black"/>
                </a:solidFill>
                <a:effectLst/>
                <a:uLnTx/>
                <a:uFillTx/>
                <a:latin typeface="Calibri"/>
                <a:ea typeface="+mn-ea"/>
                <a:cs typeface="+mn-cs"/>
              </a:rPr>
              <a:t>th</a:t>
            </a:r>
            <a:r>
              <a:rPr kumimoji="0" lang="en-GB" sz="1800" b="0" i="0" u="none" strike="noStrike" kern="1200" cap="none" spc="0" normalizeH="0" baseline="0" noProof="0">
                <a:ln>
                  <a:noFill/>
                </a:ln>
                <a:solidFill>
                  <a:prstClr val="black"/>
                </a:solidFill>
                <a:effectLst/>
                <a:uLnTx/>
                <a:uFillTx/>
                <a:latin typeface="Calibri"/>
                <a:ea typeface="+mn-ea"/>
                <a:cs typeface="+mn-cs"/>
              </a:rPr>
              <a:t>, 20</a:t>
            </a:r>
            <a:r>
              <a:rPr kumimoji="0" lang="en-GB" sz="1800" b="0" i="0" u="none" strike="noStrike" kern="1200" cap="none" spc="0" normalizeH="0" baseline="30000" noProof="0">
                <a:ln>
                  <a:noFill/>
                </a:ln>
                <a:solidFill>
                  <a:prstClr val="black"/>
                </a:solidFill>
                <a:effectLst/>
                <a:uLnTx/>
                <a:uFillTx/>
                <a:latin typeface="Calibri"/>
                <a:ea typeface="+mn-ea"/>
                <a:cs typeface="+mn-cs"/>
              </a:rPr>
              <a:t>th</a:t>
            </a:r>
            <a:r>
              <a:rPr lang="en-GB">
                <a:solidFill>
                  <a:prstClr val="black"/>
                </a:solidFill>
                <a:latin typeface="Calibri"/>
              </a:rPr>
              <a:t> morning and 20</a:t>
            </a:r>
            <a:r>
              <a:rPr lang="en-GB" baseline="30000">
                <a:solidFill>
                  <a:prstClr val="black"/>
                </a:solidFill>
                <a:latin typeface="Calibri"/>
              </a:rPr>
              <a:t>th</a:t>
            </a:r>
            <a:r>
              <a:rPr lang="en-GB">
                <a:solidFill>
                  <a:prstClr val="black"/>
                </a:solidFill>
                <a:latin typeface="Calibri"/>
              </a:rPr>
              <a:t> evening,</a:t>
            </a:r>
            <a:r>
              <a:rPr kumimoji="0" lang="en-GB" sz="1800" b="0" i="0" u="none" strike="noStrike" kern="1200" cap="none" spc="0" normalizeH="0" baseline="0" noProof="0">
                <a:ln>
                  <a:noFill/>
                </a:ln>
                <a:solidFill>
                  <a:prstClr val="black"/>
                </a:solidFill>
                <a:effectLst/>
                <a:uLnTx/>
                <a:uFillTx/>
                <a:latin typeface="Calibri"/>
                <a:ea typeface="+mn-ea"/>
                <a:cs typeface="+mn-cs"/>
              </a:rPr>
              <a:t> 21</a:t>
            </a:r>
            <a:r>
              <a:rPr kumimoji="0" lang="en-GB" sz="1800" b="0" i="0" u="none" strike="noStrike" kern="1200" cap="none" spc="0" normalizeH="0" baseline="30000" noProof="0">
                <a:ln>
                  <a:noFill/>
                </a:ln>
                <a:solidFill>
                  <a:prstClr val="black"/>
                </a:solidFill>
                <a:effectLst/>
                <a:uLnTx/>
                <a:uFillTx/>
                <a:latin typeface="Calibri"/>
                <a:ea typeface="+mn-ea"/>
                <a:cs typeface="+mn-cs"/>
              </a:rPr>
              <a:t>st</a:t>
            </a:r>
            <a:r>
              <a:rPr lang="en-GB">
                <a:solidFill>
                  <a:prstClr val="black"/>
                </a:solidFill>
                <a:latin typeface="Calibri"/>
              </a:rPr>
              <a:t>) will </a:t>
            </a:r>
            <a:r>
              <a:rPr kumimoji="0" lang="en-GB" sz="1800" b="0" i="0" u="none" strike="noStrike" kern="1200" cap="none" spc="0" normalizeH="0" baseline="0" noProof="0">
                <a:ln>
                  <a:noFill/>
                </a:ln>
                <a:solidFill>
                  <a:prstClr val="black"/>
                </a:solidFill>
                <a:effectLst/>
                <a:uLnTx/>
                <a:uFillTx/>
                <a:latin typeface="Calibri"/>
                <a:ea typeface="+mn-ea"/>
                <a:cs typeface="+mn-cs"/>
              </a:rPr>
              <a:t>be randomly selected (so a total of 8 for the week) and will have to come on stage and give a 15 Min talk of their Banking Product they use and details around the same such as</a:t>
            </a:r>
          </a:p>
          <a:p>
            <a:pPr marL="742950" lvl="1" indent="-285750">
              <a:buFont typeface="Arial" panose="020B0604020202020204" pitchFamily="34" charset="0"/>
              <a:buChar char="•"/>
            </a:pPr>
            <a:r>
              <a:rPr lang="en-GB">
                <a:solidFill>
                  <a:prstClr val="black"/>
                </a:solidFill>
                <a:latin typeface="Calibri"/>
              </a:rPr>
              <a:t>Bank Name</a:t>
            </a:r>
          </a:p>
          <a:p>
            <a:pPr marL="742950" lvl="1" indent="-285750">
              <a:buFont typeface="Arial" panose="020B0604020202020204" pitchFamily="34" charset="0"/>
              <a:buChar char="•"/>
            </a:pPr>
            <a:r>
              <a:rPr kumimoji="0" lang="en-GB" b="0" i="0" u="none" strike="noStrike" kern="1200" cap="none" spc="0" normalizeH="0" baseline="0" noProof="0">
                <a:ln>
                  <a:noFill/>
                </a:ln>
                <a:solidFill>
                  <a:prstClr val="black"/>
                </a:solidFill>
                <a:effectLst/>
                <a:uLnTx/>
                <a:uFillTx/>
                <a:latin typeface="Calibri"/>
                <a:ea typeface="+mn-ea"/>
                <a:cs typeface="+mn-cs"/>
              </a:rPr>
              <a:t>Bank Product (‘s) Name and Type</a:t>
            </a:r>
          </a:p>
          <a:p>
            <a:pPr marL="742950" lvl="1" indent="-285750">
              <a:buFont typeface="Arial" panose="020B0604020202020204" pitchFamily="34" charset="0"/>
              <a:buChar char="•"/>
            </a:pPr>
            <a:r>
              <a:rPr lang="en-GB" b="1" i="1">
                <a:solidFill>
                  <a:prstClr val="black"/>
                </a:solidFill>
              </a:rPr>
              <a:t>What is the Format of your Bank Account Number (Size, Is there a Check Digit, Is it based on your Branch Code etc..)</a:t>
            </a:r>
            <a:endParaRPr kumimoji="0" lang="en-GB" b="0" i="0" u="none" strike="noStrike" kern="1200" cap="none" spc="0" normalizeH="0" baseline="0" noProof="0">
              <a:ln>
                <a:noFill/>
              </a:ln>
              <a:solidFill>
                <a:prstClr val="black"/>
              </a:solidFill>
              <a:effectLst/>
              <a:uLnTx/>
              <a:uFillTx/>
              <a:latin typeface="Calibri"/>
              <a:ea typeface="+mn-ea"/>
              <a:cs typeface="+mn-cs"/>
            </a:endParaRPr>
          </a:p>
          <a:p>
            <a:pPr marL="742950" lvl="1" indent="-285750">
              <a:buFont typeface="Arial" panose="020B0604020202020204" pitchFamily="34" charset="0"/>
              <a:buChar char="•"/>
            </a:pPr>
            <a:r>
              <a:rPr kumimoji="0" lang="en-GB" b="0" i="0" u="none" strike="noStrike" kern="1200" cap="none" spc="0" normalizeH="0" baseline="0" noProof="0">
                <a:ln>
                  <a:noFill/>
                </a:ln>
                <a:solidFill>
                  <a:prstClr val="black"/>
                </a:solidFill>
                <a:effectLst/>
                <a:uLnTx/>
                <a:uFillTx/>
                <a:latin typeface="Calibri"/>
                <a:ea typeface="+mn-ea"/>
                <a:cs typeface="+mn-cs"/>
              </a:rPr>
              <a:t>What Apps (Bank Channels, Payment Apps) do you use to operate and initiate Transactions on the Account</a:t>
            </a:r>
          </a:p>
          <a:p>
            <a:pPr marL="742950" lvl="1" indent="-285750">
              <a:buFont typeface="Arial" panose="020B0604020202020204" pitchFamily="34" charset="0"/>
              <a:buChar char="•"/>
            </a:pPr>
            <a:r>
              <a:rPr lang="en-GB">
                <a:solidFill>
                  <a:prstClr val="black"/>
                </a:solidFill>
                <a:latin typeface="Calibri"/>
              </a:rPr>
              <a:t>What type of Transactions do you do on your account</a:t>
            </a:r>
          </a:p>
          <a:p>
            <a:pPr marL="742950" lvl="1" indent="-285750">
              <a:buFont typeface="Arial" panose="020B0604020202020204" pitchFamily="34" charset="0"/>
              <a:buChar char="•"/>
            </a:pPr>
            <a:r>
              <a:rPr kumimoji="0" lang="en-GB" b="0" i="0" u="none" strike="noStrike" kern="1200" cap="none" spc="0" normalizeH="0" baseline="0" noProof="0">
                <a:ln>
                  <a:noFill/>
                </a:ln>
                <a:solidFill>
                  <a:prstClr val="black"/>
                </a:solidFill>
                <a:effectLst/>
                <a:uLnTx/>
                <a:uFillTx/>
                <a:latin typeface="Calibri"/>
                <a:ea typeface="+mn-ea"/>
                <a:cs typeface="+mn-cs"/>
              </a:rPr>
              <a:t>What is the Average Number of Transactions done Daily, Weekly last couple of months</a:t>
            </a:r>
          </a:p>
          <a:p>
            <a:pPr marL="742950" lvl="1" indent="-285750">
              <a:buFont typeface="Arial" panose="020B0604020202020204" pitchFamily="34" charset="0"/>
              <a:buChar char="•"/>
            </a:pPr>
            <a:r>
              <a:rPr lang="en-GB">
                <a:solidFill>
                  <a:prstClr val="black"/>
                </a:solidFill>
                <a:latin typeface="Calibri"/>
              </a:rPr>
              <a:t>What is the highest / lowest amount Transaction done in last couple of months</a:t>
            </a:r>
          </a:p>
          <a:p>
            <a:pPr marL="742950" lvl="1" indent="-285750">
              <a:buFont typeface="Arial" panose="020B0604020202020204" pitchFamily="34" charset="0"/>
              <a:buChar char="•"/>
            </a:pPr>
            <a:r>
              <a:rPr lang="en-GB">
                <a:solidFill>
                  <a:prstClr val="black"/>
                </a:solidFill>
                <a:latin typeface="Calibri"/>
              </a:rPr>
              <a:t>What Interest and Fees are charged on your account and What is the Frequency of these Charges </a:t>
            </a:r>
          </a:p>
          <a:p>
            <a:pPr marL="742950" lvl="1" indent="-285750">
              <a:buFont typeface="Arial" panose="020B0604020202020204" pitchFamily="34" charset="0"/>
              <a:buChar char="•"/>
            </a:pPr>
            <a:r>
              <a:rPr lang="en-GB">
                <a:solidFill>
                  <a:prstClr val="black"/>
                </a:solidFill>
                <a:latin typeface="Calibri"/>
              </a:rPr>
              <a:t>What is the Interest Rate and When was the Last Interest Payment done by the Bank</a:t>
            </a:r>
          </a:p>
          <a:p>
            <a:pPr marL="742950" lvl="1" indent="-285750">
              <a:buFont typeface="Arial" panose="020B0604020202020204" pitchFamily="34" charset="0"/>
              <a:buChar char="•"/>
            </a:pPr>
            <a:r>
              <a:rPr lang="en-GB">
                <a:solidFill>
                  <a:prstClr val="black"/>
                </a:solidFill>
                <a:latin typeface="Calibri"/>
              </a:rPr>
              <a:t>What kind of notifications/communications specific to your account you receive from your Bank </a:t>
            </a:r>
          </a:p>
          <a:p>
            <a:pPr marL="742950" lvl="1" indent="-285750">
              <a:buFont typeface="Arial" panose="020B0604020202020204" pitchFamily="34" charset="0"/>
              <a:buChar char="•"/>
            </a:pPr>
            <a:r>
              <a:rPr lang="en-GB">
                <a:solidFill>
                  <a:prstClr val="black"/>
                </a:solidFill>
                <a:latin typeface="Calibri"/>
              </a:rPr>
              <a:t>What Improvements you would like to see in your Interaction experience with your Bank</a:t>
            </a:r>
          </a:p>
          <a:p>
            <a:pPr marL="742950" lvl="1" indent="-285750">
              <a:buFont typeface="Arial" panose="020B0604020202020204" pitchFamily="34" charset="0"/>
              <a:buChar char="•"/>
            </a:pPr>
            <a:r>
              <a:rPr lang="en-GB">
                <a:solidFill>
                  <a:prstClr val="black"/>
                </a:solidFill>
                <a:latin typeface="Calibri"/>
              </a:rPr>
              <a:t>Any thing else U would like to share on your Bank / your Banking Product</a:t>
            </a:r>
          </a:p>
          <a:p>
            <a:pPr marL="742950" lvl="1" indent="-285750">
              <a:buFont typeface="Arial" panose="020B0604020202020204" pitchFamily="34" charset="0"/>
              <a:buChar char="•"/>
            </a:pPr>
            <a:endParaRPr lang="en-GB">
              <a:solidFill>
                <a:prstClr val="black"/>
              </a:solidFill>
              <a:latin typeface="Calibri"/>
            </a:endParaRPr>
          </a:p>
          <a:p>
            <a:pPr marL="742950" lvl="1" indent="-285750">
              <a:buFont typeface="Arial" panose="020B0604020202020204" pitchFamily="34" charset="0"/>
              <a:buChar char="•"/>
            </a:pPr>
            <a:endParaRPr kumimoji="0" lang="en-GB" b="0" i="0" u="none" strike="noStrike" kern="1200" cap="none" spc="0" normalizeH="0" baseline="0" noProof="0">
              <a:ln>
                <a:noFill/>
              </a:ln>
              <a:solidFill>
                <a:prstClr val="black"/>
              </a:solidFill>
              <a:effectLst/>
              <a:uLnTx/>
              <a:uFillTx/>
              <a:latin typeface="Calibri"/>
              <a:ea typeface="+mn-ea"/>
              <a:cs typeface="+mn-cs"/>
            </a:endParaRPr>
          </a:p>
          <a:p>
            <a:pPr marL="742950" lvl="1" indent="-285750">
              <a:buFont typeface="Arial" panose="020B0604020202020204" pitchFamily="34" charset="0"/>
              <a:buChar char="•"/>
            </a:pPr>
            <a:endParaRPr kumimoji="0" lang="en-IN"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7579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1F152-B73B-5C29-70DA-CA4A7B7B7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5D7A6-FAF4-39DE-09A7-D8FE051B88AE}"/>
              </a:ext>
            </a:extLst>
          </p:cNvPr>
          <p:cNvSpPr>
            <a:spLocks noGrp="1"/>
          </p:cNvSpPr>
          <p:nvPr>
            <p:ph type="title"/>
          </p:nvPr>
        </p:nvSpPr>
        <p:spPr>
          <a:xfrm>
            <a:off x="182400" y="369147"/>
            <a:ext cx="8835527" cy="772045"/>
          </a:xfrm>
        </p:spPr>
        <p:txBody>
          <a:bodyPr anchor="b">
            <a:normAutofit fontScale="90000"/>
          </a:bodyPr>
          <a:lstStyle/>
          <a:p>
            <a:r>
              <a:rPr lang="en-US" sz="3500"/>
              <a:t>Core Banking Platforms Engineering – Capability Layering </a:t>
            </a:r>
            <a:endParaRPr lang="en-US" sz="3500">
              <a:solidFill>
                <a:srgbClr val="FFFFFF"/>
              </a:solidFill>
            </a:endParaRPr>
          </a:p>
        </p:txBody>
      </p:sp>
      <p:sp>
        <p:nvSpPr>
          <p:cNvPr id="3" name="Rectangle 2">
            <a:extLst>
              <a:ext uri="{FF2B5EF4-FFF2-40B4-BE49-F238E27FC236}">
                <a16:creationId xmlns:a16="http://schemas.microsoft.com/office/drawing/2014/main" id="{E445B954-D7B4-F4C0-F2FE-A1D672DB4934}"/>
              </a:ext>
            </a:extLst>
          </p:cNvPr>
          <p:cNvSpPr/>
          <p:nvPr/>
        </p:nvSpPr>
        <p:spPr>
          <a:xfrm>
            <a:off x="87085" y="1469491"/>
            <a:ext cx="8835526" cy="3662541"/>
          </a:xfrm>
          <a:prstGeom prst="rect">
            <a:avLst/>
          </a:prstGeom>
        </p:spPr>
        <p:txBody>
          <a:bodyPr wrap="square">
            <a:spAutoFit/>
          </a:bodyPr>
          <a:lstStyle/>
          <a:p>
            <a:pPr lvl="1"/>
            <a:r>
              <a:rPr lang="en-US" sz="2000">
                <a:latin typeface="Segoe UI" pitchFamily="34" charset="0"/>
                <a:ea typeface="Segoe UI" pitchFamily="34" charset="-122"/>
                <a:cs typeface="Segoe UI" pitchFamily="34" charset="-120"/>
              </a:rPr>
              <a:t>To Engineer Globally Adaptable / Extendible Core Banking Platforms, Capabilities have to be categorized in to 3 Levels:</a:t>
            </a:r>
          </a:p>
          <a:p>
            <a:pPr marL="1257300" lvl="2" indent="-342900">
              <a:buFont typeface="Arial" panose="020B0604020202020204" pitchFamily="34" charset="0"/>
              <a:buChar char="•"/>
            </a:pPr>
            <a:r>
              <a:rPr lang="en-US" sz="2000" b="1" u="sng">
                <a:latin typeface="Segoe UI" pitchFamily="34" charset="0"/>
                <a:ea typeface="Segoe UI" pitchFamily="34" charset="-122"/>
                <a:cs typeface="Segoe UI" pitchFamily="34" charset="-120"/>
              </a:rPr>
              <a:t>Global</a:t>
            </a:r>
            <a:r>
              <a:rPr lang="en-US" sz="2000">
                <a:latin typeface="Segoe UI" pitchFamily="34" charset="0"/>
                <a:ea typeface="Segoe UI" pitchFamily="34" charset="-122"/>
                <a:cs typeface="Segoe UI" pitchFamily="34" charset="-120"/>
              </a:rPr>
              <a:t> – Capability that is Generic and used by Multiple Countries</a:t>
            </a:r>
          </a:p>
          <a:p>
            <a:pPr marL="1257300" lvl="2" indent="-342900">
              <a:buFont typeface="Arial" panose="020B0604020202020204" pitchFamily="34" charset="0"/>
              <a:buChar char="•"/>
            </a:pPr>
            <a:r>
              <a:rPr lang="en-US" sz="2000" b="1" u="sng">
                <a:latin typeface="Segoe UI" pitchFamily="34" charset="0"/>
                <a:ea typeface="Segoe UI" pitchFamily="34" charset="-122"/>
                <a:cs typeface="Segoe UI" pitchFamily="34" charset="-120"/>
              </a:rPr>
              <a:t>Country Specific </a:t>
            </a:r>
            <a:r>
              <a:rPr lang="en-US" sz="2000">
                <a:latin typeface="Segoe UI" pitchFamily="34" charset="0"/>
                <a:ea typeface="Segoe UI" pitchFamily="34" charset="-122"/>
                <a:cs typeface="Segoe UI" pitchFamily="34" charset="-120"/>
              </a:rPr>
              <a:t>– Capability varies typically by each Country</a:t>
            </a:r>
          </a:p>
          <a:p>
            <a:pPr marL="1257300" lvl="2" indent="-342900">
              <a:buFont typeface="Arial" panose="020B0604020202020204" pitchFamily="34" charset="0"/>
              <a:buChar char="•"/>
            </a:pPr>
            <a:r>
              <a:rPr lang="en-US" sz="2000" b="1" u="sng">
                <a:latin typeface="Segoe UI" pitchFamily="34" charset="0"/>
                <a:ea typeface="Segoe UI" pitchFamily="34" charset="-122"/>
                <a:cs typeface="Segoe UI" pitchFamily="34" charset="-120"/>
              </a:rPr>
              <a:t>Client Specific </a:t>
            </a:r>
            <a:r>
              <a:rPr lang="en-US" sz="2000">
                <a:latin typeface="Segoe UI" pitchFamily="34" charset="0"/>
                <a:ea typeface="Segoe UI" pitchFamily="34" charset="-122"/>
                <a:cs typeface="Segoe UI" pitchFamily="34" charset="-120"/>
              </a:rPr>
              <a:t>– Capability that can potentially vary by each Client </a:t>
            </a:r>
          </a:p>
          <a:p>
            <a:pPr lvl="1"/>
            <a:endParaRPr lang="en-US" sz="2000">
              <a:latin typeface="Segoe UI" pitchFamily="34" charset="0"/>
              <a:ea typeface="Segoe UI" pitchFamily="34" charset="-122"/>
              <a:cs typeface="Segoe UI" pitchFamily="34" charset="-120"/>
            </a:endParaRPr>
          </a:p>
          <a:p>
            <a:pPr lvl="1"/>
            <a:r>
              <a:rPr kumimoji="0" lang="en-GB" b="0" i="0" u="none" strike="noStrike" kern="1200" cap="none" spc="0" normalizeH="0" baseline="0" noProof="0">
                <a:ln>
                  <a:noFill/>
                </a:ln>
                <a:effectLst/>
                <a:uLnTx/>
                <a:uFillTx/>
                <a:latin typeface="Calibri"/>
                <a:ea typeface="+mn-ea"/>
                <a:cs typeface="+mn-cs"/>
              </a:rPr>
              <a:t>In this Chapter we will focus on what capabilities that typically vary by Country and some techniques of how to handle these.</a:t>
            </a:r>
          </a:p>
          <a:p>
            <a:pPr lvl="1"/>
            <a:endParaRPr lang="en-GB">
              <a:latin typeface="Calibri"/>
            </a:endParaRPr>
          </a:p>
          <a:p>
            <a:pPr lvl="1"/>
            <a:endParaRPr kumimoji="0" lang="en-IN"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44899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8B743-EAE5-DB97-7699-BEAD3FC33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7B317-82B2-08F4-9353-F4D727447FE9}"/>
              </a:ext>
            </a:extLst>
          </p:cNvPr>
          <p:cNvSpPr>
            <a:spLocks noGrp="1"/>
          </p:cNvSpPr>
          <p:nvPr>
            <p:ph type="title"/>
          </p:nvPr>
        </p:nvSpPr>
        <p:spPr>
          <a:xfrm>
            <a:off x="182400" y="248951"/>
            <a:ext cx="8835527" cy="772045"/>
          </a:xfrm>
        </p:spPr>
        <p:txBody>
          <a:bodyPr anchor="b">
            <a:normAutofit fontScale="90000"/>
          </a:bodyPr>
          <a:lstStyle/>
          <a:p>
            <a:r>
              <a:rPr lang="en-US" sz="3500"/>
              <a:t>Core Banking Platforms Engineering – Country Variation Considerations</a:t>
            </a:r>
            <a:endParaRPr lang="en-US" sz="3500">
              <a:solidFill>
                <a:srgbClr val="FFFFFF"/>
              </a:solidFill>
            </a:endParaRPr>
          </a:p>
        </p:txBody>
      </p:sp>
      <p:sp>
        <p:nvSpPr>
          <p:cNvPr id="3" name="Rectangle 2">
            <a:extLst>
              <a:ext uri="{FF2B5EF4-FFF2-40B4-BE49-F238E27FC236}">
                <a16:creationId xmlns:a16="http://schemas.microsoft.com/office/drawing/2014/main" id="{DEC74E7F-ABF1-83D5-11BF-CF15F7863633}"/>
              </a:ext>
            </a:extLst>
          </p:cNvPr>
          <p:cNvSpPr/>
          <p:nvPr/>
        </p:nvSpPr>
        <p:spPr>
          <a:xfrm>
            <a:off x="0" y="1404177"/>
            <a:ext cx="8835528" cy="5139869"/>
          </a:xfrm>
          <a:prstGeom prst="rect">
            <a:avLst/>
          </a:prstGeom>
        </p:spPr>
        <p:txBody>
          <a:bodyPr wrap="square">
            <a:spAutoFit/>
          </a:bodyPr>
          <a:lstStyle/>
          <a:p>
            <a:pPr lvl="1"/>
            <a:r>
              <a:rPr lang="en-US" sz="2000">
                <a:latin typeface="Segoe UI" pitchFamily="34" charset="0"/>
                <a:ea typeface="Segoe UI" pitchFamily="34" charset="-122"/>
                <a:cs typeface="Segoe UI" pitchFamily="34" charset="-120"/>
              </a:rPr>
              <a:t>Capabilities that Generally Vary by Country:</a:t>
            </a:r>
          </a:p>
          <a:p>
            <a:pPr lvl="1"/>
            <a:endParaRPr lang="en-US" sz="2000">
              <a:latin typeface="Segoe UI" pitchFamily="34" charset="0"/>
              <a:ea typeface="Segoe UI" pitchFamily="34" charset="-122"/>
              <a:cs typeface="Segoe UI" pitchFamily="34" charset="-120"/>
            </a:endParaRP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Account Numbering Schemes</a:t>
            </a: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Customer Numbering Schemes</a:t>
            </a: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Currencies</a:t>
            </a: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Calendars</a:t>
            </a:r>
          </a:p>
          <a:p>
            <a:pPr marL="1200150" lvl="2" indent="-285750">
              <a:buFont typeface="Arial" panose="020B0604020202020204" pitchFamily="34" charset="0"/>
              <a:buChar char="•"/>
            </a:pPr>
            <a:r>
              <a:rPr lang="en-US">
                <a:latin typeface="Segoe UI" pitchFamily="34" charset="0"/>
                <a:ea typeface="Segoe UI" pitchFamily="34" charset="-122"/>
                <a:cs typeface="Segoe UI" pitchFamily="34" charset="-120"/>
              </a:rPr>
              <a:t>Financial Year Vs Calendar Year</a:t>
            </a: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Country Language Localization </a:t>
            </a:r>
          </a:p>
          <a:p>
            <a:pPr marL="1200150" lvl="2" indent="-285750">
              <a:buFont typeface="Arial" panose="020B0604020202020204" pitchFamily="34" charset="0"/>
              <a:buChar char="•"/>
            </a:pPr>
            <a:r>
              <a:rPr lang="en-US">
                <a:latin typeface="Segoe UI" pitchFamily="34" charset="0"/>
                <a:ea typeface="Segoe UI" pitchFamily="34" charset="-122"/>
                <a:cs typeface="Segoe UI" pitchFamily="34" charset="-120"/>
              </a:rPr>
              <a:t>Character Sets – SGCS, DBCS </a:t>
            </a:r>
          </a:p>
          <a:p>
            <a:pPr marL="1200150" lvl="2" indent="-285750">
              <a:buFont typeface="Arial" panose="020B0604020202020204" pitchFamily="34" charset="0"/>
              <a:buChar char="•"/>
            </a:pPr>
            <a:r>
              <a:rPr lang="en-US">
                <a:latin typeface="Segoe UI" pitchFamily="34" charset="0"/>
                <a:ea typeface="Segoe UI" pitchFamily="34" charset="-122"/>
                <a:cs typeface="Segoe UI" pitchFamily="34" charset="-120"/>
              </a:rPr>
              <a:t>Date and Amount Formats</a:t>
            </a: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Payment Schemes</a:t>
            </a: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Taxation </a:t>
            </a: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Regulators and Compliance </a:t>
            </a: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Open Banking API </a:t>
            </a:r>
          </a:p>
          <a:p>
            <a:pPr marL="742950" lvl="1" indent="-285750">
              <a:buFont typeface="Arial" panose="020B0604020202020204" pitchFamily="34" charset="0"/>
              <a:buChar char="•"/>
            </a:pPr>
            <a:r>
              <a:rPr lang="en-US">
                <a:latin typeface="Segoe UI" pitchFamily="34" charset="0"/>
                <a:ea typeface="Segoe UI" pitchFamily="34" charset="-122"/>
                <a:cs typeface="Segoe UI" pitchFamily="34" charset="-120"/>
              </a:rPr>
              <a:t>Accounting Models </a:t>
            </a:r>
            <a:endParaRPr lang="en-US">
              <a:latin typeface="Segoe UI" pitchFamily="34" charset="0"/>
              <a:cs typeface="Segoe UI" pitchFamily="34" charset="-120"/>
            </a:endParaRPr>
          </a:p>
          <a:p>
            <a:pPr marL="742950" lvl="1" indent="-285750">
              <a:buFont typeface="Arial" panose="020B0604020202020204" pitchFamily="34" charset="0"/>
              <a:buChar char="•"/>
            </a:pPr>
            <a:endParaRPr lang="en-GB">
              <a:latin typeface="Calibri"/>
            </a:endParaRPr>
          </a:p>
          <a:p>
            <a:pPr marL="742950" lvl="1" indent="-285750">
              <a:buFont typeface="Arial" panose="020B0604020202020204" pitchFamily="34" charset="0"/>
              <a:buChar char="•"/>
            </a:pPr>
            <a:endParaRPr kumimoji="0" lang="en-GB" b="0" i="0" u="none" strike="noStrike" kern="1200" cap="none" spc="0" normalizeH="0" baseline="0" noProof="0">
              <a:ln>
                <a:noFill/>
              </a:ln>
              <a:effectLst/>
              <a:uLnTx/>
              <a:uFillTx/>
              <a:latin typeface="Calibri"/>
              <a:ea typeface="+mn-ea"/>
              <a:cs typeface="+mn-cs"/>
            </a:endParaRPr>
          </a:p>
          <a:p>
            <a:pPr marL="742950" lvl="1" indent="-285750">
              <a:buFont typeface="Arial" panose="020B0604020202020204" pitchFamily="34" charset="0"/>
              <a:buChar char="•"/>
            </a:pPr>
            <a:endParaRPr kumimoji="0" lang="en-IN"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62755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E9C3694E-6AC7-76A3-1DD2-A810BB7C0928}"/>
              </a:ext>
            </a:extLst>
          </p:cNvPr>
          <p:cNvSpPr>
            <a:spLocks noGrp="1"/>
          </p:cNvSpPr>
          <p:nvPr>
            <p:ph type="ctrTitle"/>
          </p:nvPr>
        </p:nvSpPr>
        <p:spPr>
          <a:xfrm>
            <a:off x="207818" y="2217991"/>
            <a:ext cx="5829300" cy="3420690"/>
          </a:xfrm>
        </p:spPr>
        <p:txBody>
          <a:bodyPr anchor="b">
            <a:normAutofit/>
          </a:bodyPr>
          <a:lstStyle/>
          <a:p>
            <a:pPr algn="l"/>
            <a:r>
              <a:rPr lang="en-US" sz="5550"/>
              <a:t>Account Numbering Schemes</a:t>
            </a:r>
          </a:p>
        </p:txBody>
      </p:sp>
    </p:spTree>
    <p:extLst>
      <p:ext uri="{BB962C8B-B14F-4D97-AF65-F5344CB8AC3E}">
        <p14:creationId xmlns:p14="http://schemas.microsoft.com/office/powerpoint/2010/main" val="302559036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54B96987-3FFE-C454-59C0-C14204993CCB}"/>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Purpose and importance of account numbering</a:t>
            </a:r>
          </a:p>
        </p:txBody>
      </p:sp>
      <p:pic>
        <p:nvPicPr>
          <p:cNvPr id="5" name="Content Placeholder 4" descr="numerals and finance">
            <a:extLst>
              <a:ext uri="{FF2B5EF4-FFF2-40B4-BE49-F238E27FC236}">
                <a16:creationId xmlns:a16="http://schemas.microsoft.com/office/drawing/2014/main" id="{9EC421E4-EBB8-43D7-BD90-98C29F30EEAA}"/>
              </a:ext>
            </a:extLst>
          </p:cNvPr>
          <p:cNvPicPr>
            <a:picLocks noGrp="1" noChangeAspect="1"/>
          </p:cNvPicPr>
          <p:nvPr>
            <p:ph sz="half" idx="1"/>
          </p:nvPr>
        </p:nvPicPr>
        <p:blipFill>
          <a:blip r:embed="rId3"/>
          <a:srcRect l="11419" r="40788"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3313120D-1913-60BE-DE71-4FF20DB40F4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Unique Identification</a:t>
            </a:r>
          </a:p>
          <a:p>
            <a:pPr marL="0" lvl="1" indent="0">
              <a:buNone/>
            </a:pPr>
            <a:r>
              <a:rPr lang="en-US" sz="1050"/>
              <a:t>Account numbers provide unique identification for each customer within banking systems, preventing confusion or duplication.</a:t>
            </a:r>
          </a:p>
          <a:p>
            <a:pPr marL="0" indent="0">
              <a:spcBef>
                <a:spcPts val="1875"/>
              </a:spcBef>
              <a:buNone/>
            </a:pPr>
            <a:r>
              <a:rPr lang="en-US" sz="1050" b="1"/>
              <a:t>Accurate Fund Routing</a:t>
            </a:r>
          </a:p>
          <a:p>
            <a:pPr marL="0" lvl="1" indent="0">
              <a:buNone/>
            </a:pPr>
            <a:r>
              <a:rPr lang="en-US" sz="1050"/>
              <a:t>They enable precise routing of funds during transactions, ensuring money reaches the intended recipient efficiently.</a:t>
            </a:r>
          </a:p>
          <a:p>
            <a:pPr marL="0" indent="0">
              <a:spcBef>
                <a:spcPts val="1875"/>
              </a:spcBef>
              <a:buNone/>
            </a:pPr>
            <a:r>
              <a:rPr lang="en-US" sz="1050" b="1"/>
              <a:t>Transaction Security and Traceability</a:t>
            </a:r>
          </a:p>
          <a:p>
            <a:pPr marL="0" lvl="1" indent="0">
              <a:buNone/>
            </a:pPr>
            <a:r>
              <a:rPr lang="en-US" sz="1050"/>
              <a:t>Account numbers help maintain security and allow traceability of payments, reducing errors and fraud in transactions.</a:t>
            </a:r>
          </a:p>
        </p:txBody>
      </p:sp>
    </p:spTree>
    <p:extLst>
      <p:ext uri="{BB962C8B-B14F-4D97-AF65-F5344CB8AC3E}">
        <p14:creationId xmlns:p14="http://schemas.microsoft.com/office/powerpoint/2010/main" val="33762590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1348FFC2-43C3-A233-5436-9269E8138147}"/>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Overview of global account identification</a:t>
            </a:r>
          </a:p>
        </p:txBody>
      </p:sp>
      <p:sp>
        <p:nvSpPr>
          <p:cNvPr id="4" name="Content Placeholder 3">
            <a:extLst>
              <a:ext uri="{FF2B5EF4-FFF2-40B4-BE49-F238E27FC236}">
                <a16:creationId xmlns:a16="http://schemas.microsoft.com/office/drawing/2014/main" id="{1668E201-BBA7-6A46-FF73-23AA047CD53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Variety of Numbering Schemes</a:t>
            </a:r>
          </a:p>
          <a:p>
            <a:pPr marL="0" lvl="1" indent="0">
              <a:buNone/>
            </a:pPr>
            <a:r>
              <a:rPr lang="en-US" sz="1050"/>
              <a:t>Different countries use diverse numbering systems to uniquely identify bank accounts worldwide.</a:t>
            </a:r>
          </a:p>
          <a:p>
            <a:pPr marL="0" indent="0">
              <a:spcBef>
                <a:spcPts val="1875"/>
              </a:spcBef>
              <a:buNone/>
            </a:pPr>
            <a:r>
              <a:rPr lang="en-US" sz="1050" b="1"/>
              <a:t>International Standards</a:t>
            </a:r>
          </a:p>
          <a:p>
            <a:pPr marL="0" lvl="1" indent="0">
              <a:buNone/>
            </a:pPr>
            <a:r>
              <a:rPr lang="en-US" sz="1050"/>
              <a:t>Standards like IBAN facilitate consistent and accurate identification of accounts across borders.</a:t>
            </a:r>
          </a:p>
          <a:p>
            <a:pPr marL="0" indent="0">
              <a:spcBef>
                <a:spcPts val="1875"/>
              </a:spcBef>
              <a:buNone/>
            </a:pPr>
            <a:r>
              <a:rPr lang="en-US" sz="1050" b="1"/>
              <a:t>Enabling Smooth Transactions</a:t>
            </a:r>
          </a:p>
          <a:p>
            <a:pPr marL="0" lvl="1" indent="0">
              <a:buNone/>
            </a:pPr>
            <a:r>
              <a:rPr lang="en-US" sz="1050"/>
              <a:t>Account identification systems support efficient domestic and international banking operations.</a:t>
            </a:r>
          </a:p>
        </p:txBody>
      </p:sp>
      <p:pic>
        <p:nvPicPr>
          <p:cNvPr id="5" name="Content Placeholder 4" descr="Modern background">
            <a:extLst>
              <a:ext uri="{FF2B5EF4-FFF2-40B4-BE49-F238E27FC236}">
                <a16:creationId xmlns:a16="http://schemas.microsoft.com/office/drawing/2014/main" id="{9B125190-65B0-4F74-BC77-A60D5DCEAC5C}"/>
              </a:ext>
            </a:extLst>
          </p:cNvPr>
          <p:cNvPicPr>
            <a:picLocks noGrp="1" noChangeAspect="1"/>
          </p:cNvPicPr>
          <p:nvPr>
            <p:ph sz="half" idx="1"/>
          </p:nvPr>
        </p:nvPicPr>
        <p:blipFill>
          <a:blip r:embed="rId3"/>
          <a:srcRect l="23768" r="29061" b="-1"/>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10832308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2D07ADE4-E2C4-4966-0D22-13904B18AC83}"/>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Key stakeholders: banks, regulators, and customers</a:t>
            </a:r>
          </a:p>
        </p:txBody>
      </p:sp>
      <p:pic>
        <p:nvPicPr>
          <p:cNvPr id="5" name="Content Placeholder 4" descr="Abstract Digital concept which shows network security optimisation and internet technology  ">
            <a:extLst>
              <a:ext uri="{FF2B5EF4-FFF2-40B4-BE49-F238E27FC236}">
                <a16:creationId xmlns:a16="http://schemas.microsoft.com/office/drawing/2014/main" id="{5B6849A1-86A0-4C4A-9232-51D789EB27D3}"/>
              </a:ext>
            </a:extLst>
          </p:cNvPr>
          <p:cNvPicPr>
            <a:picLocks noGrp="1" noChangeAspect="1"/>
          </p:cNvPicPr>
          <p:nvPr>
            <p:ph sz="half" idx="1"/>
          </p:nvPr>
        </p:nvPicPr>
        <p:blipFill>
          <a:blip r:embed="rId3"/>
          <a:srcRect l="12747" r="33553"/>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69452F23-A07C-C29A-2D5F-C33353D8F4A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Role of Banks</a:t>
            </a:r>
          </a:p>
          <a:p>
            <a:pPr marL="0" lvl="1" indent="0">
              <a:buNone/>
            </a:pPr>
            <a:r>
              <a:rPr lang="en-US" sz="1050"/>
              <a:t>Banks issue and maintain account numbers essential for customers' financial transactions.</a:t>
            </a:r>
          </a:p>
          <a:p>
            <a:pPr marL="0" indent="0">
              <a:spcBef>
                <a:spcPts val="1875"/>
              </a:spcBef>
              <a:buNone/>
            </a:pPr>
            <a:r>
              <a:rPr lang="en-US" sz="1050" b="1"/>
              <a:t>Regulators' Function</a:t>
            </a:r>
          </a:p>
          <a:p>
            <a:pPr marL="0" lvl="1" indent="0">
              <a:buNone/>
            </a:pPr>
            <a:r>
              <a:rPr lang="en-US" sz="1050"/>
              <a:t>Regulators define and enforce standards (e.g.. Size/Max Size of an Account Number, Any Check Digit Rules, Types of Account Numbers Allowed etc..) to ensure security and interoperability in financial systems.</a:t>
            </a:r>
          </a:p>
          <a:p>
            <a:pPr marL="0" indent="0">
              <a:spcBef>
                <a:spcPts val="1875"/>
              </a:spcBef>
              <a:buNone/>
            </a:pPr>
            <a:r>
              <a:rPr lang="en-US" sz="1050" b="1"/>
              <a:t>Customers' Dependence</a:t>
            </a:r>
          </a:p>
          <a:p>
            <a:pPr marL="0" lvl="1" indent="0">
              <a:buNone/>
            </a:pPr>
            <a:r>
              <a:rPr lang="en-US" sz="1050"/>
              <a:t>Customers rely on account identifiers daily for seamless and secure financial activities.</a:t>
            </a:r>
          </a:p>
        </p:txBody>
      </p:sp>
    </p:spTree>
    <p:extLst>
      <p:ext uri="{BB962C8B-B14F-4D97-AF65-F5344CB8AC3E}">
        <p14:creationId xmlns:p14="http://schemas.microsoft.com/office/powerpoint/2010/main" val="38204090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8F1BDE16-4A1D-1315-EFCF-8D438491A8A7}"/>
              </a:ext>
            </a:extLst>
          </p:cNvPr>
          <p:cNvSpPr>
            <a:spLocks noGrp="1"/>
          </p:cNvSpPr>
          <p:nvPr>
            <p:ph type="ctrTitle"/>
          </p:nvPr>
        </p:nvSpPr>
        <p:spPr>
          <a:xfrm>
            <a:off x="207818" y="2217991"/>
            <a:ext cx="5829300" cy="3420690"/>
          </a:xfrm>
        </p:spPr>
        <p:txBody>
          <a:bodyPr anchor="b">
            <a:normAutofit/>
          </a:bodyPr>
          <a:lstStyle/>
          <a:p>
            <a:pPr algn="l"/>
            <a:r>
              <a:rPr lang="en-US" sz="5550"/>
              <a:t>Traditional Account Numbers</a:t>
            </a:r>
          </a:p>
        </p:txBody>
      </p:sp>
    </p:spTree>
    <p:extLst>
      <p:ext uri="{BB962C8B-B14F-4D97-AF65-F5344CB8AC3E}">
        <p14:creationId xmlns:p14="http://schemas.microsoft.com/office/powerpoint/2010/main" val="67075149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784C9BCC-6DBB-A3A4-E75C-84B84D83ECA2}"/>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700" b="1"/>
              <a:t>Definition and structure of account numbers</a:t>
            </a:r>
          </a:p>
        </p:txBody>
      </p:sp>
      <p:pic>
        <p:nvPicPr>
          <p:cNvPr id="5" name="Content Placeholder 4" descr="Stock exchange numbers">
            <a:extLst>
              <a:ext uri="{FF2B5EF4-FFF2-40B4-BE49-F238E27FC236}">
                <a16:creationId xmlns:a16="http://schemas.microsoft.com/office/drawing/2014/main" id="{259882D7-A34E-4EAB-AD55-584926E3590E}"/>
              </a:ext>
            </a:extLst>
          </p:cNvPr>
          <p:cNvPicPr>
            <a:picLocks noGrp="1" noChangeAspect="1"/>
          </p:cNvPicPr>
          <p:nvPr>
            <p:ph sz="half" idx="1"/>
          </p:nvPr>
        </p:nvPicPr>
        <p:blipFill>
          <a:blip r:embed="rId3"/>
          <a:srcRect r="3" b="1299"/>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87F4698E-F00E-A82E-1345-CF48B331F43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p:spPr>
        <p:txBody>
          <a:bodyPr vert="horz" lIns="91440" tIns="45720" rIns="91440" bIns="45720" rtlCol="0" anchor="t">
            <a:normAutofit/>
          </a:bodyPr>
          <a:lstStyle/>
          <a:p>
            <a:pPr marL="0" indent="0">
              <a:spcBef>
                <a:spcPts val="1875"/>
              </a:spcBef>
              <a:buNone/>
            </a:pPr>
            <a:r>
              <a:rPr lang="en-US" sz="1050" b="1"/>
              <a:t>Nature of Account Numbers</a:t>
            </a:r>
          </a:p>
          <a:p>
            <a:pPr marL="0" lvl="1" indent="0">
              <a:buNone/>
            </a:pPr>
            <a:r>
              <a:rPr lang="en-US" sz="1050"/>
              <a:t>Account numbers are numeric or alphanumeric sequences uniquely identifying bank accounts.</a:t>
            </a:r>
          </a:p>
          <a:p>
            <a:pPr marL="0" indent="0">
              <a:spcBef>
                <a:spcPts val="1875"/>
              </a:spcBef>
              <a:buNone/>
            </a:pPr>
            <a:r>
              <a:rPr lang="en-US" sz="1050" b="1"/>
              <a:t>Variability in Format</a:t>
            </a:r>
          </a:p>
          <a:p>
            <a:pPr marL="0" lvl="1" indent="0">
              <a:buNone/>
            </a:pPr>
            <a:r>
              <a:rPr lang="en-US" sz="1050"/>
              <a:t>Account number length and format differ based on the issuing bank and country regulations.</a:t>
            </a:r>
          </a:p>
          <a:p>
            <a:pPr marL="0" indent="0">
              <a:spcBef>
                <a:spcPts val="1875"/>
              </a:spcBef>
              <a:buNone/>
            </a:pPr>
            <a:r>
              <a:rPr lang="en-US" sz="1050" b="1"/>
              <a:t>Uniqueness</a:t>
            </a:r>
          </a:p>
          <a:p>
            <a:pPr marL="0" lvl="1" indent="0">
              <a:buNone/>
            </a:pPr>
            <a:r>
              <a:rPr lang="en-US" sz="1050"/>
              <a:t>Account numbers need to be Unique, Ideally they need to be Unique at an overall Bank Level.</a:t>
            </a:r>
          </a:p>
          <a:p>
            <a:pPr marL="0" lvl="1" indent="0">
              <a:buNone/>
            </a:pPr>
            <a:r>
              <a:rPr lang="en-US" sz="1050"/>
              <a:t>Challenges happen when Bank Mergers happen and the Accounts need to be migrated between Systems </a:t>
            </a:r>
          </a:p>
          <a:p>
            <a:pPr marL="0" lvl="1" indent="0">
              <a:buNone/>
            </a:pPr>
            <a:endParaRPr lang="en-US" sz="1050"/>
          </a:p>
        </p:txBody>
      </p:sp>
    </p:spTree>
    <p:extLst>
      <p:ext uri="{BB962C8B-B14F-4D97-AF65-F5344CB8AC3E}">
        <p14:creationId xmlns:p14="http://schemas.microsoft.com/office/powerpoint/2010/main" val="12732560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CCC8789B-6645-BDF2-874E-ADF8A8D22AEF}"/>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700" b="1"/>
              <a:t>Variations across banks and countries</a:t>
            </a:r>
          </a:p>
        </p:txBody>
      </p:sp>
      <p:pic>
        <p:nvPicPr>
          <p:cNvPr id="5" name="Content Placeholder 4" descr="stock or currency exchange market display screen board">
            <a:extLst>
              <a:ext uri="{FF2B5EF4-FFF2-40B4-BE49-F238E27FC236}">
                <a16:creationId xmlns:a16="http://schemas.microsoft.com/office/drawing/2014/main" id="{BD6E5D63-1A5C-4B29-9E7F-238CDDDC389D}"/>
              </a:ext>
            </a:extLst>
          </p:cNvPr>
          <p:cNvPicPr>
            <a:picLocks noGrp="1" noChangeAspect="1"/>
          </p:cNvPicPr>
          <p:nvPr>
            <p:ph sz="half" idx="1"/>
          </p:nvPr>
        </p:nvPicPr>
        <p:blipFill>
          <a:blip r:embed="rId3"/>
          <a:srcRect t="1295" r="3" b="3"/>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59636D00-8F04-65ED-4CBC-306DDCD625F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p:spPr>
        <p:txBody>
          <a:bodyPr>
            <a:normAutofit/>
          </a:bodyPr>
          <a:lstStyle/>
          <a:p>
            <a:pPr marL="0" indent="0">
              <a:spcBef>
                <a:spcPts val="1875"/>
              </a:spcBef>
              <a:buNone/>
            </a:pPr>
            <a:r>
              <a:rPr lang="en-US" sz="1050" b="1"/>
              <a:t>Lack of Universal Format</a:t>
            </a:r>
          </a:p>
          <a:p>
            <a:pPr marL="0" lvl="1" indent="0">
              <a:buNone/>
            </a:pPr>
            <a:r>
              <a:rPr lang="en-US" sz="1050"/>
              <a:t>Banks use different formats for account numbers, resulting in no global standard for traditional accounts.</a:t>
            </a:r>
          </a:p>
          <a:p>
            <a:pPr marL="0" indent="0">
              <a:spcBef>
                <a:spcPts val="1875"/>
              </a:spcBef>
              <a:buNone/>
            </a:pPr>
            <a:r>
              <a:rPr lang="en-US" sz="1050" b="1"/>
              <a:t>Use of Branch Codes and Check Digits</a:t>
            </a:r>
          </a:p>
          <a:p>
            <a:pPr marL="0" lvl="1" indent="0">
              <a:buNone/>
            </a:pPr>
            <a:r>
              <a:rPr lang="en-US" sz="1050"/>
              <a:t>Some banks include branch codes or check digits to enhance security but increase complexity. E.g.. Change of Branch or Shutting down/Merger of Branches or Banks </a:t>
            </a:r>
          </a:p>
          <a:p>
            <a:pPr marL="0" indent="0">
              <a:spcBef>
                <a:spcPts val="1875"/>
              </a:spcBef>
              <a:buNone/>
            </a:pPr>
            <a:r>
              <a:rPr lang="en-US" sz="1050" b="1"/>
              <a:t>Cross-Border Transaction Challenges</a:t>
            </a:r>
          </a:p>
          <a:p>
            <a:pPr marL="0" lvl="1" indent="0">
              <a:buNone/>
            </a:pPr>
            <a:r>
              <a:rPr lang="en-US" sz="1050"/>
              <a:t>Variations in account number formats make cross-border transactions prone to errors and delays.</a:t>
            </a:r>
          </a:p>
        </p:txBody>
      </p:sp>
    </p:spTree>
    <p:extLst>
      <p:ext uri="{BB962C8B-B14F-4D97-AF65-F5344CB8AC3E}">
        <p14:creationId xmlns:p14="http://schemas.microsoft.com/office/powerpoint/2010/main" val="36387382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82D9BF60-E541-DAF6-0266-51D24578AB6E}"/>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Limitations</a:t>
            </a:r>
          </a:p>
        </p:txBody>
      </p:sp>
      <p:pic>
        <p:nvPicPr>
          <p:cNvPr id="5" name="Content Placeholder 4" descr="Cyber Internet Abstract Background">
            <a:extLst>
              <a:ext uri="{FF2B5EF4-FFF2-40B4-BE49-F238E27FC236}">
                <a16:creationId xmlns:a16="http://schemas.microsoft.com/office/drawing/2014/main" id="{78B1C4CB-A167-4483-B134-3AB1E9EA9B25}"/>
              </a:ext>
            </a:extLst>
          </p:cNvPr>
          <p:cNvPicPr>
            <a:picLocks noGrp="1" noChangeAspect="1"/>
          </p:cNvPicPr>
          <p:nvPr>
            <p:ph sz="half" idx="1"/>
          </p:nvPr>
        </p:nvPicPr>
        <p:blipFill>
          <a:blip r:embed="rId3"/>
          <a:srcRect l="28775" r="30950"/>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DB296BAF-4D82-4FEA-0BB8-32F7A5D7557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Lack of Standardization</a:t>
            </a:r>
          </a:p>
          <a:p>
            <a:pPr marL="0" lvl="1" indent="0">
              <a:buNone/>
            </a:pPr>
            <a:r>
              <a:rPr lang="en-US" sz="1050"/>
              <a:t>Account numbering schemes are not standardized globally, causing incompatibility across international platforms.</a:t>
            </a:r>
          </a:p>
          <a:p>
            <a:pPr marL="0" indent="0">
              <a:spcBef>
                <a:spcPts val="1875"/>
              </a:spcBef>
              <a:buNone/>
            </a:pPr>
            <a:r>
              <a:rPr lang="en-US" sz="1050" b="1"/>
              <a:t>Processing Delays</a:t>
            </a:r>
          </a:p>
          <a:p>
            <a:pPr marL="0" lvl="1" indent="0">
              <a:buNone/>
            </a:pPr>
            <a:r>
              <a:rPr lang="en-US" sz="1050"/>
              <a:t>Inconsistent schemes increase processing times for transactions and data transfers internationally.</a:t>
            </a:r>
          </a:p>
          <a:p>
            <a:pPr marL="0" indent="0">
              <a:spcBef>
                <a:spcPts val="1875"/>
              </a:spcBef>
              <a:buNone/>
            </a:pPr>
            <a:r>
              <a:rPr lang="en-US" sz="1050" b="1"/>
              <a:t>Risk of Errors and Fraud</a:t>
            </a:r>
          </a:p>
          <a:p>
            <a:pPr marL="0" lvl="1" indent="0">
              <a:buNone/>
            </a:pPr>
            <a:r>
              <a:rPr lang="en-US" sz="1050"/>
              <a:t>Non-uniform verification methods increase the risk of errors</a:t>
            </a:r>
          </a:p>
          <a:p>
            <a:pPr marL="0" lvl="1" indent="0">
              <a:buNone/>
            </a:pPr>
            <a:endParaRPr lang="en-US" sz="1050"/>
          </a:p>
          <a:p>
            <a:pPr marL="0" indent="0">
              <a:spcBef>
                <a:spcPts val="1875"/>
              </a:spcBef>
              <a:buNone/>
            </a:pPr>
            <a:r>
              <a:rPr lang="en-US" sz="1050" b="1"/>
              <a:t>Migration from Legacy Cores to New Cores</a:t>
            </a:r>
          </a:p>
          <a:p>
            <a:pPr marL="0" lvl="1" indent="0">
              <a:buNone/>
            </a:pPr>
            <a:r>
              <a:rPr lang="en-US" sz="1050"/>
              <a:t>In Legacy Cores and the Ecosystem the Account Number format is used for some Business Processing (e.g.. If the First 2 digits is AA then it must a Checking or Savings Account etc..) </a:t>
            </a:r>
          </a:p>
          <a:p>
            <a:pPr marL="0" lvl="1" indent="0">
              <a:buNone/>
            </a:pPr>
            <a:endParaRPr lang="en-US" sz="1050"/>
          </a:p>
        </p:txBody>
      </p:sp>
    </p:spTree>
    <p:extLst>
      <p:ext uri="{BB962C8B-B14F-4D97-AF65-F5344CB8AC3E}">
        <p14:creationId xmlns:p14="http://schemas.microsoft.com/office/powerpoint/2010/main" val="25206722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774F2-7772-8779-7BC1-3108B00AC8E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A8FAA92-2301-FE67-BFF1-A0946280EA47}"/>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287E0325-424C-70D0-E6F8-347E67E44DF7}"/>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2327387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97B89BFB-8C55-E669-866E-8F09AE915E34}"/>
              </a:ext>
            </a:extLst>
          </p:cNvPr>
          <p:cNvSpPr>
            <a:spLocks noGrp="1"/>
          </p:cNvSpPr>
          <p:nvPr>
            <p:ph type="ctrTitle"/>
          </p:nvPr>
        </p:nvSpPr>
        <p:spPr>
          <a:xfrm>
            <a:off x="207818" y="2217991"/>
            <a:ext cx="5829300" cy="3420690"/>
          </a:xfrm>
        </p:spPr>
        <p:txBody>
          <a:bodyPr anchor="b">
            <a:normAutofit/>
          </a:bodyPr>
          <a:lstStyle/>
          <a:p>
            <a:pPr algn="l"/>
            <a:r>
              <a:rPr lang="en-US" sz="5550"/>
              <a:t>International Bank Account Number (IBAN)</a:t>
            </a:r>
          </a:p>
        </p:txBody>
      </p:sp>
    </p:spTree>
    <p:extLst>
      <p:ext uri="{BB962C8B-B14F-4D97-AF65-F5344CB8AC3E}">
        <p14:creationId xmlns:p14="http://schemas.microsoft.com/office/powerpoint/2010/main" val="225097972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2B4D6DF6-627A-C9B5-3BC0-B77300CA1D7B}"/>
              </a:ext>
            </a:extLst>
          </p:cNvPr>
          <p:cNvSpPr>
            <a:spLocks noGrp="1"/>
          </p:cNvSpPr>
          <p:nvPr>
            <p:ph type="title"/>
          </p:nvPr>
        </p:nvSpPr>
        <p:spPr>
          <a:xfrm>
            <a:off x="461009" y="1268729"/>
            <a:ext cx="2983230" cy="4289730"/>
          </a:xfrm>
        </p:spPr>
        <p:txBody>
          <a:bodyPr anchor="t">
            <a:normAutofit/>
          </a:bodyPr>
          <a:lstStyle/>
          <a:p>
            <a:r>
              <a:rPr lang="en-US"/>
              <a:t>Origins and adoption of IBAN</a:t>
            </a:r>
          </a:p>
        </p:txBody>
      </p:sp>
      <p:graphicFrame>
        <p:nvGraphicFramePr>
          <p:cNvPr id="4" name="Content Placeholder 4">
            <a:extLst>
              <a:ext uri="{FF2B5EF4-FFF2-40B4-BE49-F238E27FC236}">
                <a16:creationId xmlns:a16="http://schemas.microsoft.com/office/drawing/2014/main" id="{656A01A9-D1A3-40AE-AF44-8ABA037253FC}"/>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040657" y="1268729"/>
          <a:ext cx="4642335" cy="43959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6144734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0051B469-1C73-2CA5-F142-B9C842A52121}"/>
              </a:ext>
            </a:extLst>
          </p:cNvPr>
          <p:cNvSpPr>
            <a:spLocks noGrp="1"/>
          </p:cNvSpPr>
          <p:nvPr>
            <p:ph type="title"/>
          </p:nvPr>
        </p:nvSpPr>
        <p:spPr>
          <a:xfrm>
            <a:off x="5342256" y="1309876"/>
            <a:ext cx="3271270" cy="1145287"/>
          </a:xfrm>
        </p:spPr>
        <p:txBody>
          <a:bodyPr vert="horz" lIns="68580" tIns="34290" rIns="68580" bIns="34290" rtlCol="0" anchor="b">
            <a:normAutofit/>
          </a:bodyPr>
          <a:lstStyle/>
          <a:p>
            <a:r>
              <a:rPr lang="en-US" sz="2700" b="1"/>
              <a:t>Structure and validation process</a:t>
            </a:r>
          </a:p>
        </p:txBody>
      </p:sp>
      <p:pic>
        <p:nvPicPr>
          <p:cNvPr id="5" name="Content Placeholder 4" descr="3D illustration.">
            <a:extLst>
              <a:ext uri="{FF2B5EF4-FFF2-40B4-BE49-F238E27FC236}">
                <a16:creationId xmlns:a16="http://schemas.microsoft.com/office/drawing/2014/main" id="{AD29CB02-2533-4911-8DAB-A77B80DBB35F}"/>
              </a:ext>
            </a:extLst>
          </p:cNvPr>
          <p:cNvPicPr>
            <a:picLocks noGrp="1" noChangeAspect="1"/>
          </p:cNvPicPr>
          <p:nvPr>
            <p:ph sz="half" idx="1"/>
          </p:nvPr>
        </p:nvPicPr>
        <p:blipFill>
          <a:blip r:embed="rId3"/>
          <a:srcRect r="30300"/>
          <a:stretch>
            <a:fillRect/>
          </a:stretch>
        </p:blipFill>
        <p:spPr>
          <a:xfrm>
            <a:off x="1" y="857257"/>
            <a:ext cx="4780026" cy="5143493"/>
          </a:xfrm>
          <a:prstGeom prst="rect">
            <a:avLst/>
          </a:prstGeom>
        </p:spPr>
      </p:pic>
      <p:sp>
        <p:nvSpPr>
          <p:cNvPr id="4" name="Content Placeholder 3">
            <a:extLst>
              <a:ext uri="{FF2B5EF4-FFF2-40B4-BE49-F238E27FC236}">
                <a16:creationId xmlns:a16="http://schemas.microsoft.com/office/drawing/2014/main" id="{1CAC9703-033C-CCD2-58F8-0C01B3C1518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42256" y="2516884"/>
            <a:ext cx="3271270" cy="3072386"/>
          </a:xfrm>
        </p:spPr>
        <p:txBody>
          <a:bodyPr>
            <a:normAutofit/>
          </a:bodyPr>
          <a:lstStyle/>
          <a:p>
            <a:pPr marL="0" indent="0">
              <a:spcBef>
                <a:spcPts val="1875"/>
              </a:spcBef>
              <a:buNone/>
            </a:pPr>
            <a:r>
              <a:rPr lang="en-US" sz="1050" b="1"/>
              <a:t>IBAN Components</a:t>
            </a:r>
          </a:p>
          <a:p>
            <a:pPr marL="0" lvl="1" indent="0">
              <a:buNone/>
            </a:pPr>
            <a:r>
              <a:rPr lang="en-US" sz="1050"/>
              <a:t>IBAN consists of a country code, two check digits, and a basic bank account number.</a:t>
            </a:r>
          </a:p>
          <a:p>
            <a:pPr marL="0" indent="0">
              <a:spcBef>
                <a:spcPts val="1875"/>
              </a:spcBef>
              <a:buNone/>
            </a:pPr>
            <a:r>
              <a:rPr lang="en-US" sz="1050" b="1"/>
              <a:t>Mathematical Validation</a:t>
            </a:r>
          </a:p>
          <a:p>
            <a:pPr marL="0" lvl="1" indent="0">
              <a:buNone/>
            </a:pPr>
            <a:r>
              <a:rPr lang="en-US" sz="1050"/>
              <a:t>IBAN validation uses a mathematical algorithm to detect errors and ensure transaction accuracy.</a:t>
            </a:r>
          </a:p>
        </p:txBody>
      </p:sp>
    </p:spTree>
    <p:extLst>
      <p:ext uri="{BB962C8B-B14F-4D97-AF65-F5344CB8AC3E}">
        <p14:creationId xmlns:p14="http://schemas.microsoft.com/office/powerpoint/2010/main" val="30972943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3EBC594E-9479-81B8-3125-2ECF669CD62C}"/>
              </a:ext>
            </a:extLst>
          </p:cNvPr>
          <p:cNvSpPr>
            <a:spLocks noGrp="1"/>
          </p:cNvSpPr>
          <p:nvPr>
            <p:ph type="ctrTitle"/>
          </p:nvPr>
        </p:nvSpPr>
        <p:spPr>
          <a:xfrm>
            <a:off x="207818" y="2217991"/>
            <a:ext cx="5829300" cy="3420690"/>
          </a:xfrm>
        </p:spPr>
        <p:txBody>
          <a:bodyPr anchor="b">
            <a:normAutofit/>
          </a:bodyPr>
          <a:lstStyle/>
          <a:p>
            <a:pPr algn="l"/>
            <a:r>
              <a:rPr lang="en-US" sz="5550"/>
              <a:t>CLABE: The Mexican Account Numbering Standard</a:t>
            </a:r>
          </a:p>
        </p:txBody>
      </p:sp>
    </p:spTree>
    <p:extLst>
      <p:ext uri="{BB962C8B-B14F-4D97-AF65-F5344CB8AC3E}">
        <p14:creationId xmlns:p14="http://schemas.microsoft.com/office/powerpoint/2010/main" val="402559336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59B2927A-911D-94DE-A4E4-1DA0CDD55A7C}"/>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What is CLABE and why was it introduced</a:t>
            </a:r>
          </a:p>
        </p:txBody>
      </p:sp>
      <p:pic>
        <p:nvPicPr>
          <p:cNvPr id="5" name="Content Placeholder 4" descr="filling in the gaps in test">
            <a:extLst>
              <a:ext uri="{FF2B5EF4-FFF2-40B4-BE49-F238E27FC236}">
                <a16:creationId xmlns:a16="http://schemas.microsoft.com/office/drawing/2014/main" id="{22F64CA5-DC0A-4F6C-A49B-AF899ABBB6CD}"/>
              </a:ext>
            </a:extLst>
          </p:cNvPr>
          <p:cNvPicPr>
            <a:picLocks noGrp="1" noChangeAspect="1"/>
          </p:cNvPicPr>
          <p:nvPr>
            <p:ph sz="half" idx="1"/>
          </p:nvPr>
        </p:nvPicPr>
        <p:blipFill>
          <a:blip r:embed="rId3"/>
          <a:srcRect l="32385" r="19821"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4477309D-76AA-C0C0-1B4F-12ECE90E70A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Definition of CLABE</a:t>
            </a:r>
          </a:p>
          <a:p>
            <a:pPr marL="0" lvl="1" indent="0">
              <a:buNone/>
            </a:pPr>
            <a:r>
              <a:rPr lang="en-US" sz="1050"/>
              <a:t>CLABE is a standardized bank account numbering system used in Mexico for electronic payments.</a:t>
            </a:r>
          </a:p>
          <a:p>
            <a:pPr marL="0" indent="0">
              <a:spcBef>
                <a:spcPts val="1875"/>
              </a:spcBef>
              <a:buNone/>
            </a:pPr>
            <a:r>
              <a:rPr lang="en-US" sz="1050" b="1"/>
              <a:t>Purpose of CLABE</a:t>
            </a:r>
          </a:p>
          <a:p>
            <a:pPr marL="0" lvl="1" indent="0">
              <a:buNone/>
            </a:pPr>
            <a:r>
              <a:rPr lang="en-US" sz="1050"/>
              <a:t>It reduces errors in bank transfers and prevents payment mistakes by providing uniform account numbers.</a:t>
            </a:r>
          </a:p>
          <a:p>
            <a:pPr marL="0" indent="0">
              <a:spcBef>
                <a:spcPts val="1875"/>
              </a:spcBef>
              <a:buNone/>
            </a:pPr>
            <a:r>
              <a:rPr lang="en-US" sz="1050" b="1"/>
              <a:t>Security and Efficiency</a:t>
            </a:r>
          </a:p>
          <a:p>
            <a:pPr marL="0" lvl="1" indent="0">
              <a:buNone/>
            </a:pPr>
            <a:r>
              <a:rPr lang="en-US" sz="1050"/>
              <a:t>CLABE enhances the security and efficiency of electronic payments within the Mexican banking system.</a:t>
            </a:r>
          </a:p>
        </p:txBody>
      </p:sp>
    </p:spTree>
    <p:extLst>
      <p:ext uri="{BB962C8B-B14F-4D97-AF65-F5344CB8AC3E}">
        <p14:creationId xmlns:p14="http://schemas.microsoft.com/office/powerpoint/2010/main" val="14780610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0AE306C3-EF5F-579D-9B3B-134AB1FB36BB}"/>
              </a:ext>
            </a:extLst>
          </p:cNvPr>
          <p:cNvSpPr>
            <a:spLocks noGrp="1"/>
          </p:cNvSpPr>
          <p:nvPr>
            <p:ph type="title"/>
          </p:nvPr>
        </p:nvSpPr>
        <p:spPr>
          <a:xfrm>
            <a:off x="459486" y="1309878"/>
            <a:ext cx="3271265" cy="1145286"/>
          </a:xfrm>
        </p:spPr>
        <p:txBody>
          <a:bodyPr vert="horz" lIns="68580" tIns="34290" rIns="68580" bIns="34290" rtlCol="0" anchor="b">
            <a:normAutofit/>
          </a:bodyPr>
          <a:lstStyle/>
          <a:p>
            <a:r>
              <a:rPr lang="en-US" sz="2475" b="1"/>
              <a:t>Anatomy and verification of a CLABE number</a:t>
            </a:r>
          </a:p>
        </p:txBody>
      </p:sp>
      <p:sp>
        <p:nvSpPr>
          <p:cNvPr id="4" name="Content Placeholder 3">
            <a:extLst>
              <a:ext uri="{FF2B5EF4-FFF2-40B4-BE49-F238E27FC236}">
                <a16:creationId xmlns:a16="http://schemas.microsoft.com/office/drawing/2014/main" id="{90EEEC91-65BD-8AAE-DAD9-34214C341F3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3271265" cy="3072384"/>
          </a:xfrm>
        </p:spPr>
        <p:txBody>
          <a:bodyPr>
            <a:normAutofit/>
          </a:bodyPr>
          <a:lstStyle/>
          <a:p>
            <a:pPr marL="0" indent="0">
              <a:spcBef>
                <a:spcPts val="1875"/>
              </a:spcBef>
              <a:buNone/>
            </a:pPr>
            <a:r>
              <a:rPr lang="en-US" sz="1050" b="1"/>
              <a:t>CLABE Structure</a:t>
            </a:r>
          </a:p>
          <a:p>
            <a:pPr marL="0" lvl="1" indent="0">
              <a:buNone/>
            </a:pPr>
            <a:r>
              <a:rPr lang="en-US" sz="1050"/>
              <a:t>The CLABE number consists of 18 digits including bank code, branch code, account number, and a check digit.</a:t>
            </a:r>
          </a:p>
          <a:p>
            <a:pPr marL="0" indent="0">
              <a:spcBef>
                <a:spcPts val="1875"/>
              </a:spcBef>
              <a:buNone/>
            </a:pPr>
            <a:r>
              <a:rPr lang="en-US" sz="1050" b="1"/>
              <a:t>Check Digit Purpose</a:t>
            </a:r>
          </a:p>
          <a:p>
            <a:pPr marL="0" lvl="1" indent="0">
              <a:buNone/>
            </a:pPr>
            <a:r>
              <a:rPr lang="en-US" sz="1050"/>
              <a:t>The check digit verifies the entire CLABE number's correctness using a specific calculation algorithm.</a:t>
            </a:r>
          </a:p>
        </p:txBody>
      </p:sp>
      <p:pic>
        <p:nvPicPr>
          <p:cNvPr id="5" name="Content Placeholder 4" descr="&quot;typewriter keys shot with a tilt shift lens,&quot;">
            <a:extLst>
              <a:ext uri="{FF2B5EF4-FFF2-40B4-BE49-F238E27FC236}">
                <a16:creationId xmlns:a16="http://schemas.microsoft.com/office/drawing/2014/main" id="{A1B368D9-B70A-469A-99B5-3AC3882B9769}"/>
              </a:ext>
            </a:extLst>
          </p:cNvPr>
          <p:cNvPicPr>
            <a:picLocks noGrp="1" noChangeAspect="1"/>
          </p:cNvPicPr>
          <p:nvPr>
            <p:ph sz="half" idx="1"/>
          </p:nvPr>
        </p:nvPicPr>
        <p:blipFill>
          <a:blip r:embed="rId3"/>
          <a:srcRect l="17041" r="20695" b="2"/>
          <a:stretch>
            <a:fillRect/>
          </a:stretch>
        </p:blipFill>
        <p:spPr>
          <a:xfrm>
            <a:off x="4363974" y="857250"/>
            <a:ext cx="4780026" cy="5143501"/>
          </a:xfrm>
          <a:prstGeom prst="rect">
            <a:avLst/>
          </a:prstGeom>
        </p:spPr>
      </p:pic>
    </p:spTree>
    <p:extLst>
      <p:ext uri="{BB962C8B-B14F-4D97-AF65-F5344CB8AC3E}">
        <p14:creationId xmlns:p14="http://schemas.microsoft.com/office/powerpoint/2010/main" val="27357056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02BE159A-D5CB-82B3-3709-C11B752E9E3B}"/>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Role of CLABE in the Mexican banking system</a:t>
            </a:r>
          </a:p>
        </p:txBody>
      </p:sp>
      <p:pic>
        <p:nvPicPr>
          <p:cNvPr id="5" name="Content Placeholder 4" descr="A smartphone showing a travel guide app/website for the country of Mexico - a scene of planning a holiday. Also on the table is a diary/planner and mug.">
            <a:extLst>
              <a:ext uri="{FF2B5EF4-FFF2-40B4-BE49-F238E27FC236}">
                <a16:creationId xmlns:a16="http://schemas.microsoft.com/office/drawing/2014/main" id="{EB824D01-6C24-4033-8093-F573C40B02F6}"/>
              </a:ext>
            </a:extLst>
          </p:cNvPr>
          <p:cNvPicPr>
            <a:picLocks noGrp="1" noChangeAspect="1"/>
          </p:cNvPicPr>
          <p:nvPr>
            <p:ph sz="half" idx="1"/>
          </p:nvPr>
        </p:nvPicPr>
        <p:blipFill>
          <a:blip r:embed="rId3"/>
          <a:srcRect l="37575" r="14631"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E508F7E5-801A-8E13-5F05-91BC053497C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Mandatory Payment Identifier</a:t>
            </a:r>
          </a:p>
          <a:p>
            <a:pPr marL="0" lvl="1" indent="0">
              <a:buNone/>
            </a:pPr>
            <a:r>
              <a:rPr lang="en-US" sz="1050"/>
              <a:t>CLABE is required for all interbank electronic payments in Mexico to ensure transaction accuracy.</a:t>
            </a:r>
          </a:p>
          <a:p>
            <a:pPr marL="0" indent="0">
              <a:spcBef>
                <a:spcPts val="1875"/>
              </a:spcBef>
              <a:buNone/>
            </a:pPr>
            <a:r>
              <a:rPr lang="en-US" sz="1050" b="1"/>
              <a:t>Fraud Reduction</a:t>
            </a:r>
          </a:p>
          <a:p>
            <a:pPr marL="0" lvl="1" indent="0">
              <a:buNone/>
            </a:pPr>
            <a:r>
              <a:rPr lang="en-US" sz="1050"/>
              <a:t>CLABE helps reduce fraud by providing a standardized and secure way to identify bank accounts.</a:t>
            </a:r>
          </a:p>
          <a:p>
            <a:pPr marL="0" indent="0">
              <a:spcBef>
                <a:spcPts val="1875"/>
              </a:spcBef>
              <a:buNone/>
            </a:pPr>
            <a:r>
              <a:rPr lang="en-US" sz="1050" b="1"/>
              <a:t>Regulatory Compliance</a:t>
            </a:r>
          </a:p>
          <a:p>
            <a:pPr marL="0" lvl="1" indent="0">
              <a:buNone/>
            </a:pPr>
            <a:r>
              <a:rPr lang="en-US" sz="1050"/>
              <a:t>CLABE supports Mexican regulatory requirements ensuring compliance in electronic payment processes.</a:t>
            </a:r>
          </a:p>
        </p:txBody>
      </p:sp>
    </p:spTree>
    <p:extLst>
      <p:ext uri="{BB962C8B-B14F-4D97-AF65-F5344CB8AC3E}">
        <p14:creationId xmlns:p14="http://schemas.microsoft.com/office/powerpoint/2010/main" val="29171083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72B1B-AFD5-0E6A-817D-215C68136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0F0D87-6D18-D1E1-09BB-BAF57306EA6E}"/>
              </a:ext>
            </a:extLst>
          </p:cNvPr>
          <p:cNvSpPr>
            <a:spLocks noGrp="1"/>
          </p:cNvSpPr>
          <p:nvPr>
            <p:ph type="title"/>
          </p:nvPr>
        </p:nvSpPr>
        <p:spPr>
          <a:xfrm>
            <a:off x="182400" y="-12306"/>
            <a:ext cx="8835527" cy="772045"/>
          </a:xfrm>
        </p:spPr>
        <p:txBody>
          <a:bodyPr anchor="b">
            <a:normAutofit fontScale="90000"/>
          </a:bodyPr>
          <a:lstStyle/>
          <a:p>
            <a:r>
              <a:rPr lang="en-US" sz="3500"/>
              <a:t>Account Number Schemes – Design Considerations</a:t>
            </a:r>
            <a:endParaRPr lang="en-US" sz="3500">
              <a:solidFill>
                <a:srgbClr val="FFFFFF"/>
              </a:solidFill>
            </a:endParaRPr>
          </a:p>
        </p:txBody>
      </p:sp>
      <p:sp>
        <p:nvSpPr>
          <p:cNvPr id="3" name="Rectangle 2">
            <a:extLst>
              <a:ext uri="{FF2B5EF4-FFF2-40B4-BE49-F238E27FC236}">
                <a16:creationId xmlns:a16="http://schemas.microsoft.com/office/drawing/2014/main" id="{A35396C0-3018-2EC0-548A-339227983AE8}"/>
              </a:ext>
            </a:extLst>
          </p:cNvPr>
          <p:cNvSpPr/>
          <p:nvPr/>
        </p:nvSpPr>
        <p:spPr>
          <a:xfrm>
            <a:off x="0" y="511549"/>
            <a:ext cx="9144000" cy="6217087"/>
          </a:xfrm>
          <a:prstGeom prst="rect">
            <a:avLst/>
          </a:prstGeom>
        </p:spPr>
        <p:txBody>
          <a:bodyPr wrap="square">
            <a:spAutoFit/>
          </a:bodyPr>
          <a:lstStyle/>
          <a:p>
            <a:pPr lvl="1"/>
            <a:endParaRPr lang="en-US" sz="2000">
              <a:latin typeface="Segoe UI" pitchFamily="34" charset="0"/>
              <a:ea typeface="Segoe UI" pitchFamily="34" charset="-122"/>
              <a:cs typeface="Segoe UI" pitchFamily="34" charset="-120"/>
            </a:endParaRPr>
          </a:p>
          <a:p>
            <a:pPr marL="742950" lvl="1" indent="-285750">
              <a:buFont typeface="Arial" panose="020B0604020202020204" pitchFamily="34" charset="0"/>
              <a:buChar char="•"/>
            </a:pPr>
            <a:r>
              <a:rPr lang="en-US" sz="2000">
                <a:latin typeface="Segoe UI" pitchFamily="34" charset="0"/>
                <a:ea typeface="Segoe UI" pitchFamily="34" charset="-122"/>
                <a:cs typeface="Segoe UI" pitchFamily="34" charset="-120"/>
              </a:rPr>
              <a:t>An Account can have 1 to many types of “Account Numbers” e.g..</a:t>
            </a:r>
          </a:p>
          <a:p>
            <a:pPr marL="1200150" lvl="2" indent="-285750">
              <a:buFont typeface="Arial" panose="020B0604020202020204" pitchFamily="34" charset="0"/>
              <a:buChar char="•"/>
            </a:pPr>
            <a:r>
              <a:rPr lang="en-US" sz="2000">
                <a:latin typeface="Segoe UI" pitchFamily="34" charset="0"/>
                <a:ea typeface="Segoe UI" pitchFamily="34" charset="-122"/>
                <a:cs typeface="Segoe UI" pitchFamily="34" charset="-120"/>
              </a:rPr>
              <a:t>Standard Account Number</a:t>
            </a:r>
          </a:p>
          <a:p>
            <a:pPr marL="1200150" lvl="2" indent="-285750">
              <a:buFont typeface="Arial" panose="020B0604020202020204" pitchFamily="34" charset="0"/>
              <a:buChar char="•"/>
            </a:pPr>
            <a:r>
              <a:rPr lang="en-US" sz="2000">
                <a:latin typeface="Segoe UI" pitchFamily="34" charset="0"/>
                <a:ea typeface="Segoe UI" pitchFamily="34" charset="-122"/>
                <a:cs typeface="Segoe UI" pitchFamily="34" charset="-120"/>
              </a:rPr>
              <a:t>IBAN</a:t>
            </a:r>
          </a:p>
          <a:p>
            <a:pPr marL="1200150" lvl="2" indent="-285750">
              <a:buFont typeface="Arial" panose="020B0604020202020204" pitchFamily="34" charset="0"/>
              <a:buChar char="•"/>
            </a:pPr>
            <a:r>
              <a:rPr lang="en-US" sz="2000">
                <a:latin typeface="Segoe UI" pitchFamily="34" charset="0"/>
                <a:ea typeface="Segoe UI" pitchFamily="34" charset="-122"/>
                <a:cs typeface="Segoe UI" pitchFamily="34" charset="-120"/>
              </a:rPr>
              <a:t>In Mexico CLABE</a:t>
            </a:r>
          </a:p>
          <a:p>
            <a:pPr lvl="2"/>
            <a:r>
              <a:rPr lang="en-US" sz="2000">
                <a:latin typeface="Segoe UI" pitchFamily="34" charset="0"/>
                <a:ea typeface="Segoe UI" pitchFamily="34" charset="-122"/>
                <a:cs typeface="Segoe UI" pitchFamily="34" charset="-120"/>
              </a:rPr>
              <a:t>&lt;What is the Design Implication of this ??&gt;</a:t>
            </a:r>
          </a:p>
          <a:p>
            <a:pPr lvl="2"/>
            <a:r>
              <a:rPr lang="en-US" sz="2000">
                <a:latin typeface="Segoe UI" pitchFamily="34" charset="0"/>
                <a:ea typeface="Segoe UI" pitchFamily="34" charset="-122"/>
                <a:cs typeface="Segoe UI" pitchFamily="34" charset="-120"/>
              </a:rPr>
              <a:t>	</a:t>
            </a:r>
          </a:p>
          <a:p>
            <a:pPr marL="800100" lvl="1" indent="-342900">
              <a:buFont typeface="Arial" panose="020B0604020202020204" pitchFamily="34" charset="0"/>
              <a:buChar char="•"/>
            </a:pPr>
            <a:r>
              <a:rPr lang="en-US" sz="2000">
                <a:latin typeface="Segoe UI" pitchFamily="34" charset="0"/>
                <a:ea typeface="Segoe UI" pitchFamily="34" charset="-122"/>
                <a:cs typeface="Segoe UI" pitchFamily="34" charset="-120"/>
              </a:rPr>
              <a:t>The Size and Format of an Account Number varies by Country and Type</a:t>
            </a:r>
          </a:p>
          <a:p>
            <a:pPr lvl="1"/>
            <a:r>
              <a:rPr lang="en-US" sz="2000">
                <a:latin typeface="Segoe UI" pitchFamily="34" charset="0"/>
                <a:ea typeface="Segoe UI" pitchFamily="34" charset="-122"/>
                <a:cs typeface="Segoe UI" pitchFamily="34" charset="-120"/>
              </a:rPr>
              <a:t>	&lt;What is the Design Implication of this ??&gt;</a:t>
            </a:r>
          </a:p>
          <a:p>
            <a:pPr lvl="1"/>
            <a:endParaRPr lang="en-US" sz="2000">
              <a:latin typeface="Segoe UI" pitchFamily="34" charset="0"/>
              <a:ea typeface="Segoe UI" pitchFamily="34" charset="-122"/>
              <a:cs typeface="Segoe UI" pitchFamily="34" charset="-120"/>
            </a:endParaRPr>
          </a:p>
          <a:p>
            <a:pPr lvl="1"/>
            <a:r>
              <a:rPr lang="en-US" sz="1600">
                <a:latin typeface="Segoe UI" pitchFamily="34" charset="0"/>
                <a:ea typeface="Segoe UI" pitchFamily="34" charset="-122"/>
                <a:cs typeface="Segoe UI" pitchFamily="34" charset="-120"/>
              </a:rPr>
              <a:t>For above 2 discuss the Implications from a Visual Representation across Visual Interfaces (e.g.. Self Service Channel / Bank Employee Channel) Programmatic Interfaces (API / Event / File Interfaces), Customer Communications (Statements, Notices, Alerts), Database Design, Operational Reports  </a:t>
            </a:r>
          </a:p>
          <a:p>
            <a:pPr lvl="1"/>
            <a:endParaRPr lang="en-US" sz="2000">
              <a:latin typeface="Segoe UI" pitchFamily="34" charset="0"/>
              <a:ea typeface="Segoe UI" pitchFamily="34" charset="-122"/>
              <a:cs typeface="Segoe UI" pitchFamily="34" charset="-120"/>
            </a:endParaRPr>
          </a:p>
          <a:p>
            <a:pPr marL="800100" lvl="1" indent="-342900">
              <a:buFont typeface="Arial" panose="020B0604020202020204" pitchFamily="34" charset="0"/>
              <a:buChar char="•"/>
            </a:pPr>
            <a:r>
              <a:rPr lang="en-US" sz="2000">
                <a:latin typeface="Segoe UI" pitchFamily="34" charset="0"/>
                <a:ea typeface="Segoe UI" pitchFamily="34" charset="-122"/>
                <a:cs typeface="Segoe UI" pitchFamily="34" charset="-120"/>
              </a:rPr>
              <a:t>How do you ensure the Uniqueness of an Account Number Across a Bank which can have multiple Core Platforms</a:t>
            </a:r>
          </a:p>
          <a:p>
            <a:pPr lvl="1"/>
            <a:r>
              <a:rPr lang="en-US" sz="2000">
                <a:latin typeface="Segoe UI" pitchFamily="34" charset="0"/>
                <a:ea typeface="Segoe UI" pitchFamily="34" charset="-122"/>
                <a:cs typeface="Segoe UI" pitchFamily="34" charset="-120"/>
              </a:rPr>
              <a:t>	&lt;What could be a Design Pattern to handle this ??&gt;</a:t>
            </a:r>
          </a:p>
          <a:p>
            <a:pPr marL="742950" lvl="1" indent="-285750">
              <a:buFont typeface="Arial" panose="020B0604020202020204" pitchFamily="34" charset="0"/>
              <a:buChar char="•"/>
            </a:pPr>
            <a:endParaRPr lang="en-GB">
              <a:latin typeface="Calibri"/>
            </a:endParaRPr>
          </a:p>
          <a:p>
            <a:pPr marL="742950" lvl="1" indent="-285750">
              <a:buFont typeface="Arial" panose="020B0604020202020204" pitchFamily="34" charset="0"/>
              <a:buChar char="•"/>
            </a:pPr>
            <a:endParaRPr kumimoji="0" lang="en-GB" b="0" i="0" u="none" strike="noStrike" kern="1200" cap="none" spc="0" normalizeH="0" baseline="0" noProof="0">
              <a:ln>
                <a:noFill/>
              </a:ln>
              <a:effectLst/>
              <a:uLnTx/>
              <a:uFillTx/>
              <a:latin typeface="Calibri"/>
              <a:ea typeface="+mn-ea"/>
              <a:cs typeface="+mn-cs"/>
            </a:endParaRPr>
          </a:p>
          <a:p>
            <a:pPr marL="742950" lvl="1" indent="-285750">
              <a:buFont typeface="Arial" panose="020B0604020202020204" pitchFamily="34" charset="0"/>
              <a:buChar char="•"/>
            </a:pPr>
            <a:endParaRPr kumimoji="0" lang="en-IN"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91111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27EA44A4-C221-B9B7-1062-59CB21989C90}"/>
              </a:ext>
            </a:extLst>
          </p:cNvPr>
          <p:cNvSpPr>
            <a:spLocks noGrp="1"/>
          </p:cNvSpPr>
          <p:nvPr>
            <p:ph type="ctrTitle"/>
          </p:nvPr>
        </p:nvSpPr>
        <p:spPr>
          <a:xfrm>
            <a:off x="207818" y="2217991"/>
            <a:ext cx="5829300" cy="3420690"/>
          </a:xfrm>
        </p:spPr>
        <p:txBody>
          <a:bodyPr anchor="b">
            <a:normAutofit/>
          </a:bodyPr>
          <a:lstStyle/>
          <a:p>
            <a:pPr algn="l"/>
            <a:r>
              <a:rPr lang="en-US" sz="5550"/>
              <a:t>Customer Numbering Schemes</a:t>
            </a:r>
          </a:p>
        </p:txBody>
      </p:sp>
    </p:spTree>
    <p:extLst>
      <p:ext uri="{BB962C8B-B14F-4D97-AF65-F5344CB8AC3E}">
        <p14:creationId xmlns:p14="http://schemas.microsoft.com/office/powerpoint/2010/main" val="384639415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ED9854C1-AA32-3A7C-A0BD-0BBFBF7DFCFF}"/>
              </a:ext>
            </a:extLst>
          </p:cNvPr>
          <p:cNvSpPr>
            <a:spLocks noGrp="1"/>
          </p:cNvSpPr>
          <p:nvPr>
            <p:ph type="title"/>
          </p:nvPr>
        </p:nvSpPr>
        <p:spPr>
          <a:xfrm>
            <a:off x="5342256" y="1309876"/>
            <a:ext cx="3271270" cy="1145287"/>
          </a:xfrm>
        </p:spPr>
        <p:txBody>
          <a:bodyPr vert="horz" lIns="68580" tIns="34290" rIns="68580" bIns="34290" rtlCol="0" anchor="b">
            <a:normAutofit/>
          </a:bodyPr>
          <a:lstStyle/>
          <a:p>
            <a:r>
              <a:rPr lang="en-US" sz="2700" b="1"/>
              <a:t>What is a customer numbering scheme?</a:t>
            </a:r>
          </a:p>
        </p:txBody>
      </p:sp>
      <p:pic>
        <p:nvPicPr>
          <p:cNvPr id="5" name="Content Placeholder 4" descr="Portrait of a young African American man holding a smartphone with a digital international certificate of Covid-19 Vaccination on the screen.">
            <a:extLst>
              <a:ext uri="{FF2B5EF4-FFF2-40B4-BE49-F238E27FC236}">
                <a16:creationId xmlns:a16="http://schemas.microsoft.com/office/drawing/2014/main" id="{6BAD8516-671C-46C8-89F1-442BDC31C0CE}"/>
              </a:ext>
            </a:extLst>
          </p:cNvPr>
          <p:cNvPicPr>
            <a:picLocks noGrp="1" noChangeAspect="1"/>
          </p:cNvPicPr>
          <p:nvPr>
            <p:ph sz="half" idx="1"/>
          </p:nvPr>
        </p:nvPicPr>
        <p:blipFill>
          <a:blip r:embed="rId3"/>
          <a:srcRect l="37967" r="-1" b="-1"/>
          <a:stretch>
            <a:fillRect/>
          </a:stretch>
        </p:blipFill>
        <p:spPr>
          <a:xfrm>
            <a:off x="1" y="857257"/>
            <a:ext cx="4780026" cy="5143493"/>
          </a:xfrm>
          <a:prstGeom prst="rect">
            <a:avLst/>
          </a:prstGeom>
        </p:spPr>
      </p:pic>
      <p:sp>
        <p:nvSpPr>
          <p:cNvPr id="4" name="Content Placeholder 3">
            <a:extLst>
              <a:ext uri="{FF2B5EF4-FFF2-40B4-BE49-F238E27FC236}">
                <a16:creationId xmlns:a16="http://schemas.microsoft.com/office/drawing/2014/main" id="{EA153BF3-1BC4-B821-41C2-251E658C955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42256" y="2516884"/>
            <a:ext cx="3271270" cy="3072386"/>
          </a:xfrm>
        </p:spPr>
        <p:txBody>
          <a:bodyPr>
            <a:normAutofit/>
          </a:bodyPr>
          <a:lstStyle/>
          <a:p>
            <a:pPr marL="0" indent="0">
              <a:spcBef>
                <a:spcPts val="1875"/>
              </a:spcBef>
              <a:buNone/>
            </a:pPr>
            <a:r>
              <a:rPr lang="en-US" sz="1050" b="1"/>
              <a:t>Definition of Numbering Scheme</a:t>
            </a:r>
          </a:p>
          <a:p>
            <a:pPr marL="0" lvl="1" indent="0">
              <a:buNone/>
            </a:pPr>
            <a:r>
              <a:rPr lang="en-US" sz="1050"/>
              <a:t>A customer numbering scheme assigns unique identifiers to each customer for clear differentiation.</a:t>
            </a:r>
          </a:p>
          <a:p>
            <a:pPr marL="0" indent="0">
              <a:spcBef>
                <a:spcPts val="1875"/>
              </a:spcBef>
              <a:buNone/>
            </a:pPr>
            <a:r>
              <a:rPr lang="en-US" sz="1050" b="1"/>
              <a:t>Purpose in Banking</a:t>
            </a:r>
          </a:p>
          <a:p>
            <a:pPr marL="0" lvl="1" indent="0">
              <a:buNone/>
            </a:pPr>
            <a:r>
              <a:rPr lang="en-US" sz="1050"/>
              <a:t>The scheme ensures accurate tracking of customer accounts within the bank.</a:t>
            </a:r>
          </a:p>
        </p:txBody>
      </p:sp>
    </p:spTree>
    <p:extLst>
      <p:ext uri="{BB962C8B-B14F-4D97-AF65-F5344CB8AC3E}">
        <p14:creationId xmlns:p14="http://schemas.microsoft.com/office/powerpoint/2010/main" val="21855541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5DFAD966-9B6F-DE6E-FF5C-03193B24AFEE}"/>
              </a:ext>
            </a:extLst>
          </p:cNvPr>
          <p:cNvSpPr>
            <a:spLocks noGrp="1"/>
          </p:cNvSpPr>
          <p:nvPr>
            <p:ph type="title"/>
          </p:nvPr>
        </p:nvSpPr>
        <p:spPr>
          <a:xfrm>
            <a:off x="459486" y="1309878"/>
            <a:ext cx="3271265" cy="1145286"/>
          </a:xfrm>
        </p:spPr>
        <p:txBody>
          <a:bodyPr vert="horz" lIns="68580" tIns="34290" rIns="68580" bIns="34290" rtlCol="0" anchor="b">
            <a:normAutofit/>
          </a:bodyPr>
          <a:lstStyle/>
          <a:p>
            <a:r>
              <a:rPr lang="en-US" sz="2475" b="1"/>
              <a:t>Customer identification and unique numbers</a:t>
            </a:r>
          </a:p>
        </p:txBody>
      </p:sp>
      <p:sp>
        <p:nvSpPr>
          <p:cNvPr id="4" name="Content Placeholder 3">
            <a:extLst>
              <a:ext uri="{FF2B5EF4-FFF2-40B4-BE49-F238E27FC236}">
                <a16:creationId xmlns:a16="http://schemas.microsoft.com/office/drawing/2014/main" id="{7627C5B4-D96C-764D-FF3B-7A7C7F78B58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3271265" cy="3072384"/>
          </a:xfrm>
        </p:spPr>
        <p:txBody>
          <a:bodyPr>
            <a:normAutofit/>
          </a:bodyPr>
          <a:lstStyle/>
          <a:p>
            <a:pPr marL="0" indent="0">
              <a:spcBef>
                <a:spcPts val="1875"/>
              </a:spcBef>
              <a:buNone/>
            </a:pPr>
            <a:r>
              <a:rPr lang="en-US" sz="1050" b="1"/>
              <a:t>Unique Customer Numbers</a:t>
            </a:r>
          </a:p>
          <a:p>
            <a:pPr marL="0" lvl="1" indent="0">
              <a:buNone/>
            </a:pPr>
            <a:r>
              <a:rPr lang="en-US" sz="1050"/>
              <a:t>Banks assign unique numbers to customers during onboarding for consistent identification.</a:t>
            </a:r>
          </a:p>
          <a:p>
            <a:pPr marL="0" indent="0">
              <a:spcBef>
                <a:spcPts val="1875"/>
              </a:spcBef>
              <a:buNone/>
            </a:pPr>
            <a:r>
              <a:rPr lang="en-US" sz="1050" b="1"/>
              <a:t>Data and Transaction Linking</a:t>
            </a:r>
          </a:p>
          <a:p>
            <a:pPr marL="0" lvl="1" indent="0">
              <a:buNone/>
            </a:pPr>
            <a:r>
              <a:rPr lang="en-US" sz="1050"/>
              <a:t>Unique numbers link customer data and accounts across all banking products accurately.</a:t>
            </a:r>
          </a:p>
        </p:txBody>
      </p:sp>
      <p:pic>
        <p:nvPicPr>
          <p:cNvPr id="5" name="Content Placeholder 4" descr="Smart city and wireless communication network">
            <a:extLst>
              <a:ext uri="{FF2B5EF4-FFF2-40B4-BE49-F238E27FC236}">
                <a16:creationId xmlns:a16="http://schemas.microsoft.com/office/drawing/2014/main" id="{686BD592-368F-4E5E-B725-CBCA48774F89}"/>
              </a:ext>
            </a:extLst>
          </p:cNvPr>
          <p:cNvPicPr>
            <a:picLocks noGrp="1" noChangeAspect="1"/>
          </p:cNvPicPr>
          <p:nvPr>
            <p:ph sz="half" idx="1"/>
          </p:nvPr>
        </p:nvPicPr>
        <p:blipFill>
          <a:blip r:embed="rId3"/>
          <a:srcRect l="23445" r="14521" b="-2"/>
          <a:stretch>
            <a:fillRect/>
          </a:stretch>
        </p:blipFill>
        <p:spPr>
          <a:xfrm>
            <a:off x="4363974" y="857250"/>
            <a:ext cx="4780026" cy="5143501"/>
          </a:xfrm>
          <a:prstGeom prst="rect">
            <a:avLst/>
          </a:prstGeom>
        </p:spPr>
      </p:pic>
    </p:spTree>
    <p:extLst>
      <p:ext uri="{BB962C8B-B14F-4D97-AF65-F5344CB8AC3E}">
        <p14:creationId xmlns:p14="http://schemas.microsoft.com/office/powerpoint/2010/main" val="14861278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62386895-7BE3-03DD-5FF3-3A98425663D9}"/>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475" b="1"/>
              <a:t>Integration with customer relationship management (CRM)</a:t>
            </a:r>
          </a:p>
        </p:txBody>
      </p:sp>
      <p:sp>
        <p:nvSpPr>
          <p:cNvPr id="4" name="Content Placeholder 3">
            <a:extLst>
              <a:ext uri="{FF2B5EF4-FFF2-40B4-BE49-F238E27FC236}">
                <a16:creationId xmlns:a16="http://schemas.microsoft.com/office/drawing/2014/main" id="{78FE4A3A-CEA6-D85F-2CC0-020222DEE1D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Seamless Integration</a:t>
            </a:r>
          </a:p>
          <a:p>
            <a:pPr marL="0" lvl="1" indent="0">
              <a:buNone/>
            </a:pPr>
            <a:r>
              <a:rPr lang="en-US" sz="1050"/>
              <a:t>Customer numbering schemes must integrate smoothly with CRM systems for efficient data management.</a:t>
            </a:r>
          </a:p>
          <a:p>
            <a:pPr marL="0" indent="0">
              <a:spcBef>
                <a:spcPts val="1875"/>
              </a:spcBef>
              <a:buNone/>
            </a:pPr>
            <a:r>
              <a:rPr lang="en-US" sz="1050" b="1"/>
              <a:t>Unified Customer View</a:t>
            </a:r>
          </a:p>
          <a:p>
            <a:pPr marL="0" lvl="1" indent="0">
              <a:buNone/>
            </a:pPr>
            <a:r>
              <a:rPr lang="en-US" sz="1050"/>
              <a:t>Integration enables a comprehensive view of all customer interactions across platforms.</a:t>
            </a:r>
          </a:p>
          <a:p>
            <a:pPr marL="0" indent="0">
              <a:spcBef>
                <a:spcPts val="1875"/>
              </a:spcBef>
              <a:buNone/>
            </a:pPr>
            <a:r>
              <a:rPr lang="en-US" sz="1050" b="1"/>
              <a:t>Personalized Service</a:t>
            </a:r>
          </a:p>
          <a:p>
            <a:pPr marL="0" lvl="1" indent="0">
              <a:buNone/>
            </a:pPr>
            <a:r>
              <a:rPr lang="en-US" sz="1050"/>
              <a:t>A unified customer view supports personalized services and improves relationship management.</a:t>
            </a:r>
          </a:p>
        </p:txBody>
      </p:sp>
      <p:pic>
        <p:nvPicPr>
          <p:cNvPr id="5" name="Content Placeholder 4" descr="Social Network Backgrounds">
            <a:extLst>
              <a:ext uri="{FF2B5EF4-FFF2-40B4-BE49-F238E27FC236}">
                <a16:creationId xmlns:a16="http://schemas.microsoft.com/office/drawing/2014/main" id="{E0E40B87-CC3F-4D12-97C8-5781F02FC5CC}"/>
              </a:ext>
            </a:extLst>
          </p:cNvPr>
          <p:cNvPicPr>
            <a:picLocks noGrp="1" noChangeAspect="1"/>
          </p:cNvPicPr>
          <p:nvPr>
            <p:ph sz="half" idx="1"/>
          </p:nvPr>
        </p:nvPicPr>
        <p:blipFill>
          <a:blip r:embed="rId3"/>
          <a:srcRect l="28294" r="24535" b="-1"/>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1361543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FF7E7-7058-7AAF-11B5-2B595B5A2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800CB-70DB-9CB8-D02C-5E7A69EC375A}"/>
              </a:ext>
            </a:extLst>
          </p:cNvPr>
          <p:cNvSpPr>
            <a:spLocks noGrp="1"/>
          </p:cNvSpPr>
          <p:nvPr>
            <p:ph type="title"/>
          </p:nvPr>
        </p:nvSpPr>
        <p:spPr>
          <a:xfrm>
            <a:off x="182400" y="125526"/>
            <a:ext cx="8835527" cy="772045"/>
          </a:xfrm>
        </p:spPr>
        <p:txBody>
          <a:bodyPr anchor="b">
            <a:normAutofit fontScale="90000"/>
          </a:bodyPr>
          <a:lstStyle/>
          <a:p>
            <a:r>
              <a:rPr lang="en-US" sz="3500"/>
              <a:t>Customer Number Schemes – Design Considerations for a Core Banking Platform</a:t>
            </a:r>
            <a:endParaRPr lang="en-US" sz="3500">
              <a:solidFill>
                <a:srgbClr val="FFFFFF"/>
              </a:solidFill>
            </a:endParaRPr>
          </a:p>
        </p:txBody>
      </p:sp>
      <p:sp>
        <p:nvSpPr>
          <p:cNvPr id="3" name="Rectangle 2">
            <a:extLst>
              <a:ext uri="{FF2B5EF4-FFF2-40B4-BE49-F238E27FC236}">
                <a16:creationId xmlns:a16="http://schemas.microsoft.com/office/drawing/2014/main" id="{60B6B486-5193-CB4C-32B9-61CDE843DB88}"/>
              </a:ext>
            </a:extLst>
          </p:cNvPr>
          <p:cNvSpPr/>
          <p:nvPr/>
        </p:nvSpPr>
        <p:spPr>
          <a:xfrm>
            <a:off x="0" y="659011"/>
            <a:ext cx="9144000" cy="6771084"/>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solidFill>
                  <a:prstClr val="black"/>
                </a:solidFill>
                <a:latin typeface="Segoe UI" pitchFamily="34" charset="0"/>
                <a:ea typeface="Segoe UI" pitchFamily="34" charset="-122"/>
                <a:cs typeface="Segoe UI" pitchFamily="34" charset="-120"/>
              </a:rPr>
              <a:t>Customer Component is the SOR (System of Record) for the Customer Data and hence the Customer Number</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solidFill>
                  <a:prstClr val="black"/>
                </a:solidFill>
                <a:latin typeface="Segoe UI" pitchFamily="34" charset="0"/>
                <a:ea typeface="Segoe UI" pitchFamily="34" charset="-122"/>
                <a:cs typeface="Segoe UI" pitchFamily="34" charset="-120"/>
              </a:rPr>
              <a:t>In the Core Banking Platform we need to have a mechanism to Relate the Account to the Customer for the role they play on the account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solidFill>
                  <a:prstClr val="black"/>
                </a:solidFill>
                <a:latin typeface="Segoe UI" pitchFamily="34" charset="0"/>
                <a:ea typeface="Segoe UI" pitchFamily="34" charset="-122"/>
                <a:cs typeface="Segoe UI" pitchFamily="34" charset="-120"/>
              </a:rPr>
              <a:t>A Customer can play many roles on an account</a:t>
            </a:r>
          </a:p>
          <a:p>
            <a:pPr marL="1200150" lvl="2" indent="-28575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rPr>
              <a:t>Owner</a:t>
            </a:r>
          </a:p>
          <a:p>
            <a:pPr marL="1200150" lvl="2" indent="-28575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Co Owner</a:t>
            </a:r>
          </a:p>
          <a:p>
            <a:pPr marL="1200150" lvl="2" indent="-28575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rPr>
              <a:t>Borrower</a:t>
            </a:r>
          </a:p>
          <a:p>
            <a:pPr marL="1200150" lvl="2" indent="-28575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Guarantor</a:t>
            </a:r>
          </a:p>
          <a:p>
            <a:pPr marL="1200150" lvl="2" indent="-28575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rPr>
              <a:t>Nominee</a:t>
            </a:r>
          </a:p>
          <a:p>
            <a:pPr marL="1200150" lvl="2" indent="-28575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Signatory</a:t>
            </a:r>
          </a:p>
          <a:p>
            <a:pPr marL="1200150" lvl="2" indent="-28575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a:t>
            </a:r>
          </a:p>
          <a:p>
            <a:pPr lvl="1"/>
            <a:endParaRPr lang="en-US" sz="2000">
              <a:solidFill>
                <a:prstClr val="black"/>
              </a:solidFill>
              <a:latin typeface="Segoe UI" pitchFamily="34" charset="0"/>
              <a:ea typeface="Segoe UI" pitchFamily="34" charset="-122"/>
              <a:cs typeface="Segoe UI" pitchFamily="34" charset="-120"/>
            </a:endParaRPr>
          </a:p>
          <a:p>
            <a:pPr lvl="1"/>
            <a:r>
              <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rPr>
              <a:t>&lt;What is the Design Implication ?&gt; e.g.: </a:t>
            </a:r>
          </a:p>
          <a:p>
            <a:pPr marL="800100" lvl="1" indent="-342900">
              <a:buFont typeface="Arial" panose="020B0604020202020204" pitchFamily="34" charset="0"/>
              <a:buChar char="•"/>
            </a:pPr>
            <a:r>
              <a:rPr lang="en-US" sz="1600">
                <a:solidFill>
                  <a:prstClr val="black"/>
                </a:solidFill>
                <a:latin typeface="Segoe UI" pitchFamily="34" charset="0"/>
                <a:ea typeface="Segoe UI" pitchFamily="34" charset="-122"/>
                <a:cs typeface="Segoe UI" pitchFamily="34" charset="-120"/>
              </a:rPr>
              <a:t>Relating a Account to Customer (Role Type, Customer Number)</a:t>
            </a:r>
          </a:p>
          <a:p>
            <a:pPr marL="800100" lvl="1" indent="-342900">
              <a:buFont typeface="Arial" panose="020B0604020202020204" pitchFamily="34" charset="0"/>
              <a:buChar char="•"/>
            </a:pPr>
            <a:r>
              <a:rPr kumimoji="0" lang="en-US" sz="16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rPr>
              <a:t>Searching an Account (Role Type, Customer Number)</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171920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B09612C1-E7DD-D32B-FC69-72DD81CD1B36}"/>
              </a:ext>
            </a:extLst>
          </p:cNvPr>
          <p:cNvSpPr>
            <a:spLocks noGrp="1"/>
          </p:cNvSpPr>
          <p:nvPr>
            <p:ph type="ctrTitle"/>
          </p:nvPr>
        </p:nvSpPr>
        <p:spPr>
          <a:xfrm>
            <a:off x="207818" y="2217991"/>
            <a:ext cx="5829300" cy="3420690"/>
          </a:xfrm>
        </p:spPr>
        <p:txBody>
          <a:bodyPr anchor="b">
            <a:normAutofit/>
          </a:bodyPr>
          <a:lstStyle/>
          <a:p>
            <a:pPr algn="l"/>
            <a:r>
              <a:rPr lang="en-US" sz="5550"/>
              <a:t>Fundamentals of Currency Handling in Core Banking</a:t>
            </a:r>
          </a:p>
        </p:txBody>
      </p:sp>
    </p:spTree>
    <p:extLst>
      <p:ext uri="{BB962C8B-B14F-4D97-AF65-F5344CB8AC3E}">
        <p14:creationId xmlns:p14="http://schemas.microsoft.com/office/powerpoint/2010/main" val="258410615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BEA09304-7A83-9BD6-9E8A-EC1FA75006D4}"/>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700" b="1"/>
              <a:t>How currencies are represented in banking systems</a:t>
            </a:r>
          </a:p>
        </p:txBody>
      </p:sp>
      <p:pic>
        <p:nvPicPr>
          <p:cNvPr id="5" name="Content Placeholder 4" descr="stock or currency exchange market display screen board">
            <a:extLst>
              <a:ext uri="{FF2B5EF4-FFF2-40B4-BE49-F238E27FC236}">
                <a16:creationId xmlns:a16="http://schemas.microsoft.com/office/drawing/2014/main" id="{946905E4-81DB-4B44-AEA1-9A4C0CCAEAE3}"/>
              </a:ext>
            </a:extLst>
          </p:cNvPr>
          <p:cNvPicPr>
            <a:picLocks noGrp="1" noChangeAspect="1"/>
          </p:cNvPicPr>
          <p:nvPr>
            <p:ph sz="half" idx="1"/>
          </p:nvPr>
        </p:nvPicPr>
        <p:blipFill>
          <a:blip r:embed="rId3"/>
          <a:srcRect t="1295" r="3" b="3"/>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D1F2BB63-F389-FED0-039C-B3FC707E9F5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p:spPr>
        <p:txBody>
          <a:bodyPr>
            <a:normAutofit/>
          </a:bodyPr>
          <a:lstStyle/>
          <a:p>
            <a:pPr marL="0" indent="0">
              <a:spcBef>
                <a:spcPts val="1875"/>
              </a:spcBef>
              <a:buNone/>
            </a:pPr>
            <a:r>
              <a:rPr lang="en-US" sz="1050" b="1"/>
              <a:t>Currency Codes and Symbols</a:t>
            </a:r>
          </a:p>
          <a:p>
            <a:pPr marL="0" lvl="1" indent="0">
              <a:buNone/>
            </a:pPr>
            <a:r>
              <a:rPr lang="en-US" sz="1050"/>
              <a:t>Currencies use alphabetic codes and symbols to identify different monetary units worldwide.</a:t>
            </a:r>
          </a:p>
          <a:p>
            <a:pPr marL="0" indent="0">
              <a:spcBef>
                <a:spcPts val="1875"/>
              </a:spcBef>
              <a:buNone/>
            </a:pPr>
            <a:r>
              <a:rPr lang="en-US" sz="1050" b="1"/>
              <a:t>Numeric Values in Transactions</a:t>
            </a:r>
          </a:p>
          <a:p>
            <a:pPr marL="0" lvl="1" indent="0">
              <a:buNone/>
            </a:pPr>
            <a:r>
              <a:rPr lang="en-US" sz="1050"/>
              <a:t>Numeric values represent the amount of currency in financial transactions and accounting.</a:t>
            </a:r>
          </a:p>
          <a:p>
            <a:pPr marL="0" indent="0">
              <a:spcBef>
                <a:spcPts val="1875"/>
              </a:spcBef>
              <a:buNone/>
            </a:pPr>
            <a:r>
              <a:rPr lang="en-US" sz="1050" b="1"/>
              <a:t>Decimal Fractional Units</a:t>
            </a:r>
          </a:p>
          <a:p>
            <a:pPr marL="0" lvl="1" indent="0">
              <a:buNone/>
            </a:pPr>
            <a:r>
              <a:rPr lang="en-US" sz="1050"/>
              <a:t>Decimals indicate fractional units of currency, allowing precise financial calculations and accounting.</a:t>
            </a:r>
          </a:p>
        </p:txBody>
      </p:sp>
    </p:spTree>
    <p:extLst>
      <p:ext uri="{BB962C8B-B14F-4D97-AF65-F5344CB8AC3E}">
        <p14:creationId xmlns:p14="http://schemas.microsoft.com/office/powerpoint/2010/main" val="2133069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8573DAB5-B798-42F0-73E1-32763AFB9CAF}"/>
              </a:ext>
            </a:extLst>
          </p:cNvPr>
          <p:cNvSpPr>
            <a:spLocks noGrp="1"/>
          </p:cNvSpPr>
          <p:nvPr>
            <p:ph type="title"/>
          </p:nvPr>
        </p:nvSpPr>
        <p:spPr>
          <a:xfrm>
            <a:off x="5342256" y="1309876"/>
            <a:ext cx="3271270" cy="1145287"/>
          </a:xfrm>
        </p:spPr>
        <p:txBody>
          <a:bodyPr vert="horz" lIns="68580" tIns="34290" rIns="68580" bIns="34290" rtlCol="0" anchor="b">
            <a:normAutofit/>
          </a:bodyPr>
          <a:lstStyle/>
          <a:p>
            <a:r>
              <a:rPr lang="en-US" sz="2475" b="1"/>
              <a:t>International standards for currency codes (ISO 4217)</a:t>
            </a:r>
          </a:p>
        </p:txBody>
      </p:sp>
      <p:pic>
        <p:nvPicPr>
          <p:cNvPr id="5" name="Content Placeholder 4" descr="Financial figures with graph and currency symbols">
            <a:extLst>
              <a:ext uri="{FF2B5EF4-FFF2-40B4-BE49-F238E27FC236}">
                <a16:creationId xmlns:a16="http://schemas.microsoft.com/office/drawing/2014/main" id="{88B1A231-3D1B-4748-9C11-441AA4A33608}"/>
              </a:ext>
            </a:extLst>
          </p:cNvPr>
          <p:cNvPicPr>
            <a:picLocks noGrp="1" noChangeAspect="1"/>
          </p:cNvPicPr>
          <p:nvPr>
            <p:ph sz="half" idx="1"/>
          </p:nvPr>
        </p:nvPicPr>
        <p:blipFill>
          <a:blip r:embed="rId3"/>
          <a:srcRect l="29670" r="18055"/>
          <a:stretch>
            <a:fillRect/>
          </a:stretch>
        </p:blipFill>
        <p:spPr>
          <a:xfrm>
            <a:off x="1" y="857257"/>
            <a:ext cx="4780026" cy="5143493"/>
          </a:xfrm>
          <a:prstGeom prst="rect">
            <a:avLst/>
          </a:prstGeom>
        </p:spPr>
      </p:pic>
      <p:sp>
        <p:nvSpPr>
          <p:cNvPr id="4" name="Content Placeholder 3">
            <a:extLst>
              <a:ext uri="{FF2B5EF4-FFF2-40B4-BE49-F238E27FC236}">
                <a16:creationId xmlns:a16="http://schemas.microsoft.com/office/drawing/2014/main" id="{3C28C7B1-29E5-98A2-55D9-547493953E0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42256" y="2516884"/>
            <a:ext cx="3271270" cy="3072386"/>
          </a:xfrm>
        </p:spPr>
        <p:txBody>
          <a:bodyPr>
            <a:normAutofit/>
          </a:bodyPr>
          <a:lstStyle/>
          <a:p>
            <a:pPr marL="0" indent="0">
              <a:spcBef>
                <a:spcPts val="1875"/>
              </a:spcBef>
              <a:buNone/>
            </a:pPr>
            <a:r>
              <a:rPr lang="en-US" sz="1050" b="1"/>
              <a:t>Standardized Currency Codes</a:t>
            </a:r>
          </a:p>
          <a:p>
            <a:pPr marL="0" lvl="1" indent="0">
              <a:buNone/>
            </a:pPr>
            <a:r>
              <a:rPr lang="en-US" sz="1050"/>
              <a:t>ISO 4217 provides three-letter codes to standardize currency identification worldwide.</a:t>
            </a:r>
          </a:p>
          <a:p>
            <a:pPr marL="0" indent="0">
              <a:spcBef>
                <a:spcPts val="1875"/>
              </a:spcBef>
              <a:buNone/>
            </a:pPr>
            <a:r>
              <a:rPr lang="en-US" sz="1050" b="1"/>
              <a:t>Global Financial Consistency</a:t>
            </a:r>
          </a:p>
          <a:p>
            <a:pPr marL="0" lvl="1" indent="0">
              <a:buNone/>
            </a:pPr>
            <a:r>
              <a:rPr lang="en-US" sz="1050"/>
              <a:t>These standards ensure consistent currency recognition across international banking and finance.</a:t>
            </a:r>
          </a:p>
        </p:txBody>
      </p:sp>
    </p:spTree>
    <p:extLst>
      <p:ext uri="{BB962C8B-B14F-4D97-AF65-F5344CB8AC3E}">
        <p14:creationId xmlns:p14="http://schemas.microsoft.com/office/powerpoint/2010/main" val="18754310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1081B86D-9431-CAA7-F1B8-E469D7833282}"/>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Examples of different currency decimal structures</a:t>
            </a:r>
          </a:p>
        </p:txBody>
      </p:sp>
      <p:pic>
        <p:nvPicPr>
          <p:cNvPr id="5" name="Content Placeholder 4" descr="A variety of paper currency notes from around the world, including Nicaragua, Turkey, Hong Kong, India, Sri Lanka, Papua New Guinea, Myanmar, Vietnam, Haiti, Indonesia, Iraq, Uzbekistan, Turkmenitstan, Afghanistan, Syria, Lebanon, and Egypt">
            <a:extLst>
              <a:ext uri="{FF2B5EF4-FFF2-40B4-BE49-F238E27FC236}">
                <a16:creationId xmlns:a16="http://schemas.microsoft.com/office/drawing/2014/main" id="{7C9BF065-83FC-4A6B-99AA-877E3E103216}"/>
              </a:ext>
            </a:extLst>
          </p:cNvPr>
          <p:cNvPicPr>
            <a:picLocks noGrp="1" noChangeAspect="1"/>
          </p:cNvPicPr>
          <p:nvPr>
            <p:ph sz="half" idx="1"/>
          </p:nvPr>
        </p:nvPicPr>
        <p:blipFill>
          <a:blip r:embed="rId3"/>
          <a:srcRect l="31053" r="21154"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4A3D9806-BE06-3C85-9F75-D6F8718DBF8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National Currencies:</a:t>
            </a:r>
          </a:p>
          <a:p>
            <a:pPr marL="342900" lvl="1" indent="0">
              <a:spcBef>
                <a:spcPts val="1875"/>
              </a:spcBef>
              <a:buNone/>
            </a:pPr>
            <a:r>
              <a:rPr lang="en-US" sz="1000" b="1"/>
              <a:t>Two Decimal Places Example</a:t>
            </a:r>
          </a:p>
          <a:p>
            <a:pPr marL="342900" lvl="2" indent="0">
              <a:buNone/>
            </a:pPr>
            <a:r>
              <a:rPr lang="en-US" sz="1000"/>
              <a:t>Most National Currencies like Indian Rupee, US Dollar, Euro, Pound typically uses two decimal places to represent cents in monetary amounts.</a:t>
            </a:r>
          </a:p>
          <a:p>
            <a:pPr marL="342900" lvl="1" indent="0">
              <a:spcBef>
                <a:spcPts val="1875"/>
              </a:spcBef>
              <a:buNone/>
            </a:pPr>
            <a:r>
              <a:rPr lang="en-US" sz="1000" b="1"/>
              <a:t>No Decimal Places Example</a:t>
            </a:r>
          </a:p>
          <a:p>
            <a:pPr marL="342900" lvl="2" indent="0">
              <a:buNone/>
            </a:pPr>
            <a:r>
              <a:rPr lang="en-US" sz="1000"/>
              <a:t>The Japanese Yen does not use decimals, representing amounts as whole numbers.</a:t>
            </a:r>
          </a:p>
          <a:p>
            <a:pPr marL="342900" lvl="1" indent="0">
              <a:spcBef>
                <a:spcPts val="1875"/>
              </a:spcBef>
              <a:buNone/>
            </a:pPr>
            <a:r>
              <a:rPr lang="en-US" sz="1000" b="1"/>
              <a:t>Three Decimal Places Example</a:t>
            </a:r>
          </a:p>
          <a:p>
            <a:pPr marL="342900" lvl="2" indent="0">
              <a:buNone/>
            </a:pPr>
            <a:r>
              <a:rPr lang="en-US" sz="1000"/>
              <a:t>Some currencies (Bahraini Dinar (BHD), Jordanian Dinar (JOD), and Kuwaiti Dinar (KWD) use three decimal places</a:t>
            </a:r>
          </a:p>
          <a:p>
            <a:pPr marL="0" lvl="1" indent="0">
              <a:buNone/>
            </a:pPr>
            <a:endParaRPr lang="en-US" sz="1050"/>
          </a:p>
          <a:p>
            <a:pPr marL="0" lvl="1" indent="0">
              <a:buNone/>
            </a:pPr>
            <a:r>
              <a:rPr lang="en-US" sz="1050" b="1"/>
              <a:t>Crypto/Bitcoin/Stablecoin</a:t>
            </a:r>
          </a:p>
          <a:p>
            <a:pPr marL="0" lvl="1" indent="0">
              <a:buNone/>
            </a:pPr>
            <a:r>
              <a:rPr lang="en-US" sz="1050" b="1"/>
              <a:t>           </a:t>
            </a:r>
            <a:r>
              <a:rPr lang="en-US" sz="1050"/>
              <a:t>What is the no of decimals ? </a:t>
            </a:r>
          </a:p>
        </p:txBody>
      </p:sp>
    </p:spTree>
    <p:extLst>
      <p:ext uri="{BB962C8B-B14F-4D97-AF65-F5344CB8AC3E}">
        <p14:creationId xmlns:p14="http://schemas.microsoft.com/office/powerpoint/2010/main" val="15325251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CEC394C9-6C2B-890C-AC92-CF3DCA115A31}"/>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700" b="1"/>
              <a:t>Multi-currency support and requirements</a:t>
            </a:r>
          </a:p>
        </p:txBody>
      </p:sp>
      <p:pic>
        <p:nvPicPr>
          <p:cNvPr id="5" name="Content Placeholder 4" descr="Wooden economy and currency units chain on craft background">
            <a:extLst>
              <a:ext uri="{FF2B5EF4-FFF2-40B4-BE49-F238E27FC236}">
                <a16:creationId xmlns:a16="http://schemas.microsoft.com/office/drawing/2014/main" id="{28DAB4E7-93FE-4404-A9D5-44BCD3F6B444}"/>
              </a:ext>
            </a:extLst>
          </p:cNvPr>
          <p:cNvPicPr>
            <a:picLocks noGrp="1" noChangeAspect="1"/>
          </p:cNvPicPr>
          <p:nvPr>
            <p:ph sz="half" idx="1"/>
          </p:nvPr>
        </p:nvPicPr>
        <p:blipFill>
          <a:blip r:embed="rId3"/>
          <a:srcRect r="3" b="1299"/>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25F1C97F-52CC-64B1-BEB0-1F0B38DEE42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p:spPr>
        <p:txBody>
          <a:bodyPr>
            <a:normAutofit/>
          </a:bodyPr>
          <a:lstStyle/>
          <a:p>
            <a:pPr marL="0" indent="0">
              <a:spcBef>
                <a:spcPts val="1875"/>
              </a:spcBef>
              <a:buNone/>
            </a:pPr>
            <a:r>
              <a:rPr lang="en-US" sz="1050" b="1"/>
              <a:t>Currency Denominations and Symbols</a:t>
            </a:r>
          </a:p>
          <a:p>
            <a:pPr marL="0" lvl="1" indent="0">
              <a:buNone/>
            </a:pPr>
            <a:r>
              <a:rPr lang="en-US" sz="1050"/>
              <a:t>Handling different currency denominations and symbols is essential for accurate financial representation in multi-currency systems.</a:t>
            </a:r>
          </a:p>
          <a:p>
            <a:pPr marL="0" indent="0">
              <a:spcBef>
                <a:spcPts val="1875"/>
              </a:spcBef>
              <a:buNone/>
            </a:pPr>
            <a:r>
              <a:rPr lang="en-US" sz="1050" b="1"/>
              <a:t>Currency Format Variations</a:t>
            </a:r>
          </a:p>
          <a:p>
            <a:pPr marL="0" lvl="1" indent="0">
              <a:buNone/>
            </a:pPr>
            <a:r>
              <a:rPr lang="en-US" sz="1050"/>
              <a:t>Different currencies require unique formatting for amounts, including decimal places and separators, to ensure clarity and compliance.</a:t>
            </a:r>
          </a:p>
          <a:p>
            <a:pPr marL="0" indent="0">
              <a:spcBef>
                <a:spcPts val="1875"/>
              </a:spcBef>
              <a:buNone/>
            </a:pPr>
            <a:r>
              <a:rPr lang="en-US" sz="1050" b="1"/>
              <a:t>Transaction Processing Accuracy</a:t>
            </a:r>
          </a:p>
          <a:p>
            <a:pPr marL="0" lvl="1" indent="0">
              <a:buNone/>
            </a:pPr>
            <a:r>
              <a:rPr lang="en-US" sz="1050"/>
              <a:t>Ensuring transactions are processed correctly across diverse currencies is critical for system reliability and user trust.</a:t>
            </a:r>
          </a:p>
          <a:p>
            <a:pPr marL="0" lvl="1" indent="0">
              <a:buNone/>
            </a:pPr>
            <a:endParaRPr lang="en-US" sz="1050"/>
          </a:p>
          <a:p>
            <a:pPr marL="0" indent="0">
              <a:spcBef>
                <a:spcPts val="1875"/>
              </a:spcBef>
              <a:buNone/>
            </a:pPr>
            <a:r>
              <a:rPr lang="en-US" sz="1050" b="1"/>
              <a:t>Transaction Processing Accuracy</a:t>
            </a:r>
          </a:p>
          <a:p>
            <a:pPr marL="0" lvl="1" indent="0">
              <a:buNone/>
            </a:pPr>
            <a:r>
              <a:rPr lang="en-US" sz="1050"/>
              <a:t>Ensuring transactions are processed correctly across diverse currencies is critical for system reliability and user trust.</a:t>
            </a:r>
          </a:p>
          <a:p>
            <a:pPr marL="0" lvl="1" indent="0">
              <a:buNone/>
            </a:pPr>
            <a:endParaRPr lang="en-US" sz="1050"/>
          </a:p>
        </p:txBody>
      </p:sp>
    </p:spTree>
    <p:extLst>
      <p:ext uri="{BB962C8B-B14F-4D97-AF65-F5344CB8AC3E}">
        <p14:creationId xmlns:p14="http://schemas.microsoft.com/office/powerpoint/2010/main" val="16708068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B8E5AB43-94A2-D570-892C-6F260B8EA2EB}"/>
              </a:ext>
            </a:extLst>
          </p:cNvPr>
          <p:cNvSpPr>
            <a:spLocks noGrp="1"/>
          </p:cNvSpPr>
          <p:nvPr>
            <p:ph type="title"/>
          </p:nvPr>
        </p:nvSpPr>
        <p:spPr>
          <a:xfrm>
            <a:off x="461009" y="1268729"/>
            <a:ext cx="2983230" cy="4289730"/>
          </a:xfrm>
        </p:spPr>
        <p:txBody>
          <a:bodyPr anchor="t">
            <a:normAutofit/>
          </a:bodyPr>
          <a:lstStyle/>
          <a:p>
            <a:r>
              <a:rPr lang="en-US"/>
              <a:t>Currency data structures and representation</a:t>
            </a:r>
          </a:p>
        </p:txBody>
      </p:sp>
      <p:graphicFrame>
        <p:nvGraphicFramePr>
          <p:cNvPr id="4" name="Content Placeholder 4">
            <a:extLst>
              <a:ext uri="{FF2B5EF4-FFF2-40B4-BE49-F238E27FC236}">
                <a16:creationId xmlns:a16="http://schemas.microsoft.com/office/drawing/2014/main" id="{D39CB753-35B7-4C69-A527-18F71BCE0F3C}"/>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040657" y="1268729"/>
          <a:ext cx="4642335" cy="43959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26774322"/>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668EABA6-6EE2-8024-2075-E1CA7D863FF8}"/>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Currency conversion and exchange rate management</a:t>
            </a:r>
          </a:p>
        </p:txBody>
      </p:sp>
      <p:pic>
        <p:nvPicPr>
          <p:cNvPr id="5" name="Content Placeholder 4" descr="Blurred financial stock market data and graph">
            <a:extLst>
              <a:ext uri="{FF2B5EF4-FFF2-40B4-BE49-F238E27FC236}">
                <a16:creationId xmlns:a16="http://schemas.microsoft.com/office/drawing/2014/main" id="{7ECA1989-1E48-4EAF-89EF-725033440491}"/>
              </a:ext>
            </a:extLst>
          </p:cNvPr>
          <p:cNvPicPr>
            <a:picLocks noGrp="1" noChangeAspect="1"/>
          </p:cNvPicPr>
          <p:nvPr>
            <p:ph sz="half" idx="1"/>
          </p:nvPr>
        </p:nvPicPr>
        <p:blipFill>
          <a:blip r:embed="rId3"/>
          <a:srcRect l="35420" r="16071"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A100955A-DD36-84DB-1D33-BCC15047B85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Currency Conversion Basics</a:t>
            </a:r>
          </a:p>
          <a:p>
            <a:pPr marL="0" lvl="1" indent="0">
              <a:buNone/>
            </a:pPr>
            <a:r>
              <a:rPr lang="en-US" sz="1050"/>
              <a:t>Currency conversion transforms one currency into another using the current exchange rates for accurate financial transactions.</a:t>
            </a:r>
          </a:p>
          <a:p>
            <a:pPr marL="0" indent="0">
              <a:spcBef>
                <a:spcPts val="1875"/>
              </a:spcBef>
              <a:buNone/>
            </a:pPr>
            <a:r>
              <a:rPr lang="en-US" sz="1050" b="1"/>
              <a:t>Importance of Exchange Rates</a:t>
            </a:r>
          </a:p>
          <a:p>
            <a:pPr marL="0" lvl="1" indent="0">
              <a:buNone/>
            </a:pPr>
            <a:r>
              <a:rPr lang="en-US" sz="1050"/>
              <a:t>Up-to-date exchange rates ensure precise value calculations and fair transaction reconciliations in global finance.</a:t>
            </a:r>
          </a:p>
          <a:p>
            <a:pPr marL="0" indent="0">
              <a:spcBef>
                <a:spcPts val="1875"/>
              </a:spcBef>
              <a:buNone/>
            </a:pPr>
            <a:r>
              <a:rPr lang="en-US" sz="1050" b="1"/>
              <a:t>Conversion Algorithms</a:t>
            </a:r>
          </a:p>
          <a:p>
            <a:pPr marL="0" lvl="1" indent="0">
              <a:buNone/>
            </a:pPr>
            <a:r>
              <a:rPr lang="en-US" sz="1050"/>
              <a:t>Algorithms automate currency conversions efficiently, applying correct rates during transactions and reconciliations.</a:t>
            </a:r>
          </a:p>
        </p:txBody>
      </p:sp>
    </p:spTree>
    <p:extLst>
      <p:ext uri="{BB962C8B-B14F-4D97-AF65-F5344CB8AC3E}">
        <p14:creationId xmlns:p14="http://schemas.microsoft.com/office/powerpoint/2010/main" val="2452004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C2DF6AD1-B5F1-CA0F-C511-27A9A88BEFAE}"/>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Precision, rounding, and decimal handling</a:t>
            </a:r>
          </a:p>
        </p:txBody>
      </p:sp>
      <p:pic>
        <p:nvPicPr>
          <p:cNvPr id="5" name="Content Placeholder 4" descr="Close-up of a calculator keypad">
            <a:extLst>
              <a:ext uri="{FF2B5EF4-FFF2-40B4-BE49-F238E27FC236}">
                <a16:creationId xmlns:a16="http://schemas.microsoft.com/office/drawing/2014/main" id="{929C3FB6-8E37-442B-9B21-5F26C24CDF44}"/>
              </a:ext>
            </a:extLst>
          </p:cNvPr>
          <p:cNvPicPr>
            <a:picLocks noGrp="1" noChangeAspect="1"/>
          </p:cNvPicPr>
          <p:nvPr>
            <p:ph sz="half" idx="1"/>
          </p:nvPr>
        </p:nvPicPr>
        <p:blipFill>
          <a:blip r:embed="rId3"/>
          <a:srcRect l="22654" r="29911"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441C4B71-930D-49C2-F022-93C76B7F7F0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Importance of Exact Precision</a:t>
            </a:r>
          </a:p>
          <a:p>
            <a:pPr marL="0" lvl="1" indent="0">
              <a:buNone/>
            </a:pPr>
            <a:r>
              <a:rPr lang="en-US" sz="1050"/>
              <a:t>Monetary values require high precision to prevent errors and maintain accuracy in financial calculations.</a:t>
            </a:r>
          </a:p>
          <a:p>
            <a:pPr marL="0" indent="0">
              <a:spcBef>
                <a:spcPts val="1875"/>
              </a:spcBef>
              <a:buNone/>
            </a:pPr>
            <a:r>
              <a:rPr lang="en-US" sz="1050" b="1"/>
              <a:t>Careful Rounding Strategies</a:t>
            </a:r>
          </a:p>
          <a:p>
            <a:pPr marL="0" lvl="1" indent="0">
              <a:buNone/>
            </a:pPr>
            <a:r>
              <a:rPr lang="en-US" sz="1050"/>
              <a:t>Applying consistent rounding methods ensures compliance with financial regulations and avoids discrepancies.</a:t>
            </a:r>
          </a:p>
          <a:p>
            <a:pPr marL="0" indent="0">
              <a:spcBef>
                <a:spcPts val="1875"/>
              </a:spcBef>
              <a:buNone/>
            </a:pPr>
            <a:r>
              <a:rPr lang="en-US" sz="1050" b="1"/>
              <a:t>Compliance with Monetary Rules</a:t>
            </a:r>
          </a:p>
          <a:p>
            <a:pPr marL="0" lvl="1" indent="0">
              <a:buNone/>
            </a:pPr>
            <a:r>
              <a:rPr lang="en-US" sz="1050"/>
              <a:t>Correct decimal handling aligns with monetary policies and legal requirements in financial management.</a:t>
            </a:r>
          </a:p>
        </p:txBody>
      </p:sp>
    </p:spTree>
    <p:extLst>
      <p:ext uri="{BB962C8B-B14F-4D97-AF65-F5344CB8AC3E}">
        <p14:creationId xmlns:p14="http://schemas.microsoft.com/office/powerpoint/2010/main" val="899405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93CE4-8CD4-ED76-5084-B05856A11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5B3BB-E348-20BA-AA8D-BC59B7F50215}"/>
              </a:ext>
            </a:extLst>
          </p:cNvPr>
          <p:cNvSpPr>
            <a:spLocks noGrp="1"/>
          </p:cNvSpPr>
          <p:nvPr>
            <p:ph type="title"/>
          </p:nvPr>
        </p:nvSpPr>
        <p:spPr>
          <a:xfrm>
            <a:off x="182400" y="-113034"/>
            <a:ext cx="8835527" cy="772045"/>
          </a:xfrm>
        </p:spPr>
        <p:txBody>
          <a:bodyPr anchor="b">
            <a:normAutofit/>
          </a:bodyPr>
          <a:lstStyle/>
          <a:p>
            <a:r>
              <a:rPr lang="en-US" sz="3500"/>
              <a:t>Currency Handling – Design Considerations</a:t>
            </a:r>
            <a:endParaRPr lang="en-US" sz="3500">
              <a:solidFill>
                <a:srgbClr val="FFFFFF"/>
              </a:solidFill>
            </a:endParaRPr>
          </a:p>
        </p:txBody>
      </p:sp>
      <p:sp>
        <p:nvSpPr>
          <p:cNvPr id="3" name="Rectangle 2">
            <a:extLst>
              <a:ext uri="{FF2B5EF4-FFF2-40B4-BE49-F238E27FC236}">
                <a16:creationId xmlns:a16="http://schemas.microsoft.com/office/drawing/2014/main" id="{965162FD-84A7-A086-3A4C-DF403F1F99CC}"/>
              </a:ext>
            </a:extLst>
          </p:cNvPr>
          <p:cNvSpPr/>
          <p:nvPr/>
        </p:nvSpPr>
        <p:spPr>
          <a:xfrm>
            <a:off x="-228600" y="756982"/>
            <a:ext cx="9372600" cy="6647974"/>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rPr>
              <a:t>Currencies can be at various levels: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rPr>
              <a:t>Product Currency: A Product can be offered in </a:t>
            </a:r>
            <a:r>
              <a:rPr lang="en-US" sz="2000">
                <a:solidFill>
                  <a:prstClr val="black"/>
                </a:solidFill>
                <a:latin typeface="Segoe UI" pitchFamily="34" charset="0"/>
                <a:ea typeface="Segoe UI" pitchFamily="34" charset="-122"/>
                <a:cs typeface="Segoe UI" pitchFamily="34" charset="-120"/>
              </a:rPr>
              <a:t>1 to many currencies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rPr>
              <a:t>Account Currency: Is based in one of the currency allowed by the product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solidFill>
                  <a:prstClr val="black"/>
                </a:solidFill>
                <a:latin typeface="Segoe UI" pitchFamily="34" charset="0"/>
                <a:ea typeface="Segoe UI" pitchFamily="34" charset="-122"/>
                <a:cs typeface="Segoe UI" pitchFamily="34" charset="-120"/>
              </a:rPr>
              <a:t>Transaction Currency: Can be in the same currency of the account or different currency of the account if allowed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rPr>
              <a:t>Bank Base Currency: Typically the National Currency of the Country </a:t>
            </a:r>
          </a:p>
          <a:p>
            <a:pPr marR="0" lvl="1" algn="l" defTabSz="457200" rtl="0" eaLnBrk="1" fontAlgn="auto" latinLnBrk="0" hangingPunct="1">
              <a:lnSpc>
                <a:spcPct val="100000"/>
              </a:lnSpc>
              <a:spcBef>
                <a:spcPts val="0"/>
              </a:spcBef>
              <a:spcAft>
                <a:spcPts val="0"/>
              </a:spcAft>
              <a:buClrTx/>
              <a:buSzTx/>
              <a:tabLst/>
              <a:defRPr/>
            </a:pPr>
            <a:endParaRPr lang="en-US" sz="2000">
              <a:solidFill>
                <a:prstClr val="black"/>
              </a:solidFill>
              <a:latin typeface="Segoe UI" pitchFamily="34" charset="0"/>
              <a:ea typeface="Segoe UI" pitchFamily="34" charset="-122"/>
              <a:cs typeface="Segoe UI" pitchFamily="34" charset="-120"/>
            </a:endParaRPr>
          </a:p>
          <a:p>
            <a:pPr marR="0" lvl="1" algn="l" defTabSz="457200" rtl="0" eaLnBrk="1" fontAlgn="auto" latinLnBrk="0" hangingPunct="1">
              <a:lnSpc>
                <a:spcPct val="100000"/>
              </a:lnSpc>
              <a:spcBef>
                <a:spcPts val="0"/>
              </a:spcBef>
              <a:spcAft>
                <a:spcPts val="0"/>
              </a:spcAft>
              <a:buClrTx/>
              <a:buSzTx/>
              <a:tabLst/>
              <a:defRPr/>
            </a:pPr>
            <a:endParaRPr kumimoji="0" lang="en-US" sz="1600" b="0" i="0" u="none" strike="noStrike" kern="1200" cap="none" spc="0" normalizeH="0" baseline="0" noProof="0">
              <a:ln>
                <a:noFill/>
              </a:ln>
              <a:solidFill>
                <a:prstClr val="black"/>
              </a:solidFill>
              <a:effectLst/>
              <a:uLnTx/>
              <a:uFillTx/>
              <a:latin typeface="Segoe UI" pitchFamily="34" charset="0"/>
              <a:ea typeface="Segoe UI" pitchFamily="34" charset="-122"/>
              <a:cs typeface="Segoe UI" pitchFamily="34" charset="-120"/>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In vast majority of the cases the Product Currency, Account Currency, Transaction Currency and Bank Base Currency is the same (e.g.: Indian Rupee in India and USD in USA)</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a:solidFill>
                <a:prstClr val="black"/>
              </a:solidFill>
              <a:latin typeface="Calibri"/>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How ever we can have below possibilities where Multi Currency is allowed and that would add complexity</a:t>
            </a:r>
          </a:p>
          <a:p>
            <a:pPr marL="1200150" lvl="2" indent="-285750">
              <a:buFont typeface="Arial" panose="020B0604020202020204" pitchFamily="34" charset="0"/>
              <a:buChar char="•"/>
            </a:pPr>
            <a:r>
              <a:rPr lang="en-GB">
                <a:solidFill>
                  <a:prstClr val="black"/>
                </a:solidFill>
                <a:latin typeface="Calibri"/>
              </a:rPr>
              <a:t>Account Currency, Bank Base Currency are same and Transaction currency is different</a:t>
            </a:r>
          </a:p>
          <a:p>
            <a:pPr marL="1657350" lvl="3" indent="-285750">
              <a:buFont typeface="Arial" panose="020B0604020202020204" pitchFamily="34" charset="0"/>
              <a:buChar char="•"/>
            </a:pPr>
            <a:r>
              <a:rPr lang="en-GB">
                <a:solidFill>
                  <a:prstClr val="black"/>
                </a:solidFill>
                <a:latin typeface="Calibri"/>
              </a:rPr>
              <a:t>E.g.. Depositing USD in Indian Rupee Account</a:t>
            </a:r>
          </a:p>
          <a:p>
            <a:pPr marL="1200150" lvl="2" indent="-285750">
              <a:buFont typeface="Arial" panose="020B0604020202020204" pitchFamily="34" charset="0"/>
              <a:buChar char="•"/>
            </a:pPr>
            <a:r>
              <a:rPr kumimoji="0" lang="en-GB" b="0" i="0" u="none" strike="noStrike" kern="1200" cap="none" spc="0" normalizeH="0" baseline="0" noProof="0">
                <a:ln>
                  <a:noFill/>
                </a:ln>
                <a:solidFill>
                  <a:prstClr val="black"/>
                </a:solidFill>
                <a:effectLst/>
                <a:uLnTx/>
                <a:uFillTx/>
                <a:latin typeface="Calibri"/>
                <a:ea typeface="+mn-ea"/>
                <a:cs typeface="+mn-cs"/>
              </a:rPr>
              <a:t>Account Currency</a:t>
            </a:r>
            <a:r>
              <a:rPr lang="en-GB">
                <a:solidFill>
                  <a:prstClr val="black"/>
                </a:solidFill>
                <a:latin typeface="Calibri"/>
              </a:rPr>
              <a:t>, Transaction currency are same and Bank Base currency is different</a:t>
            </a:r>
          </a:p>
          <a:p>
            <a:pPr marL="1657350" lvl="3" indent="-285750">
              <a:buFont typeface="Arial" panose="020B0604020202020204" pitchFamily="34" charset="0"/>
              <a:buChar char="•"/>
            </a:pPr>
            <a:r>
              <a:rPr kumimoji="0" lang="en-GB" b="0" i="0" u="none" strike="noStrike" kern="1200" cap="none" spc="0" normalizeH="0" baseline="0" noProof="0">
                <a:ln>
                  <a:noFill/>
                </a:ln>
                <a:solidFill>
                  <a:prstClr val="black"/>
                </a:solidFill>
                <a:effectLst/>
                <a:uLnTx/>
                <a:uFillTx/>
                <a:latin typeface="Calibri"/>
                <a:ea typeface="+mn-ea"/>
                <a:cs typeface="+mn-cs"/>
              </a:rPr>
              <a:t>E.g.: Depositing USD in an USD </a:t>
            </a:r>
            <a:r>
              <a:rPr lang="en-GB">
                <a:solidFill>
                  <a:prstClr val="black"/>
                </a:solidFill>
                <a:latin typeface="Calibri"/>
              </a:rPr>
              <a:t>FCNR</a:t>
            </a:r>
            <a:r>
              <a:rPr kumimoji="0" lang="en-GB" b="0" i="0" u="none" strike="noStrike" kern="1200" cap="none" spc="0" normalizeH="0" baseline="0" noProof="0">
                <a:ln>
                  <a:noFill/>
                </a:ln>
                <a:solidFill>
                  <a:prstClr val="black"/>
                </a:solidFill>
                <a:effectLst/>
                <a:uLnTx/>
                <a:uFillTx/>
                <a:latin typeface="Calibri"/>
                <a:ea typeface="+mn-ea"/>
                <a:cs typeface="+mn-cs"/>
              </a:rPr>
              <a:t> Account in a Indian Bank (INR as Base Currency)</a:t>
            </a:r>
          </a:p>
          <a:p>
            <a:pPr marL="1200150" lvl="2" indent="-285750">
              <a:buFont typeface="Arial" panose="020B0604020202020204" pitchFamily="34" charset="0"/>
              <a:buChar char="•"/>
            </a:pPr>
            <a:r>
              <a:rPr lang="en-GB">
                <a:solidFill>
                  <a:prstClr val="black"/>
                </a:solidFill>
                <a:latin typeface="Calibri"/>
              </a:rPr>
              <a:t>Account Currency, Transaction currency and Bank Base currency are all different if allowed</a:t>
            </a:r>
          </a:p>
          <a:p>
            <a:pPr marL="1657350" lvl="3" indent="-285750">
              <a:buFont typeface="Arial" panose="020B0604020202020204" pitchFamily="34" charset="0"/>
              <a:buChar char="•"/>
            </a:pPr>
            <a:r>
              <a:rPr kumimoji="0" lang="en-GB" b="0" i="0" u="none" strike="noStrike" kern="1200" cap="none" spc="0" normalizeH="0" baseline="0" noProof="0">
                <a:ln>
                  <a:noFill/>
                </a:ln>
                <a:solidFill>
                  <a:prstClr val="black"/>
                </a:solidFill>
                <a:effectLst/>
                <a:uLnTx/>
                <a:uFillTx/>
                <a:latin typeface="Calibri"/>
                <a:ea typeface="+mn-ea"/>
                <a:cs typeface="+mn-cs"/>
              </a:rPr>
              <a:t>Depositing Euro in a USD Account in an Indian Bank (INR as Base Currency)</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888292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E573B-EE93-6A8E-382F-931D5D70B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BB320-AAC7-655E-4668-082708209E39}"/>
              </a:ext>
            </a:extLst>
          </p:cNvPr>
          <p:cNvSpPr>
            <a:spLocks noGrp="1"/>
          </p:cNvSpPr>
          <p:nvPr>
            <p:ph type="title"/>
          </p:nvPr>
        </p:nvSpPr>
        <p:spPr>
          <a:xfrm>
            <a:off x="182400" y="-113034"/>
            <a:ext cx="8835527" cy="772045"/>
          </a:xfrm>
        </p:spPr>
        <p:txBody>
          <a:bodyPr anchor="b">
            <a:normAutofit/>
          </a:bodyPr>
          <a:lstStyle/>
          <a:p>
            <a:r>
              <a:rPr lang="en-US" sz="3500"/>
              <a:t>Currency Handling – Design Considerations</a:t>
            </a:r>
            <a:endParaRPr lang="en-US" sz="3500">
              <a:solidFill>
                <a:srgbClr val="FFFFFF"/>
              </a:solidFill>
            </a:endParaRPr>
          </a:p>
        </p:txBody>
      </p:sp>
      <p:sp>
        <p:nvSpPr>
          <p:cNvPr id="3" name="Rectangle 2">
            <a:extLst>
              <a:ext uri="{FF2B5EF4-FFF2-40B4-BE49-F238E27FC236}">
                <a16:creationId xmlns:a16="http://schemas.microsoft.com/office/drawing/2014/main" id="{6B788FD0-DE44-4600-ACB5-25C5A1D79AA1}"/>
              </a:ext>
            </a:extLst>
          </p:cNvPr>
          <p:cNvSpPr/>
          <p:nvPr/>
        </p:nvSpPr>
        <p:spPr>
          <a:xfrm>
            <a:off x="-354673" y="789639"/>
            <a:ext cx="9372600" cy="5078313"/>
          </a:xfrm>
          <a:prstGeom prst="rect">
            <a:avLst/>
          </a:prstGeom>
        </p:spPr>
        <p:txBody>
          <a:bodyPr wrap="square">
            <a:spAutoFit/>
          </a:bodyPr>
          <a:lstStyle/>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Calibri"/>
                <a:ea typeface="+mn-ea"/>
                <a:cs typeface="+mn-cs"/>
              </a:rPr>
              <a:t>Some basic design elements for your Lap App </a:t>
            </a:r>
          </a:p>
          <a:p>
            <a:pPr marL="1200150" lvl="2" indent="-285750">
              <a:buFont typeface="Arial" panose="020B0604020202020204" pitchFamily="34" charset="0"/>
              <a:buChar char="•"/>
            </a:pPr>
            <a:r>
              <a:rPr lang="en-GB">
                <a:solidFill>
                  <a:prstClr val="black"/>
                </a:solidFill>
                <a:latin typeface="Calibri"/>
              </a:rPr>
              <a:t>Always have Currency Code along with the Amount in all Interfaces:</a:t>
            </a:r>
          </a:p>
          <a:p>
            <a:pPr marL="1657350" lvl="3" indent="-285750">
              <a:buFont typeface="Arial" panose="020B0604020202020204" pitchFamily="34" charset="0"/>
              <a:buChar char="•"/>
            </a:pPr>
            <a:r>
              <a:rPr lang="en-GB">
                <a:solidFill>
                  <a:prstClr val="black"/>
                </a:solidFill>
                <a:latin typeface="Calibri"/>
              </a:rPr>
              <a:t>Visual Interfaces</a:t>
            </a:r>
          </a:p>
          <a:p>
            <a:pPr marL="1657350" lvl="3" indent="-285750">
              <a:buFont typeface="Arial" panose="020B0604020202020204" pitchFamily="34" charset="0"/>
              <a:buChar char="•"/>
            </a:pPr>
            <a:r>
              <a:rPr lang="en-GB">
                <a:solidFill>
                  <a:prstClr val="black"/>
                </a:solidFill>
                <a:latin typeface="Calibri"/>
              </a:rPr>
              <a:t>Programmatic Interfaces</a:t>
            </a:r>
          </a:p>
          <a:p>
            <a:pPr marL="1657350" lvl="3" indent="-285750">
              <a:buFont typeface="Arial" panose="020B0604020202020204" pitchFamily="34" charset="0"/>
              <a:buChar char="•"/>
            </a:pPr>
            <a:r>
              <a:rPr lang="en-GB">
                <a:solidFill>
                  <a:prstClr val="black"/>
                </a:solidFill>
                <a:latin typeface="Calibri"/>
              </a:rPr>
              <a:t>Customer Communications – Statements, Notices, Alerts</a:t>
            </a:r>
          </a:p>
          <a:p>
            <a:pPr marL="2114550" lvl="4" indent="-285750">
              <a:buFont typeface="Arial" panose="020B0604020202020204" pitchFamily="34" charset="0"/>
              <a:buChar char="•"/>
            </a:pPr>
            <a:r>
              <a:rPr lang="en-GB">
                <a:solidFill>
                  <a:prstClr val="black"/>
                </a:solidFill>
                <a:latin typeface="Calibri"/>
              </a:rPr>
              <a:t> Note: You may choose to strip off currency in the final communication to simplify to a customer if they will always be dealing with one currency only</a:t>
            </a:r>
          </a:p>
          <a:p>
            <a:pPr marL="1657350" lvl="3" indent="-285750">
              <a:buFont typeface="Arial" panose="020B0604020202020204" pitchFamily="34" charset="0"/>
              <a:buChar char="•"/>
            </a:pPr>
            <a:r>
              <a:rPr lang="en-GB">
                <a:solidFill>
                  <a:prstClr val="black"/>
                </a:solidFill>
                <a:latin typeface="Calibri"/>
              </a:rPr>
              <a:t>Operational Reports for Bank/Financial Institution </a:t>
            </a:r>
          </a:p>
          <a:p>
            <a:pPr marL="1657350" lvl="3" indent="-285750">
              <a:buFont typeface="Arial" panose="020B0604020202020204" pitchFamily="34" charset="0"/>
              <a:buChar char="•"/>
            </a:pPr>
            <a:r>
              <a:rPr lang="en-GB">
                <a:solidFill>
                  <a:prstClr val="black"/>
                </a:solidFill>
                <a:latin typeface="Calibri"/>
              </a:rPr>
              <a:t>Compliance Reports – Regulator will define the format </a:t>
            </a:r>
          </a:p>
          <a:p>
            <a:pPr lvl="3"/>
            <a:endParaRPr lang="en-GB">
              <a:solidFill>
                <a:prstClr val="black"/>
              </a:solidFill>
              <a:latin typeface="Calibri"/>
            </a:endParaRPr>
          </a:p>
          <a:p>
            <a:pPr marL="1200150" lvl="2" indent="-285750">
              <a:buFont typeface="Arial" panose="020B0604020202020204" pitchFamily="34" charset="0"/>
              <a:buChar char="•"/>
            </a:pPr>
            <a:r>
              <a:rPr lang="en-GB">
                <a:solidFill>
                  <a:prstClr val="black"/>
                </a:solidFill>
                <a:latin typeface="Calibri"/>
              </a:rPr>
              <a:t>Amount field size including no of decimals (for your lab design factoring National currencies i.e. do not worry about Crypto/Bitcoin/Stablecoin decimals)</a:t>
            </a:r>
          </a:p>
          <a:p>
            <a:pPr marL="1657350" lvl="3" indent="-285750">
              <a:buFont typeface="Arial" panose="020B0604020202020204" pitchFamily="34" charset="0"/>
              <a:buChar char="•"/>
            </a:pPr>
            <a:r>
              <a:rPr lang="en-GB">
                <a:solidFill>
                  <a:prstClr val="black"/>
                </a:solidFill>
                <a:latin typeface="Calibri"/>
              </a:rPr>
              <a:t>Database </a:t>
            </a:r>
          </a:p>
          <a:p>
            <a:pPr marL="1657350" lvl="3" indent="-285750">
              <a:buFont typeface="Arial" panose="020B0604020202020204" pitchFamily="34" charset="0"/>
              <a:buChar char="•"/>
            </a:pPr>
            <a:r>
              <a:rPr lang="en-GB">
                <a:solidFill>
                  <a:prstClr val="black"/>
                </a:solidFill>
                <a:latin typeface="Calibri"/>
              </a:rPr>
              <a:t>All Interfaces (mentioned above)</a:t>
            </a:r>
          </a:p>
          <a:p>
            <a:pPr marL="1200150" lvl="2" indent="-285750">
              <a:buFont typeface="Arial" panose="020B0604020202020204" pitchFamily="34" charset="0"/>
              <a:buChar char="•"/>
            </a:pPr>
            <a:endParaRPr lang="en-GB">
              <a:solidFill>
                <a:prstClr val="black"/>
              </a:solidFill>
              <a:latin typeface="Calibri"/>
            </a:endParaRPr>
          </a:p>
          <a:p>
            <a:pPr marL="1657350" lvl="3" indent="-285750">
              <a:buFont typeface="Arial" panose="020B0604020202020204" pitchFamily="34" charset="0"/>
              <a:buChar char="•"/>
            </a:pPr>
            <a:endParaRPr lang="en-GB">
              <a:solidFill>
                <a:prstClr val="black"/>
              </a:solidFill>
              <a:latin typeface="Calibri"/>
            </a:endParaRPr>
          </a:p>
          <a:p>
            <a:pPr marL="1200150" lvl="2" indent="-285750">
              <a:buFont typeface="Arial" panose="020B0604020202020204" pitchFamily="34" charset="0"/>
              <a:buChar char="•"/>
            </a:pPr>
            <a:endParaRPr kumimoji="0" lang="en-GB"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289739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8145DD4B-D6C7-AE44-0CCB-97A59F30339A}"/>
              </a:ext>
            </a:extLst>
          </p:cNvPr>
          <p:cNvSpPr>
            <a:spLocks noGrp="1"/>
          </p:cNvSpPr>
          <p:nvPr>
            <p:ph type="ctrTitle"/>
          </p:nvPr>
        </p:nvSpPr>
        <p:spPr>
          <a:xfrm>
            <a:off x="207818" y="2217991"/>
            <a:ext cx="5829300" cy="3420690"/>
          </a:xfrm>
        </p:spPr>
        <p:txBody>
          <a:bodyPr anchor="b">
            <a:normAutofit/>
          </a:bodyPr>
          <a:lstStyle/>
          <a:p>
            <a:pPr algn="l"/>
            <a:r>
              <a:rPr lang="en-US" sz="5550"/>
              <a:t>Calendars Usage and Types in Banking</a:t>
            </a:r>
          </a:p>
        </p:txBody>
      </p:sp>
    </p:spTree>
    <p:extLst>
      <p:ext uri="{BB962C8B-B14F-4D97-AF65-F5344CB8AC3E}">
        <p14:creationId xmlns:p14="http://schemas.microsoft.com/office/powerpoint/2010/main" val="319944291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F72B6E45-C441-CFF5-34F1-D3C8352FA1E7}"/>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700" b="1"/>
              <a:t>Calendars Basics</a:t>
            </a:r>
          </a:p>
        </p:txBody>
      </p:sp>
      <p:pic>
        <p:nvPicPr>
          <p:cNvPr id="5" name="Content Placeholder 4" descr="Side view of a white calendar">
            <a:extLst>
              <a:ext uri="{FF2B5EF4-FFF2-40B4-BE49-F238E27FC236}">
                <a16:creationId xmlns:a16="http://schemas.microsoft.com/office/drawing/2014/main" id="{4776376A-9465-496B-8D52-165FC7562601}"/>
              </a:ext>
            </a:extLst>
          </p:cNvPr>
          <p:cNvPicPr>
            <a:picLocks noGrp="1" noChangeAspect="1"/>
          </p:cNvPicPr>
          <p:nvPr>
            <p:ph sz="half" idx="1"/>
          </p:nvPr>
        </p:nvPicPr>
        <p:blipFill>
          <a:blip r:embed="rId3"/>
          <a:srcRect t="1295" r="3" b="3"/>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57CD2093-F301-66D6-4724-3334FFC6845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47457" y="326571"/>
            <a:ext cx="4876799" cy="5889172"/>
          </a:xfrm>
        </p:spPr>
        <p:txBody>
          <a:bodyPr>
            <a:normAutofit lnSpcReduction="10000"/>
          </a:bodyPr>
          <a:lstStyle/>
          <a:p>
            <a:pPr marL="0" indent="0">
              <a:spcBef>
                <a:spcPts val="1875"/>
              </a:spcBef>
              <a:buNone/>
            </a:pPr>
            <a:r>
              <a:rPr lang="en-US" sz="1400" b="1"/>
              <a:t>Types of Calendars</a:t>
            </a:r>
          </a:p>
          <a:p>
            <a:pPr marL="342900" lvl="1" indent="0">
              <a:spcBef>
                <a:spcPts val="1875"/>
              </a:spcBef>
              <a:buNone/>
            </a:pPr>
            <a:r>
              <a:rPr lang="en-US" sz="1400" b="1" i="1"/>
              <a:t>Gregorian Calendar</a:t>
            </a:r>
          </a:p>
          <a:p>
            <a:pPr marL="342900" lvl="2" indent="0">
              <a:buNone/>
            </a:pPr>
            <a:r>
              <a:rPr lang="en-US" sz="1400"/>
              <a:t>The Gregorian calendar was introduced in 1582 to replace the Julian calendar and enhance date accuracy worldwide. It is the most widely used international civil calendar worldwide.</a:t>
            </a:r>
          </a:p>
          <a:p>
            <a:pPr marL="342900" lvl="1" indent="0">
              <a:spcBef>
                <a:spcPts val="1875"/>
              </a:spcBef>
              <a:buNone/>
            </a:pPr>
            <a:r>
              <a:rPr lang="en-US" sz="1400" b="1" i="1"/>
              <a:t>Other Regional Calendars</a:t>
            </a:r>
          </a:p>
          <a:p>
            <a:pPr marL="514350" lvl="2"/>
            <a:r>
              <a:rPr lang="en-US" sz="1400"/>
              <a:t>Buddhist Calendar</a:t>
            </a:r>
          </a:p>
          <a:p>
            <a:pPr marL="514350" lvl="2"/>
            <a:r>
              <a:rPr lang="en-US" sz="1400"/>
              <a:t>Chinese Calendar</a:t>
            </a:r>
          </a:p>
          <a:p>
            <a:pPr marL="514350" lvl="2"/>
            <a:r>
              <a:rPr lang="en-US" sz="1400"/>
              <a:t>Islamic Calendar </a:t>
            </a:r>
            <a:endParaRPr lang="en-US" sz="1050"/>
          </a:p>
          <a:p>
            <a:pPr marL="0" indent="0">
              <a:spcBef>
                <a:spcPts val="2500"/>
              </a:spcBef>
              <a:buNone/>
            </a:pPr>
            <a:r>
              <a:rPr lang="en-US" sz="1400" b="1"/>
              <a:t>Business Day Calendars</a:t>
            </a:r>
          </a:p>
          <a:p>
            <a:pPr marL="0" lvl="1" indent="0">
              <a:buNone/>
            </a:pPr>
            <a:r>
              <a:rPr lang="en-US" sz="1400"/>
              <a:t>Business day calendars exclude weekends and standard non-working days to accurately schedule financial transactions.</a:t>
            </a:r>
          </a:p>
          <a:p>
            <a:pPr marL="342900" lvl="1" indent="0">
              <a:spcBef>
                <a:spcPts val="2500"/>
              </a:spcBef>
              <a:buNone/>
            </a:pPr>
            <a:r>
              <a:rPr lang="en-US" sz="1400" b="1" i="1"/>
              <a:t>Local Holiday Calendars</a:t>
            </a:r>
          </a:p>
          <a:p>
            <a:pPr marL="342900" lvl="2" indent="0">
              <a:buNone/>
            </a:pPr>
            <a:r>
              <a:rPr lang="en-US" sz="1400"/>
              <a:t>Local holiday calendars incorporate state-specific public holidays with in a country to ensure accurate transaction timing in different markets.</a:t>
            </a:r>
            <a:endParaRPr lang="en-US" sz="1050"/>
          </a:p>
          <a:p>
            <a:pPr marL="0" indent="0">
              <a:spcBef>
                <a:spcPts val="2500"/>
              </a:spcBef>
              <a:buNone/>
            </a:pPr>
            <a:r>
              <a:rPr lang="en-US" sz="1400" b="1"/>
              <a:t>Calendar Year Vs Fiscal Year </a:t>
            </a:r>
          </a:p>
          <a:p>
            <a:pPr marL="0" lvl="1" indent="0">
              <a:buNone/>
            </a:pPr>
            <a:r>
              <a:rPr lang="en-US" sz="1400"/>
              <a:t>In Some countries the Fiscal Year is different that Calendar Year (e.g.. In India Fiscal Year is April 1</a:t>
            </a:r>
            <a:r>
              <a:rPr lang="en-US" sz="1400" baseline="30000"/>
              <a:t>st</a:t>
            </a:r>
            <a:r>
              <a:rPr lang="en-US" sz="1400"/>
              <a:t> to March 31</a:t>
            </a:r>
            <a:r>
              <a:rPr lang="en-US" sz="1400" baseline="30000"/>
              <a:t>st</a:t>
            </a:r>
            <a:r>
              <a:rPr lang="en-US" sz="1400"/>
              <a:t>). Financial Reporting and Taxation is influenced by the Fiscal Year </a:t>
            </a:r>
          </a:p>
          <a:p>
            <a:pPr marL="0" lvl="1" indent="0">
              <a:buNone/>
            </a:pPr>
            <a:endParaRPr lang="en-US" sz="1400"/>
          </a:p>
          <a:p>
            <a:pPr marL="0" lvl="1" indent="0">
              <a:buNone/>
            </a:pPr>
            <a:endParaRPr lang="en-US" sz="1050"/>
          </a:p>
        </p:txBody>
      </p:sp>
    </p:spTree>
    <p:extLst>
      <p:ext uri="{BB962C8B-B14F-4D97-AF65-F5344CB8AC3E}">
        <p14:creationId xmlns:p14="http://schemas.microsoft.com/office/powerpoint/2010/main" val="4016606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AC32C79D-7017-4510-1392-0110FE5E2B83}"/>
              </a:ext>
            </a:extLst>
          </p:cNvPr>
          <p:cNvSpPr>
            <a:spLocks noGrp="1"/>
          </p:cNvSpPr>
          <p:nvPr>
            <p:ph type="title"/>
          </p:nvPr>
        </p:nvSpPr>
        <p:spPr>
          <a:xfrm>
            <a:off x="4034886" y="542320"/>
            <a:ext cx="4437127" cy="1145286"/>
          </a:xfrm>
        </p:spPr>
        <p:txBody>
          <a:bodyPr vert="horz" lIns="68580" tIns="34290" rIns="68580" bIns="34290" rtlCol="0" anchor="b">
            <a:normAutofit/>
          </a:bodyPr>
          <a:lstStyle/>
          <a:p>
            <a:r>
              <a:rPr lang="en-US" sz="2700" b="1"/>
              <a:t>Examples of Calendar Usage in Banking Products</a:t>
            </a:r>
          </a:p>
        </p:txBody>
      </p:sp>
      <p:pic>
        <p:nvPicPr>
          <p:cNvPr id="5" name="Content Placeholder 4" descr="Financial data analysing , shot with very shallow depth of field">
            <a:extLst>
              <a:ext uri="{FF2B5EF4-FFF2-40B4-BE49-F238E27FC236}">
                <a16:creationId xmlns:a16="http://schemas.microsoft.com/office/drawing/2014/main" id="{6D7AC771-6587-42FB-A884-AACB3EA5C9C3}"/>
              </a:ext>
            </a:extLst>
          </p:cNvPr>
          <p:cNvPicPr>
            <a:picLocks noGrp="1" noChangeAspect="1"/>
          </p:cNvPicPr>
          <p:nvPr>
            <p:ph sz="half" idx="1"/>
          </p:nvPr>
        </p:nvPicPr>
        <p:blipFill>
          <a:blip r:embed="rId3"/>
          <a:srcRect l="52208" r="-1"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2A5742EA-1DA7-4880-08C8-64FBC247885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034886" y="1791340"/>
            <a:ext cx="4437127" cy="4209410"/>
          </a:xfrm>
        </p:spPr>
        <p:txBody>
          <a:bodyPr>
            <a:normAutofit/>
          </a:bodyPr>
          <a:lstStyle/>
          <a:p>
            <a:pPr marL="0" indent="0">
              <a:spcBef>
                <a:spcPts val="1875"/>
              </a:spcBef>
              <a:buNone/>
            </a:pPr>
            <a:r>
              <a:rPr lang="en-US" sz="1050" b="1"/>
              <a:t>Loan Repayment Scheduling</a:t>
            </a:r>
          </a:p>
          <a:p>
            <a:pPr marL="0" lvl="1" indent="0">
              <a:buNone/>
            </a:pPr>
            <a:r>
              <a:rPr lang="en-US" sz="1050"/>
              <a:t>Calendars help banks set precise loan repayment dates, improving payment accuracy and customer compliance.</a:t>
            </a:r>
          </a:p>
          <a:p>
            <a:pPr marL="0" indent="0">
              <a:spcBef>
                <a:spcPts val="1875"/>
              </a:spcBef>
              <a:buNone/>
            </a:pPr>
            <a:r>
              <a:rPr lang="en-US" sz="1050" b="1"/>
              <a:t>Interest Accrual Timing</a:t>
            </a:r>
          </a:p>
          <a:p>
            <a:pPr marL="0" lvl="1" indent="0">
              <a:buNone/>
            </a:pPr>
            <a:r>
              <a:rPr lang="en-US" sz="1050"/>
              <a:t>Interest accrual calculations depend on calendar cycles to ensure accurate financial reporting and charges.</a:t>
            </a:r>
          </a:p>
          <a:p>
            <a:pPr marL="0" indent="0">
              <a:spcBef>
                <a:spcPts val="1875"/>
              </a:spcBef>
              <a:buNone/>
            </a:pPr>
            <a:r>
              <a:rPr lang="en-US" sz="1050" b="1"/>
              <a:t>Account Statement Cycles</a:t>
            </a:r>
          </a:p>
          <a:p>
            <a:pPr marL="0" lvl="1" indent="0">
              <a:buNone/>
            </a:pPr>
            <a:r>
              <a:rPr lang="en-US" sz="1050"/>
              <a:t>Calendars define account statement periods, enabling timely and consistent customer communication.</a:t>
            </a:r>
          </a:p>
          <a:p>
            <a:pPr marL="0" indent="0">
              <a:spcBef>
                <a:spcPts val="1875"/>
              </a:spcBef>
              <a:buNone/>
            </a:pPr>
            <a:r>
              <a:rPr lang="en-US" sz="1050" b="1"/>
              <a:t>Settlement Cycle Scheduling</a:t>
            </a:r>
          </a:p>
          <a:p>
            <a:pPr marL="0" lvl="1" indent="0">
              <a:buNone/>
            </a:pPr>
            <a:r>
              <a:rPr lang="en-US" sz="1050"/>
              <a:t>Calendar integration supports accurate scheduling of settlement cycles aligned with banking business days.</a:t>
            </a:r>
          </a:p>
        </p:txBody>
      </p:sp>
    </p:spTree>
    <p:extLst>
      <p:ext uri="{BB962C8B-B14F-4D97-AF65-F5344CB8AC3E}">
        <p14:creationId xmlns:p14="http://schemas.microsoft.com/office/powerpoint/2010/main" val="3944600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3" name="TextBox 2">
            <a:extLst>
              <a:ext uri="{FF2B5EF4-FFF2-40B4-BE49-F238E27FC236}">
                <a16:creationId xmlns:a16="http://schemas.microsoft.com/office/drawing/2014/main" id="{BE8DBB51-15FF-4ED2-810E-D707FD864BD5}"/>
              </a:ext>
            </a:extLst>
          </p:cNvPr>
          <p:cNvSpPr txBox="1"/>
          <p:nvPr/>
        </p:nvSpPr>
        <p:spPr>
          <a:xfrm>
            <a:off x="4176401" y="1309878"/>
            <a:ext cx="4437127" cy="1145286"/>
          </a:xfrm>
          <a:prstGeom prst="rect">
            <a:avLst/>
          </a:prstGeom>
        </p:spPr>
        <p:txBody>
          <a:bodyPr vert="horz" lIns="68580" tIns="34290" rIns="68580" bIns="34290" rtlCol="0" anchor="b">
            <a:normAutofit/>
          </a:bodyPr>
          <a:lstStyle/>
          <a:p>
            <a:pPr defTabSz="685800">
              <a:lnSpc>
                <a:spcPct val="90000"/>
              </a:lnSpc>
              <a:spcBef>
                <a:spcPct val="0"/>
              </a:spcBef>
              <a:spcAft>
                <a:spcPts val="450"/>
              </a:spcAft>
            </a:pPr>
            <a:r>
              <a:rPr lang="en-US" sz="2700" b="1">
                <a:solidFill>
                  <a:prstClr val="black"/>
                </a:solidFill>
                <a:latin typeface="Aptos Display" panose="02110004020202020204"/>
              </a:rPr>
              <a:t>Definition of financial year and calendar year</a:t>
            </a:r>
          </a:p>
        </p:txBody>
      </p:sp>
      <p:pic>
        <p:nvPicPr>
          <p:cNvPr id="2" name="Picture 1" descr="Calculator, pen, compass, money and a paper with graphs printed on it">
            <a:extLst>
              <a:ext uri="{FF2B5EF4-FFF2-40B4-BE49-F238E27FC236}">
                <a16:creationId xmlns:a16="http://schemas.microsoft.com/office/drawing/2014/main" id="{1C3AD47A-F003-4445-B174-5757DE099D34}"/>
              </a:ext>
            </a:extLst>
          </p:cNvPr>
          <p:cNvPicPr>
            <a:picLocks noChangeAspect="1"/>
          </p:cNvPicPr>
          <p:nvPr/>
        </p:nvPicPr>
        <p:blipFill>
          <a:blip r:embed="rId3"/>
          <a:srcRect l="30782" r="26078" b="-1"/>
          <a:stretch>
            <a:fillRect/>
          </a:stretch>
        </p:blipFill>
        <p:spPr>
          <a:xfrm>
            <a:off x="15" y="857257"/>
            <a:ext cx="3682731" cy="5143493"/>
          </a:xfrm>
          <a:prstGeom prst="rect">
            <a:avLst/>
          </a:prstGeom>
        </p:spPr>
      </p:pic>
      <p:sp>
        <p:nvSpPr>
          <p:cNvPr id="4" name="TextBox 3">
            <a:extLst>
              <a:ext uri="{FF2B5EF4-FFF2-40B4-BE49-F238E27FC236}">
                <a16:creationId xmlns:a16="http://schemas.microsoft.com/office/drawing/2014/main" id="{3438D904-2EA9-49A6-8206-19A3D94E2EF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a:prstGeom prst="rect">
            <a:avLst/>
          </a:prstGeom>
        </p:spPr>
        <p:txBody>
          <a:bodyPr>
            <a:normAutofit/>
          </a:bodyPr>
          <a:lstStyle/>
          <a:p>
            <a:pPr defTabSz="685800">
              <a:spcBef>
                <a:spcPts val="1875"/>
              </a:spcBef>
              <a:spcAft>
                <a:spcPts val="450"/>
              </a:spcAft>
            </a:pPr>
            <a:r>
              <a:rPr lang="en-US" sz="1050" b="1">
                <a:solidFill>
                  <a:prstClr val="black"/>
                </a:solidFill>
                <a:latin typeface="Aptos" panose="02110004020202020204"/>
              </a:rPr>
              <a:t>Calendar Year Overview</a:t>
            </a:r>
          </a:p>
          <a:p>
            <a:pPr marL="0" lvl="1" defTabSz="685800">
              <a:spcAft>
                <a:spcPts val="450"/>
              </a:spcAft>
            </a:pPr>
            <a:r>
              <a:rPr lang="en-US" sz="1050">
                <a:solidFill>
                  <a:prstClr val="black"/>
                </a:solidFill>
                <a:latin typeface="Aptos" panose="02110004020202020204"/>
              </a:rPr>
              <a:t>The calendar year starts on January 1 and ends on December 31, following the standard yearly cycle.</a:t>
            </a:r>
          </a:p>
          <a:p>
            <a:pPr defTabSz="685800">
              <a:spcBef>
                <a:spcPts val="1875"/>
              </a:spcBef>
              <a:spcAft>
                <a:spcPts val="450"/>
              </a:spcAft>
            </a:pPr>
            <a:r>
              <a:rPr lang="en-US" sz="1050" b="1">
                <a:solidFill>
                  <a:prstClr val="black"/>
                </a:solidFill>
                <a:latin typeface="Aptos" panose="02110004020202020204"/>
              </a:rPr>
              <a:t>Financial Year Definition</a:t>
            </a:r>
          </a:p>
          <a:p>
            <a:pPr marL="0" lvl="1" defTabSz="685800">
              <a:spcAft>
                <a:spcPts val="450"/>
              </a:spcAft>
            </a:pPr>
            <a:r>
              <a:rPr lang="en-US" sz="1050">
                <a:solidFill>
                  <a:prstClr val="black"/>
                </a:solidFill>
                <a:latin typeface="Aptos" panose="02110004020202020204"/>
              </a:rPr>
              <a:t>A financial year is a chosen 12-month accounting period which may differ from the calendar year for business needs.</a:t>
            </a:r>
          </a:p>
          <a:p>
            <a:pPr defTabSz="685800">
              <a:spcBef>
                <a:spcPts val="1875"/>
              </a:spcBef>
              <a:spcAft>
                <a:spcPts val="450"/>
              </a:spcAft>
            </a:pPr>
            <a:r>
              <a:rPr lang="en-US" sz="1050" b="1">
                <a:solidFill>
                  <a:prstClr val="black"/>
                </a:solidFill>
                <a:latin typeface="Aptos" panose="02110004020202020204"/>
              </a:rPr>
              <a:t>Variations by Region</a:t>
            </a:r>
          </a:p>
          <a:p>
            <a:pPr marL="0" lvl="1" defTabSz="685800">
              <a:spcAft>
                <a:spcPts val="450"/>
              </a:spcAft>
            </a:pPr>
            <a:r>
              <a:rPr lang="en-US" sz="1050">
                <a:solidFill>
                  <a:prstClr val="black"/>
                </a:solidFill>
                <a:latin typeface="Aptos" panose="02110004020202020204"/>
              </a:rPr>
              <a:t>Financial years vary between countries, e.g..</a:t>
            </a:r>
          </a:p>
          <a:p>
            <a:pPr marL="0" lvl="1" defTabSz="685800">
              <a:spcAft>
                <a:spcPts val="450"/>
              </a:spcAft>
            </a:pPr>
            <a:r>
              <a:rPr lang="en-US" sz="1050">
                <a:solidFill>
                  <a:prstClr val="black"/>
                </a:solidFill>
                <a:latin typeface="Aptos" panose="02110004020202020204"/>
              </a:rPr>
              <a:t>	India – April 1</a:t>
            </a:r>
            <a:r>
              <a:rPr lang="en-US" sz="1050" baseline="30000">
                <a:solidFill>
                  <a:prstClr val="black"/>
                </a:solidFill>
                <a:latin typeface="Aptos" panose="02110004020202020204"/>
              </a:rPr>
              <a:t>st</a:t>
            </a:r>
            <a:r>
              <a:rPr lang="en-US" sz="1050">
                <a:solidFill>
                  <a:prstClr val="black"/>
                </a:solidFill>
                <a:latin typeface="Aptos" panose="02110004020202020204"/>
              </a:rPr>
              <a:t> to March 31</a:t>
            </a:r>
            <a:r>
              <a:rPr lang="en-US" sz="1050" baseline="30000">
                <a:solidFill>
                  <a:prstClr val="black"/>
                </a:solidFill>
                <a:latin typeface="Aptos" panose="02110004020202020204"/>
              </a:rPr>
              <a:t>st</a:t>
            </a:r>
            <a:endParaRPr lang="en-US" sz="1050">
              <a:solidFill>
                <a:prstClr val="black"/>
              </a:solidFill>
              <a:latin typeface="Aptos" panose="02110004020202020204"/>
            </a:endParaRPr>
          </a:p>
          <a:p>
            <a:pPr marL="0" lvl="1" defTabSz="685800">
              <a:spcAft>
                <a:spcPts val="450"/>
              </a:spcAft>
            </a:pPr>
            <a:r>
              <a:rPr lang="en-US" sz="1050">
                <a:solidFill>
                  <a:prstClr val="black"/>
                </a:solidFill>
                <a:latin typeface="Aptos" panose="02110004020202020204"/>
              </a:rPr>
              <a:t>	USA – Jan 1</a:t>
            </a:r>
            <a:r>
              <a:rPr lang="en-US" sz="1050" baseline="30000">
                <a:solidFill>
                  <a:prstClr val="black"/>
                </a:solidFill>
                <a:latin typeface="Aptos" panose="02110004020202020204"/>
              </a:rPr>
              <a:t>st</a:t>
            </a:r>
            <a:r>
              <a:rPr lang="en-US" sz="1050">
                <a:solidFill>
                  <a:prstClr val="black"/>
                </a:solidFill>
                <a:latin typeface="Aptos" panose="02110004020202020204"/>
              </a:rPr>
              <a:t> to December 31</a:t>
            </a:r>
            <a:r>
              <a:rPr lang="en-US" sz="1050" baseline="30000">
                <a:solidFill>
                  <a:prstClr val="black"/>
                </a:solidFill>
                <a:latin typeface="Aptos" panose="02110004020202020204"/>
              </a:rPr>
              <a:t>st</a:t>
            </a:r>
            <a:endParaRPr lang="en-US" sz="1050">
              <a:solidFill>
                <a:prstClr val="black"/>
              </a:solidFill>
              <a:latin typeface="Aptos" panose="02110004020202020204"/>
            </a:endParaRPr>
          </a:p>
        </p:txBody>
      </p:sp>
    </p:spTree>
    <p:extLst>
      <p:ext uri="{BB962C8B-B14F-4D97-AF65-F5344CB8AC3E}">
        <p14:creationId xmlns:p14="http://schemas.microsoft.com/office/powerpoint/2010/main" val="32459440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A958B956-7EE8-7AE3-5489-C74251AF145E}"/>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700" b="1"/>
              <a:t>Financial and Regulatory Reporting</a:t>
            </a:r>
          </a:p>
        </p:txBody>
      </p:sp>
      <p:pic>
        <p:nvPicPr>
          <p:cNvPr id="5" name="Content Placeholder 4" descr="Calendar">
            <a:extLst>
              <a:ext uri="{FF2B5EF4-FFF2-40B4-BE49-F238E27FC236}">
                <a16:creationId xmlns:a16="http://schemas.microsoft.com/office/drawing/2014/main" id="{9560A30F-14FD-4F19-AA01-56EDF9FB6C06}"/>
              </a:ext>
            </a:extLst>
          </p:cNvPr>
          <p:cNvPicPr>
            <a:picLocks noGrp="1" noChangeAspect="1"/>
          </p:cNvPicPr>
          <p:nvPr>
            <p:ph sz="half" idx="1"/>
          </p:nvPr>
        </p:nvPicPr>
        <p:blipFill>
          <a:blip r:embed="rId3"/>
          <a:srcRect t="1295" r="3" b="3"/>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EA30DAA8-F122-F5F4-D83D-124414B5A8E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p:spPr>
        <p:txBody>
          <a:bodyPr>
            <a:normAutofit/>
          </a:bodyPr>
          <a:lstStyle/>
          <a:p>
            <a:pPr marL="0" indent="0">
              <a:spcBef>
                <a:spcPts val="1875"/>
              </a:spcBef>
              <a:buNone/>
            </a:pPr>
            <a:r>
              <a:rPr lang="en-US" sz="1400" b="1"/>
              <a:t>Financial Reporting</a:t>
            </a:r>
          </a:p>
          <a:p>
            <a:pPr marL="0" lvl="1" indent="0">
              <a:buNone/>
            </a:pPr>
            <a:r>
              <a:rPr lang="en-US" sz="1400"/>
              <a:t>Financial Reporting is done based on the Financial Year </a:t>
            </a:r>
          </a:p>
          <a:p>
            <a:pPr marL="0" indent="0">
              <a:spcBef>
                <a:spcPts val="2500"/>
              </a:spcBef>
              <a:spcAft>
                <a:spcPts val="600"/>
              </a:spcAft>
              <a:buNone/>
            </a:pPr>
            <a:r>
              <a:rPr lang="en-US" sz="1400" b="1"/>
              <a:t>Taxation and Budgeting</a:t>
            </a:r>
          </a:p>
          <a:p>
            <a:pPr marL="0" lvl="1" indent="0">
              <a:spcAft>
                <a:spcPts val="600"/>
              </a:spcAft>
              <a:buNone/>
            </a:pPr>
            <a:r>
              <a:rPr lang="en-US" sz="1400"/>
              <a:t>The financial year cycle influences taxation deadlines and budgeting strategies for Indian financial institutions.</a:t>
            </a:r>
          </a:p>
          <a:p>
            <a:pPr marL="0" indent="0">
              <a:spcBef>
                <a:spcPts val="1875"/>
              </a:spcBef>
              <a:buNone/>
            </a:pPr>
            <a:r>
              <a:rPr lang="en-US" sz="1400" b="1"/>
              <a:t>Regulatory and Compliance Filings</a:t>
            </a:r>
          </a:p>
          <a:p>
            <a:pPr marL="0" lvl="1" indent="0">
              <a:buNone/>
            </a:pPr>
            <a:r>
              <a:rPr lang="en-US" sz="1400"/>
              <a:t>Proper calendar management helps meet regulatory filing deadlines, ensuring banks comply with legal requirements.</a:t>
            </a:r>
            <a:endParaRPr lang="en-US" sz="1050"/>
          </a:p>
          <a:p>
            <a:pPr marL="0" lvl="1" indent="0">
              <a:spcAft>
                <a:spcPts val="600"/>
              </a:spcAft>
              <a:buNone/>
            </a:pPr>
            <a:endParaRPr lang="en-US" sz="1400"/>
          </a:p>
          <a:p>
            <a:pPr marL="0" lvl="1" indent="0">
              <a:buNone/>
            </a:pPr>
            <a:endParaRPr lang="en-US" sz="1050"/>
          </a:p>
        </p:txBody>
      </p:sp>
    </p:spTree>
    <p:extLst>
      <p:ext uri="{BB962C8B-B14F-4D97-AF65-F5344CB8AC3E}">
        <p14:creationId xmlns:p14="http://schemas.microsoft.com/office/powerpoint/2010/main" val="1591105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0B986C30-F0B3-F073-F268-7D38D8C8096D}"/>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Challenges of Supporting Multiple Calendars</a:t>
            </a:r>
          </a:p>
        </p:txBody>
      </p:sp>
      <p:sp>
        <p:nvSpPr>
          <p:cNvPr id="4" name="Content Placeholder 3">
            <a:extLst>
              <a:ext uri="{FF2B5EF4-FFF2-40B4-BE49-F238E27FC236}">
                <a16:creationId xmlns:a16="http://schemas.microsoft.com/office/drawing/2014/main" id="{9F9C00E2-98E9-D664-A0E6-4EA7EF7FF5E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vert="horz" lIns="91440" tIns="45720" rIns="91440" bIns="45720" rtlCol="0" anchor="t">
            <a:normAutofit/>
          </a:bodyPr>
          <a:lstStyle/>
          <a:p>
            <a:pPr marL="0" indent="0">
              <a:spcBef>
                <a:spcPts val="1875"/>
              </a:spcBef>
              <a:buNone/>
            </a:pPr>
            <a:r>
              <a:rPr lang="en-US" sz="1050" b="1"/>
              <a:t>Complex Date Conversions</a:t>
            </a:r>
          </a:p>
          <a:p>
            <a:pPr marL="0" lvl="1" indent="0">
              <a:buNone/>
            </a:pPr>
            <a:r>
              <a:rPr lang="en-US" sz="1050"/>
              <a:t>Handling multiple calendar systems demands intricate date conversion algorithms to ensure accuracy.</a:t>
            </a:r>
          </a:p>
          <a:p>
            <a:pPr marL="0" indent="0">
              <a:spcBef>
                <a:spcPts val="1875"/>
              </a:spcBef>
              <a:buNone/>
            </a:pPr>
            <a:r>
              <a:rPr lang="en-US" sz="1050" b="1"/>
              <a:t>Accurate Holiday Calculations</a:t>
            </a:r>
          </a:p>
          <a:p>
            <a:pPr marL="0" lvl="1" indent="0">
              <a:buNone/>
            </a:pPr>
            <a:r>
              <a:rPr lang="en-US" sz="1050"/>
              <a:t>Precise calculation of holidays across various calendars is vital for consistency and reliability.</a:t>
            </a:r>
          </a:p>
          <a:p>
            <a:pPr marL="0" indent="0">
              <a:spcBef>
                <a:spcPts val="1875"/>
              </a:spcBef>
              <a:buNone/>
            </a:pPr>
            <a:r>
              <a:rPr lang="en-US" sz="1050" b="1"/>
              <a:t>Cross-Platform Consistency</a:t>
            </a:r>
          </a:p>
          <a:p>
            <a:pPr marL="0" lvl="1" indent="0">
              <a:buNone/>
            </a:pPr>
            <a:r>
              <a:rPr lang="en-US" sz="1050"/>
              <a:t>Ensuring calendar data consistency across different platforms increases system complexity and risk of errors.</a:t>
            </a:r>
          </a:p>
        </p:txBody>
      </p:sp>
      <p:pic>
        <p:nvPicPr>
          <p:cNvPr id="5" name="Content Placeholder 4" descr="Calendar schedule business office desk top view tablet">
            <a:extLst>
              <a:ext uri="{FF2B5EF4-FFF2-40B4-BE49-F238E27FC236}">
                <a16:creationId xmlns:a16="http://schemas.microsoft.com/office/drawing/2014/main" id="{F13AE697-59F0-40CD-A35A-0B274227CCCA}"/>
              </a:ext>
            </a:extLst>
          </p:cNvPr>
          <p:cNvPicPr>
            <a:picLocks noGrp="1" noChangeAspect="1"/>
          </p:cNvPicPr>
          <p:nvPr>
            <p:ph sz="half" idx="1"/>
          </p:nvPr>
        </p:nvPicPr>
        <p:blipFill>
          <a:blip r:embed="rId3"/>
          <a:srcRect l="39404" r="16253" b="1"/>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27274387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D5B79-5EBA-B2DA-D2EF-DA61B1CED4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B545B-DE63-7F12-E87F-2865C651E150}"/>
              </a:ext>
            </a:extLst>
          </p:cNvPr>
          <p:cNvSpPr>
            <a:spLocks noGrp="1"/>
          </p:cNvSpPr>
          <p:nvPr>
            <p:ph type="title"/>
          </p:nvPr>
        </p:nvSpPr>
        <p:spPr>
          <a:xfrm>
            <a:off x="182400" y="-113034"/>
            <a:ext cx="8835527" cy="772045"/>
          </a:xfrm>
        </p:spPr>
        <p:txBody>
          <a:bodyPr anchor="b">
            <a:normAutofit fontScale="90000"/>
          </a:bodyPr>
          <a:lstStyle/>
          <a:p>
            <a:r>
              <a:rPr lang="en-US" sz="3500"/>
              <a:t>Calendar and Financial Year  Design Considerations</a:t>
            </a:r>
            <a:endParaRPr lang="en-US" sz="3500">
              <a:solidFill>
                <a:srgbClr val="FFFFFF"/>
              </a:solidFill>
            </a:endParaRPr>
          </a:p>
        </p:txBody>
      </p:sp>
      <p:sp>
        <p:nvSpPr>
          <p:cNvPr id="3" name="Rectangle 2">
            <a:extLst>
              <a:ext uri="{FF2B5EF4-FFF2-40B4-BE49-F238E27FC236}">
                <a16:creationId xmlns:a16="http://schemas.microsoft.com/office/drawing/2014/main" id="{E7BD0A4E-0724-C349-3367-FBA8670174AC}"/>
              </a:ext>
            </a:extLst>
          </p:cNvPr>
          <p:cNvSpPr/>
          <p:nvPr/>
        </p:nvSpPr>
        <p:spPr>
          <a:xfrm>
            <a:off x="392834" y="1192411"/>
            <a:ext cx="8414657" cy="5232202"/>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342900" indent="-34290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For a real Global Core Banking Platform you need to have the ability to support:</a:t>
            </a: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solidFill>
                  <a:prstClr val="black"/>
                </a:solidFill>
                <a:latin typeface="Segoe UI" pitchFamily="34" charset="0"/>
                <a:cs typeface="Segoe UI" pitchFamily="34" charset="-120"/>
              </a:rPr>
              <a:t>Multiple Calendar Types</a:t>
            </a: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solidFill>
                  <a:prstClr val="black"/>
                </a:solidFill>
                <a:latin typeface="Segoe UI" pitchFamily="34" charset="0"/>
                <a:cs typeface="Segoe UI" pitchFamily="34" charset="-120"/>
              </a:rPr>
              <a:t>National and Local Holidays</a:t>
            </a: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solidFill>
                  <a:prstClr val="black"/>
                </a:solidFill>
                <a:latin typeface="Segoe UI" pitchFamily="34" charset="0"/>
                <a:cs typeface="Segoe UI" pitchFamily="34" charset="-120"/>
              </a:rPr>
              <a:t>Unplanned or Late defined Holidays Impact</a:t>
            </a: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solidFill>
                  <a:prstClr val="black"/>
                </a:solidFill>
                <a:latin typeface="Segoe UI" pitchFamily="34" charset="0"/>
                <a:cs typeface="Segoe UI" pitchFamily="34" charset="-120"/>
              </a:rPr>
              <a:t>Financial Year that is different than Calendar Year </a:t>
            </a:r>
          </a:p>
          <a:p>
            <a:pPr marL="1257300" lvl="2" indent="-342900">
              <a:buFont typeface="Arial" panose="020B0604020202020204" pitchFamily="34" charset="0"/>
              <a:buChar char="•"/>
            </a:pPr>
            <a:r>
              <a:rPr lang="en-US" sz="2000">
                <a:solidFill>
                  <a:prstClr val="black"/>
                </a:solidFill>
                <a:latin typeface="Segoe UI" pitchFamily="34" charset="0"/>
                <a:cs typeface="Segoe UI" pitchFamily="34" charset="-120"/>
              </a:rPr>
              <a:t>Reporting, Taxation based on the Financial Year </a:t>
            </a: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a:solidFill>
                <a:prstClr val="black"/>
              </a:solidFill>
              <a:latin typeface="Segoe UI" pitchFamily="34" charset="0"/>
              <a:cs typeface="Segoe UI" pitchFamily="34" charset="-120"/>
            </a:endParaRPr>
          </a:p>
          <a:p>
            <a:pPr marL="342900" indent="-34290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For your Lab work to simplify:</a:t>
            </a:r>
          </a:p>
          <a:p>
            <a:pPr marL="800100" lvl="1" indent="-34290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 Use Gregorian Calendar</a:t>
            </a:r>
          </a:p>
          <a:p>
            <a:pPr marL="800100" lvl="1" indent="-34290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 No Local (i.e. State Level) Holidays</a:t>
            </a:r>
          </a:p>
          <a:p>
            <a:pPr marL="800100" lvl="1" indent="-34290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 Fiscal Year and Calendar Year are same </a:t>
            </a: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a:solidFill>
                <a:prstClr val="black"/>
              </a:solidFill>
              <a:latin typeface="Segoe UI" pitchFamily="34" charset="0"/>
              <a:cs typeface="Segoe UI" pitchFamily="34" charset="-120"/>
            </a:endParaRP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305449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EA6578F4-07FE-8F14-A55D-841C2DEB9CB1}"/>
              </a:ext>
            </a:extLst>
          </p:cNvPr>
          <p:cNvSpPr>
            <a:spLocks noGrp="1"/>
          </p:cNvSpPr>
          <p:nvPr>
            <p:ph type="ctrTitle"/>
          </p:nvPr>
        </p:nvSpPr>
        <p:spPr>
          <a:xfrm>
            <a:off x="207818" y="2217991"/>
            <a:ext cx="5829300" cy="3420690"/>
          </a:xfrm>
        </p:spPr>
        <p:txBody>
          <a:bodyPr anchor="b">
            <a:normAutofit/>
          </a:bodyPr>
          <a:lstStyle/>
          <a:p>
            <a:pPr algn="l"/>
            <a:r>
              <a:rPr lang="en-US" sz="5550"/>
              <a:t>Country Language Localization</a:t>
            </a:r>
          </a:p>
        </p:txBody>
      </p:sp>
    </p:spTree>
    <p:extLst>
      <p:ext uri="{BB962C8B-B14F-4D97-AF65-F5344CB8AC3E}">
        <p14:creationId xmlns:p14="http://schemas.microsoft.com/office/powerpoint/2010/main" val="140412014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E07536A7-BF75-75A9-2591-0F801E5D46FF}"/>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Multilingual user interfaces and customer experience</a:t>
            </a:r>
          </a:p>
        </p:txBody>
      </p:sp>
      <p:sp>
        <p:nvSpPr>
          <p:cNvPr id="4" name="Content Placeholder 3">
            <a:extLst>
              <a:ext uri="{FF2B5EF4-FFF2-40B4-BE49-F238E27FC236}">
                <a16:creationId xmlns:a16="http://schemas.microsoft.com/office/drawing/2014/main" id="{16C8161C-DDA5-3D6F-5428-F871CCDC2E2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Multilingual Support Importance</a:t>
            </a:r>
          </a:p>
          <a:p>
            <a:pPr marL="0" lvl="1" indent="0">
              <a:buNone/>
            </a:pPr>
            <a:r>
              <a:rPr lang="en-US" sz="1050"/>
              <a:t>Supporting multiple languages allows businesses to reach and serve a diverse customer base who speak different languages with in a country effectively.</a:t>
            </a:r>
          </a:p>
          <a:p>
            <a:pPr marL="0" indent="0">
              <a:spcBef>
                <a:spcPts val="1875"/>
              </a:spcBef>
              <a:buNone/>
            </a:pPr>
            <a:r>
              <a:rPr lang="en-US" sz="1050" b="1"/>
              <a:t>Intuitive Design Necessity</a:t>
            </a:r>
          </a:p>
          <a:p>
            <a:pPr marL="0" lvl="1" indent="0">
              <a:buNone/>
            </a:pPr>
            <a:r>
              <a:rPr lang="en-US" sz="1050"/>
              <a:t>Designing intuitive interfaces ensures users easily navigate and switch languages without confusion or disruption.</a:t>
            </a:r>
          </a:p>
          <a:p>
            <a:pPr marL="0" indent="0">
              <a:spcBef>
                <a:spcPts val="1875"/>
              </a:spcBef>
              <a:buNone/>
            </a:pPr>
            <a:r>
              <a:rPr lang="en-US" sz="1050" b="1"/>
              <a:t>Consistent User Experience</a:t>
            </a:r>
          </a:p>
          <a:p>
            <a:pPr marL="0" lvl="1" indent="0">
              <a:buNone/>
            </a:pPr>
            <a:r>
              <a:rPr lang="en-US" sz="1050"/>
              <a:t>Seamless language transitions provide a smooth and consistent experience for all users regardless of language preference.</a:t>
            </a:r>
          </a:p>
        </p:txBody>
      </p:sp>
      <p:pic>
        <p:nvPicPr>
          <p:cNvPr id="5" name="Content Placeholder 4" descr="&quot;Subject: Sunrise in Poipu Beach of Kauai, Hawaii. A popular tourist destination in the south side of Kauai Island.Location: Poipu Beach, Kauai, Hawaii, USA.&quot;">
            <a:extLst>
              <a:ext uri="{FF2B5EF4-FFF2-40B4-BE49-F238E27FC236}">
                <a16:creationId xmlns:a16="http://schemas.microsoft.com/office/drawing/2014/main" id="{9973189F-DFD2-473E-99EF-7F84D0DC3806}"/>
              </a:ext>
            </a:extLst>
          </p:cNvPr>
          <p:cNvPicPr>
            <a:picLocks noGrp="1" noChangeAspect="1"/>
          </p:cNvPicPr>
          <p:nvPr>
            <p:ph sz="half" idx="1"/>
          </p:nvPr>
        </p:nvPicPr>
        <p:blipFill>
          <a:blip r:embed="rId3"/>
          <a:srcRect l="34941" r="17888" b="-1"/>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12277808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95A3B092-9ADC-9BC3-1C77-EDA3EEA970CB}"/>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Translation management and content consistency</a:t>
            </a:r>
          </a:p>
        </p:txBody>
      </p:sp>
      <p:sp>
        <p:nvSpPr>
          <p:cNvPr id="4" name="Content Placeholder 3">
            <a:extLst>
              <a:ext uri="{FF2B5EF4-FFF2-40B4-BE49-F238E27FC236}">
                <a16:creationId xmlns:a16="http://schemas.microsoft.com/office/drawing/2014/main" id="{DB9FB776-3752-2A13-82C3-2107293B0E8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Centralized Translation Tools</a:t>
            </a:r>
          </a:p>
          <a:p>
            <a:pPr marL="0" lvl="1" indent="0">
              <a:buNone/>
            </a:pPr>
            <a:r>
              <a:rPr lang="en-US" sz="1050"/>
              <a:t>Utilizing centralized tools streamlines translation workflows and improves coordination among teams.</a:t>
            </a:r>
          </a:p>
          <a:p>
            <a:pPr marL="0" indent="0">
              <a:spcBef>
                <a:spcPts val="1875"/>
              </a:spcBef>
              <a:buNone/>
            </a:pPr>
            <a:r>
              <a:rPr lang="en-US" sz="1050" b="1"/>
              <a:t>Glossary Maintenance</a:t>
            </a:r>
          </a:p>
          <a:p>
            <a:pPr marL="0" lvl="1" indent="0">
              <a:buNone/>
            </a:pPr>
            <a:r>
              <a:rPr lang="en-US" sz="1050"/>
              <a:t>Maintaining an updated glossary ensures consistent terminology across all translated content.</a:t>
            </a:r>
          </a:p>
          <a:p>
            <a:pPr marL="0" indent="0">
              <a:spcBef>
                <a:spcPts val="1875"/>
              </a:spcBef>
              <a:buNone/>
            </a:pPr>
            <a:r>
              <a:rPr lang="en-US" sz="1050" b="1"/>
              <a:t>Regular Content Updates</a:t>
            </a:r>
          </a:p>
          <a:p>
            <a:pPr marL="0" lvl="1" indent="0">
              <a:buNone/>
            </a:pPr>
            <a:r>
              <a:rPr lang="en-US" sz="1050"/>
              <a:t>Regular updates help maintain translation accuracy and reflect the latest information for customers.</a:t>
            </a:r>
          </a:p>
        </p:txBody>
      </p:sp>
      <p:pic>
        <p:nvPicPr>
          <p:cNvPr id="5" name="Content Placeholder 4" descr="A smartphone showing a travel guide app/website for the country of South Korea - a scene of planning a holiday. Also on the table is a diary/planner and mug.">
            <a:extLst>
              <a:ext uri="{FF2B5EF4-FFF2-40B4-BE49-F238E27FC236}">
                <a16:creationId xmlns:a16="http://schemas.microsoft.com/office/drawing/2014/main" id="{1719F880-599A-45AD-83EF-C74C0833C091}"/>
              </a:ext>
            </a:extLst>
          </p:cNvPr>
          <p:cNvPicPr>
            <a:picLocks noGrp="1" noChangeAspect="1"/>
          </p:cNvPicPr>
          <p:nvPr>
            <p:ph sz="half" idx="1"/>
          </p:nvPr>
        </p:nvPicPr>
        <p:blipFill>
          <a:blip r:embed="rId3"/>
          <a:srcRect l="37636" r="15194" b="-1"/>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19648068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5297DD51-E1D7-ABB1-F28D-E02A3CE5B452}"/>
              </a:ext>
            </a:extLst>
          </p:cNvPr>
          <p:cNvSpPr>
            <a:spLocks noGrp="1"/>
          </p:cNvSpPr>
          <p:nvPr>
            <p:ph type="ctrTitle"/>
          </p:nvPr>
        </p:nvSpPr>
        <p:spPr>
          <a:xfrm>
            <a:off x="207818" y="2217991"/>
            <a:ext cx="5829300" cy="3420690"/>
          </a:xfrm>
        </p:spPr>
        <p:txBody>
          <a:bodyPr anchor="b">
            <a:normAutofit/>
          </a:bodyPr>
          <a:lstStyle/>
          <a:p>
            <a:pPr algn="l"/>
            <a:r>
              <a:rPr lang="en-US" sz="5550"/>
              <a:t>Character Sets (SBCS and DBCS)</a:t>
            </a:r>
          </a:p>
        </p:txBody>
      </p:sp>
    </p:spTree>
    <p:extLst>
      <p:ext uri="{BB962C8B-B14F-4D97-AF65-F5344CB8AC3E}">
        <p14:creationId xmlns:p14="http://schemas.microsoft.com/office/powerpoint/2010/main" val="114096799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BDD1A261-A200-47B5-9F8B-4A712EDD3702}"/>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700" b="1"/>
              <a:t>Definition and characteristics of SBCS</a:t>
            </a:r>
          </a:p>
        </p:txBody>
      </p:sp>
      <p:pic>
        <p:nvPicPr>
          <p:cNvPr id="5" name="Content Placeholder 4" descr="Abstract digital LED screen concept with defocused lights">
            <a:extLst>
              <a:ext uri="{FF2B5EF4-FFF2-40B4-BE49-F238E27FC236}">
                <a16:creationId xmlns:a16="http://schemas.microsoft.com/office/drawing/2014/main" id="{B565B2DC-DEF4-404F-8A4C-3D3B81F8310A}"/>
              </a:ext>
            </a:extLst>
          </p:cNvPr>
          <p:cNvPicPr>
            <a:picLocks noGrp="1" noChangeAspect="1"/>
          </p:cNvPicPr>
          <p:nvPr>
            <p:ph sz="half" idx="1"/>
          </p:nvPr>
        </p:nvPicPr>
        <p:blipFill>
          <a:blip r:embed="rId3"/>
          <a:srcRect t="4601" r="3" b="7555"/>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6D4F440D-C625-157B-ED5B-35080F53804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p:spPr>
        <p:txBody>
          <a:bodyPr>
            <a:normAutofit/>
          </a:bodyPr>
          <a:lstStyle/>
          <a:p>
            <a:pPr marL="0" indent="0">
              <a:spcBef>
                <a:spcPts val="1875"/>
              </a:spcBef>
              <a:buNone/>
            </a:pPr>
            <a:r>
              <a:rPr lang="en-US" sz="1050" b="1"/>
              <a:t>Single Byte Encoding</a:t>
            </a:r>
          </a:p>
          <a:p>
            <a:pPr marL="0" lvl="1" indent="0">
              <a:buNone/>
            </a:pPr>
            <a:r>
              <a:rPr lang="en-US" sz="1050"/>
              <a:t>SBCS encodes each character using exactly one byte or 8 bits, providing a maximum of 256 symbols.</a:t>
            </a:r>
          </a:p>
          <a:p>
            <a:pPr marL="0" indent="0">
              <a:spcBef>
                <a:spcPts val="1875"/>
              </a:spcBef>
              <a:buNone/>
            </a:pPr>
            <a:r>
              <a:rPr lang="en-US" sz="1050" b="1"/>
              <a:t>Limited Character Repertoire</a:t>
            </a:r>
          </a:p>
          <a:p>
            <a:pPr marL="0" lvl="1" indent="0">
              <a:buNone/>
            </a:pPr>
            <a:r>
              <a:rPr lang="en-US" sz="1050"/>
              <a:t>With only 256 symbols, SBCS is suitable mainly for languages with small alphabets.</a:t>
            </a:r>
          </a:p>
        </p:txBody>
      </p:sp>
    </p:spTree>
    <p:extLst>
      <p:ext uri="{BB962C8B-B14F-4D97-AF65-F5344CB8AC3E}">
        <p14:creationId xmlns:p14="http://schemas.microsoft.com/office/powerpoint/2010/main" val="35240401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0D75FFB5-C1D1-2E06-D180-102A0B8F487B}"/>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700" b="1"/>
              <a:t>Definition and characteristics of DBCS</a:t>
            </a:r>
          </a:p>
        </p:txBody>
      </p:sp>
      <p:pic>
        <p:nvPicPr>
          <p:cNvPr id="5" name="Content Placeholder 4" descr="Translation: &quot;Yin Yang&quot;. A perception that yin and yang correspond to evil and good. This style is called seal script, an ancient script in Chinese calligraphy; calligraphy done by myself. ">
            <a:extLst>
              <a:ext uri="{FF2B5EF4-FFF2-40B4-BE49-F238E27FC236}">
                <a16:creationId xmlns:a16="http://schemas.microsoft.com/office/drawing/2014/main" id="{F7323824-B734-4E3E-AC30-E6F607F9EB26}"/>
              </a:ext>
            </a:extLst>
          </p:cNvPr>
          <p:cNvPicPr>
            <a:picLocks noGrp="1" noChangeAspect="1"/>
          </p:cNvPicPr>
          <p:nvPr>
            <p:ph sz="half" idx="1"/>
          </p:nvPr>
        </p:nvPicPr>
        <p:blipFill>
          <a:blip r:embed="rId3"/>
          <a:srcRect l="4091" r="2184" b="-2"/>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D8D9D93A-9286-7551-2B3B-8A3AA3D7C13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p:spPr>
        <p:txBody>
          <a:bodyPr>
            <a:normAutofit/>
          </a:bodyPr>
          <a:lstStyle/>
          <a:p>
            <a:pPr marL="0" indent="0">
              <a:spcBef>
                <a:spcPts val="1875"/>
              </a:spcBef>
              <a:buNone/>
            </a:pPr>
            <a:r>
              <a:rPr lang="en-US" sz="1050" b="1"/>
              <a:t>Two-Byte Encoding</a:t>
            </a:r>
          </a:p>
          <a:p>
            <a:pPr marL="0" lvl="1" indent="0">
              <a:buNone/>
            </a:pPr>
            <a:r>
              <a:rPr lang="en-US" sz="1050"/>
              <a:t>DBCS uses two bytes per character, enabling representation of a vast number of unique symbols.</a:t>
            </a:r>
          </a:p>
          <a:p>
            <a:pPr marL="0" indent="0">
              <a:spcBef>
                <a:spcPts val="1875"/>
              </a:spcBef>
              <a:buNone/>
            </a:pPr>
            <a:r>
              <a:rPr lang="en-US" sz="1050" b="1"/>
              <a:t>Supports Complex Scripts</a:t>
            </a:r>
          </a:p>
          <a:p>
            <a:pPr marL="0" lvl="1" indent="0">
              <a:buNone/>
            </a:pPr>
            <a:r>
              <a:rPr lang="en-US" sz="1050"/>
              <a:t>DBCS supports complex scripts in languages like Chinese, Japanese, and Korean which have a large character set.</a:t>
            </a:r>
          </a:p>
          <a:p>
            <a:pPr marL="0" lvl="1" indent="0">
              <a:buNone/>
            </a:pPr>
            <a:endParaRPr lang="en-US" sz="1050"/>
          </a:p>
          <a:p>
            <a:pPr marL="0" indent="0">
              <a:spcBef>
                <a:spcPts val="1875"/>
              </a:spcBef>
              <a:buNone/>
            </a:pPr>
            <a:r>
              <a:rPr lang="en-US" sz="1050" b="1"/>
              <a:t>Complex Character Sets</a:t>
            </a:r>
          </a:p>
          <a:p>
            <a:pPr marL="0" lvl="1" indent="0">
              <a:buNone/>
            </a:pPr>
            <a:r>
              <a:rPr lang="en-US" sz="1050"/>
              <a:t>Asian languages use large number of unique characters, requiring advanced encoding for accurate digital use.</a:t>
            </a:r>
          </a:p>
          <a:p>
            <a:pPr marL="0" indent="0">
              <a:spcBef>
                <a:spcPts val="1875"/>
              </a:spcBef>
              <a:buNone/>
            </a:pPr>
            <a:r>
              <a:rPr lang="en-US" sz="1050" b="1"/>
              <a:t>Role of DBCS</a:t>
            </a:r>
          </a:p>
          <a:p>
            <a:pPr marL="0" lvl="1" indent="0">
              <a:buNone/>
            </a:pPr>
            <a:r>
              <a:rPr lang="en-US" sz="1050"/>
              <a:t>Double Byte Character Set (DBCS) enables correct encoding and representation of these complex characters digitally.</a:t>
            </a:r>
          </a:p>
          <a:p>
            <a:pPr marL="0" lvl="1" indent="0">
              <a:buNone/>
            </a:pPr>
            <a:endParaRPr lang="en-US" sz="1050"/>
          </a:p>
        </p:txBody>
      </p:sp>
    </p:spTree>
    <p:extLst>
      <p:ext uri="{BB962C8B-B14F-4D97-AF65-F5344CB8AC3E}">
        <p14:creationId xmlns:p14="http://schemas.microsoft.com/office/powerpoint/2010/main" val="16945979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206E1D3D-D9E3-6E38-8B2D-AD50E4515A80}"/>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Key differences between SBCS and DBCS</a:t>
            </a:r>
          </a:p>
        </p:txBody>
      </p:sp>
      <p:sp>
        <p:nvSpPr>
          <p:cNvPr id="4" name="Content Placeholder 3">
            <a:extLst>
              <a:ext uri="{FF2B5EF4-FFF2-40B4-BE49-F238E27FC236}">
                <a16:creationId xmlns:a16="http://schemas.microsoft.com/office/drawing/2014/main" id="{EDC2291C-CB29-BA61-5AC6-D7AE22A974E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Byte Length per Character</a:t>
            </a:r>
          </a:p>
          <a:p>
            <a:pPr marL="0" lvl="1" indent="0">
              <a:buNone/>
            </a:pPr>
            <a:r>
              <a:rPr lang="en-US" sz="1050"/>
              <a:t>SBCS uses one byte per character, while DBCS uses two bytes, accommodating more complex characters.</a:t>
            </a:r>
          </a:p>
          <a:p>
            <a:pPr marL="0" indent="0">
              <a:spcBef>
                <a:spcPts val="1875"/>
              </a:spcBef>
              <a:buNone/>
            </a:pPr>
            <a:r>
              <a:rPr lang="en-US" sz="1050" b="1"/>
              <a:t>Character Repertoire Size</a:t>
            </a:r>
          </a:p>
          <a:p>
            <a:pPr marL="0" lvl="1" indent="0">
              <a:buNone/>
            </a:pPr>
            <a:r>
              <a:rPr lang="en-US" sz="1050"/>
              <a:t>SBCS supports smaller alphabets; DBCS handles large character sets for languages like Chinese and Japanese.</a:t>
            </a:r>
          </a:p>
          <a:p>
            <a:pPr marL="0" indent="0">
              <a:spcBef>
                <a:spcPts val="1875"/>
              </a:spcBef>
              <a:buNone/>
            </a:pPr>
            <a:r>
              <a:rPr lang="en-US" sz="1050" b="1"/>
              <a:t>Applicability</a:t>
            </a:r>
          </a:p>
          <a:p>
            <a:pPr marL="0" lvl="1" indent="0">
              <a:buNone/>
            </a:pPr>
            <a:r>
              <a:rPr lang="en-US" sz="1050"/>
              <a:t>SBCS suits simple alphabets; DBCS is designed for complex writing systems requiring extensive characters.</a:t>
            </a:r>
          </a:p>
        </p:txBody>
      </p:sp>
      <p:pic>
        <p:nvPicPr>
          <p:cNvPr id="5" name="Content Placeholder 4" descr="A background of jumbled upper and lower case letters in multicoloured pastel shades against a black background.">
            <a:extLst>
              <a:ext uri="{FF2B5EF4-FFF2-40B4-BE49-F238E27FC236}">
                <a16:creationId xmlns:a16="http://schemas.microsoft.com/office/drawing/2014/main" id="{39B07B55-636F-4BC8-8E20-E24131C0E567}"/>
              </a:ext>
            </a:extLst>
          </p:cNvPr>
          <p:cNvPicPr>
            <a:picLocks noGrp="1" noChangeAspect="1"/>
          </p:cNvPicPr>
          <p:nvPr>
            <p:ph sz="half" idx="1"/>
          </p:nvPr>
        </p:nvPicPr>
        <p:blipFill>
          <a:blip r:embed="rId3"/>
          <a:srcRect l="26528" r="26302" b="-1"/>
          <a:stretch>
            <a:fillRect/>
          </a:stretch>
        </p:blipFill>
        <p:spPr>
          <a:xfrm>
            <a:off x="5509260" y="880824"/>
            <a:ext cx="3634740" cy="5143493"/>
          </a:xfrm>
          <a:prstGeom prst="rect">
            <a:avLst/>
          </a:prstGeom>
        </p:spPr>
      </p:pic>
    </p:spTree>
    <p:extLst>
      <p:ext uri="{BB962C8B-B14F-4D97-AF65-F5344CB8AC3E}">
        <p14:creationId xmlns:p14="http://schemas.microsoft.com/office/powerpoint/2010/main" val="13433174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311CB48C-941E-D2A1-DF23-6A904911B0EA}"/>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Transition to Unicode and multi-byte character sets</a:t>
            </a:r>
          </a:p>
        </p:txBody>
      </p:sp>
      <p:sp>
        <p:nvSpPr>
          <p:cNvPr id="4" name="Content Placeholder 3">
            <a:extLst>
              <a:ext uri="{FF2B5EF4-FFF2-40B4-BE49-F238E27FC236}">
                <a16:creationId xmlns:a16="http://schemas.microsoft.com/office/drawing/2014/main" id="{032E5415-E2BE-FB79-45D1-3EF542C2C34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Unicode Standard</a:t>
            </a:r>
          </a:p>
          <a:p>
            <a:pPr marL="0" lvl="1" indent="0">
              <a:buNone/>
            </a:pPr>
            <a:r>
              <a:rPr lang="en-US" sz="1050"/>
              <a:t>Unicode unifies many character sets into a single, comprehensive encoding standard for global text.</a:t>
            </a:r>
          </a:p>
          <a:p>
            <a:pPr marL="0" indent="0">
              <a:spcBef>
                <a:spcPts val="1875"/>
              </a:spcBef>
              <a:buNone/>
            </a:pPr>
            <a:r>
              <a:rPr lang="en-US" sz="1050" b="1"/>
              <a:t>Variable-Length Encoding</a:t>
            </a:r>
          </a:p>
          <a:p>
            <a:pPr marL="0" lvl="1" indent="0">
              <a:buNone/>
            </a:pPr>
            <a:r>
              <a:rPr lang="en-US" sz="1050"/>
              <a:t>Variable-length encoding supports diverse characters efficiently within the Unicode standard.</a:t>
            </a:r>
          </a:p>
          <a:p>
            <a:pPr marL="0" indent="0">
              <a:spcBef>
                <a:spcPts val="1875"/>
              </a:spcBef>
              <a:buNone/>
            </a:pPr>
            <a:r>
              <a:rPr lang="en-US" sz="1050" b="1"/>
              <a:t>Universal Text Representation</a:t>
            </a:r>
          </a:p>
          <a:p>
            <a:pPr marL="0" lvl="1" indent="0">
              <a:buNone/>
            </a:pPr>
            <a:r>
              <a:rPr lang="en-US" sz="1050"/>
              <a:t>Unicode enables consistent text display across different languages and computer systems worldwide.</a:t>
            </a:r>
          </a:p>
        </p:txBody>
      </p:sp>
      <p:pic>
        <p:nvPicPr>
          <p:cNvPr id="5" name="Content Placeholder 4" descr="Cryptocurrency Block chain network Concept">
            <a:extLst>
              <a:ext uri="{FF2B5EF4-FFF2-40B4-BE49-F238E27FC236}">
                <a16:creationId xmlns:a16="http://schemas.microsoft.com/office/drawing/2014/main" id="{E8389A64-9794-4AFB-92A2-C6CB5006F273}"/>
              </a:ext>
            </a:extLst>
          </p:cNvPr>
          <p:cNvPicPr>
            <a:picLocks noGrp="1" noChangeAspect="1"/>
          </p:cNvPicPr>
          <p:nvPr>
            <p:ph sz="half" idx="1"/>
          </p:nvPr>
        </p:nvPicPr>
        <p:blipFill>
          <a:blip r:embed="rId3"/>
          <a:srcRect l="29219" r="31031"/>
          <a:stretch>
            <a:fillRect/>
          </a:stretch>
        </p:blipFill>
        <p:spPr>
          <a:xfrm>
            <a:off x="5509260" y="880824"/>
            <a:ext cx="3634740" cy="5143493"/>
          </a:xfrm>
          <a:prstGeom prst="rect">
            <a:avLst/>
          </a:prstGeom>
        </p:spPr>
      </p:pic>
    </p:spTree>
    <p:extLst>
      <p:ext uri="{BB962C8B-B14F-4D97-AF65-F5344CB8AC3E}">
        <p14:creationId xmlns:p14="http://schemas.microsoft.com/office/powerpoint/2010/main" val="8956047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EAAB14A8-FE9C-0F51-69EC-100771F68283}"/>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Importance in today's globalised digital landscape</a:t>
            </a:r>
          </a:p>
        </p:txBody>
      </p:sp>
      <p:pic>
        <p:nvPicPr>
          <p:cNvPr id="5" name="Content Placeholder 4" descr="Smart city and wireless communication network">
            <a:extLst>
              <a:ext uri="{FF2B5EF4-FFF2-40B4-BE49-F238E27FC236}">
                <a16:creationId xmlns:a16="http://schemas.microsoft.com/office/drawing/2014/main" id="{2835ED1D-FFAD-4DC5-A8D5-A7733DABE07F}"/>
              </a:ext>
            </a:extLst>
          </p:cNvPr>
          <p:cNvPicPr>
            <a:picLocks noGrp="1" noChangeAspect="1"/>
          </p:cNvPicPr>
          <p:nvPr>
            <p:ph sz="half" idx="1"/>
          </p:nvPr>
        </p:nvPicPr>
        <p:blipFill>
          <a:blip r:embed="rId3"/>
          <a:srcRect l="30565" r="21641"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989DF5B2-36D0-AE66-6FE4-5EBAEF1D5ED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Character Encoding Significance</a:t>
            </a:r>
          </a:p>
          <a:p>
            <a:pPr marL="0" lvl="1" indent="0">
              <a:buNone/>
            </a:pPr>
            <a:r>
              <a:rPr lang="en-US" sz="1050"/>
              <a:t>Accurate character encoding enables seamless communication and ensures data integrity across global platforms.</a:t>
            </a:r>
          </a:p>
          <a:p>
            <a:pPr marL="0" indent="0">
              <a:spcBef>
                <a:spcPts val="1875"/>
              </a:spcBef>
              <a:buNone/>
            </a:pPr>
            <a:r>
              <a:rPr lang="en-US" sz="1050" b="1"/>
              <a:t>SBCS and DBCS Explained</a:t>
            </a:r>
          </a:p>
          <a:p>
            <a:pPr marL="0" lvl="1" indent="0">
              <a:buNone/>
            </a:pPr>
            <a:r>
              <a:rPr lang="en-US" sz="1050"/>
              <a:t>Single-byte and double-byte character sets are foundational for supporting diverse languages globally.</a:t>
            </a:r>
          </a:p>
          <a:p>
            <a:pPr marL="0" indent="0">
              <a:spcBef>
                <a:spcPts val="1875"/>
              </a:spcBef>
              <a:buNone/>
            </a:pPr>
            <a:r>
              <a:rPr lang="en-US" sz="1050" b="1"/>
              <a:t>Role of Unicode</a:t>
            </a:r>
          </a:p>
          <a:p>
            <a:pPr marL="0" lvl="1" indent="0">
              <a:buNone/>
            </a:pPr>
            <a:r>
              <a:rPr lang="en-US" sz="1050"/>
              <a:t>Unicode standard unifies character encoding, enhancing interoperability and supporting multiple languages worldwide.</a:t>
            </a:r>
          </a:p>
        </p:txBody>
      </p:sp>
    </p:spTree>
    <p:extLst>
      <p:ext uri="{BB962C8B-B14F-4D97-AF65-F5344CB8AC3E}">
        <p14:creationId xmlns:p14="http://schemas.microsoft.com/office/powerpoint/2010/main" val="38110087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7B9D5D68-20E7-956B-D233-ABA78BA5D192}"/>
              </a:ext>
            </a:extLst>
          </p:cNvPr>
          <p:cNvSpPr>
            <a:spLocks noGrp="1"/>
          </p:cNvSpPr>
          <p:nvPr>
            <p:ph type="ctrTitle"/>
          </p:nvPr>
        </p:nvSpPr>
        <p:spPr>
          <a:xfrm>
            <a:off x="207818" y="2217991"/>
            <a:ext cx="5829300" cy="3420690"/>
          </a:xfrm>
        </p:spPr>
        <p:txBody>
          <a:bodyPr anchor="b">
            <a:normAutofit/>
          </a:bodyPr>
          <a:lstStyle/>
          <a:p>
            <a:pPr algn="l"/>
            <a:r>
              <a:rPr lang="en-US" sz="5550"/>
              <a:t>Date and Time Format Localization</a:t>
            </a:r>
          </a:p>
        </p:txBody>
      </p:sp>
    </p:spTree>
    <p:extLst>
      <p:ext uri="{BB962C8B-B14F-4D97-AF65-F5344CB8AC3E}">
        <p14:creationId xmlns:p14="http://schemas.microsoft.com/office/powerpoint/2010/main" val="2212150242"/>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F7F3108D-3080-7011-CB33-7653B6BC1FAC}"/>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Variations in date and time formats across countries</a:t>
            </a:r>
          </a:p>
        </p:txBody>
      </p:sp>
      <p:sp>
        <p:nvSpPr>
          <p:cNvPr id="4" name="Content Placeholder 3">
            <a:extLst>
              <a:ext uri="{FF2B5EF4-FFF2-40B4-BE49-F238E27FC236}">
                <a16:creationId xmlns:a16="http://schemas.microsoft.com/office/drawing/2014/main" id="{DC5F884B-4CE4-7FAD-F8B1-422AD5F9410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Date Format Variations</a:t>
            </a:r>
          </a:p>
          <a:p>
            <a:pPr marL="0" lvl="1" indent="0">
              <a:buNone/>
            </a:pPr>
            <a:r>
              <a:rPr lang="en-US" sz="1050"/>
              <a:t>Countries use different date formats including DD/MM/YYYY, MM/DD/YYYY, and YYYY-MM-DD for local conventions.</a:t>
            </a:r>
          </a:p>
          <a:p>
            <a:pPr marL="0" indent="0">
              <a:spcBef>
                <a:spcPts val="1875"/>
              </a:spcBef>
              <a:buNone/>
            </a:pPr>
            <a:r>
              <a:rPr lang="en-US" sz="1050" b="1"/>
              <a:t>Time Format Differences</a:t>
            </a:r>
          </a:p>
          <a:p>
            <a:pPr marL="0" lvl="1" indent="0">
              <a:buNone/>
            </a:pPr>
            <a:r>
              <a:rPr lang="en-US" sz="1050"/>
              <a:t>Time is represented in 12-hour or 24-hour clocks depending on regional preferences.</a:t>
            </a:r>
          </a:p>
          <a:p>
            <a:pPr marL="0" indent="0">
              <a:spcBef>
                <a:spcPts val="1875"/>
              </a:spcBef>
              <a:buNone/>
            </a:pPr>
            <a:r>
              <a:rPr lang="en-US" sz="1050" b="1"/>
              <a:t>Banking System Support</a:t>
            </a:r>
          </a:p>
          <a:p>
            <a:pPr marL="0" lvl="1" indent="0">
              <a:buNone/>
            </a:pPr>
            <a:r>
              <a:rPr lang="en-US" sz="1050"/>
              <a:t>Banking systems must accurately accommodate diverse date and time formats to avoid errors.</a:t>
            </a:r>
          </a:p>
        </p:txBody>
      </p:sp>
      <p:pic>
        <p:nvPicPr>
          <p:cNvPr id="5" name="Content Placeholder 4" descr="Odds display for gambling.">
            <a:extLst>
              <a:ext uri="{FF2B5EF4-FFF2-40B4-BE49-F238E27FC236}">
                <a16:creationId xmlns:a16="http://schemas.microsoft.com/office/drawing/2014/main" id="{3571C88C-30D8-466B-8A9B-C794B204C490}"/>
              </a:ext>
            </a:extLst>
          </p:cNvPr>
          <p:cNvPicPr>
            <a:picLocks noGrp="1" noChangeAspect="1"/>
          </p:cNvPicPr>
          <p:nvPr>
            <p:ph sz="half" idx="1"/>
          </p:nvPr>
        </p:nvPicPr>
        <p:blipFill>
          <a:blip r:embed="rId3"/>
          <a:srcRect l="25404" r="26719" b="-1"/>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8822679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7229E509-0E57-8CE1-6F3F-C78F334CA759}"/>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Impact on data entry, validation, and reporting</a:t>
            </a:r>
          </a:p>
        </p:txBody>
      </p:sp>
      <p:sp>
        <p:nvSpPr>
          <p:cNvPr id="4" name="Content Placeholder 3">
            <a:extLst>
              <a:ext uri="{FF2B5EF4-FFF2-40B4-BE49-F238E27FC236}">
                <a16:creationId xmlns:a16="http://schemas.microsoft.com/office/drawing/2014/main" id="{152E6623-2FDB-7BC3-F1BE-0FA4BF23D46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Errors from Incorrect Formats</a:t>
            </a:r>
          </a:p>
          <a:p>
            <a:pPr marL="0" lvl="1" indent="0">
              <a:buNone/>
            </a:pPr>
            <a:r>
              <a:rPr lang="en-US" sz="1050"/>
              <a:t>Using wrong date or time formats leads to transaction errors and affects system reliability.</a:t>
            </a:r>
          </a:p>
          <a:p>
            <a:pPr marL="0" indent="0">
              <a:spcBef>
                <a:spcPts val="1875"/>
              </a:spcBef>
              <a:buNone/>
            </a:pPr>
            <a:r>
              <a:rPr lang="en-US" sz="1050" b="1"/>
              <a:t>Importance of Validation</a:t>
            </a:r>
          </a:p>
          <a:p>
            <a:pPr marL="0" lvl="1" indent="0">
              <a:buNone/>
            </a:pPr>
            <a:r>
              <a:rPr lang="en-US" sz="1050"/>
              <a:t>Strong validation rules are essential to avoid data inconsistencies and maintain data integrity.</a:t>
            </a:r>
          </a:p>
          <a:p>
            <a:pPr marL="0" indent="0">
              <a:spcBef>
                <a:spcPts val="1875"/>
              </a:spcBef>
              <a:buNone/>
            </a:pPr>
            <a:r>
              <a:rPr lang="en-US" sz="1050" b="1"/>
              <a:t>Impact on Reporting Accuracy</a:t>
            </a:r>
          </a:p>
          <a:p>
            <a:pPr marL="0" lvl="1" indent="0">
              <a:buNone/>
            </a:pPr>
            <a:r>
              <a:rPr lang="en-US" sz="1050"/>
              <a:t>Accurate validation prevents reporting mistakes ensuring compliance and trustworthy data insights.</a:t>
            </a:r>
          </a:p>
        </p:txBody>
      </p:sp>
      <p:pic>
        <p:nvPicPr>
          <p:cNvPr id="5" name="Content Placeholder 4" descr="Shot of a computer with a graph on the screen in an empty laboratory">
            <a:extLst>
              <a:ext uri="{FF2B5EF4-FFF2-40B4-BE49-F238E27FC236}">
                <a16:creationId xmlns:a16="http://schemas.microsoft.com/office/drawing/2014/main" id="{3E614F79-F323-4578-A6ED-F5E342B52E04}"/>
              </a:ext>
            </a:extLst>
          </p:cNvPr>
          <p:cNvPicPr>
            <a:picLocks noGrp="1" noChangeAspect="1"/>
          </p:cNvPicPr>
          <p:nvPr>
            <p:ph sz="half" idx="1"/>
          </p:nvPr>
        </p:nvPicPr>
        <p:blipFill>
          <a:blip r:embed="rId3"/>
          <a:srcRect l="25083" r="28631" b="2"/>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6460398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6FF3F181-9E54-E7C0-CD70-868DD31619E4}"/>
              </a:ext>
            </a:extLst>
          </p:cNvPr>
          <p:cNvSpPr>
            <a:spLocks noGrp="1"/>
          </p:cNvSpPr>
          <p:nvPr>
            <p:ph type="title"/>
          </p:nvPr>
        </p:nvSpPr>
        <p:spPr>
          <a:xfrm>
            <a:off x="459486" y="854225"/>
            <a:ext cx="4526280" cy="498720"/>
          </a:xfrm>
        </p:spPr>
        <p:txBody>
          <a:bodyPr vert="horz" lIns="68580" tIns="34290" rIns="68580" bIns="34290" rtlCol="0" anchor="b">
            <a:normAutofit fontScale="90000"/>
          </a:bodyPr>
          <a:lstStyle/>
          <a:p>
            <a:r>
              <a:rPr lang="en-US" sz="2700" b="1"/>
              <a:t>Synchronising time zones and daylight saving adjustments</a:t>
            </a:r>
          </a:p>
        </p:txBody>
      </p:sp>
      <p:sp>
        <p:nvSpPr>
          <p:cNvPr id="4" name="Content Placeholder 3">
            <a:extLst>
              <a:ext uri="{FF2B5EF4-FFF2-40B4-BE49-F238E27FC236}">
                <a16:creationId xmlns:a16="http://schemas.microsoft.com/office/drawing/2014/main" id="{5D944A24-CAE0-DB1F-4F27-B35ADBBED18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722831"/>
            <a:ext cx="4526281" cy="2639899"/>
          </a:xfrm>
        </p:spPr>
        <p:txBody>
          <a:bodyPr>
            <a:normAutofit/>
          </a:bodyPr>
          <a:lstStyle/>
          <a:p>
            <a:pPr marL="0" indent="0">
              <a:spcBef>
                <a:spcPts val="1875"/>
              </a:spcBef>
              <a:buNone/>
            </a:pPr>
            <a:r>
              <a:rPr lang="en-US" sz="1050" b="1"/>
              <a:t>Importance of Synchronization</a:t>
            </a:r>
          </a:p>
          <a:p>
            <a:pPr marL="0" lvl="1" indent="0">
              <a:buNone/>
            </a:pPr>
            <a:r>
              <a:rPr lang="en-US" sz="1050"/>
              <a:t>Synchronized timestamps are vital for banking to maintain accurate transaction records and audit trails across regions.</a:t>
            </a:r>
          </a:p>
          <a:p>
            <a:pPr marL="0" indent="0">
              <a:spcBef>
                <a:spcPts val="1875"/>
              </a:spcBef>
              <a:buNone/>
            </a:pPr>
            <a:r>
              <a:rPr lang="en-US" sz="1050" b="1"/>
              <a:t>Time Zone Considerations</a:t>
            </a:r>
          </a:p>
          <a:p>
            <a:pPr marL="0" lvl="1" indent="0">
              <a:buNone/>
            </a:pPr>
            <a:r>
              <a:rPr lang="en-US" sz="1050"/>
              <a:t>Accounting for various time zones ensures transactions reflect correct local times in global banking operations.</a:t>
            </a:r>
          </a:p>
          <a:p>
            <a:pPr marL="0" indent="0">
              <a:spcBef>
                <a:spcPts val="1875"/>
              </a:spcBef>
              <a:buNone/>
            </a:pPr>
            <a:r>
              <a:rPr lang="en-US" sz="1050" b="1"/>
              <a:t>Daylight Saving Adjustments</a:t>
            </a:r>
          </a:p>
          <a:p>
            <a:pPr marL="0" lvl="1" indent="0">
              <a:buNone/>
            </a:pPr>
            <a:r>
              <a:rPr lang="en-US" sz="1050"/>
              <a:t>Adjusting for daylight saving changes is crucial to prevent timing errors in transaction processing and audits.</a:t>
            </a:r>
          </a:p>
        </p:txBody>
      </p:sp>
      <p:pic>
        <p:nvPicPr>
          <p:cNvPr id="5" name="Content Placeholder 4" descr="Alarm clocks in a line">
            <a:extLst>
              <a:ext uri="{FF2B5EF4-FFF2-40B4-BE49-F238E27FC236}">
                <a16:creationId xmlns:a16="http://schemas.microsoft.com/office/drawing/2014/main" id="{7A275280-9B34-4781-B75E-1A4A32E1E8BB}"/>
              </a:ext>
            </a:extLst>
          </p:cNvPr>
          <p:cNvPicPr>
            <a:picLocks noGrp="1" noChangeAspect="1"/>
          </p:cNvPicPr>
          <p:nvPr>
            <p:ph sz="half" idx="1"/>
          </p:nvPr>
        </p:nvPicPr>
        <p:blipFill>
          <a:blip r:embed="rId3"/>
          <a:srcRect l="30452" r="29798"/>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14104505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E3896A0D-3CD2-1DAA-EE86-94B34FF2724A}"/>
              </a:ext>
            </a:extLst>
          </p:cNvPr>
          <p:cNvSpPr>
            <a:spLocks noGrp="1"/>
          </p:cNvSpPr>
          <p:nvPr>
            <p:ph type="ctrTitle"/>
          </p:nvPr>
        </p:nvSpPr>
        <p:spPr>
          <a:xfrm>
            <a:off x="207818" y="2217991"/>
            <a:ext cx="5829300" cy="3420690"/>
          </a:xfrm>
        </p:spPr>
        <p:txBody>
          <a:bodyPr anchor="b">
            <a:normAutofit/>
          </a:bodyPr>
          <a:lstStyle/>
          <a:p>
            <a:pPr algn="l"/>
            <a:r>
              <a:rPr lang="en-US" sz="5550"/>
              <a:t>Amount and Currency Format Localization</a:t>
            </a:r>
          </a:p>
        </p:txBody>
      </p:sp>
    </p:spTree>
    <p:extLst>
      <p:ext uri="{BB962C8B-B14F-4D97-AF65-F5344CB8AC3E}">
        <p14:creationId xmlns:p14="http://schemas.microsoft.com/office/powerpoint/2010/main" val="404398823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D2A5E15F-640D-F60F-5926-41FD927305E2}"/>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Different decimal and thousand separators</a:t>
            </a:r>
          </a:p>
        </p:txBody>
      </p:sp>
      <p:sp>
        <p:nvSpPr>
          <p:cNvPr id="4" name="Content Placeholder 3">
            <a:extLst>
              <a:ext uri="{FF2B5EF4-FFF2-40B4-BE49-F238E27FC236}">
                <a16:creationId xmlns:a16="http://schemas.microsoft.com/office/drawing/2014/main" id="{F4EFE92D-441D-8BAF-79B1-85CDADCB4C8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Varied Numeric Formats</a:t>
            </a:r>
          </a:p>
          <a:p>
            <a:pPr marL="0" lvl="1" indent="0">
              <a:buNone/>
            </a:pPr>
            <a:r>
              <a:rPr lang="en-US" sz="1050"/>
              <a:t>Different countries use commas or dots uniquely for decimal and thousand separators.</a:t>
            </a:r>
          </a:p>
          <a:p>
            <a:pPr marL="0" indent="0">
              <a:spcBef>
                <a:spcPts val="1875"/>
              </a:spcBef>
              <a:buNone/>
            </a:pPr>
            <a:r>
              <a:rPr lang="en-US" sz="1050" b="1"/>
              <a:t>Banking Platform Adaptation</a:t>
            </a:r>
          </a:p>
          <a:p>
            <a:pPr marL="0" lvl="1" indent="0">
              <a:buNone/>
            </a:pPr>
            <a:r>
              <a:rPr lang="en-US" sz="1050"/>
              <a:t>Banking systems need to adjust number formatting to match local conventions.</a:t>
            </a:r>
          </a:p>
          <a:p>
            <a:pPr marL="0" indent="0">
              <a:spcBef>
                <a:spcPts val="1875"/>
              </a:spcBef>
              <a:buNone/>
            </a:pPr>
            <a:r>
              <a:rPr lang="en-US" sz="1050" b="1"/>
              <a:t>Avoiding Misinterpretation</a:t>
            </a:r>
          </a:p>
          <a:p>
            <a:pPr marL="0" lvl="1" indent="0">
              <a:buNone/>
            </a:pPr>
            <a:r>
              <a:rPr lang="en-US" sz="1050"/>
              <a:t>Proper formatting prevents errors and confusion in financial transactions.</a:t>
            </a:r>
          </a:p>
        </p:txBody>
      </p:sp>
      <p:pic>
        <p:nvPicPr>
          <p:cNvPr id="5" name="Content Placeholder 4" descr="Geometric pattern with random numbers. Conceptual image.">
            <a:extLst>
              <a:ext uri="{FF2B5EF4-FFF2-40B4-BE49-F238E27FC236}">
                <a16:creationId xmlns:a16="http://schemas.microsoft.com/office/drawing/2014/main" id="{1B8EEF7C-2800-41D5-A715-3E7BE8CC5665}"/>
              </a:ext>
            </a:extLst>
          </p:cNvPr>
          <p:cNvPicPr>
            <a:picLocks noGrp="1" noChangeAspect="1"/>
          </p:cNvPicPr>
          <p:nvPr>
            <p:ph sz="half" idx="1"/>
          </p:nvPr>
        </p:nvPicPr>
        <p:blipFill>
          <a:blip r:embed="rId3"/>
          <a:srcRect l="18434" r="28566"/>
          <a:stretch>
            <a:fillRect/>
          </a:stretch>
        </p:blipFill>
        <p:spPr>
          <a:xfrm>
            <a:off x="5509260" y="867554"/>
            <a:ext cx="3634740" cy="5143493"/>
          </a:xfrm>
          <a:prstGeom prst="rect">
            <a:avLst/>
          </a:prstGeom>
        </p:spPr>
      </p:pic>
    </p:spTree>
    <p:extLst>
      <p:ext uri="{BB962C8B-B14F-4D97-AF65-F5344CB8AC3E}">
        <p14:creationId xmlns:p14="http://schemas.microsoft.com/office/powerpoint/2010/main" val="28182251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C1E53974-0033-891F-D79A-DD81E4122C85}"/>
              </a:ext>
            </a:extLst>
          </p:cNvPr>
          <p:cNvSpPr>
            <a:spLocks noGrp="1"/>
          </p:cNvSpPr>
          <p:nvPr>
            <p:ph type="title"/>
          </p:nvPr>
        </p:nvSpPr>
        <p:spPr>
          <a:xfrm>
            <a:off x="5342256" y="1309876"/>
            <a:ext cx="3271270" cy="1145287"/>
          </a:xfrm>
        </p:spPr>
        <p:txBody>
          <a:bodyPr vert="horz" lIns="68580" tIns="34290" rIns="68580" bIns="34290" rtlCol="0" anchor="b">
            <a:normAutofit/>
          </a:bodyPr>
          <a:lstStyle/>
          <a:p>
            <a:r>
              <a:rPr lang="en-US" sz="2475" b="1"/>
              <a:t>Currency symbol placement and ISO codes</a:t>
            </a:r>
          </a:p>
        </p:txBody>
      </p:sp>
      <p:pic>
        <p:nvPicPr>
          <p:cNvPr id="5" name="Content Placeholder 4" descr="Wooden economy and currency units chain on craft background">
            <a:extLst>
              <a:ext uri="{FF2B5EF4-FFF2-40B4-BE49-F238E27FC236}">
                <a16:creationId xmlns:a16="http://schemas.microsoft.com/office/drawing/2014/main" id="{EA8838AF-AD62-4235-BDEE-F217FBF047C0}"/>
              </a:ext>
            </a:extLst>
          </p:cNvPr>
          <p:cNvPicPr>
            <a:picLocks noGrp="1" noChangeAspect="1"/>
          </p:cNvPicPr>
          <p:nvPr>
            <p:ph sz="half" idx="1"/>
          </p:nvPr>
        </p:nvPicPr>
        <p:blipFill>
          <a:blip r:embed="rId3"/>
          <a:srcRect l="26253" r="11713" b="-1"/>
          <a:stretch>
            <a:fillRect/>
          </a:stretch>
        </p:blipFill>
        <p:spPr>
          <a:xfrm>
            <a:off x="1" y="857257"/>
            <a:ext cx="4780026" cy="5143493"/>
          </a:xfrm>
          <a:prstGeom prst="rect">
            <a:avLst/>
          </a:prstGeom>
        </p:spPr>
      </p:pic>
      <p:sp>
        <p:nvSpPr>
          <p:cNvPr id="4" name="Content Placeholder 3">
            <a:extLst>
              <a:ext uri="{FF2B5EF4-FFF2-40B4-BE49-F238E27FC236}">
                <a16:creationId xmlns:a16="http://schemas.microsoft.com/office/drawing/2014/main" id="{E1A0247A-5EF2-F94D-A994-252EC378095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42256" y="2516884"/>
            <a:ext cx="3271270" cy="3072386"/>
          </a:xfrm>
        </p:spPr>
        <p:txBody>
          <a:bodyPr>
            <a:normAutofit/>
          </a:bodyPr>
          <a:lstStyle/>
          <a:p>
            <a:pPr marL="0" indent="0">
              <a:spcBef>
                <a:spcPts val="1875"/>
              </a:spcBef>
              <a:buNone/>
            </a:pPr>
            <a:r>
              <a:rPr lang="en-US" sz="1050" b="1"/>
              <a:t>Currency Symbol Placement</a:t>
            </a:r>
          </a:p>
          <a:p>
            <a:pPr marL="0" lvl="1" indent="0">
              <a:buNone/>
            </a:pPr>
            <a:r>
              <a:rPr lang="en-US" sz="1050"/>
              <a:t>Currency symbols are placed differently depending on the local convention, either before or after the amount.</a:t>
            </a:r>
          </a:p>
          <a:p>
            <a:pPr marL="0" indent="0">
              <a:spcBef>
                <a:spcPts val="1875"/>
              </a:spcBef>
              <a:buNone/>
            </a:pPr>
            <a:r>
              <a:rPr lang="en-US" sz="1050" b="1"/>
              <a:t>ISO Currency Codes</a:t>
            </a:r>
          </a:p>
          <a:p>
            <a:pPr marL="0" lvl="1" indent="0">
              <a:buNone/>
            </a:pPr>
            <a:r>
              <a:rPr lang="en-US" sz="1050"/>
              <a:t>ISO currency codes provide a standard three-letter code to uniquely identify currencies worldwide in systems and documents.</a:t>
            </a:r>
          </a:p>
        </p:txBody>
      </p:sp>
    </p:spTree>
    <p:extLst>
      <p:ext uri="{BB962C8B-B14F-4D97-AF65-F5344CB8AC3E}">
        <p14:creationId xmlns:p14="http://schemas.microsoft.com/office/powerpoint/2010/main" val="9288803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BEC7CB37-0230-8964-783A-0631D7482C29}"/>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Formatting considerations for statements and receipts</a:t>
            </a:r>
          </a:p>
        </p:txBody>
      </p:sp>
      <p:pic>
        <p:nvPicPr>
          <p:cNvPr id="5" name="Content Placeholder 4" descr="numerals and finance">
            <a:extLst>
              <a:ext uri="{FF2B5EF4-FFF2-40B4-BE49-F238E27FC236}">
                <a16:creationId xmlns:a16="http://schemas.microsoft.com/office/drawing/2014/main" id="{20F34D1C-063B-4666-A993-5AABA2DD0A63}"/>
              </a:ext>
            </a:extLst>
          </p:cNvPr>
          <p:cNvPicPr>
            <a:picLocks noGrp="1" noChangeAspect="1"/>
          </p:cNvPicPr>
          <p:nvPr>
            <p:ph sz="half" idx="1"/>
          </p:nvPr>
        </p:nvPicPr>
        <p:blipFill>
          <a:blip r:embed="rId3"/>
          <a:srcRect l="11419" r="40788"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62FABFC8-2758-6EFC-A6D4-FE3B9A17939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Local Currency Formatting</a:t>
            </a:r>
          </a:p>
          <a:p>
            <a:pPr marL="0" lvl="1" indent="0">
              <a:buNone/>
            </a:pPr>
            <a:r>
              <a:rPr lang="en-US" sz="1050"/>
              <a:t>Amounts and currencies should follow local conventions to ensure clarity and compliance.</a:t>
            </a:r>
          </a:p>
          <a:p>
            <a:pPr marL="0" indent="0">
              <a:spcBef>
                <a:spcPts val="1875"/>
              </a:spcBef>
              <a:buNone/>
            </a:pPr>
            <a:r>
              <a:rPr lang="en-US" sz="1050" b="1"/>
              <a:t>Professional Appearance</a:t>
            </a:r>
          </a:p>
          <a:p>
            <a:pPr marL="0" lvl="1" indent="0">
              <a:buNone/>
            </a:pPr>
            <a:r>
              <a:rPr lang="en-US" sz="1050"/>
              <a:t>Proper formatting enhances document professionalism and customer trust.</a:t>
            </a:r>
          </a:p>
          <a:p>
            <a:pPr marL="0" indent="0">
              <a:spcBef>
                <a:spcPts val="1875"/>
              </a:spcBef>
              <a:buNone/>
            </a:pPr>
            <a:r>
              <a:rPr lang="en-US" sz="1050" b="1"/>
              <a:t>Regulatory Compliance</a:t>
            </a:r>
          </a:p>
          <a:p>
            <a:pPr marL="0" lvl="1" indent="0">
              <a:buNone/>
            </a:pPr>
            <a:r>
              <a:rPr lang="en-US" sz="1050"/>
              <a:t>Adhering to local formatting standards ensures legal and regulatory requirements are met.</a:t>
            </a:r>
          </a:p>
        </p:txBody>
      </p:sp>
    </p:spTree>
    <p:extLst>
      <p:ext uri="{BB962C8B-B14F-4D97-AF65-F5344CB8AC3E}">
        <p14:creationId xmlns:p14="http://schemas.microsoft.com/office/powerpoint/2010/main" val="20147952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3861E-48E7-C47A-1FD7-F8D398781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EE587-39E5-080B-38CF-A56449CA8DF8}"/>
              </a:ext>
            </a:extLst>
          </p:cNvPr>
          <p:cNvSpPr>
            <a:spLocks noGrp="1"/>
          </p:cNvSpPr>
          <p:nvPr>
            <p:ph type="title"/>
          </p:nvPr>
        </p:nvSpPr>
        <p:spPr>
          <a:xfrm>
            <a:off x="182400" y="-113034"/>
            <a:ext cx="8835527" cy="772045"/>
          </a:xfrm>
        </p:spPr>
        <p:txBody>
          <a:bodyPr anchor="b">
            <a:normAutofit/>
          </a:bodyPr>
          <a:lstStyle/>
          <a:p>
            <a:r>
              <a:rPr lang="en-US" sz="3500"/>
              <a:t>Language - Design Considerations</a:t>
            </a:r>
            <a:endParaRPr lang="en-US" sz="3500">
              <a:solidFill>
                <a:srgbClr val="FFFFFF"/>
              </a:solidFill>
            </a:endParaRPr>
          </a:p>
        </p:txBody>
      </p:sp>
      <p:sp>
        <p:nvSpPr>
          <p:cNvPr id="3" name="Rectangle 2">
            <a:extLst>
              <a:ext uri="{FF2B5EF4-FFF2-40B4-BE49-F238E27FC236}">
                <a16:creationId xmlns:a16="http://schemas.microsoft.com/office/drawing/2014/main" id="{23AD7198-308D-44B3-134C-E1E06F1D684C}"/>
              </a:ext>
            </a:extLst>
          </p:cNvPr>
          <p:cNvSpPr/>
          <p:nvPr/>
        </p:nvSpPr>
        <p:spPr>
          <a:xfrm>
            <a:off x="392834" y="1192411"/>
            <a:ext cx="8414657" cy="4924425"/>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342900" indent="-34290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Core Banking Platform Capabilities:</a:t>
            </a:r>
          </a:p>
          <a:p>
            <a:pPr marL="800100" lvl="1" indent="-34290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Support SGBS and DBCS</a:t>
            </a:r>
          </a:p>
          <a:p>
            <a:pPr marL="800100" lvl="1" indent="-34290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Database Design needs to support DBCS</a:t>
            </a:r>
          </a:p>
          <a:p>
            <a:pPr marL="800100" lvl="1" indent="-342900">
              <a:buFont typeface="Arial" panose="020B0604020202020204" pitchFamily="34" charset="0"/>
              <a:buChar char="•"/>
            </a:pPr>
            <a:r>
              <a:rPr lang="en-US" sz="2000">
                <a:solidFill>
                  <a:prstClr val="black"/>
                </a:solidFill>
                <a:latin typeface="Segoe UI" pitchFamily="34" charset="0"/>
                <a:cs typeface="Segoe UI" pitchFamily="34" charset="-120"/>
              </a:rPr>
              <a:t>Support Multi Language capability across</a:t>
            </a:r>
          </a:p>
          <a:p>
            <a:pPr marL="1257300" lvl="2" indent="-34290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Visual Interfaces </a:t>
            </a:r>
          </a:p>
          <a:p>
            <a:pPr marL="1257300" lvl="2" indent="-342900">
              <a:buFont typeface="Arial" panose="020B0604020202020204" pitchFamily="34" charset="0"/>
              <a:buChar char="•"/>
            </a:pPr>
            <a:r>
              <a:rPr lang="en-US" sz="2000">
                <a:solidFill>
                  <a:prstClr val="black"/>
                </a:solidFill>
                <a:latin typeface="Segoe UI" pitchFamily="34" charset="0"/>
                <a:cs typeface="Segoe UI" pitchFamily="34" charset="-120"/>
              </a:rPr>
              <a:t>Customer Communications (Statements, Notices , Alerts)</a:t>
            </a:r>
          </a:p>
          <a:p>
            <a:pPr marL="1257300" lvl="2" indent="-34290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Operational </a:t>
            </a:r>
            <a:r>
              <a:rPr lang="en-US" sz="2000">
                <a:solidFill>
                  <a:prstClr val="black"/>
                </a:solidFill>
                <a:latin typeface="Segoe UI" pitchFamily="34" charset="0"/>
                <a:cs typeface="Segoe UI" pitchFamily="34" charset="-120"/>
              </a:rPr>
              <a:t>Reporting </a:t>
            </a:r>
          </a:p>
          <a:p>
            <a:pPr marL="800100" lvl="1" indent="-34290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Support Localization of Date,</a:t>
            </a:r>
            <a:r>
              <a:rPr lang="en-US" sz="2000">
                <a:solidFill>
                  <a:prstClr val="black"/>
                </a:solidFill>
                <a:latin typeface="Segoe UI" pitchFamily="34" charset="0"/>
                <a:cs typeface="Segoe UI" pitchFamily="34" charset="-120"/>
              </a:rPr>
              <a:t> Time, Amount Formats </a:t>
            </a:r>
            <a:endPar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800100" lvl="1" indent="-342900">
              <a:buFont typeface="Arial" panose="020B0604020202020204" pitchFamily="34" charset="0"/>
              <a:buChar char="•"/>
            </a:pPr>
            <a:endParaRPr lang="en-US" sz="2000">
              <a:solidFill>
                <a:prstClr val="black"/>
              </a:solidFill>
              <a:latin typeface="Segoe UI" pitchFamily="34" charset="0"/>
              <a:ea typeface="Segoe UI" pitchFamily="34" charset="-122"/>
              <a:cs typeface="Segoe UI" pitchFamily="34" charset="-120"/>
            </a:endParaRPr>
          </a:p>
          <a:p>
            <a:pPr marL="342900" indent="-34290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For Your Lab Work:</a:t>
            </a:r>
          </a:p>
          <a:p>
            <a:pPr marL="800100" lvl="1" indent="-34290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You have to Implement all of the above </a:t>
            </a: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a:solidFill>
                <a:prstClr val="black"/>
              </a:solidFill>
              <a:latin typeface="Segoe UI" pitchFamily="34" charset="0"/>
              <a:cs typeface="Segoe UI" pitchFamily="34" charset="-120"/>
            </a:endParaRP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450520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20F8BA30-3C6F-C655-7D67-683618FB0FCD}"/>
              </a:ext>
            </a:extLst>
          </p:cNvPr>
          <p:cNvSpPr>
            <a:spLocks noGrp="1"/>
          </p:cNvSpPr>
          <p:nvPr>
            <p:ph type="ctrTitle"/>
          </p:nvPr>
        </p:nvSpPr>
        <p:spPr>
          <a:xfrm>
            <a:off x="207818" y="2217991"/>
            <a:ext cx="5829300" cy="3420690"/>
          </a:xfrm>
        </p:spPr>
        <p:txBody>
          <a:bodyPr anchor="b">
            <a:normAutofit/>
          </a:bodyPr>
          <a:lstStyle/>
          <a:p>
            <a:pPr algn="l"/>
            <a:r>
              <a:rPr lang="en-US" sz="5550"/>
              <a:t>Payment Schemes Overview</a:t>
            </a:r>
          </a:p>
        </p:txBody>
      </p:sp>
    </p:spTree>
    <p:extLst>
      <p:ext uri="{BB962C8B-B14F-4D97-AF65-F5344CB8AC3E}">
        <p14:creationId xmlns:p14="http://schemas.microsoft.com/office/powerpoint/2010/main" val="7362061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E71E5BEB-25CE-F781-1763-B43044B152FD}"/>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Defining Payment Schemes and Their Importance</a:t>
            </a:r>
          </a:p>
        </p:txBody>
      </p:sp>
      <p:sp>
        <p:nvSpPr>
          <p:cNvPr id="4" name="Content Placeholder 3">
            <a:extLst>
              <a:ext uri="{FF2B5EF4-FFF2-40B4-BE49-F238E27FC236}">
                <a16:creationId xmlns:a16="http://schemas.microsoft.com/office/drawing/2014/main" id="{11A63B1B-F4D5-69AE-7FC5-18B7F9B7352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Definition of Payment Schemes</a:t>
            </a:r>
          </a:p>
          <a:p>
            <a:pPr marL="0" lvl="1" indent="0">
              <a:buNone/>
            </a:pPr>
            <a:r>
              <a:rPr lang="en-US" sz="1050"/>
              <a:t>Payment schemes are frameworks designed by financial institutions to enable efficient payment transactions worldwide.</a:t>
            </a:r>
          </a:p>
          <a:p>
            <a:pPr marL="0" indent="0">
              <a:spcBef>
                <a:spcPts val="1875"/>
              </a:spcBef>
              <a:buNone/>
            </a:pPr>
            <a:r>
              <a:rPr lang="en-US" sz="1050" b="1"/>
              <a:t>Security and Reliability</a:t>
            </a:r>
          </a:p>
          <a:p>
            <a:pPr marL="0" lvl="1" indent="0">
              <a:buNone/>
            </a:pPr>
            <a:r>
              <a:rPr lang="en-US" sz="1050"/>
              <a:t>Payment schemes ensure secure and reliable transfers, protecting parties from fraud and errors during transactions.</a:t>
            </a:r>
          </a:p>
          <a:p>
            <a:pPr marL="0" indent="0">
              <a:spcBef>
                <a:spcPts val="1875"/>
              </a:spcBef>
              <a:buNone/>
            </a:pPr>
            <a:r>
              <a:rPr lang="en-US" sz="1050" b="1"/>
              <a:t>Standardization and Timeliness</a:t>
            </a:r>
          </a:p>
          <a:p>
            <a:pPr marL="0" lvl="1" indent="0">
              <a:buNone/>
            </a:pPr>
            <a:r>
              <a:rPr lang="en-US" sz="1050"/>
              <a:t>Standardized procedures in payment schemes guarantee timely and consistent money transfers across different platforms and regions.</a:t>
            </a:r>
          </a:p>
        </p:txBody>
      </p:sp>
      <p:pic>
        <p:nvPicPr>
          <p:cNvPr id="5" name="Content Placeholder 4" descr="Abstract Digital concept which shows network security optimisation and internet technology  ">
            <a:extLst>
              <a:ext uri="{FF2B5EF4-FFF2-40B4-BE49-F238E27FC236}">
                <a16:creationId xmlns:a16="http://schemas.microsoft.com/office/drawing/2014/main" id="{1112E402-8721-4C39-9F8F-D8A2E67FE6E7}"/>
              </a:ext>
            </a:extLst>
          </p:cNvPr>
          <p:cNvPicPr>
            <a:picLocks noGrp="1" noChangeAspect="1"/>
          </p:cNvPicPr>
          <p:nvPr>
            <p:ph sz="half" idx="1"/>
          </p:nvPr>
        </p:nvPicPr>
        <p:blipFill>
          <a:blip r:embed="rId3"/>
          <a:srcRect l="13097" r="33903"/>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11233134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E91B1170-F631-16F7-6815-DD3AA8C238BE}"/>
              </a:ext>
            </a:extLst>
          </p:cNvPr>
          <p:cNvSpPr>
            <a:spLocks noGrp="1"/>
          </p:cNvSpPr>
          <p:nvPr>
            <p:ph type="title"/>
          </p:nvPr>
        </p:nvSpPr>
        <p:spPr>
          <a:xfrm>
            <a:off x="459486" y="1268730"/>
            <a:ext cx="3602418" cy="973835"/>
          </a:xfrm>
        </p:spPr>
        <p:txBody>
          <a:bodyPr vert="horz" lIns="68580" tIns="34290" rIns="68580" bIns="34290" rtlCol="0" anchor="t">
            <a:normAutofit/>
          </a:bodyPr>
          <a:lstStyle/>
          <a:p>
            <a:r>
              <a:rPr lang="en-US" sz="2325" b="1"/>
              <a:t>Key Features of Electronic Payment Systems</a:t>
            </a:r>
          </a:p>
        </p:txBody>
      </p:sp>
      <p:pic>
        <p:nvPicPr>
          <p:cNvPr id="5" name="Content Placeholder 4" descr="Speedometer">
            <a:extLst>
              <a:ext uri="{FF2B5EF4-FFF2-40B4-BE49-F238E27FC236}">
                <a16:creationId xmlns:a16="http://schemas.microsoft.com/office/drawing/2014/main" id="{69A31B11-6C88-4A47-BCD6-EACC5F7E7E02}"/>
              </a:ext>
            </a:extLst>
          </p:cNvPr>
          <p:cNvPicPr>
            <a:picLocks noGrp="1" noChangeAspect="1"/>
          </p:cNvPicPr>
          <p:nvPr>
            <p:ph sz="half" idx="1"/>
          </p:nvPr>
        </p:nvPicPr>
        <p:blipFill>
          <a:blip r:embed="rId3"/>
          <a:srcRect r="1" b="8255"/>
          <a:stretch>
            <a:fillRect/>
          </a:stretch>
        </p:blipFill>
        <p:spPr>
          <a:xfrm>
            <a:off x="548641" y="2366009"/>
            <a:ext cx="3513264" cy="3223260"/>
          </a:xfrm>
          <a:prstGeom prst="rect">
            <a:avLst/>
          </a:prstGeom>
        </p:spPr>
      </p:pic>
      <p:sp>
        <p:nvSpPr>
          <p:cNvPr id="4" name="Content Placeholder 3">
            <a:extLst>
              <a:ext uri="{FF2B5EF4-FFF2-40B4-BE49-F238E27FC236}">
                <a16:creationId xmlns:a16="http://schemas.microsoft.com/office/drawing/2014/main" id="{820D9BE2-96B0-E118-3F14-2E766D7E881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1390" y="1268728"/>
            <a:ext cx="4160078" cy="4320542"/>
          </a:xfrm>
        </p:spPr>
        <p:txBody>
          <a:bodyPr>
            <a:normAutofit/>
          </a:bodyPr>
          <a:lstStyle/>
          <a:p>
            <a:pPr marL="0" indent="0">
              <a:spcBef>
                <a:spcPts val="1875"/>
              </a:spcBef>
              <a:buNone/>
            </a:pPr>
            <a:r>
              <a:rPr lang="en-US" sz="1050" b="1"/>
              <a:t>Transaction Speed</a:t>
            </a:r>
          </a:p>
          <a:p>
            <a:pPr marL="0" lvl="1" indent="0">
              <a:buNone/>
            </a:pPr>
            <a:r>
              <a:rPr lang="en-US" sz="1050"/>
              <a:t>Electronic payment systems enable fast transaction processing, reducing wait times significantly for users.</a:t>
            </a:r>
          </a:p>
          <a:p>
            <a:pPr marL="0" indent="0">
              <a:spcBef>
                <a:spcPts val="1875"/>
              </a:spcBef>
              <a:buNone/>
            </a:pPr>
            <a:r>
              <a:rPr lang="en-US" sz="1050" b="1"/>
              <a:t>Interoperability</a:t>
            </a:r>
          </a:p>
          <a:p>
            <a:pPr marL="0" lvl="1" indent="0">
              <a:buNone/>
            </a:pPr>
            <a:r>
              <a:rPr lang="en-US" sz="1050"/>
              <a:t>These systems support transactions across multiple platforms and services, ensuring broad compatibility.</a:t>
            </a:r>
          </a:p>
          <a:p>
            <a:pPr marL="0" indent="0">
              <a:spcBef>
                <a:spcPts val="1875"/>
              </a:spcBef>
              <a:buNone/>
            </a:pPr>
            <a:r>
              <a:rPr lang="en-US" sz="1050" b="1"/>
              <a:t>Security</a:t>
            </a:r>
          </a:p>
          <a:p>
            <a:pPr marL="0" lvl="1" indent="0">
              <a:buNone/>
            </a:pPr>
            <a:r>
              <a:rPr lang="en-US" sz="1050"/>
              <a:t>Robust security measures protect user data and transactions from unauthorized access and fraud.</a:t>
            </a:r>
          </a:p>
          <a:p>
            <a:pPr marL="0" indent="0">
              <a:spcBef>
                <a:spcPts val="1875"/>
              </a:spcBef>
              <a:buNone/>
            </a:pPr>
            <a:r>
              <a:rPr lang="en-US" sz="1050" b="1"/>
              <a:t>Convenience</a:t>
            </a:r>
          </a:p>
          <a:p>
            <a:pPr marL="0" lvl="1" indent="0">
              <a:buNone/>
            </a:pPr>
            <a:r>
              <a:rPr lang="en-US" sz="1050"/>
              <a:t>Electronic payments reduce reliance on cash and simplify the transaction process for users.</a:t>
            </a:r>
          </a:p>
        </p:txBody>
      </p:sp>
    </p:spTree>
    <p:extLst>
      <p:ext uri="{BB962C8B-B14F-4D97-AF65-F5344CB8AC3E}">
        <p14:creationId xmlns:p14="http://schemas.microsoft.com/office/powerpoint/2010/main" val="2975023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3EBE277D-8B3B-F514-B44C-3996E6951B92}"/>
              </a:ext>
            </a:extLst>
          </p:cNvPr>
          <p:cNvSpPr>
            <a:spLocks noGrp="1"/>
          </p:cNvSpPr>
          <p:nvPr>
            <p:ph type="ctrTitle"/>
          </p:nvPr>
        </p:nvSpPr>
        <p:spPr>
          <a:xfrm>
            <a:off x="207818" y="2217991"/>
            <a:ext cx="5829300" cy="3420690"/>
          </a:xfrm>
        </p:spPr>
        <p:txBody>
          <a:bodyPr anchor="b">
            <a:normAutofit/>
          </a:bodyPr>
          <a:lstStyle/>
          <a:p>
            <a:pPr algn="l"/>
            <a:r>
              <a:rPr lang="en-US" sz="5550"/>
              <a:t>Payment Schemes in India</a:t>
            </a:r>
          </a:p>
        </p:txBody>
      </p:sp>
    </p:spTree>
    <p:extLst>
      <p:ext uri="{BB962C8B-B14F-4D97-AF65-F5344CB8AC3E}">
        <p14:creationId xmlns:p14="http://schemas.microsoft.com/office/powerpoint/2010/main" val="159241971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DC892E31-639A-3254-B794-C04ACBB45C3C}"/>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475" b="1"/>
              <a:t>Unified Payments Interface (UPI): Real-time and Interoperability</a:t>
            </a:r>
          </a:p>
        </p:txBody>
      </p:sp>
      <p:sp>
        <p:nvSpPr>
          <p:cNvPr id="4" name="Content Placeholder 3">
            <a:extLst>
              <a:ext uri="{FF2B5EF4-FFF2-40B4-BE49-F238E27FC236}">
                <a16:creationId xmlns:a16="http://schemas.microsoft.com/office/drawing/2014/main" id="{74328F20-4DB8-4AC3-1C33-BA1B67C338E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Real-time Fund Transfers</a:t>
            </a:r>
          </a:p>
          <a:p>
            <a:pPr marL="0" lvl="1" indent="0">
              <a:buNone/>
            </a:pPr>
            <a:r>
              <a:rPr lang="en-US" sz="1050"/>
              <a:t>UPI enables instant money transfers between bank accounts through mobile devices, ensuring quick transactions.</a:t>
            </a:r>
          </a:p>
          <a:p>
            <a:pPr marL="0" indent="0">
              <a:spcBef>
                <a:spcPts val="1875"/>
              </a:spcBef>
              <a:buNone/>
            </a:pPr>
            <a:r>
              <a:rPr lang="en-US" sz="1050" b="1"/>
              <a:t>Bank Interoperability</a:t>
            </a:r>
          </a:p>
          <a:p>
            <a:pPr marL="0" lvl="1" indent="0">
              <a:buNone/>
            </a:pPr>
            <a:r>
              <a:rPr lang="en-US" sz="1050"/>
              <a:t>UPI promotes seamless interoperability among various banks, enhancing accessibility for users.</a:t>
            </a:r>
          </a:p>
          <a:p>
            <a:pPr marL="0" indent="0">
              <a:spcBef>
                <a:spcPts val="1875"/>
              </a:spcBef>
              <a:buNone/>
            </a:pPr>
            <a:r>
              <a:rPr lang="en-US" sz="1050" b="1"/>
              <a:t>User Convenience</a:t>
            </a:r>
          </a:p>
          <a:p>
            <a:pPr marL="0" lvl="1" indent="0">
              <a:buNone/>
            </a:pPr>
            <a:r>
              <a:rPr lang="en-US" sz="1050"/>
              <a:t>UPI improves user convenience by simplifying payments with a unified interface accessible on mobile devices.</a:t>
            </a:r>
          </a:p>
        </p:txBody>
      </p:sp>
      <p:pic>
        <p:nvPicPr>
          <p:cNvPr id="5" name="Content Placeholder 4" descr="paying contact less with smartphone">
            <a:extLst>
              <a:ext uri="{FF2B5EF4-FFF2-40B4-BE49-F238E27FC236}">
                <a16:creationId xmlns:a16="http://schemas.microsoft.com/office/drawing/2014/main" id="{92FC7817-7C8C-4F1E-8737-FFA346C289B8}"/>
              </a:ext>
            </a:extLst>
          </p:cNvPr>
          <p:cNvPicPr>
            <a:picLocks noGrp="1" noChangeAspect="1"/>
          </p:cNvPicPr>
          <p:nvPr>
            <p:ph sz="half" idx="1"/>
          </p:nvPr>
        </p:nvPicPr>
        <p:blipFill>
          <a:blip r:embed="rId3"/>
          <a:srcRect l="11904" r="40925" b="-1"/>
          <a:stretch>
            <a:fillRect/>
          </a:stretch>
        </p:blipFill>
        <p:spPr>
          <a:xfrm>
            <a:off x="5509260" y="892607"/>
            <a:ext cx="3634740" cy="5143493"/>
          </a:xfrm>
          <a:prstGeom prst="rect">
            <a:avLst/>
          </a:prstGeom>
        </p:spPr>
      </p:pic>
    </p:spTree>
    <p:extLst>
      <p:ext uri="{BB962C8B-B14F-4D97-AF65-F5344CB8AC3E}">
        <p14:creationId xmlns:p14="http://schemas.microsoft.com/office/powerpoint/2010/main" val="7361172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13DFBCEA-D285-0FF2-2363-0DE7E6FEC626}"/>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475" b="1"/>
              <a:t>Immediate Payment Service (IMPS): Instant Money Transfers</a:t>
            </a:r>
          </a:p>
        </p:txBody>
      </p:sp>
      <p:sp>
        <p:nvSpPr>
          <p:cNvPr id="4" name="Content Placeholder 3">
            <a:extLst>
              <a:ext uri="{FF2B5EF4-FFF2-40B4-BE49-F238E27FC236}">
                <a16:creationId xmlns:a16="http://schemas.microsoft.com/office/drawing/2014/main" id="{4D802880-16F2-76F5-89B5-EB068A6F72C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050" b="1"/>
              <a:t>Instant 24/7 Transfers</a:t>
            </a:r>
          </a:p>
          <a:p>
            <a:pPr marL="0" lvl="1" indent="0">
              <a:buNone/>
            </a:pPr>
            <a:r>
              <a:rPr lang="en-US" sz="1050"/>
              <a:t>IMPS enables immediate inter-bank transfers available at any time, day or night.</a:t>
            </a:r>
          </a:p>
          <a:p>
            <a:pPr marL="0" indent="0">
              <a:spcBef>
                <a:spcPts val="1875"/>
              </a:spcBef>
              <a:buNone/>
            </a:pPr>
            <a:r>
              <a:rPr lang="en-US" sz="1050" b="1"/>
              <a:t>Supports Low-Value Transactions</a:t>
            </a:r>
          </a:p>
          <a:p>
            <a:pPr marL="0" lvl="1" indent="0">
              <a:buNone/>
            </a:pPr>
            <a:r>
              <a:rPr lang="en-US" sz="1050"/>
              <a:t>Designed to support small value payments, ideal for daily transactions.</a:t>
            </a:r>
          </a:p>
          <a:p>
            <a:pPr marL="0" indent="0">
              <a:spcBef>
                <a:spcPts val="1875"/>
              </a:spcBef>
              <a:buNone/>
            </a:pPr>
            <a:r>
              <a:rPr lang="en-US" sz="1050" b="1"/>
              <a:t>High Speed and Availability</a:t>
            </a:r>
          </a:p>
          <a:p>
            <a:pPr marL="0" lvl="1" indent="0">
              <a:buNone/>
            </a:pPr>
            <a:r>
              <a:rPr lang="en-US" sz="1050"/>
              <a:t>IMPS offers high-speed transactions with continuous system availability for users.</a:t>
            </a:r>
          </a:p>
        </p:txBody>
      </p:sp>
      <p:pic>
        <p:nvPicPr>
          <p:cNvPr id="5" name="Content Placeholder 4" descr="Fintech electronic banking mobile network technology">
            <a:extLst>
              <a:ext uri="{FF2B5EF4-FFF2-40B4-BE49-F238E27FC236}">
                <a16:creationId xmlns:a16="http://schemas.microsoft.com/office/drawing/2014/main" id="{DFF0FAC2-DB11-4BC2-BDF7-FC38D42877C9}"/>
              </a:ext>
            </a:extLst>
          </p:cNvPr>
          <p:cNvPicPr>
            <a:picLocks noGrp="1" noChangeAspect="1"/>
          </p:cNvPicPr>
          <p:nvPr>
            <p:ph sz="half" idx="1"/>
          </p:nvPr>
        </p:nvPicPr>
        <p:blipFill>
          <a:blip r:embed="rId3"/>
          <a:srcRect l="32525" r="20304" b="-1"/>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4832155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6F5BD2E3-397B-0311-0FF4-A70F09FAF697}"/>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475" b="1"/>
              <a:t>Real Time Gross Settlement (RTGS): High-Value Transactions</a:t>
            </a:r>
          </a:p>
        </p:txBody>
      </p:sp>
      <p:pic>
        <p:nvPicPr>
          <p:cNvPr id="5" name="Content Placeholder 4" descr="http://teekid.com/istockphoto/banner/banner3.jpg">
            <a:extLst>
              <a:ext uri="{FF2B5EF4-FFF2-40B4-BE49-F238E27FC236}">
                <a16:creationId xmlns:a16="http://schemas.microsoft.com/office/drawing/2014/main" id="{3B603247-1F1F-4819-82DB-576B85F467C6}"/>
              </a:ext>
            </a:extLst>
          </p:cNvPr>
          <p:cNvPicPr>
            <a:picLocks noGrp="1" noChangeAspect="1"/>
          </p:cNvPicPr>
          <p:nvPr>
            <p:ph sz="half" idx="1"/>
          </p:nvPr>
        </p:nvPicPr>
        <p:blipFill>
          <a:blip r:embed="rId3"/>
          <a:srcRect l="23594" r="4807"/>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E0F1ECD5-9C19-587D-8EE8-06C62211AD8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Purpose of RTGS</a:t>
            </a:r>
          </a:p>
          <a:p>
            <a:pPr marL="0" lvl="1" indent="0">
              <a:buNone/>
            </a:pPr>
            <a:r>
              <a:rPr lang="en-US" sz="1050"/>
              <a:t>RTGS handles high-value, time-sensitive transactions ensuring immediate fund transfer without delays.</a:t>
            </a:r>
          </a:p>
          <a:p>
            <a:pPr marL="0" indent="0">
              <a:spcBef>
                <a:spcPts val="1875"/>
              </a:spcBef>
              <a:buNone/>
            </a:pPr>
            <a:r>
              <a:rPr lang="en-US" sz="1050" b="1"/>
              <a:t>User Base</a:t>
            </a:r>
          </a:p>
          <a:p>
            <a:pPr marL="0" lvl="1" indent="0">
              <a:buNone/>
            </a:pPr>
            <a:r>
              <a:rPr lang="en-US" sz="1050"/>
              <a:t>Primarily used by banks and businesses for processing large volume payments securely and efficiently.</a:t>
            </a:r>
          </a:p>
          <a:p>
            <a:pPr marL="0" indent="0">
              <a:spcBef>
                <a:spcPts val="1875"/>
              </a:spcBef>
              <a:buNone/>
            </a:pPr>
            <a:r>
              <a:rPr lang="en-US" sz="1050" b="1"/>
              <a:t>Settlement Method</a:t>
            </a:r>
          </a:p>
          <a:p>
            <a:pPr marL="0" lvl="1" indent="0">
              <a:buNone/>
            </a:pPr>
            <a:r>
              <a:rPr lang="en-US" sz="1050"/>
              <a:t>Settlements occur individually and immediately without batching, reducing settlement risk significantly.</a:t>
            </a:r>
          </a:p>
        </p:txBody>
      </p:sp>
    </p:spTree>
    <p:extLst>
      <p:ext uri="{BB962C8B-B14F-4D97-AF65-F5344CB8AC3E}">
        <p14:creationId xmlns:p14="http://schemas.microsoft.com/office/powerpoint/2010/main" val="27881198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3C401B61-40EB-2E57-3A60-F924289E398E}"/>
              </a:ext>
            </a:extLst>
          </p:cNvPr>
          <p:cNvSpPr>
            <a:spLocks noGrp="1"/>
          </p:cNvSpPr>
          <p:nvPr>
            <p:ph type="ctrTitle"/>
          </p:nvPr>
        </p:nvSpPr>
        <p:spPr>
          <a:xfrm>
            <a:off x="207818" y="2217991"/>
            <a:ext cx="5829300" cy="3420690"/>
          </a:xfrm>
        </p:spPr>
        <p:txBody>
          <a:bodyPr anchor="b">
            <a:normAutofit/>
          </a:bodyPr>
          <a:lstStyle/>
          <a:p>
            <a:pPr algn="l"/>
            <a:r>
              <a:rPr lang="en-US" sz="5550"/>
              <a:t>Payment Schemes in the United States</a:t>
            </a:r>
          </a:p>
        </p:txBody>
      </p:sp>
    </p:spTree>
    <p:extLst>
      <p:ext uri="{BB962C8B-B14F-4D97-AF65-F5344CB8AC3E}">
        <p14:creationId xmlns:p14="http://schemas.microsoft.com/office/powerpoint/2010/main" val="117929215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9EDDA7A7-D221-AB60-D2C8-3C496D23D280}"/>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475" b="1"/>
              <a:t>Automated Clearing House (ACH): Batch Processing and Settlement</a:t>
            </a:r>
          </a:p>
        </p:txBody>
      </p:sp>
      <p:pic>
        <p:nvPicPr>
          <p:cNvPr id="5" name="Content Placeholder 4" descr="Fintech electronic banking internet network finance technology">
            <a:extLst>
              <a:ext uri="{FF2B5EF4-FFF2-40B4-BE49-F238E27FC236}">
                <a16:creationId xmlns:a16="http://schemas.microsoft.com/office/drawing/2014/main" id="{A6BEDE61-AB7A-4B66-BF8E-60CD09533B71}"/>
              </a:ext>
            </a:extLst>
          </p:cNvPr>
          <p:cNvPicPr>
            <a:picLocks noGrp="1" noChangeAspect="1"/>
          </p:cNvPicPr>
          <p:nvPr>
            <p:ph sz="half" idx="1"/>
          </p:nvPr>
        </p:nvPicPr>
        <p:blipFill>
          <a:blip r:embed="rId3"/>
          <a:srcRect l="28709" r="1759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CF32503D-88A0-7218-A3ED-803D8EB0EE0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Batch Processing of Payments</a:t>
            </a:r>
          </a:p>
          <a:p>
            <a:pPr marL="0" lvl="1" indent="0">
              <a:buNone/>
            </a:pPr>
            <a:r>
              <a:rPr lang="en-US" sz="1050"/>
              <a:t>ACH handles numerous low-value payments together in batches for efficient processing.</a:t>
            </a:r>
          </a:p>
          <a:p>
            <a:pPr marL="0" indent="0">
              <a:spcBef>
                <a:spcPts val="1875"/>
              </a:spcBef>
              <a:buNone/>
            </a:pPr>
            <a:r>
              <a:rPr lang="en-US" sz="1050" b="1"/>
              <a:t>Common Payment Types</a:t>
            </a:r>
          </a:p>
          <a:p>
            <a:pPr marL="0" lvl="1" indent="0">
              <a:buNone/>
            </a:pPr>
            <a:r>
              <a:rPr lang="en-US" sz="1050"/>
              <a:t>ACH is commonly used for payroll, direct debits, and bill payments across various sectors.</a:t>
            </a:r>
          </a:p>
          <a:p>
            <a:pPr marL="0" indent="0">
              <a:spcBef>
                <a:spcPts val="1875"/>
              </a:spcBef>
              <a:buNone/>
            </a:pPr>
            <a:r>
              <a:rPr lang="en-US" sz="1050" b="1"/>
              <a:t>Settlement Timing</a:t>
            </a:r>
          </a:p>
          <a:p>
            <a:pPr marL="0" lvl="1" indent="0">
              <a:buNone/>
            </a:pPr>
            <a:r>
              <a:rPr lang="en-US" sz="1050"/>
              <a:t>Payment settlements through ACH usually complete within one to two business days.</a:t>
            </a:r>
          </a:p>
        </p:txBody>
      </p:sp>
    </p:spTree>
    <p:extLst>
      <p:ext uri="{BB962C8B-B14F-4D97-AF65-F5344CB8AC3E}">
        <p14:creationId xmlns:p14="http://schemas.microsoft.com/office/powerpoint/2010/main" val="3795045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66A9FDEF-56FB-2FF9-8F03-AEEBC68D679D}"/>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Fedwire: Real-time Gross Settlement for Large Values</a:t>
            </a:r>
          </a:p>
        </p:txBody>
      </p:sp>
      <p:pic>
        <p:nvPicPr>
          <p:cNvPr id="5" name="Content Placeholder 4" descr="Digital concept which shows abstract network and concept of security optimisation and internet technology  ">
            <a:extLst>
              <a:ext uri="{FF2B5EF4-FFF2-40B4-BE49-F238E27FC236}">
                <a16:creationId xmlns:a16="http://schemas.microsoft.com/office/drawing/2014/main" id="{B855B491-D398-44E7-94B2-BE198D347F14}"/>
              </a:ext>
            </a:extLst>
          </p:cNvPr>
          <p:cNvPicPr>
            <a:picLocks noGrp="1" noChangeAspect="1"/>
          </p:cNvPicPr>
          <p:nvPr>
            <p:ph sz="half" idx="1"/>
          </p:nvPr>
        </p:nvPicPr>
        <p:blipFill>
          <a:blip r:embed="rId3"/>
          <a:srcRect l="24946" r="28514"/>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1D4DD917-81B5-AC5B-7C63-C34C07A19AD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Real-time Gross Settlement</a:t>
            </a:r>
          </a:p>
          <a:p>
            <a:pPr marL="0" lvl="1" indent="0">
              <a:buNone/>
            </a:pPr>
            <a:r>
              <a:rPr lang="en-US" sz="1050"/>
              <a:t>Fedwire enables immediate settlement of large-value transactions, reducing settlement risk significantly.</a:t>
            </a:r>
          </a:p>
          <a:p>
            <a:pPr marL="0" indent="0">
              <a:spcBef>
                <a:spcPts val="1875"/>
              </a:spcBef>
              <a:buNone/>
            </a:pPr>
            <a:r>
              <a:rPr lang="en-US" sz="1050" b="1"/>
              <a:t>High-Value Transactions</a:t>
            </a:r>
          </a:p>
          <a:p>
            <a:pPr marL="0" lvl="1" indent="0">
              <a:buNone/>
            </a:pPr>
            <a:r>
              <a:rPr lang="en-US" sz="1050"/>
              <a:t>The system is designed to handle high-value, time-sensitive payments between financial institutions securely.</a:t>
            </a:r>
          </a:p>
          <a:p>
            <a:pPr marL="0" indent="0">
              <a:spcBef>
                <a:spcPts val="1875"/>
              </a:spcBef>
              <a:buNone/>
            </a:pPr>
            <a:r>
              <a:rPr lang="en-US" sz="1050" b="1"/>
              <a:t>Transaction Finality and Security</a:t>
            </a:r>
          </a:p>
          <a:p>
            <a:pPr marL="0" lvl="1" indent="0">
              <a:buNone/>
            </a:pPr>
            <a:r>
              <a:rPr lang="en-US" sz="1050"/>
              <a:t>Fedwire ensures immediate finality and strong security measures to protect transaction integrity.</a:t>
            </a:r>
          </a:p>
        </p:txBody>
      </p:sp>
    </p:spTree>
    <p:extLst>
      <p:ext uri="{BB962C8B-B14F-4D97-AF65-F5344CB8AC3E}">
        <p14:creationId xmlns:p14="http://schemas.microsoft.com/office/powerpoint/2010/main" val="13466260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14E52A98-ABA4-DE22-470E-39F2E3DE69EB}"/>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FedNow: Instant Payments and 24/7 Accessibility</a:t>
            </a:r>
          </a:p>
        </p:txBody>
      </p:sp>
      <p:pic>
        <p:nvPicPr>
          <p:cNvPr id="5" name="Content Placeholder 4" descr="Online internet Shopping with wallet icon">
            <a:extLst>
              <a:ext uri="{FF2B5EF4-FFF2-40B4-BE49-F238E27FC236}">
                <a16:creationId xmlns:a16="http://schemas.microsoft.com/office/drawing/2014/main" id="{704E8928-EAEA-4696-806A-A6ACB755A236}"/>
              </a:ext>
            </a:extLst>
          </p:cNvPr>
          <p:cNvPicPr>
            <a:picLocks noGrp="1" noChangeAspect="1"/>
          </p:cNvPicPr>
          <p:nvPr>
            <p:ph sz="half" idx="1"/>
          </p:nvPr>
        </p:nvPicPr>
        <p:blipFill>
          <a:blip r:embed="rId3"/>
          <a:srcRect l="29765" r="29960"/>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4D7E1973-0CD4-2908-AA49-F4671EC4A2A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Real-Time Fund Transfers</a:t>
            </a:r>
          </a:p>
          <a:p>
            <a:pPr marL="0" lvl="1" indent="0">
              <a:buNone/>
            </a:pPr>
            <a:r>
              <a:rPr lang="en-US" sz="1050"/>
              <a:t>FedNow enables instant money transfers, allowing funds to move quickly between accounts.</a:t>
            </a:r>
          </a:p>
          <a:p>
            <a:pPr marL="0" indent="0">
              <a:spcBef>
                <a:spcPts val="1875"/>
              </a:spcBef>
              <a:buNone/>
            </a:pPr>
            <a:r>
              <a:rPr lang="en-US" sz="1050" b="1"/>
              <a:t>24/7 Accessibility</a:t>
            </a:r>
          </a:p>
          <a:p>
            <a:pPr marL="0" lvl="1" indent="0">
              <a:buNone/>
            </a:pPr>
            <a:r>
              <a:rPr lang="en-US" sz="1050"/>
              <a:t>Payments can be made anytime, day or night, enhancing convenience for users.</a:t>
            </a:r>
          </a:p>
          <a:p>
            <a:pPr marL="0" indent="0">
              <a:spcBef>
                <a:spcPts val="1875"/>
              </a:spcBef>
              <a:buNone/>
            </a:pPr>
            <a:r>
              <a:rPr lang="en-US" sz="1050" b="1"/>
              <a:t>Enhanced Consumer and Business Use</a:t>
            </a:r>
          </a:p>
          <a:p>
            <a:pPr marL="0" lvl="1" indent="0">
              <a:buNone/>
            </a:pPr>
            <a:r>
              <a:rPr lang="en-US" sz="1050"/>
              <a:t>Service improves payment speed and accessibility for both consumers and businesses.</a:t>
            </a:r>
          </a:p>
        </p:txBody>
      </p:sp>
    </p:spTree>
    <p:extLst>
      <p:ext uri="{BB962C8B-B14F-4D97-AF65-F5344CB8AC3E}">
        <p14:creationId xmlns:p14="http://schemas.microsoft.com/office/powerpoint/2010/main" val="27557345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62AC7E89-3C97-C6EE-DE22-9795B754C85E}"/>
              </a:ext>
            </a:extLst>
          </p:cNvPr>
          <p:cNvSpPr>
            <a:spLocks noGrp="1"/>
          </p:cNvSpPr>
          <p:nvPr>
            <p:ph type="ctrTitle"/>
          </p:nvPr>
        </p:nvSpPr>
        <p:spPr>
          <a:xfrm>
            <a:off x="207818" y="2217991"/>
            <a:ext cx="5829300" cy="3420690"/>
          </a:xfrm>
        </p:spPr>
        <p:txBody>
          <a:bodyPr anchor="b">
            <a:normAutofit/>
          </a:bodyPr>
          <a:lstStyle/>
          <a:p>
            <a:pPr algn="l"/>
            <a:r>
              <a:rPr lang="en-US" sz="5550"/>
              <a:t>Payment Schemes in the United Kingdom</a:t>
            </a:r>
          </a:p>
        </p:txBody>
      </p:sp>
    </p:spTree>
    <p:extLst>
      <p:ext uri="{BB962C8B-B14F-4D97-AF65-F5344CB8AC3E}">
        <p14:creationId xmlns:p14="http://schemas.microsoft.com/office/powerpoint/2010/main" val="90555174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83AE0029-EF6C-2E13-65BC-DE0EE428A815}"/>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475" b="1"/>
              <a:t>Bankers' Automated Clearing Services (BACS): Scheduled Payments</a:t>
            </a:r>
          </a:p>
        </p:txBody>
      </p:sp>
      <p:pic>
        <p:nvPicPr>
          <p:cNvPr id="5" name="Content Placeholder 4" descr="Electronic Payment Concept">
            <a:extLst>
              <a:ext uri="{FF2B5EF4-FFF2-40B4-BE49-F238E27FC236}">
                <a16:creationId xmlns:a16="http://schemas.microsoft.com/office/drawing/2014/main" id="{F617CAF5-B3EC-48BC-9697-D2FCC029EB4B}"/>
              </a:ext>
            </a:extLst>
          </p:cNvPr>
          <p:cNvPicPr>
            <a:picLocks noGrp="1" noChangeAspect="1"/>
          </p:cNvPicPr>
          <p:nvPr>
            <p:ph sz="half" idx="1"/>
          </p:nvPr>
        </p:nvPicPr>
        <p:blipFill>
          <a:blip r:embed="rId3"/>
          <a:srcRect l="13213" r="38994"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A1E71E80-0BE7-6D69-DE7A-B47D38FF4E0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Legacy Scheduled Payments System</a:t>
            </a:r>
          </a:p>
          <a:p>
            <a:pPr marL="0" lvl="1" indent="0">
              <a:buNone/>
            </a:pPr>
            <a:r>
              <a:rPr lang="en-US" sz="1050"/>
              <a:t>BACS is a traditional system designed for processing scheduled payments like salaries and direct debits.</a:t>
            </a:r>
          </a:p>
          <a:p>
            <a:pPr marL="0" indent="0">
              <a:spcBef>
                <a:spcPts val="1875"/>
              </a:spcBef>
              <a:buNone/>
            </a:pPr>
            <a:r>
              <a:rPr lang="en-US" sz="1050" b="1"/>
              <a:t>Batch Payment Processing</a:t>
            </a:r>
          </a:p>
          <a:p>
            <a:pPr marL="0" lvl="1" indent="0">
              <a:buNone/>
            </a:pPr>
            <a:r>
              <a:rPr lang="en-US" sz="1050"/>
              <a:t>Payments are processed in groups or batches, enabling efficient handling of multiple transactions simultaneously.</a:t>
            </a:r>
          </a:p>
          <a:p>
            <a:pPr marL="0" indent="0">
              <a:spcBef>
                <a:spcPts val="1875"/>
              </a:spcBef>
              <a:buNone/>
            </a:pPr>
            <a:r>
              <a:rPr lang="en-US" sz="1050" b="1"/>
              <a:t>Settlement Duration</a:t>
            </a:r>
          </a:p>
          <a:p>
            <a:pPr marL="0" lvl="1" indent="0">
              <a:buNone/>
            </a:pPr>
            <a:r>
              <a:rPr lang="en-US" sz="1050"/>
              <a:t>The settlement of payments through BACS can take up to three business days to complete.</a:t>
            </a:r>
          </a:p>
        </p:txBody>
      </p:sp>
    </p:spTree>
    <p:extLst>
      <p:ext uri="{BB962C8B-B14F-4D97-AF65-F5344CB8AC3E}">
        <p14:creationId xmlns:p14="http://schemas.microsoft.com/office/powerpoint/2010/main" val="11696142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1C84E30D-937A-5DF1-EEA1-1CE7D4EFDB67}"/>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325" b="1"/>
              <a:t>Clearing House Automated Payment System (CHAPS): High-Value and Urgent Payments</a:t>
            </a:r>
          </a:p>
        </p:txBody>
      </p:sp>
      <p:pic>
        <p:nvPicPr>
          <p:cNvPr id="5" name="Content Placeholder 4" descr="stock or currency exchange market display screen board">
            <a:extLst>
              <a:ext uri="{FF2B5EF4-FFF2-40B4-BE49-F238E27FC236}">
                <a16:creationId xmlns:a16="http://schemas.microsoft.com/office/drawing/2014/main" id="{3555A194-7B61-4623-A835-E13BECB7FFC5}"/>
              </a:ext>
            </a:extLst>
          </p:cNvPr>
          <p:cNvPicPr>
            <a:picLocks noGrp="1" noChangeAspect="1"/>
          </p:cNvPicPr>
          <p:nvPr>
            <p:ph sz="half" idx="1"/>
          </p:nvPr>
        </p:nvPicPr>
        <p:blipFill>
          <a:blip r:embed="rId3"/>
          <a:srcRect t="1295" r="3" b="3"/>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E5D1B043-8CD1-4FF1-FA8A-A8C2ED479D2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p:spPr>
        <p:txBody>
          <a:bodyPr>
            <a:normAutofit/>
          </a:bodyPr>
          <a:lstStyle/>
          <a:p>
            <a:pPr marL="0" indent="0">
              <a:spcBef>
                <a:spcPts val="1875"/>
              </a:spcBef>
              <a:buNone/>
            </a:pPr>
            <a:r>
              <a:rPr lang="en-US" sz="1050" b="1"/>
              <a:t>Real-Time Gross Settlement</a:t>
            </a:r>
          </a:p>
          <a:p>
            <a:pPr marL="0" lvl="1" indent="0">
              <a:buNone/>
            </a:pPr>
            <a:r>
              <a:rPr lang="en-US" sz="1050"/>
              <a:t>CHAPS processes payments individually and instantly, ensuring immediate funds transfer and clearance.</a:t>
            </a:r>
          </a:p>
          <a:p>
            <a:pPr marL="0" indent="0">
              <a:spcBef>
                <a:spcPts val="1875"/>
              </a:spcBef>
              <a:buNone/>
            </a:pPr>
            <a:r>
              <a:rPr lang="en-US" sz="1050" b="1"/>
              <a:t>High-Value Payments</a:t>
            </a:r>
          </a:p>
          <a:p>
            <a:pPr marL="0" lvl="1" indent="0">
              <a:buNone/>
            </a:pPr>
            <a:r>
              <a:rPr lang="en-US" sz="1050"/>
              <a:t>CHAPS is designed for large-value transactions, typically used by businesses and financial institutions.</a:t>
            </a:r>
          </a:p>
          <a:p>
            <a:pPr marL="0" indent="0">
              <a:spcBef>
                <a:spcPts val="1875"/>
              </a:spcBef>
              <a:buNone/>
            </a:pPr>
            <a:r>
              <a:rPr lang="en-US" sz="1050" b="1"/>
              <a:t>Urgent Payment Needs</a:t>
            </a:r>
          </a:p>
          <a:p>
            <a:pPr marL="0" lvl="1" indent="0">
              <a:buNone/>
            </a:pPr>
            <a:r>
              <a:rPr lang="en-US" sz="1050"/>
              <a:t>CHAPS supports urgent payments requiring immediate clearance and settlement.</a:t>
            </a:r>
          </a:p>
        </p:txBody>
      </p:sp>
    </p:spTree>
    <p:extLst>
      <p:ext uri="{BB962C8B-B14F-4D97-AF65-F5344CB8AC3E}">
        <p14:creationId xmlns:p14="http://schemas.microsoft.com/office/powerpoint/2010/main" val="36924578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4B1D73BA-B974-437A-1419-32B504E8B121}"/>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Faster Payments: Real-time Low-Value Transactions</a:t>
            </a:r>
          </a:p>
        </p:txBody>
      </p:sp>
      <p:pic>
        <p:nvPicPr>
          <p:cNvPr id="5" name="Content Placeholder 4" descr="Female hands holding a payment terminal">
            <a:extLst>
              <a:ext uri="{FF2B5EF4-FFF2-40B4-BE49-F238E27FC236}">
                <a16:creationId xmlns:a16="http://schemas.microsoft.com/office/drawing/2014/main" id="{85AE27B1-B1A5-44C0-BAB3-AD8A21127794}"/>
              </a:ext>
            </a:extLst>
          </p:cNvPr>
          <p:cNvPicPr>
            <a:picLocks noGrp="1" noChangeAspect="1"/>
          </p:cNvPicPr>
          <p:nvPr>
            <p:ph sz="half" idx="1"/>
          </p:nvPr>
        </p:nvPicPr>
        <p:blipFill>
          <a:blip r:embed="rId3"/>
          <a:srcRect l="21132" r="31074"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7698D02E-944A-7584-A12A-208D355EC81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Instant Payment Transfer</a:t>
            </a:r>
          </a:p>
          <a:p>
            <a:pPr marL="0" lvl="1" indent="0">
              <a:buNone/>
            </a:pPr>
            <a:r>
              <a:rPr lang="en-US" sz="1050"/>
              <a:t>Faster Payments Service allows near-instantaneous transfer of low-value payments enhancing user experience.</a:t>
            </a:r>
          </a:p>
          <a:p>
            <a:pPr marL="0" indent="0">
              <a:spcBef>
                <a:spcPts val="1875"/>
              </a:spcBef>
              <a:buNone/>
            </a:pPr>
            <a:r>
              <a:rPr lang="en-US" sz="1050" b="1"/>
              <a:t>24/7 Availability</a:t>
            </a:r>
          </a:p>
          <a:p>
            <a:pPr marL="0" lvl="1" indent="0">
              <a:buNone/>
            </a:pPr>
            <a:r>
              <a:rPr lang="en-US" sz="1050"/>
              <a:t>The service operates round the clock, providing convenience to retail customers and businesses anytime.</a:t>
            </a:r>
          </a:p>
          <a:p>
            <a:pPr marL="0" indent="0">
              <a:spcBef>
                <a:spcPts val="1875"/>
              </a:spcBef>
              <a:buNone/>
            </a:pPr>
            <a:r>
              <a:rPr lang="en-US" sz="1050" b="1"/>
              <a:t>Convenience for Users</a:t>
            </a:r>
          </a:p>
          <a:p>
            <a:pPr marL="0" lvl="1" indent="0">
              <a:buNone/>
            </a:pPr>
            <a:r>
              <a:rPr lang="en-US" sz="1050"/>
              <a:t>Enables seamless payments improving convenience for businesses and consumers in daily transactions.</a:t>
            </a:r>
          </a:p>
        </p:txBody>
      </p:sp>
    </p:spTree>
    <p:extLst>
      <p:ext uri="{BB962C8B-B14F-4D97-AF65-F5344CB8AC3E}">
        <p14:creationId xmlns:p14="http://schemas.microsoft.com/office/powerpoint/2010/main" val="14658267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E40B20D9-7DA1-366F-3EFC-AD26931D783C}"/>
              </a:ext>
            </a:extLst>
          </p:cNvPr>
          <p:cNvSpPr>
            <a:spLocks noGrp="1"/>
          </p:cNvSpPr>
          <p:nvPr>
            <p:ph type="ctrTitle"/>
          </p:nvPr>
        </p:nvSpPr>
        <p:spPr>
          <a:xfrm>
            <a:off x="207818" y="2217991"/>
            <a:ext cx="5829300" cy="3420690"/>
          </a:xfrm>
        </p:spPr>
        <p:txBody>
          <a:bodyPr anchor="b">
            <a:normAutofit/>
          </a:bodyPr>
          <a:lstStyle/>
          <a:p>
            <a:pPr algn="l"/>
            <a:r>
              <a:rPr lang="en-US" sz="5550"/>
              <a:t>Comparative Insights and Future Trends</a:t>
            </a:r>
          </a:p>
        </p:txBody>
      </p:sp>
    </p:spTree>
    <p:extLst>
      <p:ext uri="{BB962C8B-B14F-4D97-AF65-F5344CB8AC3E}">
        <p14:creationId xmlns:p14="http://schemas.microsoft.com/office/powerpoint/2010/main" val="360270652"/>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813B0380-047C-A489-659C-6D01DDD3F128}"/>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Speed, Security, and Accessibility Across Regions</a:t>
            </a:r>
          </a:p>
        </p:txBody>
      </p:sp>
      <p:pic>
        <p:nvPicPr>
          <p:cNvPr id="5" name="Content Placeholder 4" descr="Contactless payment using a smart phone">
            <a:extLst>
              <a:ext uri="{FF2B5EF4-FFF2-40B4-BE49-F238E27FC236}">
                <a16:creationId xmlns:a16="http://schemas.microsoft.com/office/drawing/2014/main" id="{709713BE-15CA-4D45-94AB-216C091C6E4C}"/>
              </a:ext>
            </a:extLst>
          </p:cNvPr>
          <p:cNvPicPr>
            <a:picLocks noGrp="1" noChangeAspect="1"/>
          </p:cNvPicPr>
          <p:nvPr>
            <p:ph sz="half" idx="1"/>
          </p:nvPr>
        </p:nvPicPr>
        <p:blipFill>
          <a:blip r:embed="rId3"/>
          <a:srcRect l="24028" r="28179"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EE50622D-205B-465F-4A9B-96D219881E6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India's Real-Time Payments</a:t>
            </a:r>
          </a:p>
          <a:p>
            <a:pPr marL="0" lvl="1" indent="0">
              <a:buNone/>
            </a:pPr>
            <a:r>
              <a:rPr lang="en-US" sz="1050"/>
              <a:t>India leads in real-time mobile payments using the Unified Payments Interface (UPI), offering fast and secure transactions.</a:t>
            </a:r>
          </a:p>
          <a:p>
            <a:pPr marL="0" indent="0">
              <a:spcBef>
                <a:spcPts val="1875"/>
              </a:spcBef>
              <a:buNone/>
            </a:pPr>
            <a:r>
              <a:rPr lang="en-US" sz="1050" b="1"/>
              <a:t>US Payment Systems</a:t>
            </a:r>
          </a:p>
          <a:p>
            <a:pPr marL="0" lvl="1" indent="0">
              <a:buNone/>
            </a:pPr>
            <a:r>
              <a:rPr lang="en-US" sz="1050"/>
              <a:t>The US uses a combination of batch and real-time payment systems to balance speed and security requirements.</a:t>
            </a:r>
          </a:p>
          <a:p>
            <a:pPr marL="0" indent="0">
              <a:spcBef>
                <a:spcPts val="1875"/>
              </a:spcBef>
              <a:buNone/>
            </a:pPr>
            <a:r>
              <a:rPr lang="en-US" sz="1050" b="1"/>
              <a:t>UK Payment Balance</a:t>
            </a:r>
          </a:p>
          <a:p>
            <a:pPr marL="0" lvl="1" indent="0">
              <a:buNone/>
            </a:pPr>
            <a:r>
              <a:rPr lang="en-US" sz="1050"/>
              <a:t>The UK integrates legacy payment infrastructure with instant payments to improve accessibility and transaction speed.</a:t>
            </a:r>
          </a:p>
        </p:txBody>
      </p:sp>
    </p:spTree>
    <p:extLst>
      <p:ext uri="{BB962C8B-B14F-4D97-AF65-F5344CB8AC3E}">
        <p14:creationId xmlns:p14="http://schemas.microsoft.com/office/powerpoint/2010/main" val="7790235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BA251AA1-9A82-EA33-8DD1-39C25A7AB47A}"/>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Impact on Consumers and Businesses</a:t>
            </a:r>
          </a:p>
        </p:txBody>
      </p:sp>
      <p:pic>
        <p:nvPicPr>
          <p:cNvPr id="5" name="Content Placeholder 4" descr="Tourist making a contactless payment">
            <a:extLst>
              <a:ext uri="{FF2B5EF4-FFF2-40B4-BE49-F238E27FC236}">
                <a16:creationId xmlns:a16="http://schemas.microsoft.com/office/drawing/2014/main" id="{2C6EA1DF-3E10-4AF7-944C-47C088893361}"/>
              </a:ext>
            </a:extLst>
          </p:cNvPr>
          <p:cNvPicPr>
            <a:picLocks noGrp="1" noChangeAspect="1"/>
          </p:cNvPicPr>
          <p:nvPr>
            <p:ph sz="half" idx="1"/>
          </p:nvPr>
        </p:nvPicPr>
        <p:blipFill>
          <a:blip r:embed="rId3"/>
          <a:srcRect l="35686" r="15089"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D0E8AB36-7329-BEB9-C544-B88AEA56450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Improved Cash Flow</a:t>
            </a:r>
          </a:p>
          <a:p>
            <a:pPr marL="0" lvl="1" indent="0">
              <a:buNone/>
            </a:pPr>
            <a:r>
              <a:rPr lang="en-US" sz="1050"/>
              <a:t>Enhanced payment schemes enable faster cash flow management for both consumers and businesses, increasing financial efficiency.</a:t>
            </a:r>
          </a:p>
          <a:p>
            <a:pPr marL="0" indent="0">
              <a:spcBef>
                <a:spcPts val="1875"/>
              </a:spcBef>
              <a:buNone/>
            </a:pPr>
            <a:r>
              <a:rPr lang="en-US" sz="1050" b="1"/>
              <a:t>Convenience and Inclusion</a:t>
            </a:r>
          </a:p>
          <a:p>
            <a:pPr marL="0" lvl="1" indent="0">
              <a:buNone/>
            </a:pPr>
            <a:r>
              <a:rPr lang="en-US" sz="1050"/>
              <a:t>Modern payment systems provide convenience and promote financial inclusion by simplifying transactions for all users.</a:t>
            </a:r>
          </a:p>
          <a:p>
            <a:pPr marL="0" indent="0">
              <a:spcBef>
                <a:spcPts val="1875"/>
              </a:spcBef>
              <a:buNone/>
            </a:pPr>
            <a:r>
              <a:rPr lang="en-US" sz="1050" b="1"/>
              <a:t>Support for Digital Commerce</a:t>
            </a:r>
          </a:p>
          <a:p>
            <a:pPr marL="0" lvl="1" indent="0">
              <a:buNone/>
            </a:pPr>
            <a:r>
              <a:rPr lang="en-US" sz="1050"/>
              <a:t>Instant payments reduce transaction delays, supporting the growth of modern digital commerce and e-business.</a:t>
            </a:r>
          </a:p>
        </p:txBody>
      </p:sp>
    </p:spTree>
    <p:extLst>
      <p:ext uri="{BB962C8B-B14F-4D97-AF65-F5344CB8AC3E}">
        <p14:creationId xmlns:p14="http://schemas.microsoft.com/office/powerpoint/2010/main" val="10764848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BC697BE8-32F1-599F-624A-8FC138086E5C}"/>
              </a:ext>
            </a:extLst>
          </p:cNvPr>
          <p:cNvSpPr>
            <a:spLocks noGrp="1"/>
          </p:cNvSpPr>
          <p:nvPr>
            <p:ph type="title"/>
          </p:nvPr>
        </p:nvSpPr>
        <p:spPr>
          <a:xfrm>
            <a:off x="459486" y="1268730"/>
            <a:ext cx="3602418" cy="973835"/>
          </a:xfrm>
        </p:spPr>
        <p:txBody>
          <a:bodyPr vert="horz" lIns="68580" tIns="34290" rIns="68580" bIns="34290" rtlCol="0" anchor="t">
            <a:normAutofit/>
          </a:bodyPr>
          <a:lstStyle/>
          <a:p>
            <a:r>
              <a:rPr lang="en-US" sz="2700" b="1"/>
              <a:t>Trends in Global Payments</a:t>
            </a:r>
          </a:p>
        </p:txBody>
      </p:sp>
      <p:pic>
        <p:nvPicPr>
          <p:cNvPr id="5" name="Content Placeholder 4" descr="Touch screen technology">
            <a:extLst>
              <a:ext uri="{FF2B5EF4-FFF2-40B4-BE49-F238E27FC236}">
                <a16:creationId xmlns:a16="http://schemas.microsoft.com/office/drawing/2014/main" id="{9B479C97-B8C8-47F4-9E37-549618B55B56}"/>
              </a:ext>
            </a:extLst>
          </p:cNvPr>
          <p:cNvPicPr>
            <a:picLocks noGrp="1" noChangeAspect="1"/>
          </p:cNvPicPr>
          <p:nvPr>
            <p:ph sz="half" idx="1"/>
          </p:nvPr>
        </p:nvPicPr>
        <p:blipFill>
          <a:blip r:embed="rId3"/>
          <a:srcRect l="14247" r="12996" b="-1"/>
          <a:stretch>
            <a:fillRect/>
          </a:stretch>
        </p:blipFill>
        <p:spPr>
          <a:xfrm>
            <a:off x="548641" y="2366009"/>
            <a:ext cx="3513264" cy="3223260"/>
          </a:xfrm>
          <a:prstGeom prst="rect">
            <a:avLst/>
          </a:prstGeom>
        </p:spPr>
      </p:pic>
      <p:sp>
        <p:nvSpPr>
          <p:cNvPr id="4" name="Content Placeholder 3">
            <a:extLst>
              <a:ext uri="{FF2B5EF4-FFF2-40B4-BE49-F238E27FC236}">
                <a16:creationId xmlns:a16="http://schemas.microsoft.com/office/drawing/2014/main" id="{EEC9FCF3-460C-EEE5-1F19-5DD5BC52979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1390" y="1268728"/>
            <a:ext cx="4160078" cy="4320542"/>
          </a:xfrm>
        </p:spPr>
        <p:txBody>
          <a:bodyPr>
            <a:normAutofit/>
          </a:bodyPr>
          <a:lstStyle/>
          <a:p>
            <a:pPr marL="0" indent="0">
              <a:spcBef>
                <a:spcPts val="1875"/>
              </a:spcBef>
              <a:buNone/>
            </a:pPr>
            <a:r>
              <a:rPr lang="en-US" sz="1050" b="1"/>
              <a:t>Instant Payments Growth</a:t>
            </a:r>
          </a:p>
          <a:p>
            <a:pPr marL="0" lvl="1" indent="0">
              <a:buNone/>
            </a:pPr>
            <a:r>
              <a:rPr lang="en-US" sz="1050"/>
              <a:t>Instant payments are rapidly growing, enabling real-time fund transfers worldwide.</a:t>
            </a:r>
          </a:p>
          <a:p>
            <a:pPr marL="0" indent="0">
              <a:spcBef>
                <a:spcPts val="1875"/>
              </a:spcBef>
              <a:buNone/>
            </a:pPr>
            <a:r>
              <a:rPr lang="en-US" sz="1050" b="1"/>
              <a:t>Mobile Wallet Adoption</a:t>
            </a:r>
          </a:p>
          <a:p>
            <a:pPr marL="0" lvl="1" indent="0">
              <a:buNone/>
            </a:pPr>
            <a:r>
              <a:rPr lang="en-US" sz="1050"/>
              <a:t>Mobile wallets are widely adopted for convenient and cashless transactions globally.</a:t>
            </a:r>
          </a:p>
          <a:p>
            <a:pPr marL="0" indent="0">
              <a:spcBef>
                <a:spcPts val="1875"/>
              </a:spcBef>
              <a:buNone/>
            </a:pPr>
            <a:r>
              <a:rPr lang="en-US" sz="1050" b="1"/>
              <a:t>Biometric Security Emphasis</a:t>
            </a:r>
          </a:p>
          <a:p>
            <a:pPr marL="0" lvl="1" indent="0">
              <a:buNone/>
            </a:pPr>
            <a:r>
              <a:rPr lang="en-US" sz="1050"/>
              <a:t>Biometric authentication enhances payment security through fingerprint and facial recognition.</a:t>
            </a:r>
          </a:p>
          <a:p>
            <a:pPr marL="0" indent="0">
              <a:spcBef>
                <a:spcPts val="1875"/>
              </a:spcBef>
              <a:buNone/>
            </a:pPr>
            <a:r>
              <a:rPr lang="en-US" sz="1050" b="1"/>
              <a:t>Emerging Technologies Integration</a:t>
            </a:r>
          </a:p>
          <a:p>
            <a:pPr marL="0" lvl="1" indent="0">
              <a:buNone/>
            </a:pPr>
            <a:r>
              <a:rPr lang="en-US" sz="1050"/>
              <a:t>Blockchain and AI technologies are transforming payment systems with improved transparency and intelligence.</a:t>
            </a:r>
          </a:p>
        </p:txBody>
      </p:sp>
    </p:spTree>
    <p:extLst>
      <p:ext uri="{BB962C8B-B14F-4D97-AF65-F5344CB8AC3E}">
        <p14:creationId xmlns:p14="http://schemas.microsoft.com/office/powerpoint/2010/main" val="24049975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037DBB97-8F01-BD03-D8D4-0384F05A62D7}"/>
              </a:ext>
            </a:extLst>
          </p:cNvPr>
          <p:cNvSpPr>
            <a:spLocks noGrp="1"/>
          </p:cNvSpPr>
          <p:nvPr>
            <p:ph type="ctrTitle"/>
          </p:nvPr>
        </p:nvSpPr>
        <p:spPr>
          <a:xfrm>
            <a:off x="207818" y="2217991"/>
            <a:ext cx="5829300" cy="3420690"/>
          </a:xfrm>
        </p:spPr>
        <p:txBody>
          <a:bodyPr anchor="b">
            <a:normAutofit/>
          </a:bodyPr>
          <a:lstStyle/>
          <a:p>
            <a:pPr algn="l"/>
            <a:r>
              <a:rPr lang="en-US" sz="5550"/>
              <a:t>Overview of Payments Hub</a:t>
            </a:r>
          </a:p>
        </p:txBody>
      </p:sp>
    </p:spTree>
    <p:extLst>
      <p:ext uri="{BB962C8B-B14F-4D97-AF65-F5344CB8AC3E}">
        <p14:creationId xmlns:p14="http://schemas.microsoft.com/office/powerpoint/2010/main" val="350392963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7921E62C-17DD-506E-7646-34A4EFE37CA5}"/>
              </a:ext>
            </a:extLst>
          </p:cNvPr>
          <p:cNvSpPr>
            <a:spLocks noGrp="1"/>
          </p:cNvSpPr>
          <p:nvPr>
            <p:ph type="title"/>
          </p:nvPr>
        </p:nvSpPr>
        <p:spPr>
          <a:xfrm>
            <a:off x="459486" y="1307306"/>
            <a:ext cx="4526280" cy="1147449"/>
          </a:xfrm>
        </p:spPr>
        <p:txBody>
          <a:bodyPr vert="horz" lIns="68580" tIns="34290" rIns="68580" bIns="34290" rtlCol="0" anchor="b">
            <a:normAutofit/>
          </a:bodyPr>
          <a:lstStyle/>
          <a:p>
            <a:r>
              <a:rPr lang="en-US" sz="2700" b="1"/>
              <a:t>What is a payments hub?</a:t>
            </a:r>
          </a:p>
        </p:txBody>
      </p:sp>
      <p:sp>
        <p:nvSpPr>
          <p:cNvPr id="4" name="Content Placeholder 3">
            <a:extLst>
              <a:ext uri="{FF2B5EF4-FFF2-40B4-BE49-F238E27FC236}">
                <a16:creationId xmlns:a16="http://schemas.microsoft.com/office/drawing/2014/main" id="{4CDEA4A8-A324-0664-4825-103E075B1D9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4526281" cy="3072384"/>
          </a:xfrm>
        </p:spPr>
        <p:txBody>
          <a:bodyPr>
            <a:normAutofit/>
          </a:bodyPr>
          <a:lstStyle/>
          <a:p>
            <a:pPr marL="0" indent="0">
              <a:spcBef>
                <a:spcPts val="1875"/>
              </a:spcBef>
              <a:buNone/>
            </a:pPr>
            <a:r>
              <a:rPr lang="en-US" sz="1800" b="1"/>
              <a:t>Unified Payment Platform</a:t>
            </a:r>
          </a:p>
          <a:p>
            <a:pPr marL="0" lvl="1" indent="0">
              <a:buNone/>
            </a:pPr>
            <a:r>
              <a:rPr lang="en-US"/>
              <a:t>A payments hub consolidates various payment methods into a single, unified platform for streamlined processing.</a:t>
            </a:r>
          </a:p>
          <a:p>
            <a:pPr marL="0" lvl="0" indent="0" defTabSz="914400">
              <a:spcBef>
                <a:spcPts val="2500"/>
              </a:spcBef>
              <a:buNone/>
            </a:pPr>
            <a:r>
              <a:rPr lang="en-US" sz="1400">
                <a:solidFill>
                  <a:prstClr val="black"/>
                </a:solidFill>
              </a:rPr>
              <a:t>.</a:t>
            </a:r>
          </a:p>
        </p:txBody>
      </p:sp>
      <p:pic>
        <p:nvPicPr>
          <p:cNvPr id="5" name="Content Placeholder 4" descr="Female hands holding a payment terminal">
            <a:extLst>
              <a:ext uri="{FF2B5EF4-FFF2-40B4-BE49-F238E27FC236}">
                <a16:creationId xmlns:a16="http://schemas.microsoft.com/office/drawing/2014/main" id="{C7638ED0-9C24-4C8F-9C83-A164068E335A}"/>
              </a:ext>
            </a:extLst>
          </p:cNvPr>
          <p:cNvPicPr>
            <a:picLocks noGrp="1" noChangeAspect="1"/>
          </p:cNvPicPr>
          <p:nvPr>
            <p:ph sz="half" idx="1"/>
          </p:nvPr>
        </p:nvPicPr>
        <p:blipFill>
          <a:blip r:embed="rId3"/>
          <a:srcRect l="21444" r="31386" b="-1"/>
          <a:stretch>
            <a:fillRect/>
          </a:stretch>
        </p:blipFill>
        <p:spPr>
          <a:xfrm>
            <a:off x="5509260" y="857257"/>
            <a:ext cx="3634740" cy="5143493"/>
          </a:xfrm>
          <a:prstGeom prst="rect">
            <a:avLst/>
          </a:prstGeom>
        </p:spPr>
      </p:pic>
    </p:spTree>
    <p:extLst>
      <p:ext uri="{BB962C8B-B14F-4D97-AF65-F5344CB8AC3E}">
        <p14:creationId xmlns:p14="http://schemas.microsoft.com/office/powerpoint/2010/main" val="27444016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2803F547-BD9E-09CA-F14A-7C7856E55C34}"/>
              </a:ext>
            </a:extLst>
          </p:cNvPr>
          <p:cNvSpPr>
            <a:spLocks noGrp="1"/>
          </p:cNvSpPr>
          <p:nvPr>
            <p:ph type="title"/>
          </p:nvPr>
        </p:nvSpPr>
        <p:spPr>
          <a:xfrm>
            <a:off x="4176399" y="460792"/>
            <a:ext cx="4967586" cy="1145286"/>
          </a:xfrm>
        </p:spPr>
        <p:txBody>
          <a:bodyPr vert="horz" lIns="68580" tIns="34290" rIns="68580" bIns="34290" rtlCol="0" anchor="b">
            <a:normAutofit fontScale="90000"/>
          </a:bodyPr>
          <a:lstStyle/>
          <a:p>
            <a:r>
              <a:rPr lang="en-US" sz="2700" b="1"/>
              <a:t>Preferred Integration Pattern between a Core Banking Platform and Payments Hub – API Integration and Reconciliation</a:t>
            </a:r>
          </a:p>
        </p:txBody>
      </p:sp>
      <p:pic>
        <p:nvPicPr>
          <p:cNvPr id="5" name="Content Placeholder 4" descr="A simple dark background with cubes, blockchain representation">
            <a:extLst>
              <a:ext uri="{FF2B5EF4-FFF2-40B4-BE49-F238E27FC236}">
                <a16:creationId xmlns:a16="http://schemas.microsoft.com/office/drawing/2014/main" id="{0E8AD685-F085-4F2D-A3C3-5242CB31A991}"/>
              </a:ext>
            </a:extLst>
          </p:cNvPr>
          <p:cNvPicPr>
            <a:picLocks noGrp="1" noChangeAspect="1"/>
          </p:cNvPicPr>
          <p:nvPr>
            <p:ph sz="half" idx="1"/>
          </p:nvPr>
        </p:nvPicPr>
        <p:blipFill>
          <a:blip r:embed="rId3"/>
          <a:srcRect l="30319" r="29406"/>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5F380631-3C29-33D5-E983-125A5D82DE6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016783"/>
            <a:ext cx="4437127" cy="3983967"/>
          </a:xfrm>
        </p:spPr>
        <p:txBody>
          <a:bodyPr>
            <a:normAutofit/>
          </a:bodyPr>
          <a:lstStyle/>
          <a:p>
            <a:pPr marL="0" indent="0">
              <a:spcBef>
                <a:spcPts val="1875"/>
              </a:spcBef>
              <a:buNone/>
            </a:pPr>
            <a:r>
              <a:rPr lang="en-US" sz="1400" b="1"/>
              <a:t>Real-Time Integration and Continuous Data Exchange</a:t>
            </a:r>
          </a:p>
          <a:p>
            <a:pPr marL="0" lvl="1" indent="0">
              <a:buNone/>
            </a:pPr>
            <a:r>
              <a:rPr lang="en-US" sz="1400"/>
              <a:t>API-led connectivity supports real-time data exchange crucial for modern banking and payment platforms.</a:t>
            </a:r>
          </a:p>
          <a:p>
            <a:pPr marL="0" indent="0">
              <a:spcBef>
                <a:spcPts val="1875"/>
              </a:spcBef>
              <a:buNone/>
            </a:pPr>
            <a:r>
              <a:rPr lang="en-US" sz="1400" b="1"/>
              <a:t>Scalability in Banking</a:t>
            </a:r>
          </a:p>
          <a:p>
            <a:pPr marL="0" lvl="1" indent="0">
              <a:buNone/>
            </a:pPr>
            <a:r>
              <a:rPr lang="en-US" sz="1400"/>
              <a:t>This connectivity approach enables scalability and modular growth in banking and payment environments.</a:t>
            </a:r>
          </a:p>
          <a:p>
            <a:pPr marL="0" indent="0">
              <a:spcBef>
                <a:spcPts val="2500"/>
              </a:spcBef>
              <a:buNone/>
            </a:pPr>
            <a:r>
              <a:rPr lang="en-US" sz="1400" b="1"/>
              <a:t>Importance of Reconciliation</a:t>
            </a:r>
          </a:p>
          <a:p>
            <a:pPr marL="0" lvl="1" indent="0">
              <a:buNone/>
            </a:pPr>
            <a:r>
              <a:rPr lang="en-US" sz="1400"/>
              <a:t>Seamless data flow ensures payment records in payment hubs match those in core banking systems, enabling accurate reconciliation.</a:t>
            </a:r>
          </a:p>
          <a:p>
            <a:pPr marL="0" lvl="1" indent="0">
              <a:buNone/>
            </a:pPr>
            <a:endParaRPr lang="en-US" sz="1400"/>
          </a:p>
        </p:txBody>
      </p:sp>
    </p:spTree>
    <p:extLst>
      <p:ext uri="{BB962C8B-B14F-4D97-AF65-F5344CB8AC3E}">
        <p14:creationId xmlns:p14="http://schemas.microsoft.com/office/powerpoint/2010/main" val="16541140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5EC91856-7535-B9C2-89C2-43DA09285CD0}"/>
              </a:ext>
            </a:extLst>
          </p:cNvPr>
          <p:cNvSpPr>
            <a:spLocks noGrp="1"/>
          </p:cNvSpPr>
          <p:nvPr>
            <p:ph type="title"/>
          </p:nvPr>
        </p:nvSpPr>
        <p:spPr>
          <a:xfrm>
            <a:off x="4176399" y="542320"/>
            <a:ext cx="4437127" cy="1145286"/>
          </a:xfrm>
        </p:spPr>
        <p:txBody>
          <a:bodyPr vert="horz" lIns="68580" tIns="34290" rIns="68580" bIns="34290" rtlCol="0" anchor="b">
            <a:normAutofit fontScale="90000"/>
          </a:bodyPr>
          <a:lstStyle/>
          <a:p>
            <a:r>
              <a:rPr lang="en-US" sz="2475" b="1"/>
              <a:t>Reconciliation Common Challenges: Data Inconsistency, Timing Differences, System Limitations</a:t>
            </a:r>
          </a:p>
        </p:txBody>
      </p:sp>
      <p:pic>
        <p:nvPicPr>
          <p:cNvPr id="5" name="Content Placeholder 4" descr="Watch on green background. Motherboard elements connection">
            <a:extLst>
              <a:ext uri="{FF2B5EF4-FFF2-40B4-BE49-F238E27FC236}">
                <a16:creationId xmlns:a16="http://schemas.microsoft.com/office/drawing/2014/main" id="{47CC05F0-1E04-4E43-89A9-E209D0839A4F}"/>
              </a:ext>
            </a:extLst>
          </p:cNvPr>
          <p:cNvPicPr>
            <a:picLocks noGrp="1" noChangeAspect="1"/>
          </p:cNvPicPr>
          <p:nvPr>
            <p:ph sz="half" idx="1"/>
          </p:nvPr>
        </p:nvPicPr>
        <p:blipFill>
          <a:blip r:embed="rId3"/>
          <a:srcRect l="24162" r="25719" b="1"/>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06C9FCC7-9307-C1A3-6453-10BDF4A91F7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94809" y="1893345"/>
            <a:ext cx="4437127" cy="3071309"/>
          </a:xfrm>
        </p:spPr>
        <p:txBody>
          <a:bodyPr>
            <a:normAutofit/>
          </a:bodyPr>
          <a:lstStyle/>
          <a:p>
            <a:pPr marL="0" indent="0">
              <a:spcBef>
                <a:spcPts val="1875"/>
              </a:spcBef>
              <a:buNone/>
            </a:pPr>
            <a:r>
              <a:rPr lang="en-US" sz="1400" b="1"/>
              <a:t>Lack of consistent Reconciliation Attributes across the Various Core Product Processors and Payments Hub  </a:t>
            </a:r>
          </a:p>
          <a:p>
            <a:pPr marL="0" indent="0">
              <a:spcBef>
                <a:spcPts val="1875"/>
              </a:spcBef>
              <a:buNone/>
            </a:pPr>
            <a:r>
              <a:rPr lang="en-US" sz="1400" b="1"/>
              <a:t>Data Format Inconsistencies</a:t>
            </a:r>
          </a:p>
          <a:p>
            <a:pPr marL="0" lvl="1" indent="0">
              <a:buNone/>
            </a:pPr>
            <a:r>
              <a:rPr lang="en-US" sz="1400"/>
              <a:t>Different data formats cause discrepancies, complicating data reconciliation and integration processes.</a:t>
            </a:r>
          </a:p>
          <a:p>
            <a:pPr marL="0" indent="0">
              <a:spcBef>
                <a:spcPts val="1875"/>
              </a:spcBef>
              <a:buNone/>
            </a:pPr>
            <a:r>
              <a:rPr lang="en-US" sz="1400" b="1"/>
              <a:t>Timing Differences</a:t>
            </a:r>
          </a:p>
          <a:p>
            <a:pPr marL="0" lvl="1" indent="0">
              <a:buNone/>
            </a:pPr>
            <a:r>
              <a:rPr lang="en-US" sz="1400"/>
              <a:t>Delays in recording transactions lead to timing mismatches, affecting data accuracy and synchronization.</a:t>
            </a:r>
          </a:p>
        </p:txBody>
      </p:sp>
    </p:spTree>
    <p:extLst>
      <p:ext uri="{BB962C8B-B14F-4D97-AF65-F5344CB8AC3E}">
        <p14:creationId xmlns:p14="http://schemas.microsoft.com/office/powerpoint/2010/main" val="33275425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708A0BAA-E708-B610-6CA7-51CE2CC3A563}"/>
              </a:ext>
            </a:extLst>
          </p:cNvPr>
          <p:cNvSpPr>
            <a:spLocks noGrp="1"/>
          </p:cNvSpPr>
          <p:nvPr>
            <p:ph type="title"/>
          </p:nvPr>
        </p:nvSpPr>
        <p:spPr>
          <a:xfrm>
            <a:off x="3860715" y="857250"/>
            <a:ext cx="4437127" cy="1145286"/>
          </a:xfrm>
        </p:spPr>
        <p:txBody>
          <a:bodyPr vert="horz" lIns="68580" tIns="34290" rIns="68580" bIns="34290" rtlCol="0" anchor="b">
            <a:normAutofit/>
          </a:bodyPr>
          <a:lstStyle/>
          <a:p>
            <a:r>
              <a:rPr lang="en-US" sz="2475" b="1"/>
              <a:t>Automated Reconciliation and Adoption of Artificial Intelligence</a:t>
            </a:r>
          </a:p>
        </p:txBody>
      </p:sp>
      <p:pic>
        <p:nvPicPr>
          <p:cNvPr id="5" name="Content Placeholder 4" descr="Angle view of circuit shaped like a brain">
            <a:extLst>
              <a:ext uri="{FF2B5EF4-FFF2-40B4-BE49-F238E27FC236}">
                <a16:creationId xmlns:a16="http://schemas.microsoft.com/office/drawing/2014/main" id="{813E3FBA-DB7C-474B-A730-77576917C077}"/>
              </a:ext>
            </a:extLst>
          </p:cNvPr>
          <p:cNvPicPr>
            <a:picLocks noGrp="1" noChangeAspect="1"/>
          </p:cNvPicPr>
          <p:nvPr>
            <p:ph sz="half" idx="1"/>
          </p:nvPr>
        </p:nvPicPr>
        <p:blipFill>
          <a:blip r:embed="rId3"/>
          <a:srcRect l="25769" r="24291" b="2"/>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15586700-810F-495B-265B-A3CCA0A29DB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2500"/>
              </a:spcBef>
              <a:buNone/>
            </a:pPr>
            <a:r>
              <a:rPr lang="en-US" sz="1400" b="1"/>
              <a:t>Automated Reconciliation Tools</a:t>
            </a:r>
          </a:p>
          <a:p>
            <a:pPr marL="0" lvl="1" indent="0">
              <a:buNone/>
            </a:pPr>
            <a:r>
              <a:rPr lang="en-US" sz="1400"/>
              <a:t>Using automated tools reduces manual effort and speeds up reconciliation processes effectively.</a:t>
            </a:r>
            <a:endParaRPr lang="en-US" sz="1050" b="1"/>
          </a:p>
          <a:p>
            <a:pPr marL="0" indent="0">
              <a:spcBef>
                <a:spcPts val="1875"/>
              </a:spcBef>
              <a:buNone/>
            </a:pPr>
            <a:r>
              <a:rPr lang="en-US" sz="1400" b="1"/>
              <a:t>Enhanced Anomaly Detection</a:t>
            </a:r>
          </a:p>
          <a:p>
            <a:pPr marL="0" lvl="1" indent="0">
              <a:buNone/>
            </a:pPr>
            <a:r>
              <a:rPr lang="en-US" sz="1400"/>
              <a:t>AI systems improve the identification of anomalies, enabling quicker detection of unusual patterns and errors.</a:t>
            </a:r>
          </a:p>
          <a:p>
            <a:pPr marL="0" indent="0">
              <a:spcBef>
                <a:spcPts val="1875"/>
              </a:spcBef>
              <a:buNone/>
            </a:pPr>
            <a:r>
              <a:rPr lang="en-US" sz="1400" b="1"/>
              <a:t>Smarter Exception Management</a:t>
            </a:r>
          </a:p>
          <a:p>
            <a:pPr marL="0" lvl="1" indent="0">
              <a:buNone/>
            </a:pPr>
            <a:r>
              <a:rPr lang="en-US" sz="1400"/>
              <a:t>AI-driven systems automate managing exceptions, enhancing accuracy and speeding up reconciliation processes.</a:t>
            </a:r>
          </a:p>
        </p:txBody>
      </p:sp>
    </p:spTree>
    <p:extLst>
      <p:ext uri="{BB962C8B-B14F-4D97-AF65-F5344CB8AC3E}">
        <p14:creationId xmlns:p14="http://schemas.microsoft.com/office/powerpoint/2010/main" val="3002601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561C0-DC1E-38CC-8FF9-26162FCB1C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4B2F37-D5DF-A1A7-27B8-1FA1CA742877}"/>
              </a:ext>
            </a:extLst>
          </p:cNvPr>
          <p:cNvSpPr>
            <a:spLocks noGrp="1"/>
          </p:cNvSpPr>
          <p:nvPr>
            <p:ph type="title"/>
          </p:nvPr>
        </p:nvSpPr>
        <p:spPr>
          <a:xfrm>
            <a:off x="182400" y="-113034"/>
            <a:ext cx="8835527" cy="772045"/>
          </a:xfrm>
        </p:spPr>
        <p:txBody>
          <a:bodyPr anchor="b">
            <a:normAutofit/>
          </a:bodyPr>
          <a:lstStyle/>
          <a:p>
            <a:r>
              <a:rPr lang="en-US" sz="3500"/>
              <a:t>Payment Schemes - Design Considerations</a:t>
            </a:r>
            <a:endParaRPr lang="en-US" sz="3500">
              <a:solidFill>
                <a:srgbClr val="FFFFFF"/>
              </a:solidFill>
            </a:endParaRPr>
          </a:p>
        </p:txBody>
      </p:sp>
      <p:sp>
        <p:nvSpPr>
          <p:cNvPr id="3" name="Rectangle 2">
            <a:extLst>
              <a:ext uri="{FF2B5EF4-FFF2-40B4-BE49-F238E27FC236}">
                <a16:creationId xmlns:a16="http://schemas.microsoft.com/office/drawing/2014/main" id="{35DD1143-7752-53A7-8C81-C31050A8E5AA}"/>
              </a:ext>
            </a:extLst>
          </p:cNvPr>
          <p:cNvSpPr/>
          <p:nvPr/>
        </p:nvSpPr>
        <p:spPr>
          <a:xfrm>
            <a:off x="392834" y="1192411"/>
            <a:ext cx="8414657" cy="5232202"/>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342900" indent="-34290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Core Banking Platform Integration with a Payments Hub</a:t>
            </a:r>
          </a:p>
          <a:p>
            <a:pPr marL="800100" lvl="1" indent="-342900">
              <a:buFont typeface="Arial" panose="020B0604020202020204" pitchFamily="34" charset="0"/>
              <a:buChar char="•"/>
            </a:pPr>
            <a:r>
              <a:rPr lang="en-US" sz="2000">
                <a:solidFill>
                  <a:prstClr val="black"/>
                </a:solidFill>
                <a:latin typeface="Segoe UI" pitchFamily="34" charset="0"/>
                <a:cs typeface="Segoe UI" pitchFamily="34" charset="-120"/>
              </a:rPr>
              <a:t>Payment Transaction API’s and Events</a:t>
            </a:r>
          </a:p>
          <a:p>
            <a:pPr marL="800100" lvl="1" indent="-34290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Attributes for Transact</a:t>
            </a:r>
            <a:r>
              <a:rPr lang="en-US" sz="2000">
                <a:solidFill>
                  <a:prstClr val="black"/>
                </a:solidFill>
                <a:latin typeface="Segoe UI" pitchFamily="34" charset="0"/>
                <a:cs typeface="Segoe UI" pitchFamily="34" charset="-120"/>
              </a:rPr>
              <a:t>ion Reconciliation (e.g.. Transaction Reference, Date …)</a:t>
            </a:r>
          </a:p>
          <a:p>
            <a:pPr marL="800100" lvl="1" indent="-34290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Automated and AI Driven Reconciliation Process and Reporting </a:t>
            </a:r>
          </a:p>
          <a:p>
            <a:pPr marL="800100" lvl="1" indent="-34290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Exception Handling Process for any Reconciliation Issues </a:t>
            </a:r>
          </a:p>
          <a:p>
            <a:pPr marL="800100" lvl="1" indent="-34290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Cut off time Synchronization</a:t>
            </a:r>
          </a:p>
          <a:p>
            <a:pPr marL="800100" lvl="1" indent="-34290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Automated and Exhaustive Integration Test Scenarios / Test Cases to validate a new release deployment of either the Payments Hub or the Core Banking Platform  </a:t>
            </a:r>
          </a:p>
          <a:p>
            <a:pPr marL="800100" lvl="1" indent="-342900">
              <a:buFont typeface="Arial" panose="020B0604020202020204" pitchFamily="34" charset="0"/>
              <a:buChar char="•"/>
            </a:pPr>
            <a:endParaRPr lang="en-US" sz="2000">
              <a:solidFill>
                <a:prstClr val="black"/>
              </a:solidFill>
              <a:latin typeface="Segoe UI" pitchFamily="34" charset="0"/>
              <a:ea typeface="Segoe UI" pitchFamily="34" charset="-122"/>
              <a:cs typeface="Segoe UI" pitchFamily="34" charset="-120"/>
            </a:endParaRPr>
          </a:p>
          <a:p>
            <a:pPr marL="342900" indent="-34290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For Your Lab Work – Good News </a:t>
            </a:r>
            <a:r>
              <a:rPr lang="en-US" sz="2000">
                <a:solidFill>
                  <a:prstClr val="black"/>
                </a:solidFill>
                <a:latin typeface="Segoe UI" pitchFamily="34" charset="0"/>
                <a:ea typeface="Segoe UI" pitchFamily="34" charset="-122"/>
                <a:cs typeface="Segoe UI" pitchFamily="34" charset="-120"/>
                <a:sym typeface="Wingdings" panose="05000000000000000000" pitchFamily="2" charset="2"/>
              </a:rPr>
              <a:t> - You do not have to do anything </a:t>
            </a:r>
            <a:endParaRPr lang="en-US" sz="2000">
              <a:solidFill>
                <a:prstClr val="black"/>
              </a:solidFill>
              <a:latin typeface="Segoe UI" pitchFamily="34" charset="0"/>
              <a:ea typeface="Segoe UI" pitchFamily="34" charset="-122"/>
              <a:cs typeface="Segoe UI" pitchFamily="34" charset="-120"/>
            </a:endParaRP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a:solidFill>
                <a:prstClr val="black"/>
              </a:solidFill>
              <a:latin typeface="Segoe UI" pitchFamily="34" charset="0"/>
              <a:cs typeface="Segoe UI" pitchFamily="34" charset="-120"/>
            </a:endParaRP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388240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C8D6C31E-232A-8F21-E3AB-D0AB2D6DC27F}"/>
              </a:ext>
            </a:extLst>
          </p:cNvPr>
          <p:cNvSpPr>
            <a:spLocks noGrp="1"/>
          </p:cNvSpPr>
          <p:nvPr>
            <p:ph type="ctrTitle"/>
          </p:nvPr>
        </p:nvSpPr>
        <p:spPr>
          <a:xfrm>
            <a:off x="207818" y="2217991"/>
            <a:ext cx="5829300" cy="3420690"/>
          </a:xfrm>
        </p:spPr>
        <p:txBody>
          <a:bodyPr anchor="b">
            <a:normAutofit/>
          </a:bodyPr>
          <a:lstStyle/>
          <a:p>
            <a:pPr algn="l"/>
            <a:r>
              <a:rPr lang="en-US" sz="5550"/>
              <a:t>Overview of Country-Specific Taxation in Banking</a:t>
            </a:r>
          </a:p>
        </p:txBody>
      </p:sp>
    </p:spTree>
    <p:extLst>
      <p:ext uri="{BB962C8B-B14F-4D97-AF65-F5344CB8AC3E}">
        <p14:creationId xmlns:p14="http://schemas.microsoft.com/office/powerpoint/2010/main" val="3072194152"/>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EAC677BE-9AA2-1995-CB39-304B80E54F73}"/>
              </a:ext>
            </a:extLst>
          </p:cNvPr>
          <p:cNvSpPr>
            <a:spLocks noGrp="1"/>
          </p:cNvSpPr>
          <p:nvPr>
            <p:ph type="title"/>
          </p:nvPr>
        </p:nvSpPr>
        <p:spPr>
          <a:xfrm>
            <a:off x="459487" y="3866356"/>
            <a:ext cx="3586202" cy="1749599"/>
          </a:xfrm>
        </p:spPr>
        <p:txBody>
          <a:bodyPr vert="horz" lIns="68580" tIns="34290" rIns="68580" bIns="34290" rtlCol="0" anchor="t">
            <a:normAutofit/>
          </a:bodyPr>
          <a:lstStyle/>
          <a:p>
            <a:r>
              <a:rPr lang="en-US" sz="2700" b="1"/>
              <a:t>Types of taxes impacting banking operations</a:t>
            </a:r>
          </a:p>
        </p:txBody>
      </p:sp>
      <p:pic>
        <p:nvPicPr>
          <p:cNvPr id="5" name="Content Placeholder 4" descr="numerals and finance">
            <a:extLst>
              <a:ext uri="{FF2B5EF4-FFF2-40B4-BE49-F238E27FC236}">
                <a16:creationId xmlns:a16="http://schemas.microsoft.com/office/drawing/2014/main" id="{3F89FB57-3C73-4B37-9195-8A2625A1EEF6}"/>
              </a:ext>
            </a:extLst>
          </p:cNvPr>
          <p:cNvPicPr>
            <a:picLocks noGrp="1" noChangeAspect="1"/>
          </p:cNvPicPr>
          <p:nvPr>
            <p:ph sz="half" idx="1"/>
          </p:nvPr>
        </p:nvPicPr>
        <p:blipFill>
          <a:blip r:embed="rId3"/>
          <a:srcRect t="1295" r="3" b="3"/>
          <a:stretch>
            <a:fillRect/>
          </a:stretch>
        </p:blipFill>
        <p:spPr>
          <a:xfrm>
            <a:off x="535212" y="1368238"/>
            <a:ext cx="3510478" cy="2312894"/>
          </a:xfrm>
          <a:prstGeom prst="rect">
            <a:avLst/>
          </a:prstGeom>
        </p:spPr>
      </p:pic>
      <p:sp>
        <p:nvSpPr>
          <p:cNvPr id="4" name="Content Placeholder 3">
            <a:extLst>
              <a:ext uri="{FF2B5EF4-FFF2-40B4-BE49-F238E27FC236}">
                <a16:creationId xmlns:a16="http://schemas.microsoft.com/office/drawing/2014/main" id="{8312BF47-767D-5326-5CC7-FBCE48A6F78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22912" y="1268730"/>
            <a:ext cx="4161602" cy="4347226"/>
          </a:xfrm>
        </p:spPr>
        <p:txBody>
          <a:bodyPr>
            <a:normAutofit/>
          </a:bodyPr>
          <a:lstStyle/>
          <a:p>
            <a:pPr marL="0" indent="0">
              <a:spcBef>
                <a:spcPts val="1875"/>
              </a:spcBef>
              <a:buNone/>
            </a:pPr>
            <a:r>
              <a:rPr lang="en-US" sz="1400" b="1"/>
              <a:t>Withholding Tax</a:t>
            </a:r>
          </a:p>
          <a:p>
            <a:pPr marL="0" lvl="1" indent="0">
              <a:buNone/>
            </a:pPr>
            <a:r>
              <a:rPr lang="en-US" sz="1400"/>
              <a:t>Withholding tax impacts customer transactions by deducting taxes at source on interest payments made by banks.</a:t>
            </a:r>
          </a:p>
          <a:p>
            <a:pPr marL="0" indent="0">
              <a:spcBef>
                <a:spcPts val="1875"/>
              </a:spcBef>
              <a:buNone/>
            </a:pPr>
            <a:r>
              <a:rPr lang="en-US" sz="1400" b="1"/>
              <a:t>Value-Added Tax on Services</a:t>
            </a:r>
          </a:p>
          <a:p>
            <a:pPr marL="0" lvl="1" indent="0">
              <a:buNone/>
            </a:pPr>
            <a:r>
              <a:rPr lang="en-US" sz="1400"/>
              <a:t>Value-added tax applies to banking services e.g.. Tax on Locker Service Fee influencing service pricing </a:t>
            </a:r>
          </a:p>
          <a:p>
            <a:pPr marL="0" lvl="1" indent="0">
              <a:buNone/>
            </a:pPr>
            <a:endParaRPr lang="en-US" sz="1400" b="1"/>
          </a:p>
          <a:p>
            <a:pPr marL="0" lvl="1" indent="0">
              <a:buNone/>
            </a:pPr>
            <a:r>
              <a:rPr lang="en-US" sz="1400" b="1"/>
              <a:t>Taxes on Transaction Fees </a:t>
            </a:r>
          </a:p>
          <a:p>
            <a:pPr marL="0" lvl="1" indent="0">
              <a:buNone/>
            </a:pPr>
            <a:r>
              <a:rPr lang="en-US" sz="1400"/>
              <a:t>Taxes on Transaction Fees could impact every financial transaction initiated by the customer, affecting overall banking costs and customer charges.</a:t>
            </a:r>
          </a:p>
        </p:txBody>
      </p:sp>
    </p:spTree>
    <p:extLst>
      <p:ext uri="{BB962C8B-B14F-4D97-AF65-F5344CB8AC3E}">
        <p14:creationId xmlns:p14="http://schemas.microsoft.com/office/powerpoint/2010/main" val="26666408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E2148EFA-A6FB-F57C-334E-7BD40DED083B}"/>
              </a:ext>
            </a:extLst>
          </p:cNvPr>
          <p:cNvSpPr>
            <a:spLocks noGrp="1"/>
          </p:cNvSpPr>
          <p:nvPr>
            <p:ph type="title"/>
          </p:nvPr>
        </p:nvSpPr>
        <p:spPr>
          <a:xfrm>
            <a:off x="459486" y="1309878"/>
            <a:ext cx="3271265" cy="1145286"/>
          </a:xfrm>
        </p:spPr>
        <p:txBody>
          <a:bodyPr vert="horz" lIns="68580" tIns="34290" rIns="68580" bIns="34290" rtlCol="0" anchor="b">
            <a:normAutofit/>
          </a:bodyPr>
          <a:lstStyle/>
          <a:p>
            <a:r>
              <a:rPr lang="en-US" sz="2475" b="1"/>
              <a:t>Variation in taxation laws across countries</a:t>
            </a:r>
          </a:p>
        </p:txBody>
      </p:sp>
      <p:sp>
        <p:nvSpPr>
          <p:cNvPr id="4" name="Content Placeholder 3">
            <a:extLst>
              <a:ext uri="{FF2B5EF4-FFF2-40B4-BE49-F238E27FC236}">
                <a16:creationId xmlns:a16="http://schemas.microsoft.com/office/drawing/2014/main" id="{1258FEC8-1205-8C20-3E63-D7D4A80A407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2516886"/>
            <a:ext cx="3271265" cy="3072384"/>
          </a:xfrm>
        </p:spPr>
        <p:txBody>
          <a:bodyPr>
            <a:normAutofit fontScale="92500" lnSpcReduction="10000"/>
          </a:bodyPr>
          <a:lstStyle/>
          <a:p>
            <a:pPr marL="0" indent="0">
              <a:spcBef>
                <a:spcPts val="1875"/>
              </a:spcBef>
              <a:buNone/>
            </a:pPr>
            <a:r>
              <a:rPr lang="en-US" sz="1400" b="1"/>
              <a:t>Global Tax Law Differences</a:t>
            </a:r>
          </a:p>
          <a:p>
            <a:pPr marL="0" lvl="1" indent="0">
              <a:buNone/>
            </a:pPr>
            <a:r>
              <a:rPr lang="en-US" sz="1400"/>
              <a:t>Tax laws vary widely across countries, including rules on taxability, exemptions, and reporting requirements.</a:t>
            </a:r>
          </a:p>
          <a:p>
            <a:pPr marL="0" indent="0">
              <a:spcBef>
                <a:spcPts val="1875"/>
              </a:spcBef>
              <a:buNone/>
            </a:pPr>
            <a:r>
              <a:rPr lang="en-US" sz="1400" b="1"/>
              <a:t>Country specific Tax Compliance Standards</a:t>
            </a:r>
          </a:p>
          <a:p>
            <a:pPr marL="0" lvl="1" indent="0">
              <a:buNone/>
            </a:pPr>
            <a:r>
              <a:rPr lang="en-US" sz="1400"/>
              <a:t>Regulatory bodies enforce strict tax compliance standards to ensure accurate and lawful reporting by banks</a:t>
            </a:r>
          </a:p>
          <a:p>
            <a:pPr marL="0" lvl="1" indent="0">
              <a:buNone/>
            </a:pPr>
            <a:endParaRPr lang="en-US" sz="1400"/>
          </a:p>
          <a:p>
            <a:pPr marL="0" indent="0">
              <a:spcBef>
                <a:spcPts val="1875"/>
              </a:spcBef>
              <a:buNone/>
            </a:pPr>
            <a:r>
              <a:rPr lang="en-US" sz="1400" b="1"/>
              <a:t>Deadline Management</a:t>
            </a:r>
          </a:p>
          <a:p>
            <a:pPr marL="0" lvl="1" indent="0">
              <a:buNone/>
            </a:pPr>
            <a:r>
              <a:rPr lang="en-US" sz="1400"/>
              <a:t>Banks often face tight deadlines to submit tax reports, requiring efficient and timely compliance processes.</a:t>
            </a:r>
          </a:p>
          <a:p>
            <a:pPr marL="0" lvl="1" indent="0">
              <a:buNone/>
            </a:pPr>
            <a:endParaRPr lang="en-US" sz="1050"/>
          </a:p>
        </p:txBody>
      </p:sp>
      <p:pic>
        <p:nvPicPr>
          <p:cNvPr id="5" name="Content Placeholder 4" descr="Paying tax concept">
            <a:extLst>
              <a:ext uri="{FF2B5EF4-FFF2-40B4-BE49-F238E27FC236}">
                <a16:creationId xmlns:a16="http://schemas.microsoft.com/office/drawing/2014/main" id="{F95747FB-F3C3-463F-A33D-F7E0CE788059}"/>
              </a:ext>
            </a:extLst>
          </p:cNvPr>
          <p:cNvPicPr>
            <a:picLocks noGrp="1" noChangeAspect="1"/>
          </p:cNvPicPr>
          <p:nvPr>
            <p:ph sz="half" idx="1"/>
          </p:nvPr>
        </p:nvPicPr>
        <p:blipFill>
          <a:blip r:embed="rId3"/>
          <a:srcRect l="14318" r="23648" b="-2"/>
          <a:stretch>
            <a:fillRect/>
          </a:stretch>
        </p:blipFill>
        <p:spPr>
          <a:xfrm>
            <a:off x="4363974" y="857250"/>
            <a:ext cx="4780026" cy="5143501"/>
          </a:xfrm>
          <a:prstGeom prst="rect">
            <a:avLst/>
          </a:prstGeom>
        </p:spPr>
      </p:pic>
    </p:spTree>
    <p:extLst>
      <p:ext uri="{BB962C8B-B14F-4D97-AF65-F5344CB8AC3E}">
        <p14:creationId xmlns:p14="http://schemas.microsoft.com/office/powerpoint/2010/main" val="26569982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A366E1B2-78C0-4124-4BAB-77C8725BD1A1}"/>
              </a:ext>
            </a:extLst>
          </p:cNvPr>
          <p:cNvSpPr>
            <a:spLocks noGrp="1"/>
          </p:cNvSpPr>
          <p:nvPr>
            <p:ph type="ctrTitle"/>
          </p:nvPr>
        </p:nvSpPr>
        <p:spPr>
          <a:xfrm>
            <a:off x="207818" y="2217991"/>
            <a:ext cx="5829300" cy="3420690"/>
          </a:xfrm>
        </p:spPr>
        <p:txBody>
          <a:bodyPr anchor="b">
            <a:normAutofit/>
          </a:bodyPr>
          <a:lstStyle/>
          <a:p>
            <a:pPr algn="l"/>
            <a:r>
              <a:rPr lang="en-US" sz="5550"/>
              <a:t>Integrating Country Taxation Rules into Core Banking Platforms</a:t>
            </a:r>
          </a:p>
        </p:txBody>
      </p:sp>
    </p:spTree>
    <p:extLst>
      <p:ext uri="{BB962C8B-B14F-4D97-AF65-F5344CB8AC3E}">
        <p14:creationId xmlns:p14="http://schemas.microsoft.com/office/powerpoint/2010/main" val="258215705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Neue Haas Grotesk Text Pro"/>
            </a:endParaRPr>
          </a:p>
        </p:txBody>
      </p:sp>
      <p:sp>
        <p:nvSpPr>
          <p:cNvPr id="2" name="Title 1">
            <a:extLst>
              <a:ext uri="{FF2B5EF4-FFF2-40B4-BE49-F238E27FC236}">
                <a16:creationId xmlns:a16="http://schemas.microsoft.com/office/drawing/2014/main" id="{156D4E9F-EC13-42AA-772C-A7D7B24DCD5F}"/>
              </a:ext>
            </a:extLst>
          </p:cNvPr>
          <p:cNvSpPr>
            <a:spLocks noGrp="1"/>
          </p:cNvSpPr>
          <p:nvPr>
            <p:ph type="title"/>
          </p:nvPr>
        </p:nvSpPr>
        <p:spPr>
          <a:xfrm>
            <a:off x="461009" y="1268729"/>
            <a:ext cx="2983230" cy="4289730"/>
          </a:xfrm>
        </p:spPr>
        <p:txBody>
          <a:bodyPr anchor="t">
            <a:normAutofit/>
          </a:bodyPr>
          <a:lstStyle/>
          <a:p>
            <a:r>
              <a:rPr lang="en-US"/>
              <a:t>Designing flexible tax engines or Integrating with country specific tax engines</a:t>
            </a:r>
          </a:p>
        </p:txBody>
      </p:sp>
      <p:graphicFrame>
        <p:nvGraphicFramePr>
          <p:cNvPr id="4" name="Content Placeholder 4">
            <a:extLst>
              <a:ext uri="{FF2B5EF4-FFF2-40B4-BE49-F238E27FC236}">
                <a16:creationId xmlns:a16="http://schemas.microsoft.com/office/drawing/2014/main" id="{61869AEC-E1B7-4506-8A7E-818E5E03DA06}"/>
              </a:ext>
            </a:extLst>
          </p:cNvPr>
          <p:cNvGraphicFramePr>
            <a:graphicFrameLocks noGrp="1"/>
          </p:cNvGraphicFramePr>
          <p:nvPr>
            <p:ph idx="1"/>
            <p:extLst>
              <p:ext uri="{D42A27DB-BD31-4B8C-83A1-F6EECF244321}">
                <p14:modId xmlns:p14="http://schemas.microsoft.com/office/powerpoint/2010/main" val="1346415099"/>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040657" y="1268729"/>
          <a:ext cx="4642335" cy="43959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0382136"/>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6A7E01F3-BECD-7226-23FA-D712617FC33A}"/>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475" b="1"/>
              <a:t>Configuration and maintenance of tax parameters</a:t>
            </a:r>
          </a:p>
        </p:txBody>
      </p:sp>
      <p:pic>
        <p:nvPicPr>
          <p:cNvPr id="5" name="Content Placeholder 4" descr="Shoulder view of an unrecognisable woman holding a digital pen and using it for tablet in front of her. Whole touch screen is visible.">
            <a:extLst>
              <a:ext uri="{FF2B5EF4-FFF2-40B4-BE49-F238E27FC236}">
                <a16:creationId xmlns:a16="http://schemas.microsoft.com/office/drawing/2014/main" id="{F9C7FC5E-F029-42EA-9D86-54AE280F4CCD}"/>
              </a:ext>
            </a:extLst>
          </p:cNvPr>
          <p:cNvPicPr>
            <a:picLocks noGrp="1" noChangeAspect="1"/>
          </p:cNvPicPr>
          <p:nvPr>
            <p:ph sz="half" idx="1"/>
          </p:nvPr>
        </p:nvPicPr>
        <p:blipFill>
          <a:blip r:embed="rId3"/>
          <a:srcRect l="29141" r="22707" b="-2"/>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D94076DF-BBBE-232C-9BE4-9BB395FD176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Efficient Tax Parameter Updates</a:t>
            </a:r>
          </a:p>
          <a:p>
            <a:pPr marL="0" lvl="1" indent="0">
              <a:buNone/>
            </a:pPr>
            <a:r>
              <a:rPr lang="en-US" sz="1050"/>
              <a:t>Banks require tools to quickly update tax parameters to stay compliant and reduce operational delays.</a:t>
            </a:r>
          </a:p>
          <a:p>
            <a:pPr marL="0" indent="0">
              <a:spcBef>
                <a:spcPts val="1875"/>
              </a:spcBef>
              <a:buNone/>
            </a:pPr>
            <a:r>
              <a:rPr lang="en-US" sz="1050" b="1"/>
              <a:t>Managing Tax Exemptions</a:t>
            </a:r>
          </a:p>
          <a:p>
            <a:pPr marL="0" lvl="1" indent="0">
              <a:buNone/>
            </a:pPr>
            <a:r>
              <a:rPr lang="en-US" sz="1050"/>
              <a:t>Effective management of exemptions ensures accurate tax calculations and compliance with regulations.</a:t>
            </a:r>
          </a:p>
        </p:txBody>
      </p:sp>
    </p:spTree>
    <p:extLst>
      <p:ext uri="{BB962C8B-B14F-4D97-AF65-F5344CB8AC3E}">
        <p14:creationId xmlns:p14="http://schemas.microsoft.com/office/powerpoint/2010/main" val="3667465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E95BAA86-7646-7923-EADF-FE22027839C4}"/>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Automation of tax calculation and reporting</a:t>
            </a:r>
          </a:p>
        </p:txBody>
      </p:sp>
      <p:pic>
        <p:nvPicPr>
          <p:cNvPr id="5" name="Content Placeholder 4" descr="Credit score report">
            <a:extLst>
              <a:ext uri="{FF2B5EF4-FFF2-40B4-BE49-F238E27FC236}">
                <a16:creationId xmlns:a16="http://schemas.microsoft.com/office/drawing/2014/main" id="{EEBA476F-88B4-4980-A7AC-656E1068A083}"/>
              </a:ext>
            </a:extLst>
          </p:cNvPr>
          <p:cNvPicPr>
            <a:picLocks noGrp="1" noChangeAspect="1"/>
          </p:cNvPicPr>
          <p:nvPr>
            <p:ph sz="half" idx="1"/>
          </p:nvPr>
        </p:nvPicPr>
        <p:blipFill>
          <a:blip r:embed="rId3"/>
          <a:srcRect l="21452" r="24848"/>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F9DB4DF8-8D75-2F4E-614F-650B31BDC91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Error Reduction</a:t>
            </a:r>
          </a:p>
          <a:p>
            <a:pPr marL="0" lvl="1" indent="0">
              <a:buNone/>
            </a:pPr>
            <a:r>
              <a:rPr lang="en-US" sz="1050"/>
              <a:t>Automation minimizes calculation errors, ensuring accuracy in tax returns and financial data.</a:t>
            </a:r>
          </a:p>
          <a:p>
            <a:pPr marL="0" indent="0">
              <a:spcBef>
                <a:spcPts val="1875"/>
              </a:spcBef>
              <a:buNone/>
            </a:pPr>
            <a:r>
              <a:rPr lang="en-US" sz="1050" b="1"/>
              <a:t>Timely Reporting</a:t>
            </a:r>
          </a:p>
          <a:p>
            <a:pPr marL="0" lvl="1" indent="0">
              <a:buNone/>
            </a:pPr>
            <a:r>
              <a:rPr lang="en-US" sz="1050"/>
              <a:t>Automated processes ensure tax reports are generated and submitted on schedule, avoiding penalties.</a:t>
            </a:r>
          </a:p>
          <a:p>
            <a:pPr marL="0" indent="0">
              <a:spcBef>
                <a:spcPts val="1875"/>
              </a:spcBef>
              <a:buNone/>
            </a:pPr>
            <a:r>
              <a:rPr lang="en-US" sz="1050" b="1"/>
              <a:t>Integration with Authorities</a:t>
            </a:r>
          </a:p>
          <a:p>
            <a:pPr marL="0" lvl="1" indent="0">
              <a:buNone/>
            </a:pPr>
            <a:r>
              <a:rPr lang="en-US" sz="1050"/>
              <a:t>Seamless integration with tax authorities' systems streamlines compliance and audit readiness.</a:t>
            </a:r>
          </a:p>
        </p:txBody>
      </p:sp>
    </p:spTree>
    <p:extLst>
      <p:ext uri="{BB962C8B-B14F-4D97-AF65-F5344CB8AC3E}">
        <p14:creationId xmlns:p14="http://schemas.microsoft.com/office/powerpoint/2010/main" val="3406787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AC76A909-4BEF-9A98-0A09-1DD399D9EDFD}"/>
              </a:ext>
            </a:extLst>
          </p:cNvPr>
          <p:cNvSpPr>
            <a:spLocks noGrp="1"/>
          </p:cNvSpPr>
          <p:nvPr>
            <p:ph type="title"/>
          </p:nvPr>
        </p:nvSpPr>
        <p:spPr>
          <a:xfrm>
            <a:off x="4176401" y="1309878"/>
            <a:ext cx="4437127" cy="1145286"/>
          </a:xfrm>
        </p:spPr>
        <p:txBody>
          <a:bodyPr vert="horz" lIns="68580" tIns="34290" rIns="68580" bIns="34290" rtlCol="0" anchor="b">
            <a:normAutofit/>
          </a:bodyPr>
          <a:lstStyle/>
          <a:p>
            <a:r>
              <a:rPr lang="en-US" sz="2700" b="1"/>
              <a:t>Handling frequent tax law changes</a:t>
            </a:r>
          </a:p>
        </p:txBody>
      </p:sp>
      <p:pic>
        <p:nvPicPr>
          <p:cNvPr id="5" name="Content Placeholder 4" descr="Cloud computing concept isolated on white background">
            <a:extLst>
              <a:ext uri="{FF2B5EF4-FFF2-40B4-BE49-F238E27FC236}">
                <a16:creationId xmlns:a16="http://schemas.microsoft.com/office/drawing/2014/main" id="{90AC0B66-BF28-461F-AF1B-43E89805E40E}"/>
              </a:ext>
            </a:extLst>
          </p:cNvPr>
          <p:cNvPicPr>
            <a:picLocks noGrp="1" noChangeAspect="1"/>
          </p:cNvPicPr>
          <p:nvPr>
            <p:ph sz="half" idx="1"/>
          </p:nvPr>
        </p:nvPicPr>
        <p:blipFill>
          <a:blip r:embed="rId3"/>
          <a:srcRect l="22115" r="24186"/>
          <a:stretch>
            <a:fillRect/>
          </a:stretch>
        </p:blipFill>
        <p:spPr>
          <a:xfrm>
            <a:off x="15" y="857257"/>
            <a:ext cx="3682731" cy="5143493"/>
          </a:xfrm>
          <a:prstGeom prst="rect">
            <a:avLst/>
          </a:prstGeom>
        </p:spPr>
      </p:pic>
      <p:sp>
        <p:nvSpPr>
          <p:cNvPr id="4" name="Content Placeholder 3">
            <a:extLst>
              <a:ext uri="{FF2B5EF4-FFF2-40B4-BE49-F238E27FC236}">
                <a16:creationId xmlns:a16="http://schemas.microsoft.com/office/drawing/2014/main" id="{0B1EF9A3-F7F4-AC43-5A34-9988DBCED7E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6400" y="2517961"/>
            <a:ext cx="4437127" cy="3071309"/>
          </a:xfrm>
        </p:spPr>
        <p:txBody>
          <a:bodyPr>
            <a:normAutofit/>
          </a:bodyPr>
          <a:lstStyle/>
          <a:p>
            <a:pPr marL="0" indent="0">
              <a:spcBef>
                <a:spcPts val="1875"/>
              </a:spcBef>
              <a:buNone/>
            </a:pPr>
            <a:r>
              <a:rPr lang="en-US" sz="1050" b="1"/>
              <a:t>Modular Tax Engines</a:t>
            </a:r>
          </a:p>
          <a:p>
            <a:pPr marL="0" lvl="1" indent="0">
              <a:buNone/>
            </a:pPr>
            <a:r>
              <a:rPr lang="en-US" sz="1050"/>
              <a:t>Modular tax engines allow quick adaptation to frequent tax law changes by separating components for easy updates.</a:t>
            </a:r>
          </a:p>
          <a:p>
            <a:pPr marL="0" indent="0">
              <a:spcBef>
                <a:spcPts val="1875"/>
              </a:spcBef>
              <a:buNone/>
            </a:pPr>
            <a:r>
              <a:rPr lang="en-US" sz="1050" b="1"/>
              <a:t>Rule Abstraction</a:t>
            </a:r>
          </a:p>
          <a:p>
            <a:pPr marL="0" lvl="1" indent="0">
              <a:buNone/>
            </a:pPr>
            <a:r>
              <a:rPr lang="en-US" sz="1050"/>
              <a:t>Abstracting tax rules simplifies management and enables efficient implementation of complex regulatory changes.</a:t>
            </a:r>
          </a:p>
          <a:p>
            <a:pPr marL="0" indent="0">
              <a:spcBef>
                <a:spcPts val="1875"/>
              </a:spcBef>
              <a:buNone/>
            </a:pPr>
            <a:r>
              <a:rPr lang="en-US" sz="1050" b="1"/>
              <a:t>Automated Update Mechanisms</a:t>
            </a:r>
          </a:p>
          <a:p>
            <a:pPr marL="0" lvl="1" indent="0">
              <a:buNone/>
            </a:pPr>
            <a:r>
              <a:rPr lang="en-US" sz="1050"/>
              <a:t>Automation ensures tax systems stay current by rapidly applying updates with minimal manual intervention.</a:t>
            </a:r>
          </a:p>
        </p:txBody>
      </p:sp>
    </p:spTree>
    <p:extLst>
      <p:ext uri="{BB962C8B-B14F-4D97-AF65-F5344CB8AC3E}">
        <p14:creationId xmlns:p14="http://schemas.microsoft.com/office/powerpoint/2010/main" val="7115225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0425D-B0DD-C1BD-0869-1689A8CB8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0F9BC-2CE9-A70F-5710-F448367DA126}"/>
              </a:ext>
            </a:extLst>
          </p:cNvPr>
          <p:cNvSpPr>
            <a:spLocks noGrp="1"/>
          </p:cNvSpPr>
          <p:nvPr>
            <p:ph type="title"/>
          </p:nvPr>
        </p:nvSpPr>
        <p:spPr>
          <a:xfrm>
            <a:off x="182400" y="-113034"/>
            <a:ext cx="8835527" cy="772045"/>
          </a:xfrm>
        </p:spPr>
        <p:txBody>
          <a:bodyPr anchor="b">
            <a:normAutofit/>
          </a:bodyPr>
          <a:lstStyle/>
          <a:p>
            <a:r>
              <a:rPr lang="en-US" sz="3500"/>
              <a:t>Taxation - Design Considerations</a:t>
            </a:r>
            <a:endParaRPr lang="en-US" sz="3500">
              <a:solidFill>
                <a:srgbClr val="FFFFFF"/>
              </a:solidFill>
            </a:endParaRPr>
          </a:p>
        </p:txBody>
      </p:sp>
      <p:sp>
        <p:nvSpPr>
          <p:cNvPr id="3" name="Rectangle 2">
            <a:extLst>
              <a:ext uri="{FF2B5EF4-FFF2-40B4-BE49-F238E27FC236}">
                <a16:creationId xmlns:a16="http://schemas.microsoft.com/office/drawing/2014/main" id="{524443B7-9AD3-C200-36EC-8D0A40AD6886}"/>
              </a:ext>
            </a:extLst>
          </p:cNvPr>
          <p:cNvSpPr/>
          <p:nvPr/>
        </p:nvSpPr>
        <p:spPr>
          <a:xfrm>
            <a:off x="392834" y="1192411"/>
            <a:ext cx="8414657" cy="4001095"/>
          </a:xfrm>
          <a:prstGeom prst="rect">
            <a:avLst/>
          </a:prstGeom>
        </p:spPr>
        <p:txBody>
          <a:bodyPr wrap="square">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342900" indent="-34290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Core Banking Platform Capabilities:</a:t>
            </a:r>
          </a:p>
          <a:p>
            <a:pPr marL="800100" lvl="1" indent="-342900">
              <a:buFont typeface="Arial" panose="020B0604020202020204" pitchFamily="34" charset="0"/>
              <a:buChar char="•"/>
            </a:pPr>
            <a:r>
              <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rPr>
              <a:t>Integration with a </a:t>
            </a:r>
            <a:r>
              <a:rPr lang="en-US" sz="2000">
                <a:solidFill>
                  <a:prstClr val="black"/>
                </a:solidFill>
                <a:latin typeface="Segoe UI" pitchFamily="34" charset="0"/>
                <a:cs typeface="Segoe UI" pitchFamily="34" charset="-120"/>
              </a:rPr>
              <a:t>Country Specific Tax Engine / Micro Service for Tax Definition, Computation </a:t>
            </a:r>
          </a:p>
          <a:p>
            <a:pPr marL="800100" lvl="1" indent="-342900">
              <a:buFont typeface="Arial" panose="020B0604020202020204" pitchFamily="34" charset="0"/>
              <a:buChar char="•"/>
            </a:pPr>
            <a:r>
              <a:rPr lang="en-US" sz="2000">
                <a:solidFill>
                  <a:prstClr val="black"/>
                </a:solidFill>
                <a:latin typeface="Segoe UI" pitchFamily="34" charset="0"/>
                <a:cs typeface="Segoe UI" pitchFamily="34" charset="-120"/>
              </a:rPr>
              <a:t>Capability to adjust tax charged if there are any discrepancies</a:t>
            </a:r>
          </a:p>
          <a:p>
            <a:pPr marL="800100" lvl="1" indent="-342900">
              <a:buFont typeface="Arial" panose="020B0604020202020204" pitchFamily="34" charset="0"/>
              <a:buChar char="•"/>
            </a:pPr>
            <a:r>
              <a:rPr lang="en-US" sz="2000">
                <a:solidFill>
                  <a:prstClr val="black"/>
                </a:solidFill>
                <a:latin typeface="Segoe UI" pitchFamily="34" charset="0"/>
                <a:cs typeface="Segoe UI" pitchFamily="34" charset="-120"/>
              </a:rPr>
              <a:t>Remitting the Tax Collected to the Tax Authorities </a:t>
            </a:r>
          </a:p>
          <a:p>
            <a:pPr marL="800100" lvl="1" indent="-342900">
              <a:buFont typeface="Arial" panose="020B0604020202020204" pitchFamily="34" charset="0"/>
              <a:buChar char="•"/>
            </a:pPr>
            <a:r>
              <a:rPr lang="en-US" sz="2000">
                <a:solidFill>
                  <a:prstClr val="black"/>
                </a:solidFill>
                <a:latin typeface="Segoe UI" pitchFamily="34" charset="0"/>
                <a:cs typeface="Segoe UI" pitchFamily="34" charset="-120"/>
              </a:rPr>
              <a:t>Collate and Provide Data needed for Tax Reporting </a:t>
            </a:r>
            <a:endParaRPr kumimoji="0" lang="en-US" sz="2000" b="0" i="0" u="none" strike="noStrike" kern="1200" cap="none" spc="0" normalizeH="0" baseline="0" noProof="0">
              <a:ln>
                <a:noFill/>
              </a:ln>
              <a:solidFill>
                <a:prstClr val="black"/>
              </a:solidFill>
              <a:effectLst/>
              <a:uLnTx/>
              <a:uFillTx/>
              <a:latin typeface="Segoe UI" pitchFamily="34" charset="0"/>
              <a:ea typeface="+mn-ea"/>
              <a:cs typeface="Segoe UI" pitchFamily="34" charset="-120"/>
            </a:endParaRPr>
          </a:p>
          <a:p>
            <a:pPr marL="800100" lvl="1" indent="-342900">
              <a:buFont typeface="Arial" panose="020B0604020202020204" pitchFamily="34" charset="0"/>
              <a:buChar char="•"/>
            </a:pPr>
            <a:endParaRPr lang="en-US" sz="2000">
              <a:solidFill>
                <a:prstClr val="black"/>
              </a:solidFill>
              <a:latin typeface="Segoe UI" pitchFamily="34" charset="0"/>
              <a:ea typeface="Segoe UI" pitchFamily="34" charset="-122"/>
              <a:cs typeface="Segoe UI" pitchFamily="34" charset="-120"/>
            </a:endParaRPr>
          </a:p>
          <a:p>
            <a:pPr marL="342900" indent="-342900">
              <a:buFont typeface="Arial" panose="020B0604020202020204" pitchFamily="34" charset="0"/>
              <a:buChar char="•"/>
            </a:pPr>
            <a:r>
              <a:rPr lang="en-US" sz="2000">
                <a:solidFill>
                  <a:prstClr val="black"/>
                </a:solidFill>
                <a:latin typeface="Segoe UI" pitchFamily="34" charset="0"/>
                <a:ea typeface="Segoe UI" pitchFamily="34" charset="-122"/>
                <a:cs typeface="Segoe UI" pitchFamily="34" charset="-120"/>
              </a:rPr>
              <a:t>For Your Lab Work – Good News </a:t>
            </a:r>
            <a:r>
              <a:rPr lang="en-US" sz="2000">
                <a:solidFill>
                  <a:prstClr val="black"/>
                </a:solidFill>
                <a:latin typeface="Segoe UI" pitchFamily="34" charset="0"/>
                <a:ea typeface="Segoe UI" pitchFamily="34" charset="-122"/>
                <a:cs typeface="Segoe UI" pitchFamily="34" charset="-120"/>
                <a:sym typeface="Wingdings" panose="05000000000000000000" pitchFamily="2" charset="2"/>
              </a:rPr>
              <a:t> - You do not have to do anything </a:t>
            </a:r>
            <a:endParaRPr lang="en-US" sz="2000">
              <a:solidFill>
                <a:prstClr val="black"/>
              </a:solidFill>
              <a:latin typeface="Segoe UI" pitchFamily="34" charset="0"/>
              <a:ea typeface="Segoe UI" pitchFamily="34" charset="-122"/>
              <a:cs typeface="Segoe UI" pitchFamily="34" charset="-120"/>
            </a:endParaRP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a:solidFill>
                <a:prstClr val="black"/>
              </a:solidFill>
              <a:latin typeface="Segoe UI" pitchFamily="34" charset="0"/>
              <a:cs typeface="Segoe UI" pitchFamily="34" charset="-120"/>
            </a:endParaRP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5897486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9644-9E07-E575-DA4C-1BCA925BC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18A23-3DB1-22B7-AF4C-5FC942773AAA}"/>
              </a:ext>
            </a:extLst>
          </p:cNvPr>
          <p:cNvSpPr>
            <a:spLocks noGrp="1"/>
          </p:cNvSpPr>
          <p:nvPr>
            <p:ph type="ctrTitle"/>
          </p:nvPr>
        </p:nvSpPr>
        <p:spPr>
          <a:xfrm>
            <a:off x="466344" y="3598547"/>
            <a:ext cx="4354830" cy="2506972"/>
          </a:xfrm>
        </p:spPr>
        <p:txBody>
          <a:bodyPr wrap="square">
            <a:normAutofit/>
          </a:bodyPr>
          <a:lstStyle/>
          <a:p>
            <a:r>
              <a:rPr lang="en-US" sz="4200"/>
              <a:t>Session Summary</a:t>
            </a:r>
          </a:p>
        </p:txBody>
      </p:sp>
      <p:sp>
        <p:nvSpPr>
          <p:cNvPr id="3" name="Subtitle 2">
            <a:extLst>
              <a:ext uri="{FF2B5EF4-FFF2-40B4-BE49-F238E27FC236}">
                <a16:creationId xmlns:a16="http://schemas.microsoft.com/office/drawing/2014/main" id="{F4018B98-D6B5-FB57-F46E-7406B3790590}"/>
              </a:ext>
            </a:extLst>
          </p:cNvPr>
          <p:cNvSpPr>
            <a:spLocks noGrp="1"/>
          </p:cNvSpPr>
          <p:nvPr>
            <p:ph type="subTitle" idx="1"/>
          </p:nvPr>
        </p:nvSpPr>
        <p:spPr>
          <a:xfrm>
            <a:off x="466344" y="2844522"/>
            <a:ext cx="4354830" cy="754025"/>
          </a:xfrm>
        </p:spPr>
        <p:txBody>
          <a:bodyPr>
            <a:normAutofit/>
          </a:bodyPr>
          <a:lstStyle/>
          <a:p>
            <a:endParaRPr lang="en-US" sz="2100"/>
          </a:p>
        </p:txBody>
      </p:sp>
      <p:pic>
        <p:nvPicPr>
          <p:cNvPr id="7" name="Graphic 6" descr="Bank">
            <a:extLst>
              <a:ext uri="{FF2B5EF4-FFF2-40B4-BE49-F238E27FC236}">
                <a16:creationId xmlns:a16="http://schemas.microsoft.com/office/drawing/2014/main" id="{F4A60326-85E7-7271-015B-FD31615201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84648" y="810936"/>
            <a:ext cx="3456432" cy="4608576"/>
          </a:xfrm>
          <a:prstGeom prst="rect">
            <a:avLst/>
          </a:prstGeom>
        </p:spPr>
      </p:pic>
    </p:spTree>
    <p:extLst>
      <p:ext uri="{BB962C8B-B14F-4D97-AF65-F5344CB8AC3E}">
        <p14:creationId xmlns:p14="http://schemas.microsoft.com/office/powerpoint/2010/main" val="2135119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nodePh="1">
                                  <p:stCondLst>
                                    <p:cond delay="1500"/>
                                  </p:stCondLst>
                                  <p:endCondLst>
                                    <p:cond evt="begin" delay="0">
                                      <p:tn val="8"/>
                                    </p:cond>
                                  </p:end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nodeType="withEffect">
                                  <p:stCondLst>
                                    <p:cond delay="500"/>
                                  </p:stCondLst>
                                  <p:iterate>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3.xml><?xml version="1.0" encoding="utf-8"?>
<a:theme xmlns:a="http://schemas.openxmlformats.org/drawingml/2006/main" name="2_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4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5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19d18e7-b6f4-44b2-a30d-039416a1afd5">
      <Terms xmlns="http://schemas.microsoft.com/office/infopath/2007/PartnerControls"/>
    </lcf76f155ced4ddcb4097134ff3c332f>
    <TaxCatchAll xmlns="ab77c976-bbb5-4b8d-ac68-f4e8fdd654c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0105630722B1499A7303032CEA7F5F" ma:contentTypeVersion="12" ma:contentTypeDescription="Create a new document." ma:contentTypeScope="" ma:versionID="765815ffacd4d6a9be3ce4f6cc57c090">
  <xsd:schema xmlns:xsd="http://www.w3.org/2001/XMLSchema" xmlns:xs="http://www.w3.org/2001/XMLSchema" xmlns:p="http://schemas.microsoft.com/office/2006/metadata/properties" xmlns:ns2="e19d18e7-b6f4-44b2-a30d-039416a1afd5" xmlns:ns3="ab77c976-bbb5-4b8d-ac68-f4e8fdd654ca" targetNamespace="http://schemas.microsoft.com/office/2006/metadata/properties" ma:root="true" ma:fieldsID="43d01c475b9759884a44d07c6dc1fdcd" ns2:_="" ns3:_="">
    <xsd:import namespace="e19d18e7-b6f4-44b2-a30d-039416a1afd5"/>
    <xsd:import namespace="ab77c976-bbb5-4b8d-ac68-f4e8fdd654c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SearchPropertie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9d18e7-b6f4-44b2-a30d-039416a1af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ca7166d-de03-4c3e-865e-07adad3d8bb9" ma:termSetId="09814cd3-568e-fe90-9814-8d621ff8fb84" ma:anchorId="fba54fb3-c3e1-fe81-a776-ca4b69148c4d" ma:open="true" ma:isKeyword="false">
      <xsd:complexType>
        <xsd:sequence>
          <xsd:element ref="pc:Terms" minOccurs="0" maxOccurs="1"/>
        </xsd:sequence>
      </xsd:complex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77c976-bbb5-4b8d-ac68-f4e8fdd654c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a6ecbd1-8ffd-4f7f-8d0a-9e61c4c5d8fa}" ma:internalName="TaxCatchAll" ma:showField="CatchAllData" ma:web="ab77c976-bbb5-4b8d-ac68-f4e8fdd654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D4BE92-E2CA-442A-8306-774B6585206C}">
  <ds:schemaRefs>
    <ds:schemaRef ds:uri="ab77c976-bbb5-4b8d-ac68-f4e8fdd654ca"/>
    <ds:schemaRef ds:uri="e19d18e7-b6f4-44b2-a30d-039416a1afd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94DA851-080D-413B-997F-A5814B9706DB}"/>
</file>

<file path=customXml/itemProps3.xml><?xml version="1.0" encoding="utf-8"?>
<ds:datastoreItem xmlns:ds="http://schemas.openxmlformats.org/officeDocument/2006/customXml" ds:itemID="{FE315136-D9E2-4639-B83E-F8BC8DC0AD0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97</Slides>
  <Notes>85</Notes>
  <HiddenSlides>0</HiddenSlides>
  <ScaleCrop>false</ScaleCrop>
  <HeadingPairs>
    <vt:vector size="4" baseType="variant">
      <vt:variant>
        <vt:lpstr>Theme</vt:lpstr>
      </vt:variant>
      <vt:variant>
        <vt:i4>8</vt:i4>
      </vt:variant>
      <vt:variant>
        <vt:lpstr>Slide Titles</vt:lpstr>
      </vt:variant>
      <vt:variant>
        <vt:i4>97</vt:i4>
      </vt:variant>
    </vt:vector>
  </HeadingPairs>
  <TitlesOfParts>
    <vt:vector size="105" baseType="lpstr">
      <vt:lpstr>Office Theme</vt:lpstr>
      <vt:lpstr>1_Depth</vt:lpstr>
      <vt:lpstr>2_Depth</vt:lpstr>
      <vt:lpstr>1_Office Theme</vt:lpstr>
      <vt:lpstr>2_Office Theme</vt:lpstr>
      <vt:lpstr>3_Office Theme</vt:lpstr>
      <vt:lpstr>4_Office Theme</vt:lpstr>
      <vt:lpstr>5_Office Theme</vt:lpstr>
      <vt:lpstr>PowerPoint Presentation</vt:lpstr>
      <vt:lpstr>PowerPoint Presentation</vt:lpstr>
      <vt:lpstr>Student 1,2,3 – Banking Experience Talk  </vt:lpstr>
      <vt:lpstr>Core Banking Platforms Engineering – Capability Layering </vt:lpstr>
      <vt:lpstr>Core Banking Platforms Engineering – Country Variation Considerations</vt:lpstr>
      <vt:lpstr>Account Numbering Schemes</vt:lpstr>
      <vt:lpstr>Purpose and importance of account numbering</vt:lpstr>
      <vt:lpstr>Overview of global account identification</vt:lpstr>
      <vt:lpstr>Key stakeholders: banks, regulators, and customers</vt:lpstr>
      <vt:lpstr>Traditional Account Numbers</vt:lpstr>
      <vt:lpstr>Definition and structure of account numbers</vt:lpstr>
      <vt:lpstr>Variations across banks and countries</vt:lpstr>
      <vt:lpstr>Limitations</vt:lpstr>
      <vt:lpstr>PowerPoint Presentation</vt:lpstr>
      <vt:lpstr>International Bank Account Number (IBAN)</vt:lpstr>
      <vt:lpstr>Origins and adoption of IBAN</vt:lpstr>
      <vt:lpstr>Structure and validation process</vt:lpstr>
      <vt:lpstr>CLABE: The Mexican Account Numbering Standard</vt:lpstr>
      <vt:lpstr>What is CLABE and why was it introduced</vt:lpstr>
      <vt:lpstr>Anatomy and verification of a CLABE number</vt:lpstr>
      <vt:lpstr>Role of CLABE in the Mexican banking system</vt:lpstr>
      <vt:lpstr>Account Number Schemes – Design Considerations</vt:lpstr>
      <vt:lpstr>Customer Numbering Schemes</vt:lpstr>
      <vt:lpstr>What is a customer numbering scheme?</vt:lpstr>
      <vt:lpstr>Customer identification and unique numbers</vt:lpstr>
      <vt:lpstr>Integration with customer relationship management (CRM)</vt:lpstr>
      <vt:lpstr>Customer Number Schemes – Design Considerations for a Core Banking Platform</vt:lpstr>
      <vt:lpstr>Fundamentals of Currency Handling in Core Banking</vt:lpstr>
      <vt:lpstr>How currencies are represented in banking systems</vt:lpstr>
      <vt:lpstr>International standards for currency codes (ISO 4217)</vt:lpstr>
      <vt:lpstr>Examples of different currency decimal structures</vt:lpstr>
      <vt:lpstr>Multi-currency support and requirements</vt:lpstr>
      <vt:lpstr>Currency data structures and representation</vt:lpstr>
      <vt:lpstr>Currency conversion and exchange rate management</vt:lpstr>
      <vt:lpstr>Precision, rounding, and decimal handling</vt:lpstr>
      <vt:lpstr>Currency Handling – Design Considerations</vt:lpstr>
      <vt:lpstr>Currency Handling – Design Considerations</vt:lpstr>
      <vt:lpstr>Calendars Usage and Types in Banking</vt:lpstr>
      <vt:lpstr>Calendars Basics</vt:lpstr>
      <vt:lpstr>Examples of Calendar Usage in Banking Products</vt:lpstr>
      <vt:lpstr>PowerPoint Presentation</vt:lpstr>
      <vt:lpstr>Financial and Regulatory Reporting</vt:lpstr>
      <vt:lpstr>Challenges of Supporting Multiple Calendars</vt:lpstr>
      <vt:lpstr>Calendar and Financial Year  Design Considerations</vt:lpstr>
      <vt:lpstr>Country Language Localization</vt:lpstr>
      <vt:lpstr>Multilingual user interfaces and customer experience</vt:lpstr>
      <vt:lpstr>Translation management and content consistency</vt:lpstr>
      <vt:lpstr>Character Sets (SBCS and DBCS)</vt:lpstr>
      <vt:lpstr>Definition and characteristics of SBCS</vt:lpstr>
      <vt:lpstr>Definition and characteristics of DBCS</vt:lpstr>
      <vt:lpstr>Key differences between SBCS and DBCS</vt:lpstr>
      <vt:lpstr>Transition to Unicode and multi-byte character sets</vt:lpstr>
      <vt:lpstr>Importance in today's globalised digital landscape</vt:lpstr>
      <vt:lpstr>Date and Time Format Localization</vt:lpstr>
      <vt:lpstr>Variations in date and time formats across countries</vt:lpstr>
      <vt:lpstr>Impact on data entry, validation, and reporting</vt:lpstr>
      <vt:lpstr>Synchronising time zones and daylight saving adjustments</vt:lpstr>
      <vt:lpstr>Amount and Currency Format Localization</vt:lpstr>
      <vt:lpstr>Different decimal and thousand separators</vt:lpstr>
      <vt:lpstr>Currency symbol placement and ISO codes</vt:lpstr>
      <vt:lpstr>Formatting considerations for statements and receipts</vt:lpstr>
      <vt:lpstr>Language - Design Considerations</vt:lpstr>
      <vt:lpstr>Payment Schemes Overview</vt:lpstr>
      <vt:lpstr>Defining Payment Schemes and Their Importance</vt:lpstr>
      <vt:lpstr>Key Features of Electronic Payment Systems</vt:lpstr>
      <vt:lpstr>Payment Schemes in India</vt:lpstr>
      <vt:lpstr>Unified Payments Interface (UPI): Real-time and Interoperability</vt:lpstr>
      <vt:lpstr>Immediate Payment Service (IMPS): Instant Money Transfers</vt:lpstr>
      <vt:lpstr>Real Time Gross Settlement (RTGS): High-Value Transactions</vt:lpstr>
      <vt:lpstr>Payment Schemes in the United States</vt:lpstr>
      <vt:lpstr>Automated Clearing House (ACH): Batch Processing and Settlement</vt:lpstr>
      <vt:lpstr>Fedwire: Real-time Gross Settlement for Large Values</vt:lpstr>
      <vt:lpstr>FedNow: Instant Payments and 24/7 Accessibility</vt:lpstr>
      <vt:lpstr>Payment Schemes in the United Kingdom</vt:lpstr>
      <vt:lpstr>Bankers' Automated Clearing Services (BACS): Scheduled Payments</vt:lpstr>
      <vt:lpstr>Clearing House Automated Payment System (CHAPS): High-Value and Urgent Payments</vt:lpstr>
      <vt:lpstr>Faster Payments: Real-time Low-Value Transactions</vt:lpstr>
      <vt:lpstr>Comparative Insights and Future Trends</vt:lpstr>
      <vt:lpstr>Speed, Security, and Accessibility Across Regions</vt:lpstr>
      <vt:lpstr>Impact on Consumers and Businesses</vt:lpstr>
      <vt:lpstr>Trends in Global Payments</vt:lpstr>
      <vt:lpstr>Overview of Payments Hub</vt:lpstr>
      <vt:lpstr>What is a payments hub?</vt:lpstr>
      <vt:lpstr>Preferred Integration Pattern between a Core Banking Platform and Payments Hub – API Integration and Reconciliation</vt:lpstr>
      <vt:lpstr>Reconciliation Common Challenges: Data Inconsistency, Timing Differences, System Limitations</vt:lpstr>
      <vt:lpstr>Automated Reconciliation and Adoption of Artificial Intelligence</vt:lpstr>
      <vt:lpstr>Payment Schemes - Design Considerations</vt:lpstr>
      <vt:lpstr>Overview of Country-Specific Taxation in Banking</vt:lpstr>
      <vt:lpstr>Types of taxes impacting banking operations</vt:lpstr>
      <vt:lpstr>Variation in taxation laws across countries</vt:lpstr>
      <vt:lpstr>Integrating Country Taxation Rules into Core Banking Platforms</vt:lpstr>
      <vt:lpstr>Designing flexible tax engines or Integrating with country specific tax engines</vt:lpstr>
      <vt:lpstr>Configuration and maintenance of tax parameters</vt:lpstr>
      <vt:lpstr>Automation of tax calculation and reporting</vt:lpstr>
      <vt:lpstr>Handling frequent tax law changes</vt:lpstr>
      <vt:lpstr>Taxation - Design Considerations</vt:lpstr>
      <vt:lpstr>Session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revision>2</cp:revision>
  <dcterms:created xsi:type="dcterms:W3CDTF">2013-01-27T09:14:16Z</dcterms:created>
  <dcterms:modified xsi:type="dcterms:W3CDTF">2025-11-02T05:38:09Z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e1e58c1-766d-4ff4-9619-b604fc37898b_Enabled">
    <vt:lpwstr>true</vt:lpwstr>
  </property>
  <property fmtid="{D5CDD505-2E9C-101B-9397-08002B2CF9AE}" pid="3" name="MSIP_Label_9e1e58c1-766d-4ff4-9619-b604fc37898b_SetDate">
    <vt:lpwstr>2025-07-15T01:28:23Z</vt:lpwstr>
  </property>
  <property fmtid="{D5CDD505-2E9C-101B-9397-08002B2CF9AE}" pid="4" name="MSIP_Label_9e1e58c1-766d-4ff4-9619-b604fc37898b_Method">
    <vt:lpwstr>Standard</vt:lpwstr>
  </property>
  <property fmtid="{D5CDD505-2E9C-101B-9397-08002B2CF9AE}" pid="5" name="MSIP_Label_9e1e58c1-766d-4ff4-9619-b604fc37898b_Name">
    <vt:lpwstr>Internal Use</vt:lpwstr>
  </property>
  <property fmtid="{D5CDD505-2E9C-101B-9397-08002B2CF9AE}" pid="6" name="MSIP_Label_9e1e58c1-766d-4ff4-9619-b604fc37898b_SiteId">
    <vt:lpwstr>e3ff91d8-34c8-4b15-a0b4-18910a6ac575</vt:lpwstr>
  </property>
  <property fmtid="{D5CDD505-2E9C-101B-9397-08002B2CF9AE}" pid="7" name="MSIP_Label_9e1e58c1-766d-4ff4-9619-b604fc37898b_ActionId">
    <vt:lpwstr>6fce0095-a8ee-4a9f-8be2-6ebf93ecbae1</vt:lpwstr>
  </property>
  <property fmtid="{D5CDD505-2E9C-101B-9397-08002B2CF9AE}" pid="8" name="MSIP_Label_9e1e58c1-766d-4ff4-9619-b604fc37898b_ContentBits">
    <vt:lpwstr>0</vt:lpwstr>
  </property>
  <property fmtid="{D5CDD505-2E9C-101B-9397-08002B2CF9AE}" pid="9" name="MSIP_Label_9e1e58c1-766d-4ff4-9619-b604fc37898b_Tag">
    <vt:lpwstr>10, 3, 0, 1</vt:lpwstr>
  </property>
  <property fmtid="{D5CDD505-2E9C-101B-9397-08002B2CF9AE}" pid="10" name="ContentTypeId">
    <vt:lpwstr>0x010100E50105630722B1499A7303032CEA7F5F</vt:lpwstr>
  </property>
  <property fmtid="{D5CDD505-2E9C-101B-9397-08002B2CF9AE}" pid="11" name="MediaServiceImageTags">
    <vt:lpwstr/>
  </property>
</Properties>
</file>